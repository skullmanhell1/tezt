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3"/>
  </p:notesMasterIdLst>
  <p:sldIdLst>
    <p:sldId id="257" r:id="rId2"/>
    <p:sldId id="258" r:id="rId3"/>
    <p:sldId id="270" r:id="rId4"/>
    <p:sldId id="281" r:id="rId5"/>
    <p:sldId id="282" r:id="rId6"/>
    <p:sldId id="271" r:id="rId7"/>
    <p:sldId id="272" r:id="rId8"/>
    <p:sldId id="277" r:id="rId9"/>
    <p:sldId id="274" r:id="rId10"/>
    <p:sldId id="275" r:id="rId11"/>
    <p:sldId id="276" r:id="rId12"/>
    <p:sldId id="279" r:id="rId13"/>
    <p:sldId id="280" r:id="rId14"/>
    <p:sldId id="278"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256" r:id="rId29"/>
    <p:sldId id="283" r:id="rId30"/>
    <p:sldId id="310" r:id="rId31"/>
    <p:sldId id="284" r:id="rId32"/>
    <p:sldId id="264" r:id="rId33"/>
    <p:sldId id="262" r:id="rId34"/>
    <p:sldId id="312" r:id="rId35"/>
    <p:sldId id="259" r:id="rId36"/>
    <p:sldId id="260" r:id="rId37"/>
    <p:sldId id="261" r:id="rId38"/>
    <p:sldId id="263" r:id="rId39"/>
    <p:sldId id="265" r:id="rId40"/>
    <p:sldId id="285" r:id="rId41"/>
    <p:sldId id="286" r:id="rId42"/>
    <p:sldId id="287" r:id="rId43"/>
    <p:sldId id="288" r:id="rId44"/>
    <p:sldId id="290" r:id="rId45"/>
    <p:sldId id="291" r:id="rId46"/>
    <p:sldId id="292" r:id="rId47"/>
    <p:sldId id="293" r:id="rId48"/>
    <p:sldId id="294" r:id="rId49"/>
    <p:sldId id="295" r:id="rId50"/>
    <p:sldId id="296" r:id="rId51"/>
    <p:sldId id="289"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87"/>
    <p:restoredTop sz="81857"/>
  </p:normalViewPr>
  <p:slideViewPr>
    <p:cSldViewPr snapToGrid="0">
      <p:cViewPr varScale="1">
        <p:scale>
          <a:sx n="98" d="100"/>
          <a:sy n="98" d="100"/>
        </p:scale>
        <p:origin x="4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073134-B03F-4A40-B197-0E7F4DFD222C}" type="datetimeFigureOut">
              <a:rPr lang="en-US" smtClean="0"/>
              <a:t>8/11/26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81192-5312-A548-845A-B80CE362791A}" type="slidenum">
              <a:rPr lang="en-US" smtClean="0"/>
              <a:t>‹#›</a:t>
            </a:fld>
            <a:endParaRPr lang="en-US"/>
          </a:p>
        </p:txBody>
      </p:sp>
    </p:spTree>
    <p:extLst>
      <p:ext uri="{BB962C8B-B14F-4D97-AF65-F5344CB8AC3E}">
        <p14:creationId xmlns:p14="http://schemas.microsoft.com/office/powerpoint/2010/main" val="3666975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tot increases = x prices rise  &gt; m prices = value of x&gt; value of M </a:t>
            </a:r>
            <a:r>
              <a:rPr lang="en-GB" dirty="0">
                <a:sym typeface="Wingdings" panose="05000000000000000000" pitchFamily="2" charset="2"/>
              </a:rPr>
              <a:t> improve </a:t>
            </a:r>
            <a:r>
              <a:rPr lang="en-GB" dirty="0" err="1">
                <a:sym typeface="Wingdings" panose="05000000000000000000" pitchFamily="2" charset="2"/>
              </a:rPr>
              <a:t>tradebalance</a:t>
            </a:r>
            <a:r>
              <a:rPr lang="en-GB">
                <a:sym typeface="Wingdings" panose="05000000000000000000" pitchFamily="2" charset="2"/>
              </a:rPr>
              <a:t>/BOGS -&gt; CAB</a:t>
            </a:r>
            <a:endParaRPr lang="en-AU"/>
          </a:p>
        </p:txBody>
      </p:sp>
      <p:sp>
        <p:nvSpPr>
          <p:cNvPr id="4" name="Slide Number Placeholder 3"/>
          <p:cNvSpPr>
            <a:spLocks noGrp="1"/>
          </p:cNvSpPr>
          <p:nvPr>
            <p:ph type="sldNum" sz="quarter" idx="5"/>
          </p:nvPr>
        </p:nvSpPr>
        <p:spPr/>
        <p:txBody>
          <a:bodyPr/>
          <a:lstStyle/>
          <a:p>
            <a:fld id="{0532A3BD-C2DF-CD4F-A1D6-052062D77EFD}" type="slidenum">
              <a:rPr lang="en-US" smtClean="0"/>
              <a:t>2</a:t>
            </a:fld>
            <a:endParaRPr lang="en-US"/>
          </a:p>
        </p:txBody>
      </p:sp>
    </p:spTree>
    <p:extLst>
      <p:ext uri="{BB962C8B-B14F-4D97-AF65-F5344CB8AC3E}">
        <p14:creationId xmlns:p14="http://schemas.microsoft.com/office/powerpoint/2010/main" val="154987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FF0000"/>
                </a:solidFill>
                <a:latin typeface="Creative Thoughts" pitchFamily="2" charset="0"/>
              </a:rPr>
              <a:t>Y2  95.5 – TOT fell by 4.5%</a:t>
            </a:r>
          </a:p>
          <a:p>
            <a:r>
              <a:rPr lang="en-US" sz="1200" dirty="0">
                <a:solidFill>
                  <a:srgbClr val="FF0000"/>
                </a:solidFill>
                <a:latin typeface="Creative Thoughts" pitchFamily="2" charset="0"/>
              </a:rPr>
              <a:t>Reason – Rise in M prices greater than the rise in X prices.</a:t>
            </a:r>
          </a:p>
          <a:p>
            <a:endParaRPr lang="en-US" sz="1200" dirty="0">
              <a:solidFill>
                <a:srgbClr val="FF0000"/>
              </a:solidFill>
              <a:latin typeface="Creative Thoughts" pitchFamily="2" charset="0"/>
            </a:endParaRPr>
          </a:p>
          <a:p>
            <a:r>
              <a:rPr lang="en-US" sz="1200" dirty="0">
                <a:solidFill>
                  <a:srgbClr val="FF0000"/>
                </a:solidFill>
                <a:latin typeface="Creative Thoughts" pitchFamily="2" charset="0"/>
              </a:rPr>
              <a:t>Y3 – 98.2 TOT rose by 2.83%</a:t>
            </a:r>
          </a:p>
          <a:p>
            <a:r>
              <a:rPr lang="en-US" sz="1200" dirty="0">
                <a:solidFill>
                  <a:srgbClr val="FF0000"/>
                </a:solidFill>
                <a:latin typeface="Creative Thoughts" pitchFamily="2" charset="0"/>
              </a:rPr>
              <a:t>Reason – Rise in X prices greater than the rise in M prices.</a:t>
            </a:r>
          </a:p>
          <a:p>
            <a:endParaRPr lang="en-US" sz="1200" dirty="0">
              <a:solidFill>
                <a:srgbClr val="FF0000"/>
              </a:solidFill>
              <a:latin typeface="Creative Thoughts" pitchFamily="2" charset="0"/>
            </a:endParaRPr>
          </a:p>
          <a:p>
            <a:r>
              <a:rPr lang="en-US" sz="1200" dirty="0">
                <a:solidFill>
                  <a:srgbClr val="FF0000"/>
                </a:solidFill>
                <a:latin typeface="Creative Thoughts" pitchFamily="2" charset="0"/>
              </a:rPr>
              <a:t>Y4 – 102.7 TOT rose by 4.58%</a:t>
            </a:r>
          </a:p>
          <a:p>
            <a:r>
              <a:rPr lang="en-US" sz="1200" dirty="0">
                <a:solidFill>
                  <a:srgbClr val="FF0000"/>
                </a:solidFill>
                <a:latin typeface="Creative Thoughts" pitchFamily="2" charset="0"/>
              </a:rPr>
              <a:t>Reason – No change in M prices, however X prices continued to rise.</a:t>
            </a:r>
          </a:p>
          <a:p>
            <a:endParaRPr lang="en-US" dirty="0"/>
          </a:p>
        </p:txBody>
      </p:sp>
      <p:sp>
        <p:nvSpPr>
          <p:cNvPr id="4" name="Slide Number Placeholder 3"/>
          <p:cNvSpPr>
            <a:spLocks noGrp="1"/>
          </p:cNvSpPr>
          <p:nvPr>
            <p:ph type="sldNum" sz="quarter" idx="5"/>
          </p:nvPr>
        </p:nvSpPr>
        <p:spPr/>
        <p:txBody>
          <a:bodyPr/>
          <a:lstStyle/>
          <a:p>
            <a:fld id="{0532A3BD-C2DF-CD4F-A1D6-052062D77EFD}" type="slidenum">
              <a:rPr lang="en-US" smtClean="0"/>
              <a:t>7</a:t>
            </a:fld>
            <a:endParaRPr lang="en-US"/>
          </a:p>
        </p:txBody>
      </p:sp>
    </p:spTree>
    <p:extLst>
      <p:ext uri="{BB962C8B-B14F-4D97-AF65-F5344CB8AC3E}">
        <p14:creationId xmlns:p14="http://schemas.microsoft.com/office/powerpoint/2010/main" val="3428220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Y1= 100</a:t>
            </a:r>
          </a:p>
          <a:p>
            <a:r>
              <a:rPr lang="en-GB" dirty="0"/>
              <a:t>Y2= 110/106*100 = 104</a:t>
            </a:r>
          </a:p>
          <a:p>
            <a:r>
              <a:rPr lang="en-GB" dirty="0"/>
              <a:t>Y3= 115/110 *100 = 105</a:t>
            </a:r>
            <a:endParaRPr lang="en-AU" dirty="0"/>
          </a:p>
        </p:txBody>
      </p:sp>
      <p:sp>
        <p:nvSpPr>
          <p:cNvPr id="4" name="Slide Number Placeholder 3"/>
          <p:cNvSpPr>
            <a:spLocks noGrp="1"/>
          </p:cNvSpPr>
          <p:nvPr>
            <p:ph type="sldNum" sz="quarter" idx="5"/>
          </p:nvPr>
        </p:nvSpPr>
        <p:spPr/>
        <p:txBody>
          <a:bodyPr/>
          <a:lstStyle/>
          <a:p>
            <a:fld id="{0532A3BD-C2DF-CD4F-A1D6-052062D77EFD}" type="slidenum">
              <a:rPr lang="en-US" smtClean="0"/>
              <a:t>12</a:t>
            </a:fld>
            <a:endParaRPr lang="en-US"/>
          </a:p>
        </p:txBody>
      </p:sp>
    </p:spTree>
    <p:extLst>
      <p:ext uri="{BB962C8B-B14F-4D97-AF65-F5344CB8AC3E}">
        <p14:creationId xmlns:p14="http://schemas.microsoft.com/office/powerpoint/2010/main" val="1969740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0D42C-01F5-E35D-A5DC-F11A1ECF0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742A6-B85D-1E90-89BC-EB0259872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A9918-267B-3280-8EAE-3D4E4018908E}"/>
              </a:ext>
            </a:extLst>
          </p:cNvPr>
          <p:cNvSpPr>
            <a:spLocks noGrp="1"/>
          </p:cNvSpPr>
          <p:nvPr>
            <p:ph type="body" idx="1"/>
          </p:nvPr>
        </p:nvSpPr>
        <p:spPr/>
        <p:txBody>
          <a:bodyPr/>
          <a:lstStyle/>
          <a:p>
            <a:r>
              <a:rPr lang="en-GB" dirty="0"/>
              <a:t>TOT focus on price not volume = ignore volume</a:t>
            </a:r>
          </a:p>
          <a:p>
            <a:r>
              <a:rPr lang="en-GB" dirty="0"/>
              <a:t>Y1= 100</a:t>
            </a:r>
          </a:p>
          <a:p>
            <a:r>
              <a:rPr lang="en-GB" dirty="0"/>
              <a:t>Y2= 110/105 *100 = 105</a:t>
            </a:r>
          </a:p>
          <a:p>
            <a:r>
              <a:rPr lang="en-GB" dirty="0"/>
              <a:t>Step 2 then look at volume to see if TB increase or </a:t>
            </a:r>
            <a:r>
              <a:rPr lang="en-GB" dirty="0" err="1"/>
              <a:t>decreasse</a:t>
            </a:r>
            <a:endParaRPr lang="en-AU" dirty="0"/>
          </a:p>
        </p:txBody>
      </p:sp>
      <p:sp>
        <p:nvSpPr>
          <p:cNvPr id="4" name="Slide Number Placeholder 3">
            <a:extLst>
              <a:ext uri="{FF2B5EF4-FFF2-40B4-BE49-F238E27FC236}">
                <a16:creationId xmlns:a16="http://schemas.microsoft.com/office/drawing/2014/main" id="{81821400-D86E-ECCE-885F-19AAF620315B}"/>
              </a:ext>
            </a:extLst>
          </p:cNvPr>
          <p:cNvSpPr>
            <a:spLocks noGrp="1"/>
          </p:cNvSpPr>
          <p:nvPr>
            <p:ph type="sldNum" sz="quarter" idx="5"/>
          </p:nvPr>
        </p:nvSpPr>
        <p:spPr/>
        <p:txBody>
          <a:bodyPr/>
          <a:lstStyle/>
          <a:p>
            <a:fld id="{0532A3BD-C2DF-CD4F-A1D6-052062D77EFD}" type="slidenum">
              <a:rPr lang="en-US" smtClean="0"/>
              <a:t>13</a:t>
            </a:fld>
            <a:endParaRPr lang="en-US"/>
          </a:p>
        </p:txBody>
      </p:sp>
    </p:spTree>
    <p:extLst>
      <p:ext uri="{BB962C8B-B14F-4D97-AF65-F5344CB8AC3E}">
        <p14:creationId xmlns:p14="http://schemas.microsoft.com/office/powerpoint/2010/main" val="3057854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t>(a) "The current account has improved."</a:t>
            </a:r>
            <a:br>
              <a:rPr lang="en-AU" b="0" i="0" dirty="0"/>
            </a:br>
            <a:r>
              <a:rPr lang="en-AU" b="0" i="0" dirty="0"/>
              <a:t>→ We don't have data about export/import volumes or income/transfers, so we can't say this.</a:t>
            </a:r>
          </a:p>
          <a:p>
            <a:r>
              <a:rPr lang="en-AU" b="0" i="0" dirty="0"/>
              <a:t>(b) "There has been an increase in the volume of exports."</a:t>
            </a:r>
            <a:br>
              <a:rPr lang="en-AU" b="0" i="0" dirty="0"/>
            </a:br>
            <a:r>
              <a:rPr lang="en-AU" b="0" i="0" dirty="0"/>
              <a:t>→ Export price rose, but nothing is said about volume.</a:t>
            </a:r>
          </a:p>
          <a:p>
            <a:r>
              <a:rPr lang="en-AU" b="0" i="0" dirty="0"/>
              <a:t>(c) "The terms of trade have deteriorated."</a:t>
            </a:r>
            <a:br>
              <a:rPr lang="en-AU" b="0" i="0" dirty="0"/>
            </a:br>
            <a:r>
              <a:rPr lang="en-AU" b="0" i="0" dirty="0"/>
              <a:t>→ No—they improved from 91.67 to 96.</a:t>
            </a:r>
          </a:p>
          <a:p>
            <a:r>
              <a:rPr lang="en-AU" b="0" i="0" dirty="0"/>
              <a:t>(d) "The terms of trade have improved."</a:t>
            </a:r>
            <a:br>
              <a:rPr lang="en-AU" b="0" i="0" dirty="0"/>
            </a:br>
            <a:r>
              <a:rPr lang="en-AU" b="0" i="0" dirty="0"/>
              <a:t>→ Correct. Export prices rose more (proportionally) than import prices from Year 2 to 3.</a:t>
            </a:r>
          </a:p>
          <a:p>
            <a:endParaRPr lang="en-US" b="0" i="0" dirty="0"/>
          </a:p>
        </p:txBody>
      </p:sp>
      <p:sp>
        <p:nvSpPr>
          <p:cNvPr id="4" name="Slide Number Placeholder 3"/>
          <p:cNvSpPr>
            <a:spLocks noGrp="1"/>
          </p:cNvSpPr>
          <p:nvPr>
            <p:ph type="sldNum" sz="quarter" idx="5"/>
          </p:nvPr>
        </p:nvSpPr>
        <p:spPr/>
        <p:txBody>
          <a:bodyPr/>
          <a:lstStyle/>
          <a:p>
            <a:fld id="{C2C81192-5312-A548-845A-B80CE362791A}" type="slidenum">
              <a:rPr lang="en-US" smtClean="0"/>
              <a:t>22</a:t>
            </a:fld>
            <a:endParaRPr lang="en-US"/>
          </a:p>
        </p:txBody>
      </p:sp>
    </p:spTree>
    <p:extLst>
      <p:ext uri="{BB962C8B-B14F-4D97-AF65-F5344CB8AC3E}">
        <p14:creationId xmlns:p14="http://schemas.microsoft.com/office/powerpoint/2010/main" val="3509836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C81192-5312-A548-845A-B80CE362791A}" type="slidenum">
              <a:rPr lang="en-US" smtClean="0"/>
              <a:t>23</a:t>
            </a:fld>
            <a:endParaRPr lang="en-US"/>
          </a:p>
        </p:txBody>
      </p:sp>
    </p:spTree>
    <p:extLst>
      <p:ext uri="{BB962C8B-B14F-4D97-AF65-F5344CB8AC3E}">
        <p14:creationId xmlns:p14="http://schemas.microsoft.com/office/powerpoint/2010/main" val="3745467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C81192-5312-A548-845A-B80CE362791A}" type="slidenum">
              <a:rPr lang="en-US" smtClean="0"/>
              <a:t>24</a:t>
            </a:fld>
            <a:endParaRPr lang="en-US"/>
          </a:p>
        </p:txBody>
      </p:sp>
    </p:spTree>
    <p:extLst>
      <p:ext uri="{BB962C8B-B14F-4D97-AF65-F5344CB8AC3E}">
        <p14:creationId xmlns:p14="http://schemas.microsoft.com/office/powerpoint/2010/main" val="1449948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C81192-5312-A548-845A-B80CE362791A}" type="slidenum">
              <a:rPr lang="en-US" smtClean="0"/>
              <a:t>25</a:t>
            </a:fld>
            <a:endParaRPr lang="en-US"/>
          </a:p>
        </p:txBody>
      </p:sp>
    </p:spTree>
    <p:extLst>
      <p:ext uri="{BB962C8B-B14F-4D97-AF65-F5344CB8AC3E}">
        <p14:creationId xmlns:p14="http://schemas.microsoft.com/office/powerpoint/2010/main" val="3118147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C81192-5312-A548-845A-B80CE362791A}" type="slidenum">
              <a:rPr lang="en-US" smtClean="0"/>
              <a:t>26</a:t>
            </a:fld>
            <a:endParaRPr lang="en-US"/>
          </a:p>
        </p:txBody>
      </p:sp>
    </p:spTree>
    <p:extLst>
      <p:ext uri="{BB962C8B-B14F-4D97-AF65-F5344CB8AC3E}">
        <p14:creationId xmlns:p14="http://schemas.microsoft.com/office/powerpoint/2010/main" val="687738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C81192-5312-A548-845A-B80CE362791A}" type="slidenum">
              <a:rPr lang="en-US" smtClean="0"/>
              <a:t>27</a:t>
            </a:fld>
            <a:endParaRPr lang="en-US"/>
          </a:p>
        </p:txBody>
      </p:sp>
    </p:spTree>
    <p:extLst>
      <p:ext uri="{BB962C8B-B14F-4D97-AF65-F5344CB8AC3E}">
        <p14:creationId xmlns:p14="http://schemas.microsoft.com/office/powerpoint/2010/main" val="30550099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C81192-5312-A548-845A-B80CE362791A}" type="slidenum">
              <a:rPr lang="en-US" smtClean="0"/>
              <a:t>30</a:t>
            </a:fld>
            <a:endParaRPr lang="en-US"/>
          </a:p>
        </p:txBody>
      </p:sp>
    </p:spTree>
    <p:extLst>
      <p:ext uri="{BB962C8B-B14F-4D97-AF65-F5344CB8AC3E}">
        <p14:creationId xmlns:p14="http://schemas.microsoft.com/office/powerpoint/2010/main" val="3844846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BC4AC-2DBA-D129-6257-FACDC6BAF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017F4-879F-15B7-1093-0C592A950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2E0DE-614A-3670-49B6-7148DBBC8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11E435-8156-7B03-4F69-5386C6339B44}"/>
              </a:ext>
            </a:extLst>
          </p:cNvPr>
          <p:cNvSpPr>
            <a:spLocks noGrp="1"/>
          </p:cNvSpPr>
          <p:nvPr>
            <p:ph type="sldNum" sz="quarter" idx="5"/>
          </p:nvPr>
        </p:nvSpPr>
        <p:spPr/>
        <p:txBody>
          <a:bodyPr/>
          <a:lstStyle/>
          <a:p>
            <a:fld id="{C2C81192-5312-A548-845A-B80CE362791A}" type="slidenum">
              <a:rPr lang="en-US" smtClean="0"/>
              <a:t>34</a:t>
            </a:fld>
            <a:endParaRPr lang="en-US"/>
          </a:p>
        </p:txBody>
      </p:sp>
    </p:spTree>
    <p:extLst>
      <p:ext uri="{BB962C8B-B14F-4D97-AF65-F5344CB8AC3E}">
        <p14:creationId xmlns:p14="http://schemas.microsoft.com/office/powerpoint/2010/main" val="1651733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C81192-5312-A548-845A-B80CE362791A}" type="slidenum">
              <a:rPr lang="en-US" smtClean="0"/>
              <a:t>38</a:t>
            </a:fld>
            <a:endParaRPr lang="en-US"/>
          </a:p>
        </p:txBody>
      </p:sp>
    </p:spTree>
    <p:extLst>
      <p:ext uri="{BB962C8B-B14F-4D97-AF65-F5344CB8AC3E}">
        <p14:creationId xmlns:p14="http://schemas.microsoft.com/office/powerpoint/2010/main" val="72551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C81192-5312-A548-845A-B80CE362791A}" type="slidenum">
              <a:rPr lang="en-US" smtClean="0"/>
              <a:t>41</a:t>
            </a:fld>
            <a:endParaRPr lang="en-US"/>
          </a:p>
        </p:txBody>
      </p:sp>
    </p:spTree>
    <p:extLst>
      <p:ext uri="{BB962C8B-B14F-4D97-AF65-F5344CB8AC3E}">
        <p14:creationId xmlns:p14="http://schemas.microsoft.com/office/powerpoint/2010/main" val="610746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E8A1-6DA8-4496-BCE8-03ED561CC4E5}"/>
              </a:ext>
            </a:extLst>
          </p:cNvPr>
          <p:cNvSpPr>
            <a:spLocks noGrp="1"/>
          </p:cNvSpPr>
          <p:nvPr>
            <p:ph type="ctrTitle"/>
          </p:nvPr>
        </p:nvSpPr>
        <p:spPr>
          <a:xfrm>
            <a:off x="838200" y="365760"/>
            <a:ext cx="10515600" cy="2890202"/>
          </a:xfrm>
        </p:spPr>
        <p:txBody>
          <a:bodyPr anchor="b">
            <a:normAutofit/>
          </a:bodyPr>
          <a:lstStyle>
            <a:lvl1pPr algn="l">
              <a:defRPr sz="6600"/>
            </a:lvl1pPr>
          </a:lstStyle>
          <a:p>
            <a:r>
              <a:rPr lang="en-GB"/>
              <a:t>Click to edit Master title style</a:t>
            </a:r>
            <a:endParaRPr lang="en-US" dirty="0"/>
          </a:p>
        </p:txBody>
      </p:sp>
      <p:sp>
        <p:nvSpPr>
          <p:cNvPr id="3" name="Subtitle 2">
            <a:extLst>
              <a:ext uri="{FF2B5EF4-FFF2-40B4-BE49-F238E27FC236}">
                <a16:creationId xmlns:a16="http://schemas.microsoft.com/office/drawing/2014/main" id="{3EB24CCC-3D44-4BB5-AA35-A21607EF69A4}"/>
              </a:ext>
            </a:extLst>
          </p:cNvPr>
          <p:cNvSpPr>
            <a:spLocks noGrp="1"/>
          </p:cNvSpPr>
          <p:nvPr>
            <p:ph type="subTitle" idx="1"/>
          </p:nvPr>
        </p:nvSpPr>
        <p:spPr>
          <a:xfrm>
            <a:off x="838200" y="3506150"/>
            <a:ext cx="10515600" cy="248348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a:extLst>
              <a:ext uri="{FF2B5EF4-FFF2-40B4-BE49-F238E27FC236}">
                <a16:creationId xmlns:a16="http://schemas.microsoft.com/office/drawing/2014/main" id="{301F80F6-1855-44E9-BA95-5E00A06E786D}"/>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5" name="Footer Placeholder 4">
            <a:extLst>
              <a:ext uri="{FF2B5EF4-FFF2-40B4-BE49-F238E27FC236}">
                <a16:creationId xmlns:a16="http://schemas.microsoft.com/office/drawing/2014/main" id="{873D7FFD-570A-4968-B943-AF87BB679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CE6A8-0665-4714-B241-6AFBA8C6F807}"/>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2310366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2A8A8-ECDA-4018-ABB4-CC22892BE88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B90AE7C-51AF-4F0E-B5A3-8C7E1026C27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D5F28C09-A717-49AB-B60E-433BC469258F}"/>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5" name="Footer Placeholder 4">
            <a:extLst>
              <a:ext uri="{FF2B5EF4-FFF2-40B4-BE49-F238E27FC236}">
                <a16:creationId xmlns:a16="http://schemas.microsoft.com/office/drawing/2014/main" id="{1D11A47A-6E5A-4754-8B43-9CE556160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CA1EB-7AC7-4F86-90C0-AA980D887225}"/>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1355974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5957-C46F-4F17-BC8C-6507E676E916}"/>
              </a:ext>
            </a:extLst>
          </p:cNvPr>
          <p:cNvSpPr>
            <a:spLocks noGrp="1"/>
          </p:cNvSpPr>
          <p:nvPr>
            <p:ph type="title"/>
          </p:nvPr>
        </p:nvSpPr>
        <p:spPr>
          <a:xfrm>
            <a:off x="831850" y="365760"/>
            <a:ext cx="10515600" cy="3827868"/>
          </a:xfrm>
        </p:spPr>
        <p:txBody>
          <a:bodyPr anchor="b"/>
          <a:lstStyle>
            <a:lvl1pPr>
              <a:defRPr sz="60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98D9661B-6633-4C8B-8B9C-E514DF851D3E}"/>
              </a:ext>
            </a:extLst>
          </p:cNvPr>
          <p:cNvSpPr>
            <a:spLocks noGrp="1"/>
          </p:cNvSpPr>
          <p:nvPr>
            <p:ph type="body" idx="1"/>
          </p:nvPr>
        </p:nvSpPr>
        <p:spPr>
          <a:xfrm>
            <a:off x="831850" y="4443817"/>
            <a:ext cx="10515600" cy="1645834"/>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B6274BF-C1CD-4709-B0A0-E9407DBEA73C}"/>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5" name="Footer Placeholder 4">
            <a:extLst>
              <a:ext uri="{FF2B5EF4-FFF2-40B4-BE49-F238E27FC236}">
                <a16:creationId xmlns:a16="http://schemas.microsoft.com/office/drawing/2014/main" id="{CC9ADB94-0A5B-4B56-B0B1-1FF5580A47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A668A-35AE-4CDF-AC4C-2BEEA9EE80F8}"/>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3230871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7F1FD-0E96-4963-9F09-92861572BBD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979E5F0-B650-4AFF-B90E-23B378684D66}"/>
              </a:ext>
            </a:extLst>
          </p:cNvPr>
          <p:cNvSpPr>
            <a:spLocks noGrp="1"/>
          </p:cNvSpPr>
          <p:nvPr>
            <p:ph sz="half" idx="1"/>
          </p:nvPr>
        </p:nvSpPr>
        <p:spPr>
          <a:xfrm>
            <a:off x="838200" y="1940876"/>
            <a:ext cx="5181600" cy="42360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a:extLst>
              <a:ext uri="{FF2B5EF4-FFF2-40B4-BE49-F238E27FC236}">
                <a16:creationId xmlns:a16="http://schemas.microsoft.com/office/drawing/2014/main" id="{82D1747B-302D-476E-8F4F-E4B114C6624E}"/>
              </a:ext>
            </a:extLst>
          </p:cNvPr>
          <p:cNvSpPr>
            <a:spLocks noGrp="1"/>
          </p:cNvSpPr>
          <p:nvPr>
            <p:ph sz="half" idx="2"/>
          </p:nvPr>
        </p:nvSpPr>
        <p:spPr>
          <a:xfrm>
            <a:off x="6172200" y="1940876"/>
            <a:ext cx="5181600" cy="42360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740577D-22F7-4958-BB3D-6C9265EA1964}"/>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6" name="Footer Placeholder 5">
            <a:extLst>
              <a:ext uri="{FF2B5EF4-FFF2-40B4-BE49-F238E27FC236}">
                <a16:creationId xmlns:a16="http://schemas.microsoft.com/office/drawing/2014/main" id="{71EC5B46-A8FB-4683-9618-3F6E07383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887BD-93E9-4181-9D7F-940C3E1730FF}"/>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3158302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3D79-FA27-4567-9032-AF722733E10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77C1BF-703F-4992-BB0C-EB1E579C7410}"/>
              </a:ext>
            </a:extLst>
          </p:cNvPr>
          <p:cNvSpPr>
            <a:spLocks noGrp="1"/>
          </p:cNvSpPr>
          <p:nvPr>
            <p:ph type="body" idx="1"/>
          </p:nvPr>
        </p:nvSpPr>
        <p:spPr>
          <a:xfrm>
            <a:off x="839788" y="1951823"/>
            <a:ext cx="5157787"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2B2FCE1-6DC0-43B5-8016-89FD4AF5ABD2}"/>
              </a:ext>
            </a:extLst>
          </p:cNvPr>
          <p:cNvSpPr>
            <a:spLocks noGrp="1"/>
          </p:cNvSpPr>
          <p:nvPr>
            <p:ph sz="half" idx="2"/>
          </p:nvPr>
        </p:nvSpPr>
        <p:spPr>
          <a:xfrm>
            <a:off x="839788" y="2954741"/>
            <a:ext cx="5157787" cy="32349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162FED7A-67D0-43CC-889A-25F8849647F1}"/>
              </a:ext>
            </a:extLst>
          </p:cNvPr>
          <p:cNvSpPr>
            <a:spLocks noGrp="1"/>
          </p:cNvSpPr>
          <p:nvPr>
            <p:ph type="body" sz="quarter" idx="3"/>
          </p:nvPr>
        </p:nvSpPr>
        <p:spPr>
          <a:xfrm>
            <a:off x="6172200" y="1951823"/>
            <a:ext cx="5183188"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731C176-48F2-44EC-B3A2-A144403D57FB}"/>
              </a:ext>
            </a:extLst>
          </p:cNvPr>
          <p:cNvSpPr>
            <a:spLocks noGrp="1"/>
          </p:cNvSpPr>
          <p:nvPr>
            <p:ph sz="quarter" idx="4"/>
          </p:nvPr>
        </p:nvSpPr>
        <p:spPr>
          <a:xfrm>
            <a:off x="6172200" y="2954741"/>
            <a:ext cx="5183188" cy="32349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B9187B8-AC48-4FE7-8658-8A31E37311F6}"/>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8" name="Footer Placeholder 7">
            <a:extLst>
              <a:ext uri="{FF2B5EF4-FFF2-40B4-BE49-F238E27FC236}">
                <a16:creationId xmlns:a16="http://schemas.microsoft.com/office/drawing/2014/main" id="{7CCAB465-E22E-45DC-89C9-406121BCED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F9D1CF-F964-4405-8677-5F9E2A028785}"/>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4189901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3453-DD0F-41C0-8F4A-5DC343F5EB1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04E6313-506F-4456-B3D9-D9655538F9FB}"/>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4" name="Footer Placeholder 3">
            <a:extLst>
              <a:ext uri="{FF2B5EF4-FFF2-40B4-BE49-F238E27FC236}">
                <a16:creationId xmlns:a16="http://schemas.microsoft.com/office/drawing/2014/main" id="{E8F26068-7707-41EC-93EF-A24CAF8FFD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9C8A3C-8C01-4039-B47B-57D8497587A5}"/>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3634765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92633-8C77-419D-B24D-2B3D44DBA556}"/>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3" name="Footer Placeholder 2">
            <a:extLst>
              <a:ext uri="{FF2B5EF4-FFF2-40B4-BE49-F238E27FC236}">
                <a16:creationId xmlns:a16="http://schemas.microsoft.com/office/drawing/2014/main" id="{FD149D59-0A88-4A14-A740-4CCD9B5264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3DEF9-802F-444E-92D2-397862EEAB07}"/>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26020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3C20-3881-4F15-94F7-9D7B9F9E357A}"/>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B268F40F-6C2A-48EC-8F16-DA179A1DA375}"/>
              </a:ext>
            </a:extLst>
          </p:cNvPr>
          <p:cNvSpPr>
            <a:spLocks noGrp="1"/>
          </p:cNvSpPr>
          <p:nvPr>
            <p:ph idx="1"/>
          </p:nvPr>
        </p:nvSpPr>
        <p:spPr>
          <a:xfrm>
            <a:off x="5554638" y="457201"/>
            <a:ext cx="5800749" cy="540385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a:extLst>
              <a:ext uri="{FF2B5EF4-FFF2-40B4-BE49-F238E27FC236}">
                <a16:creationId xmlns:a16="http://schemas.microsoft.com/office/drawing/2014/main" id="{56736B7E-D33D-48C7-97AC-5C0D9874FE53}"/>
              </a:ext>
            </a:extLst>
          </p:cNvPr>
          <p:cNvSpPr>
            <a:spLocks noGrp="1"/>
          </p:cNvSpPr>
          <p:nvPr>
            <p:ph type="body" sz="half" idx="2"/>
          </p:nvPr>
        </p:nvSpPr>
        <p:spPr>
          <a:xfrm>
            <a:off x="839788" y="3657600"/>
            <a:ext cx="4343400" cy="2211387"/>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GB"/>
              <a:t>Click to edit Master text styles</a:t>
            </a:r>
          </a:p>
        </p:txBody>
      </p:sp>
      <p:sp>
        <p:nvSpPr>
          <p:cNvPr id="5" name="Date Placeholder 4">
            <a:extLst>
              <a:ext uri="{FF2B5EF4-FFF2-40B4-BE49-F238E27FC236}">
                <a16:creationId xmlns:a16="http://schemas.microsoft.com/office/drawing/2014/main" id="{E9149BC5-FF58-463A-B4FA-F0F912F1234F}"/>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6" name="Footer Placeholder 5">
            <a:extLst>
              <a:ext uri="{FF2B5EF4-FFF2-40B4-BE49-F238E27FC236}">
                <a16:creationId xmlns:a16="http://schemas.microsoft.com/office/drawing/2014/main" id="{947072D7-4A2A-407F-A084-6AE8DD0016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D4C41C-C368-475C-BDC1-DC5B29C78005}"/>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4251321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F67B0-865B-44ED-9DFE-36C73B0C8B43}"/>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GB"/>
              <a:t>Click to edit Master title style</a:t>
            </a:r>
            <a:endParaRPr lang="en-US" dirty="0"/>
          </a:p>
        </p:txBody>
      </p:sp>
      <p:sp>
        <p:nvSpPr>
          <p:cNvPr id="3" name="Picture Placeholder 2">
            <a:extLst>
              <a:ext uri="{FF2B5EF4-FFF2-40B4-BE49-F238E27FC236}">
                <a16:creationId xmlns:a16="http://schemas.microsoft.com/office/drawing/2014/main" id="{B73C5CF7-138A-437C-9E0A-FF4179970319}"/>
              </a:ext>
            </a:extLst>
          </p:cNvPr>
          <p:cNvSpPr>
            <a:spLocks noGrp="1"/>
          </p:cNvSpPr>
          <p:nvPr>
            <p:ph type="pic" idx="1"/>
          </p:nvPr>
        </p:nvSpPr>
        <p:spPr>
          <a:xfrm>
            <a:off x="5561462" y="457201"/>
            <a:ext cx="5793925"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a:extLst>
              <a:ext uri="{FF2B5EF4-FFF2-40B4-BE49-F238E27FC236}">
                <a16:creationId xmlns:a16="http://schemas.microsoft.com/office/drawing/2014/main" id="{95117822-7770-4117-96A2-8D2FF0A01044}"/>
              </a:ext>
            </a:extLst>
          </p:cNvPr>
          <p:cNvSpPr>
            <a:spLocks noGrp="1"/>
          </p:cNvSpPr>
          <p:nvPr>
            <p:ph type="body" sz="half" idx="2"/>
          </p:nvPr>
        </p:nvSpPr>
        <p:spPr>
          <a:xfrm>
            <a:off x="839788" y="3664424"/>
            <a:ext cx="4343400" cy="2204564"/>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GB"/>
              <a:t>Click to edit Master text styles</a:t>
            </a:r>
          </a:p>
        </p:txBody>
      </p:sp>
      <p:sp>
        <p:nvSpPr>
          <p:cNvPr id="5" name="Date Placeholder 4">
            <a:extLst>
              <a:ext uri="{FF2B5EF4-FFF2-40B4-BE49-F238E27FC236}">
                <a16:creationId xmlns:a16="http://schemas.microsoft.com/office/drawing/2014/main" id="{11295030-39C7-4814-A766-1A3E094EBA15}"/>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6" name="Footer Placeholder 5">
            <a:extLst>
              <a:ext uri="{FF2B5EF4-FFF2-40B4-BE49-F238E27FC236}">
                <a16:creationId xmlns:a16="http://schemas.microsoft.com/office/drawing/2014/main" id="{B91F02CD-DC87-47B6-96C4-F6470B1D8F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FF531-02C2-4C1D-A692-7040378066C7}"/>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2027543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26EC-DC54-4882-9D58-F201EA25C4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5804E7C-4CBA-49AF-B24C-1A1FF51C21B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1D3C727-C0C7-4BBA-9CF5-6C1FAC76B10C}"/>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5" name="Footer Placeholder 4">
            <a:extLst>
              <a:ext uri="{FF2B5EF4-FFF2-40B4-BE49-F238E27FC236}">
                <a16:creationId xmlns:a16="http://schemas.microsoft.com/office/drawing/2014/main" id="{34603986-C5B4-4956-AC6F-4F36186B8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5F941-E847-4C51-97D6-21066B26EB26}"/>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264925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0338D2-D9EE-4B67-97C1-08ABD574530B}"/>
              </a:ext>
            </a:extLst>
          </p:cNvPr>
          <p:cNvSpPr>
            <a:spLocks noGrp="1"/>
          </p:cNvSpPr>
          <p:nvPr>
            <p:ph type="title" orient="vert"/>
          </p:nvPr>
        </p:nvSpPr>
        <p:spPr>
          <a:xfrm>
            <a:off x="7353848" y="365125"/>
            <a:ext cx="3999952" cy="5811838"/>
          </a:xfrm>
        </p:spPr>
        <p:txBody>
          <a:bodyPr vert="eaVert"/>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274B1422-6C1E-4422-80E8-34B0092FBF05}"/>
              </a:ext>
            </a:extLst>
          </p:cNvPr>
          <p:cNvSpPr>
            <a:spLocks noGrp="1"/>
          </p:cNvSpPr>
          <p:nvPr>
            <p:ph type="body" orient="vert" idx="1"/>
          </p:nvPr>
        </p:nvSpPr>
        <p:spPr>
          <a:xfrm>
            <a:off x="838200" y="365125"/>
            <a:ext cx="626546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73C8B53C-3084-4BC0-A80E-DB41C04C6258}"/>
              </a:ext>
            </a:extLst>
          </p:cNvPr>
          <p:cNvSpPr>
            <a:spLocks noGrp="1"/>
          </p:cNvSpPr>
          <p:nvPr>
            <p:ph type="dt" sz="half" idx="10"/>
          </p:nvPr>
        </p:nvSpPr>
        <p:spPr/>
        <p:txBody>
          <a:bodyPr/>
          <a:lstStyle/>
          <a:p>
            <a:fld id="{2567B593-1056-E541-AC9E-BEF48A8CB962}" type="datetimeFigureOut">
              <a:rPr lang="en-US" smtClean="0"/>
              <a:t>8/11/26</a:t>
            </a:fld>
            <a:endParaRPr lang="en-US"/>
          </a:p>
        </p:txBody>
      </p:sp>
      <p:sp>
        <p:nvSpPr>
          <p:cNvPr id="5" name="Footer Placeholder 4">
            <a:extLst>
              <a:ext uri="{FF2B5EF4-FFF2-40B4-BE49-F238E27FC236}">
                <a16:creationId xmlns:a16="http://schemas.microsoft.com/office/drawing/2014/main" id="{8276BFDE-DC70-4A6E-90B8-337FC4725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3578F-39AE-4F6F-9614-32EF672E616D}"/>
              </a:ext>
            </a:extLst>
          </p:cNvPr>
          <p:cNvSpPr>
            <a:spLocks noGrp="1"/>
          </p:cNvSpPr>
          <p:nvPr>
            <p:ph type="sldNum" sz="quarter" idx="12"/>
          </p:nvPr>
        </p:nvSpPr>
        <p:spPr/>
        <p:txBody>
          <a:bodyPr/>
          <a:lstStyle/>
          <a:p>
            <a:fld id="{14BAAFC6-8E6F-BE43-B4CF-662ED801995D}" type="slidenum">
              <a:rPr lang="en-US" smtClean="0"/>
              <a:t>‹#›</a:t>
            </a:fld>
            <a:endParaRPr lang="en-US"/>
          </a:p>
        </p:txBody>
      </p:sp>
    </p:spTree>
    <p:extLst>
      <p:ext uri="{BB962C8B-B14F-4D97-AF65-F5344CB8AC3E}">
        <p14:creationId xmlns:p14="http://schemas.microsoft.com/office/powerpoint/2010/main" val="233487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6818BD-D734-48A1-8CC0-609D11E5560E}"/>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AF9D215A-D2A1-4903-A905-F8B06EF41B4F}"/>
              </a:ext>
            </a:extLst>
          </p:cNvPr>
          <p:cNvSpPr>
            <a:spLocks noGrp="1"/>
          </p:cNvSpPr>
          <p:nvPr>
            <p:ph type="body" idx="1"/>
          </p:nvPr>
        </p:nvSpPr>
        <p:spPr>
          <a:xfrm>
            <a:off x="838200" y="1940875"/>
            <a:ext cx="10515600" cy="423608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3942B88A-7A1D-4AA1-8536-28DC13D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567B593-1056-E541-AC9E-BEF48A8CB962}" type="datetimeFigureOut">
              <a:rPr lang="en-US" smtClean="0"/>
              <a:t>8/11/26</a:t>
            </a:fld>
            <a:endParaRPr lang="en-US"/>
          </a:p>
        </p:txBody>
      </p:sp>
      <p:sp>
        <p:nvSpPr>
          <p:cNvPr id="5" name="Footer Placeholder 4">
            <a:extLst>
              <a:ext uri="{FF2B5EF4-FFF2-40B4-BE49-F238E27FC236}">
                <a16:creationId xmlns:a16="http://schemas.microsoft.com/office/drawing/2014/main" id="{B37FE925-0C4B-4BAE-9799-3A9D46D920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DAD54-E5C5-4D48-8592-BB22F0A851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BAAFC6-8E6F-BE43-B4CF-662ED801995D}" type="slidenum">
              <a:rPr lang="en-US" smtClean="0"/>
              <a:t>‹#›</a:t>
            </a:fld>
            <a:endParaRPr lang="en-US"/>
          </a:p>
        </p:txBody>
      </p:sp>
      <p:sp>
        <p:nvSpPr>
          <p:cNvPr id="12" name="TextBox 11">
            <a:extLst>
              <a:ext uri="{FF2B5EF4-FFF2-40B4-BE49-F238E27FC236}">
                <a16:creationId xmlns:a16="http://schemas.microsoft.com/office/drawing/2014/main" id="{D684D453-D03B-CF5A-B00D-F83DCD3F4674}"/>
              </a:ext>
            </a:extLst>
          </p:cNvPr>
          <p:cNvSpPr txBox="1"/>
          <p:nvPr userDrawn="1">
            <p:extLst>
              <p:ext uri="{1162E1C5-73C7-4A58-AE30-91384D911F3F}">
                <p184:classification xmlns:p184="http://schemas.microsoft.com/office/powerpoint/2018/4/main" val="hdr"/>
              </p:ext>
            </p:extLst>
          </p:nvPr>
        </p:nvSpPr>
        <p:spPr>
          <a:xfrm>
            <a:off x="5820537" y="63500"/>
            <a:ext cx="585788" cy="182880"/>
          </a:xfrm>
          <a:prstGeom prst="rect">
            <a:avLst/>
          </a:prstGeom>
        </p:spPr>
        <p:txBody>
          <a:bodyPr horzOverflow="overflow" lIns="0" tIns="0" rIns="0" bIns="0">
            <a:spAutoFit/>
          </a:bodyPr>
          <a:lstStyle/>
          <a:p>
            <a:pPr algn="l"/>
            <a:r>
              <a:rPr lang="en-US" sz="1200">
                <a:solidFill>
                  <a:srgbClr val="FF0000">
                    <a:alpha val="50000"/>
                  </a:srgbClr>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30657114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lang="en-US" sz="5400" kern="1200" smtClean="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p:titleStyle>
    <p:bodyStyle>
      <a:lvl1pPr marL="228600" indent="-228600" algn="l" defTabSz="914400" rtl="0" eaLnBrk="1" latinLnBrk="0" hangingPunct="1">
        <a:lnSpc>
          <a:spcPct val="110000"/>
        </a:lnSpc>
        <a:spcBef>
          <a:spcPts val="1000"/>
        </a:spcBef>
        <a:buClr>
          <a:schemeClr val="tx2"/>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gif"/><Relationship Id="rId5" Type="http://schemas.openxmlformats.org/officeDocument/2006/relationships/image" Target="../media/image20.gif"/><Relationship Id="rId4" Type="http://schemas.openxmlformats.org/officeDocument/2006/relationships/image" Target="../media/image23.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38C62-9950-44CA-A4B4-702ADFEB2BEB}"/>
              </a:ext>
            </a:extLst>
          </p:cNvPr>
          <p:cNvSpPr>
            <a:spLocks noGrp="1"/>
          </p:cNvSpPr>
          <p:nvPr>
            <p:ph type="title"/>
          </p:nvPr>
        </p:nvSpPr>
        <p:spPr>
          <a:xfrm>
            <a:off x="839788" y="457200"/>
            <a:ext cx="4343400" cy="2971800"/>
          </a:xfrm>
        </p:spPr>
        <p:txBody>
          <a:bodyPr vert="horz" lIns="91440" tIns="45720" rIns="91440" bIns="45720" rtlCol="0" anchor="b">
            <a:normAutofit/>
          </a:bodyPr>
          <a:lstStyle/>
          <a:p>
            <a:r>
              <a:rPr lang="en-US" dirty="0"/>
              <a:t>TERMS OF TRADE</a:t>
            </a:r>
          </a:p>
        </p:txBody>
      </p:sp>
      <p:pic>
        <p:nvPicPr>
          <p:cNvPr id="5" name="Picture 4" descr="Codes on papers">
            <a:extLst>
              <a:ext uri="{FF2B5EF4-FFF2-40B4-BE49-F238E27FC236}">
                <a16:creationId xmlns:a16="http://schemas.microsoft.com/office/drawing/2014/main" id="{6EAE075A-636A-BFA7-9CA9-76FEFF5B7661}"/>
              </a:ext>
            </a:extLst>
          </p:cNvPr>
          <p:cNvPicPr>
            <a:picLocks noChangeAspect="1"/>
          </p:cNvPicPr>
          <p:nvPr/>
        </p:nvPicPr>
        <p:blipFill>
          <a:blip r:embed="rId2"/>
          <a:srcRect t="3493" b="12237"/>
          <a:stretch/>
        </p:blipFill>
        <p:spPr>
          <a:xfrm>
            <a:off x="5561462" y="1529579"/>
            <a:ext cx="5793925" cy="3259094"/>
          </a:xfrm>
          <a:prstGeom prst="rect">
            <a:avLst/>
          </a:prstGeom>
          <a:noFill/>
        </p:spPr>
      </p:pic>
      <p:sp>
        <p:nvSpPr>
          <p:cNvPr id="3" name="Content Placeholder 2">
            <a:extLst>
              <a:ext uri="{FF2B5EF4-FFF2-40B4-BE49-F238E27FC236}">
                <a16:creationId xmlns:a16="http://schemas.microsoft.com/office/drawing/2014/main" id="{27EF3617-4712-045A-012F-56D7BA54BE2A}"/>
              </a:ext>
            </a:extLst>
          </p:cNvPr>
          <p:cNvSpPr txBox="1">
            <a:spLocks/>
          </p:cNvSpPr>
          <p:nvPr/>
        </p:nvSpPr>
        <p:spPr>
          <a:xfrm>
            <a:off x="839788" y="3664424"/>
            <a:ext cx="4343400" cy="22045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200" kern="1200">
                <a:solidFill>
                  <a:schemeClr val="tx1"/>
                </a:solidFill>
                <a:latin typeface="+mn-lt"/>
                <a:ea typeface="+mn-ea"/>
                <a:cs typeface="+mn-cs"/>
              </a:defRPr>
            </a:lvl1pPr>
            <a:lvl2pPr marL="457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2pPr>
            <a:lvl3pPr marL="914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3pPr>
            <a:lvl4pPr marL="1371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4pPr>
            <a:lvl5pPr marL="18288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5pPr>
            <a:lvl6pPr marL="22860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6pPr>
            <a:lvl7pPr marL="2743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7pPr>
            <a:lvl8pPr marL="3200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8pPr>
            <a:lvl9pPr marL="3657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9pPr>
          </a:lstStyle>
          <a:p>
            <a:pPr>
              <a:lnSpc>
                <a:spcPct val="110000"/>
              </a:lnSpc>
              <a:spcBef>
                <a:spcPts val="1000"/>
              </a:spcBef>
              <a:buClr>
                <a:schemeClr val="tx2"/>
              </a:buClr>
            </a:pPr>
            <a:r>
              <a:rPr lang="en-GB" sz="2400" i="1" kern="1200" dirty="0">
                <a:solidFill>
                  <a:schemeClr val="tx2"/>
                </a:solidFill>
                <a:latin typeface="+mn-lt"/>
                <a:ea typeface="+mn-ea"/>
                <a:cs typeface="+mn-cs"/>
              </a:rPr>
              <a:t>SYLLABUS:</a:t>
            </a:r>
          </a:p>
          <a:p>
            <a:pPr marL="342900" indent="-342900">
              <a:lnSpc>
                <a:spcPct val="110000"/>
              </a:lnSpc>
              <a:spcBef>
                <a:spcPts val="1000"/>
              </a:spcBef>
              <a:buClr>
                <a:schemeClr val="tx2"/>
              </a:buClr>
              <a:buFont typeface="Arial" panose="020B0604020202020204" pitchFamily="34" charset="0"/>
              <a:buChar char="•"/>
            </a:pPr>
            <a:r>
              <a:rPr lang="en-GB" sz="2400" i="1" dirty="0">
                <a:solidFill>
                  <a:schemeClr val="tx2"/>
                </a:solidFill>
              </a:rPr>
              <a:t>t</a:t>
            </a:r>
            <a:r>
              <a:rPr lang="en-GB" sz="2400" i="1" kern="1200" dirty="0">
                <a:solidFill>
                  <a:schemeClr val="tx2"/>
                </a:solidFill>
                <a:latin typeface="+mn-lt"/>
                <a:ea typeface="+mn-ea"/>
                <a:cs typeface="+mn-cs"/>
              </a:rPr>
              <a:t>he concept of terms of trade and the terms of trade index</a:t>
            </a:r>
          </a:p>
        </p:txBody>
      </p:sp>
    </p:spTree>
    <p:extLst>
      <p:ext uri="{BB962C8B-B14F-4D97-AF65-F5344CB8AC3E}">
        <p14:creationId xmlns:p14="http://schemas.microsoft.com/office/powerpoint/2010/main" val="424627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AB255-0699-5CC4-323B-8E383D4780D4}"/>
              </a:ext>
            </a:extLst>
          </p:cNvPr>
          <p:cNvSpPr>
            <a:spLocks noGrp="1"/>
          </p:cNvSpPr>
          <p:nvPr>
            <p:ph type="title"/>
          </p:nvPr>
        </p:nvSpPr>
        <p:spPr>
          <a:xfrm>
            <a:off x="838200" y="-152667"/>
            <a:ext cx="10515600" cy="1325563"/>
          </a:xfrm>
        </p:spPr>
        <p:txBody>
          <a:bodyPr/>
          <a:lstStyle/>
          <a:p>
            <a:r>
              <a:rPr lang="en-US" sz="5400" b="1" dirty="0">
                <a:latin typeface="Aharoni" panose="02010803020104030203" pitchFamily="2" charset="-79"/>
                <a:cs typeface="Aharoni" panose="02010803020104030203" pitchFamily="2" charset="-79"/>
              </a:rPr>
              <a:t>WHAT IS THE TOT?</a:t>
            </a:r>
            <a:endParaRPr lang="en-AU" dirty="0"/>
          </a:p>
        </p:txBody>
      </p:sp>
      <p:sp>
        <p:nvSpPr>
          <p:cNvPr id="3" name="Content Placeholder 2">
            <a:extLst>
              <a:ext uri="{FF2B5EF4-FFF2-40B4-BE49-F238E27FC236}">
                <a16:creationId xmlns:a16="http://schemas.microsoft.com/office/drawing/2014/main" id="{076C42BA-5368-4A16-8D6D-601434D11459}"/>
              </a:ext>
            </a:extLst>
          </p:cNvPr>
          <p:cNvSpPr>
            <a:spLocks noGrp="1"/>
          </p:cNvSpPr>
          <p:nvPr>
            <p:ph idx="1"/>
          </p:nvPr>
        </p:nvSpPr>
        <p:spPr>
          <a:xfrm>
            <a:off x="863906" y="1002866"/>
            <a:ext cx="10058400" cy="4050792"/>
          </a:xfrm>
        </p:spPr>
        <p:txBody>
          <a:bodyPr>
            <a:noAutofit/>
          </a:bodyPr>
          <a:lstStyle/>
          <a:p>
            <a:pPr marL="0" indent="0">
              <a:lnSpc>
                <a:spcPct val="100000"/>
              </a:lnSpc>
              <a:buNone/>
            </a:pPr>
            <a:endParaRPr lang="en-US" u="sng" dirty="0">
              <a:latin typeface="+mj-lt"/>
            </a:endParaRPr>
          </a:p>
          <a:p>
            <a:pPr>
              <a:lnSpc>
                <a:spcPct val="100000"/>
              </a:lnSpc>
            </a:pPr>
            <a:r>
              <a:rPr lang="en-US" dirty="0"/>
              <a:t>The terms of trade (TOT) is an index which measures the relative movements in the prices of exports (X) and imports (M) </a:t>
            </a:r>
          </a:p>
          <a:p>
            <a:pPr marL="0" indent="0">
              <a:lnSpc>
                <a:spcPct val="100000"/>
              </a:lnSpc>
              <a:buNone/>
            </a:pPr>
            <a:endParaRPr lang="en-US" dirty="0"/>
          </a:p>
          <a:p>
            <a:pPr>
              <a:lnSpc>
                <a:spcPct val="100000"/>
              </a:lnSpc>
            </a:pPr>
            <a:r>
              <a:rPr lang="en-US" dirty="0"/>
              <a:t>The ratio of export prices to import prices</a:t>
            </a:r>
          </a:p>
          <a:p>
            <a:pPr>
              <a:lnSpc>
                <a:spcPct val="100000"/>
              </a:lnSpc>
            </a:pPr>
            <a:endParaRPr lang="en-US" dirty="0"/>
          </a:p>
          <a:p>
            <a:pPr>
              <a:lnSpc>
                <a:spcPct val="100000"/>
              </a:lnSpc>
            </a:pPr>
            <a:r>
              <a:rPr lang="en-US" dirty="0"/>
              <a:t>The TOT provides a measure of the quantity of imports a country can obtain in exchange for a given volume of exports. </a:t>
            </a:r>
          </a:p>
          <a:p>
            <a:pPr>
              <a:lnSpc>
                <a:spcPct val="100000"/>
              </a:lnSpc>
            </a:pPr>
            <a:endParaRPr lang="en-US" dirty="0"/>
          </a:p>
          <a:p>
            <a:pPr>
              <a:lnSpc>
                <a:spcPct val="100000"/>
              </a:lnSpc>
            </a:pPr>
            <a:r>
              <a:rPr lang="en-US" dirty="0"/>
              <a:t>Why is the TOT important? </a:t>
            </a:r>
          </a:p>
          <a:p>
            <a:pPr lvl="1">
              <a:lnSpc>
                <a:spcPct val="100000"/>
              </a:lnSpc>
            </a:pPr>
            <a:r>
              <a:rPr lang="en-US" sz="2000" dirty="0"/>
              <a:t>Changes in the import price index (MPI) and the export price index (XPI) will affect the value of our total X and M </a:t>
            </a:r>
            <a:r>
              <a:rPr lang="en-US" sz="2000" dirty="0">
                <a:sym typeface="Wingdings" panose="05000000000000000000" pitchFamily="2" charset="2"/>
              </a:rPr>
              <a:t></a:t>
            </a:r>
            <a:r>
              <a:rPr lang="en-US" sz="2000" dirty="0"/>
              <a:t>impact on the current account, the exchange rate and national income.</a:t>
            </a:r>
          </a:p>
          <a:p>
            <a:pPr>
              <a:lnSpc>
                <a:spcPct val="100000"/>
              </a:lnSpc>
            </a:pPr>
            <a:endParaRPr lang="en-US" dirty="0">
              <a:latin typeface="+mj-lt"/>
            </a:endParaRPr>
          </a:p>
          <a:p>
            <a:pPr marL="0" indent="0">
              <a:lnSpc>
                <a:spcPct val="100000"/>
              </a:lnSpc>
              <a:buNone/>
            </a:pPr>
            <a:endParaRPr lang="en-US" dirty="0"/>
          </a:p>
        </p:txBody>
      </p:sp>
    </p:spTree>
    <p:extLst>
      <p:ext uri="{BB962C8B-B14F-4D97-AF65-F5344CB8AC3E}">
        <p14:creationId xmlns:p14="http://schemas.microsoft.com/office/powerpoint/2010/main" val="2735492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14518-F430-EF4F-B396-C094B8E31129}"/>
              </a:ext>
            </a:extLst>
          </p:cNvPr>
          <p:cNvSpPr>
            <a:spLocks noGrp="1"/>
          </p:cNvSpPr>
          <p:nvPr>
            <p:ph type="title"/>
          </p:nvPr>
        </p:nvSpPr>
        <p:spPr/>
        <p:txBody>
          <a:bodyPr>
            <a:normAutofit/>
          </a:bodyPr>
          <a:lstStyle/>
          <a:p>
            <a:pPr algn="ctr"/>
            <a:r>
              <a:rPr lang="en-US" sz="5000" b="1" dirty="0"/>
              <a:t>CALCULATING THE TOT INDEX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D05AF2-0C86-F743-8EB3-248996315F27}"/>
                  </a:ext>
                </a:extLst>
              </p:cNvPr>
              <p:cNvSpPr>
                <a:spLocks noGrp="1"/>
              </p:cNvSpPr>
              <p:nvPr>
                <p:ph idx="1"/>
              </p:nvPr>
            </p:nvSpPr>
            <p:spPr>
              <a:xfrm>
                <a:off x="709863" y="2152065"/>
                <a:ext cx="11000874" cy="4072272"/>
              </a:xfrm>
            </p:spPr>
            <p:txBody>
              <a:bodyPr>
                <a:normAutofit fontScale="92500" lnSpcReduction="10000"/>
              </a:bodyPr>
              <a:lstStyle/>
              <a:p>
                <a:pPr marL="0" indent="0" algn="ctr">
                  <a:buNone/>
                </a:pPr>
                <a:r>
                  <a:rPr lang="en-AU" sz="4000" b="1" dirty="0">
                    <a:solidFill>
                      <a:srgbClr val="7030A0"/>
                    </a:solidFill>
                  </a:rPr>
                  <a:t>TOT Index = </a:t>
                </a:r>
                <a14:m>
                  <m:oMath xmlns:m="http://schemas.openxmlformats.org/officeDocument/2006/math">
                    <m:f>
                      <m:fPr>
                        <m:ctrlPr>
                          <a:rPr lang="en-GB" sz="4000">
                            <a:solidFill>
                              <a:srgbClr val="7030A0"/>
                            </a:solidFill>
                            <a:latin typeface="Cambria Math" panose="02040503050406030204" pitchFamily="18" charset="0"/>
                          </a:rPr>
                        </m:ctrlPr>
                      </m:fPr>
                      <m:num>
                        <m:r>
                          <a:rPr lang="en-GB" sz="4000">
                            <a:solidFill>
                              <a:srgbClr val="7030A0"/>
                            </a:solidFill>
                            <a:latin typeface="Cambria Math" panose="02040503050406030204" pitchFamily="18" charset="0"/>
                          </a:rPr>
                          <m:t>𝐸𝑥𝑝𝑜𝑟𝑡</m:t>
                        </m:r>
                        <m:r>
                          <a:rPr lang="en-GB" sz="4000" i="1">
                            <a:solidFill>
                              <a:srgbClr val="7030A0"/>
                            </a:solidFill>
                            <a:latin typeface="Cambria Math" panose="02040503050406030204" pitchFamily="18" charset="0"/>
                          </a:rPr>
                          <m:t> </m:t>
                        </m:r>
                        <m:r>
                          <a:rPr lang="en-GB" sz="4000">
                            <a:solidFill>
                              <a:srgbClr val="7030A0"/>
                            </a:solidFill>
                            <a:latin typeface="Cambria Math" panose="02040503050406030204" pitchFamily="18" charset="0"/>
                          </a:rPr>
                          <m:t>𝑃𝑟𝑖𝑐𝑒</m:t>
                        </m:r>
                        <m:r>
                          <a:rPr lang="en-GB" sz="4000" i="1">
                            <a:solidFill>
                              <a:srgbClr val="7030A0"/>
                            </a:solidFill>
                            <a:latin typeface="Cambria Math" panose="02040503050406030204" pitchFamily="18" charset="0"/>
                          </a:rPr>
                          <m:t> </m:t>
                        </m:r>
                        <m:r>
                          <a:rPr lang="en-GB" sz="4000">
                            <a:solidFill>
                              <a:srgbClr val="7030A0"/>
                            </a:solidFill>
                            <a:latin typeface="Cambria Math" panose="02040503050406030204" pitchFamily="18" charset="0"/>
                          </a:rPr>
                          <m:t>𝐼𝑛𝑑𝑒𝑥</m:t>
                        </m:r>
                        <m:r>
                          <a:rPr lang="en-GB" sz="4000" i="1">
                            <a:solidFill>
                              <a:srgbClr val="7030A0"/>
                            </a:solidFill>
                            <a:latin typeface="Cambria Math" panose="02040503050406030204" pitchFamily="18" charset="0"/>
                          </a:rPr>
                          <m:t> </m:t>
                        </m:r>
                        <m:r>
                          <a:rPr lang="en-GB" sz="4000">
                            <a:solidFill>
                              <a:srgbClr val="7030A0"/>
                            </a:solidFill>
                            <a:latin typeface="Cambria Math" panose="02040503050406030204" pitchFamily="18" charset="0"/>
                          </a:rPr>
                          <m:t>(</m:t>
                        </m:r>
                        <m:r>
                          <a:rPr lang="en-GB" sz="4000">
                            <a:solidFill>
                              <a:srgbClr val="7030A0"/>
                            </a:solidFill>
                            <a:latin typeface="Cambria Math" panose="02040503050406030204" pitchFamily="18" charset="0"/>
                          </a:rPr>
                          <m:t>𝑋𝑃𝐼</m:t>
                        </m:r>
                        <m:r>
                          <a:rPr lang="en-GB" sz="4000">
                            <a:solidFill>
                              <a:srgbClr val="7030A0"/>
                            </a:solidFill>
                            <a:latin typeface="Cambria Math" panose="02040503050406030204" pitchFamily="18" charset="0"/>
                          </a:rPr>
                          <m:t>)</m:t>
                        </m:r>
                      </m:num>
                      <m:den>
                        <m:r>
                          <a:rPr lang="en-GB" sz="4000">
                            <a:solidFill>
                              <a:srgbClr val="7030A0"/>
                            </a:solidFill>
                            <a:latin typeface="Cambria Math" panose="02040503050406030204" pitchFamily="18" charset="0"/>
                          </a:rPr>
                          <m:t>𝐼𝑚𝑝𝑜𝑟𝑡</m:t>
                        </m:r>
                        <m:r>
                          <a:rPr lang="en-GB" sz="4000" i="1">
                            <a:solidFill>
                              <a:srgbClr val="7030A0"/>
                            </a:solidFill>
                            <a:latin typeface="Cambria Math" panose="02040503050406030204" pitchFamily="18" charset="0"/>
                          </a:rPr>
                          <m:t> </m:t>
                        </m:r>
                        <m:r>
                          <a:rPr lang="en-GB" sz="4000" i="1">
                            <a:solidFill>
                              <a:srgbClr val="7030A0"/>
                            </a:solidFill>
                            <a:latin typeface="Cambria Math" panose="02040503050406030204" pitchFamily="18" charset="0"/>
                          </a:rPr>
                          <m:t>𝑃𝑟𝑖𝑐𝑒</m:t>
                        </m:r>
                        <m:r>
                          <a:rPr lang="en-GB" sz="4000" i="1">
                            <a:solidFill>
                              <a:srgbClr val="7030A0"/>
                            </a:solidFill>
                            <a:latin typeface="Cambria Math" panose="02040503050406030204" pitchFamily="18" charset="0"/>
                          </a:rPr>
                          <m:t> </m:t>
                        </m:r>
                        <m:r>
                          <a:rPr lang="en-GB" sz="4000">
                            <a:solidFill>
                              <a:srgbClr val="7030A0"/>
                            </a:solidFill>
                            <a:latin typeface="Cambria Math" panose="02040503050406030204" pitchFamily="18" charset="0"/>
                          </a:rPr>
                          <m:t>𝐼𝑛𝑑𝑒𝑥</m:t>
                        </m:r>
                        <m:r>
                          <a:rPr lang="en-GB" sz="4000" i="1">
                            <a:solidFill>
                              <a:srgbClr val="7030A0"/>
                            </a:solidFill>
                            <a:latin typeface="Cambria Math" panose="02040503050406030204" pitchFamily="18" charset="0"/>
                          </a:rPr>
                          <m:t> </m:t>
                        </m:r>
                        <m:r>
                          <a:rPr lang="en-GB" sz="4000">
                            <a:solidFill>
                              <a:srgbClr val="7030A0"/>
                            </a:solidFill>
                            <a:latin typeface="Cambria Math" panose="02040503050406030204" pitchFamily="18" charset="0"/>
                          </a:rPr>
                          <m:t>(</m:t>
                        </m:r>
                        <m:r>
                          <a:rPr lang="en-GB" sz="4000">
                            <a:solidFill>
                              <a:srgbClr val="7030A0"/>
                            </a:solidFill>
                            <a:latin typeface="Cambria Math" panose="02040503050406030204" pitchFamily="18" charset="0"/>
                          </a:rPr>
                          <m:t>𝑀𝑃𝐼</m:t>
                        </m:r>
                        <m:r>
                          <a:rPr lang="en-GB" sz="4000">
                            <a:solidFill>
                              <a:srgbClr val="7030A0"/>
                            </a:solidFill>
                            <a:latin typeface="Cambria Math" panose="02040503050406030204" pitchFamily="18" charset="0"/>
                          </a:rPr>
                          <m:t>)</m:t>
                        </m:r>
                      </m:den>
                    </m:f>
                    <m:r>
                      <a:rPr lang="en-GB" sz="4000" i="1">
                        <a:solidFill>
                          <a:srgbClr val="7030A0"/>
                        </a:solidFill>
                        <a:latin typeface="Cambria Math" panose="02040503050406030204" pitchFamily="18" charset="0"/>
                      </a:rPr>
                      <m:t>  </m:t>
                    </m:r>
                    <m:r>
                      <m:rPr>
                        <m:sty m:val="p"/>
                      </m:rPr>
                      <a:rPr lang="en-AU" sz="4000" b="0" i="0" smtClean="0">
                        <a:solidFill>
                          <a:srgbClr val="7030A0"/>
                        </a:solidFill>
                        <a:latin typeface="Cambria Math" panose="02040503050406030204" pitchFamily="18" charset="0"/>
                      </a:rPr>
                      <m:t>x</m:t>
                    </m:r>
                    <m:r>
                      <a:rPr lang="en-GB" sz="4000" i="1">
                        <a:solidFill>
                          <a:srgbClr val="7030A0"/>
                        </a:solidFill>
                        <a:latin typeface="Cambria Math" panose="02040503050406030204" pitchFamily="18" charset="0"/>
                      </a:rPr>
                      <m:t> </m:t>
                    </m:r>
                    <m:r>
                      <a:rPr lang="en-GB" sz="4000">
                        <a:solidFill>
                          <a:srgbClr val="7030A0"/>
                        </a:solidFill>
                        <a:latin typeface="Cambria Math" panose="02040503050406030204" pitchFamily="18" charset="0"/>
                      </a:rPr>
                      <m:t>100</m:t>
                    </m:r>
                  </m:oMath>
                </a14:m>
                <a:endParaRPr lang="en-GB" sz="4000" dirty="0">
                  <a:solidFill>
                    <a:srgbClr val="7030A0"/>
                  </a:solidFill>
                </a:endParaRPr>
              </a:p>
              <a:p>
                <a:endParaRPr lang="en-US" dirty="0"/>
              </a:p>
              <a:p>
                <a:pPr marL="0" indent="0">
                  <a:buNone/>
                </a:pPr>
                <a:r>
                  <a:rPr lang="en-AU" b="1" dirty="0"/>
                  <a:t>Export Price Index (XPI)</a:t>
                </a:r>
                <a:r>
                  <a:rPr lang="en-AU" dirty="0"/>
                  <a:t>: measures the average price received for Australia’s exports.</a:t>
                </a:r>
              </a:p>
              <a:p>
                <a:pPr marL="0" indent="0">
                  <a:buNone/>
                </a:pPr>
                <a:endParaRPr lang="en-AU" dirty="0"/>
              </a:p>
              <a:p>
                <a:pPr marL="0" indent="0">
                  <a:buNone/>
                </a:pPr>
                <a:r>
                  <a:rPr lang="en-AU" b="1" dirty="0"/>
                  <a:t>Import Price Index (MPI)</a:t>
                </a:r>
                <a:r>
                  <a:rPr lang="en-AU" dirty="0"/>
                  <a:t>: measures the average price paid for Australia’s imports.</a:t>
                </a:r>
                <a:endParaRPr lang="en-US" dirty="0"/>
              </a:p>
              <a:p>
                <a:pPr marL="0" indent="0">
                  <a:buNone/>
                </a:pPr>
                <a:endParaRPr lang="en-US" dirty="0"/>
              </a:p>
              <a:p>
                <a:pPr marL="0" indent="0" algn="ctr">
                  <a:buNone/>
                </a:pPr>
                <a:r>
                  <a:rPr lang="en-US" sz="3000" dirty="0"/>
                  <a:t>If given the XPI and MPI, just insert figures into the above formula to find the TOT index.</a:t>
                </a:r>
              </a:p>
            </p:txBody>
          </p:sp>
        </mc:Choice>
        <mc:Fallback xmlns="">
          <p:sp>
            <p:nvSpPr>
              <p:cNvPr id="3" name="Content Placeholder 2">
                <a:extLst>
                  <a:ext uri="{FF2B5EF4-FFF2-40B4-BE49-F238E27FC236}">
                    <a16:creationId xmlns:a16="http://schemas.microsoft.com/office/drawing/2014/main" id="{ADD05AF2-0C86-F743-8EB3-248996315F27}"/>
                  </a:ext>
                </a:extLst>
              </p:cNvPr>
              <p:cNvSpPr>
                <a:spLocks noGrp="1" noRot="1" noChangeAspect="1" noMove="1" noResize="1" noEditPoints="1" noAdjustHandles="1" noChangeArrowheads="1" noChangeShapeType="1" noTextEdit="1"/>
              </p:cNvSpPr>
              <p:nvPr>
                <p:ph idx="1"/>
              </p:nvPr>
            </p:nvSpPr>
            <p:spPr>
              <a:xfrm>
                <a:off x="709863" y="2152065"/>
                <a:ext cx="11000874" cy="4072272"/>
              </a:xfrm>
              <a:blipFill>
                <a:blip r:embed="rId2"/>
                <a:stretch>
                  <a:fillRect l="-461" r="-576" b="-3727"/>
                </a:stretch>
              </a:blipFill>
            </p:spPr>
            <p:txBody>
              <a:bodyPr/>
              <a:lstStyle/>
              <a:p>
                <a:r>
                  <a:rPr lang="en-US">
                    <a:noFill/>
                  </a:rPr>
                  <a:t> </a:t>
                </a:r>
              </a:p>
            </p:txBody>
          </p:sp>
        </mc:Fallback>
      </mc:AlternateContent>
    </p:spTree>
    <p:extLst>
      <p:ext uri="{BB962C8B-B14F-4D97-AF65-F5344CB8AC3E}">
        <p14:creationId xmlns:p14="http://schemas.microsoft.com/office/powerpoint/2010/main" val="253795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9A707-8D85-98E9-B41D-E9824175B07D}"/>
              </a:ext>
            </a:extLst>
          </p:cNvPr>
          <p:cNvSpPr>
            <a:spLocks noGrp="1"/>
          </p:cNvSpPr>
          <p:nvPr>
            <p:ph type="title"/>
          </p:nvPr>
        </p:nvSpPr>
        <p:spPr/>
        <p:txBody>
          <a:bodyPr/>
          <a:lstStyle/>
          <a:p>
            <a:r>
              <a:rPr lang="en-US" dirty="0"/>
              <a:t>EXAMPLE - XPI</a:t>
            </a:r>
          </a:p>
        </p:txBody>
      </p:sp>
      <p:sp>
        <p:nvSpPr>
          <p:cNvPr id="3" name="Content Placeholder 2">
            <a:extLst>
              <a:ext uri="{FF2B5EF4-FFF2-40B4-BE49-F238E27FC236}">
                <a16:creationId xmlns:a16="http://schemas.microsoft.com/office/drawing/2014/main" id="{2432D4F9-6560-6F17-8A30-19C7AA771AF3}"/>
              </a:ext>
            </a:extLst>
          </p:cNvPr>
          <p:cNvSpPr>
            <a:spLocks noGrp="1"/>
          </p:cNvSpPr>
          <p:nvPr>
            <p:ph idx="1"/>
          </p:nvPr>
        </p:nvSpPr>
        <p:spPr>
          <a:xfrm>
            <a:off x="838200" y="1690688"/>
            <a:ext cx="10515600" cy="4644011"/>
          </a:xfrm>
        </p:spPr>
        <p:txBody>
          <a:bodyPr>
            <a:normAutofit fontScale="92500" lnSpcReduction="20000"/>
          </a:bodyPr>
          <a:lstStyle/>
          <a:p>
            <a:pPr marL="0" indent="0">
              <a:buNone/>
            </a:pPr>
            <a:r>
              <a:rPr lang="en-AU" dirty="0"/>
              <a:t>Imagine Australia exports mostly iron ore, coal, and LNG.</a:t>
            </a:r>
          </a:p>
          <a:p>
            <a:pPr marL="0" indent="0">
              <a:buNone/>
            </a:pPr>
            <a:r>
              <a:rPr lang="en-AU" dirty="0"/>
              <a:t>China’s construction sector is booming and needs a lot of steel and so demand for Australian iron ore rises sharply!</a:t>
            </a:r>
          </a:p>
          <a:p>
            <a:pPr marL="0" indent="0">
              <a:buNone/>
            </a:pPr>
            <a:r>
              <a:rPr lang="en-AU" dirty="0"/>
              <a:t>Demand-pull inflation leads to the world price of iron ore jumping from $100 per tonne to $150 per tone</a:t>
            </a:r>
          </a:p>
          <a:p>
            <a:pPr marL="0" indent="0">
              <a:buNone/>
            </a:pPr>
            <a:r>
              <a:rPr lang="en-AU" dirty="0"/>
              <a:t>At the same time; LNG prices stay about the same &amp; Coal prices rise slightly due to a colder winter in Asia.</a:t>
            </a:r>
          </a:p>
          <a:p>
            <a:r>
              <a:rPr lang="en-AU" dirty="0"/>
              <a:t>When the ABS calculates the Export Price Index, it looks at the weighted average price change across all our main exports. Iron ore has a big weight in the index, so that large price increase pushes the whole XPI up — even if some other export prices barely change.</a:t>
            </a:r>
          </a:p>
          <a:p>
            <a:r>
              <a:rPr lang="en-AU" dirty="0"/>
              <a:t>This increase in the XPI means that, on average, Australia is receiving more money per unit of exports than before.</a:t>
            </a:r>
          </a:p>
          <a:p>
            <a:r>
              <a:rPr lang="en-AU" dirty="0"/>
              <a:t>If import prices stay the same, this will cause the terms of trade to improve — meaning Australia can now buy more imports for the same amount of exports.</a:t>
            </a:r>
          </a:p>
          <a:p>
            <a:endParaRPr lang="en-US" dirty="0"/>
          </a:p>
        </p:txBody>
      </p:sp>
    </p:spTree>
    <p:extLst>
      <p:ext uri="{BB962C8B-B14F-4D97-AF65-F5344CB8AC3E}">
        <p14:creationId xmlns:p14="http://schemas.microsoft.com/office/powerpoint/2010/main" val="3792521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60322-6124-EC76-2BF0-CCF31822A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7FF1A3-471D-0F84-87AB-077454DEEBD3}"/>
              </a:ext>
            </a:extLst>
          </p:cNvPr>
          <p:cNvSpPr>
            <a:spLocks noGrp="1"/>
          </p:cNvSpPr>
          <p:nvPr>
            <p:ph type="title"/>
          </p:nvPr>
        </p:nvSpPr>
        <p:spPr/>
        <p:txBody>
          <a:bodyPr/>
          <a:lstStyle/>
          <a:p>
            <a:r>
              <a:rPr lang="en-US" dirty="0"/>
              <a:t>EXAMPLE - MPI</a:t>
            </a:r>
          </a:p>
        </p:txBody>
      </p:sp>
      <p:sp>
        <p:nvSpPr>
          <p:cNvPr id="3" name="Content Placeholder 2">
            <a:extLst>
              <a:ext uri="{FF2B5EF4-FFF2-40B4-BE49-F238E27FC236}">
                <a16:creationId xmlns:a16="http://schemas.microsoft.com/office/drawing/2014/main" id="{268EEBAF-599D-96A6-CB87-DDCF303BE137}"/>
              </a:ext>
            </a:extLst>
          </p:cNvPr>
          <p:cNvSpPr>
            <a:spLocks noGrp="1"/>
          </p:cNvSpPr>
          <p:nvPr>
            <p:ph idx="1"/>
          </p:nvPr>
        </p:nvSpPr>
        <p:spPr>
          <a:xfrm>
            <a:off x="838200" y="1690688"/>
            <a:ext cx="10515600" cy="4644011"/>
          </a:xfrm>
        </p:spPr>
        <p:txBody>
          <a:bodyPr>
            <a:normAutofit lnSpcReduction="10000"/>
          </a:bodyPr>
          <a:lstStyle/>
          <a:p>
            <a:pPr marL="0" indent="0">
              <a:buNone/>
            </a:pPr>
            <a:r>
              <a:rPr lang="en-AU" dirty="0"/>
              <a:t>Australia imports a lot of petroleum, motor vehicles, and computers.</a:t>
            </a:r>
          </a:p>
          <a:p>
            <a:pPr marL="0" indent="0">
              <a:buNone/>
            </a:pPr>
            <a:r>
              <a:rPr lang="en-AU" dirty="0"/>
              <a:t>Suppose the political instability in the Middle East that disrupts global oil supply. This causes the world price of crude oil to jump from $80 a barrel to $120 a barrel.</a:t>
            </a:r>
          </a:p>
          <a:p>
            <a:pPr marL="0" indent="0">
              <a:buNone/>
            </a:pPr>
            <a:r>
              <a:rPr lang="en-AU" dirty="0"/>
              <a:t>Since Australia imports most of its fuel, the cost of refined petrol, diesel, and other petroleum products rises sharply.</a:t>
            </a:r>
          </a:p>
          <a:p>
            <a:pPr marL="0" indent="0">
              <a:buNone/>
            </a:pPr>
            <a:r>
              <a:rPr lang="en-AU" dirty="0"/>
              <a:t>At the same time; the price of imported motor vehicles stays steady and the price of imported electronics falls slightly due to new manufacturing technology.</a:t>
            </a:r>
          </a:p>
          <a:p>
            <a:r>
              <a:rPr lang="en-AU" dirty="0"/>
              <a:t>When the ABS calculates the Import Price Index, the large increase in oil prices (which has a big weight in the index) outweighs smaller changes in other goods. As a result, the MPI rises.</a:t>
            </a:r>
          </a:p>
          <a:p>
            <a:r>
              <a:rPr lang="en-AU" dirty="0"/>
              <a:t>If export prices don’t rise by as much, the terms of trade will fall — meaning Australia now has to export more goods to buy the same quantity of imports.</a:t>
            </a:r>
          </a:p>
          <a:p>
            <a:endParaRPr lang="en-US" dirty="0"/>
          </a:p>
        </p:txBody>
      </p:sp>
    </p:spTree>
    <p:extLst>
      <p:ext uri="{BB962C8B-B14F-4D97-AF65-F5344CB8AC3E}">
        <p14:creationId xmlns:p14="http://schemas.microsoft.com/office/powerpoint/2010/main" val="1129549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7DF8B-EEC8-2B4A-9546-8A22D4170805}"/>
              </a:ext>
            </a:extLst>
          </p:cNvPr>
          <p:cNvSpPr>
            <a:spLocks noGrp="1"/>
          </p:cNvSpPr>
          <p:nvPr>
            <p:ph type="title"/>
          </p:nvPr>
        </p:nvSpPr>
        <p:spPr>
          <a:xfrm>
            <a:off x="838200" y="19007"/>
            <a:ext cx="10515600" cy="1325563"/>
          </a:xfrm>
        </p:spPr>
        <p:txBody>
          <a:bodyPr>
            <a:normAutofit/>
          </a:bodyPr>
          <a:lstStyle/>
          <a:p>
            <a:pPr algn="ctr"/>
            <a:r>
              <a:rPr lang="en-US" sz="5000" b="1" dirty="0"/>
              <a:t>CALCULATING AN XPI/MPI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2D7398-F55D-654A-8357-79DE081BAA80}"/>
                  </a:ext>
                </a:extLst>
              </p:cNvPr>
              <p:cNvSpPr>
                <a:spLocks noGrp="1"/>
              </p:cNvSpPr>
              <p:nvPr>
                <p:ph idx="1"/>
              </p:nvPr>
            </p:nvSpPr>
            <p:spPr>
              <a:xfrm>
                <a:off x="433137" y="1217511"/>
                <a:ext cx="11566357" cy="4958700"/>
              </a:xfrm>
            </p:spPr>
            <p:txBody>
              <a:bodyPr>
                <a:normAutofit fontScale="92500" lnSpcReduction="20000"/>
              </a:bodyPr>
              <a:lstStyle/>
              <a:p>
                <a:pPr marL="0" indent="0" algn="ctr">
                  <a:buNone/>
                </a:pPr>
                <a:r>
                  <a:rPr lang="en-US" sz="3000" dirty="0">
                    <a:latin typeface="Avenir Book" panose="02000503020000020003" pitchFamily="2" charset="0"/>
                  </a:rPr>
                  <a:t>If you are not given the XPI/MPI, you will need to find the figure from given data by using the following steps.</a:t>
                </a:r>
              </a:p>
              <a:p>
                <a:pPr marL="0" indent="0" algn="ctr">
                  <a:buNone/>
                </a:pPr>
                <a:endParaRPr lang="en-US" sz="3000" dirty="0">
                  <a:latin typeface="Avenir Book" panose="02000503020000020003" pitchFamily="2" charset="0"/>
                </a:endParaRPr>
              </a:p>
              <a:p>
                <a:pPr marL="514350" indent="-514350" fontAlgn="ctr">
                  <a:buAutoNum type="arabicPeriod"/>
                </a:pPr>
                <a:r>
                  <a:rPr lang="en-AU" sz="2400" dirty="0">
                    <a:latin typeface="Avenir Book" panose="02000503020000020003" pitchFamily="2" charset="0"/>
                  </a:rPr>
                  <a:t>Add the totals of prices for each year</a:t>
                </a:r>
              </a:p>
              <a:p>
                <a:pPr marL="514350" indent="-514350" fontAlgn="ctr">
                  <a:buAutoNum type="arabicPeriod"/>
                </a:pPr>
                <a:r>
                  <a:rPr lang="en-AU" sz="2400" dirty="0">
                    <a:latin typeface="Avenir Book" panose="02000503020000020003" pitchFamily="2" charset="0"/>
                  </a:rPr>
                  <a:t>Assign a base year and give it an index of 100</a:t>
                </a:r>
              </a:p>
              <a:p>
                <a:pPr lvl="1" fontAlgn="ctr"/>
                <a:r>
                  <a:rPr lang="en-AU" sz="2200" dirty="0">
                    <a:latin typeface="Avenir Book" panose="02000503020000020003" pitchFamily="2" charset="0"/>
                  </a:rPr>
                  <a:t>This means that the value of the base year = 100%</a:t>
                </a:r>
              </a:p>
              <a:p>
                <a:pPr marL="514350" indent="-514350" fontAlgn="ctr">
                  <a:buAutoNum type="arabicPeriod"/>
                </a:pPr>
                <a14:m>
                  <m:oMath xmlns:m="http://schemas.openxmlformats.org/officeDocument/2006/math">
                    <m:r>
                      <m:rPr>
                        <m:sty m:val="p"/>
                      </m:rPr>
                      <a:rPr lang="en-AU" sz="2400" smtClean="0">
                        <a:latin typeface="Cambria Math" panose="02040503050406030204" pitchFamily="18" charset="0"/>
                      </a:rPr>
                      <m:t>X</m:t>
                    </m:r>
                    <m:r>
                      <m:rPr>
                        <m:sty m:val="p"/>
                      </m:rPr>
                      <a:rPr lang="en-AU" sz="2400" b="0" i="0" smtClean="0">
                        <a:latin typeface="Cambria Math" panose="02040503050406030204" pitchFamily="18" charset="0"/>
                      </a:rPr>
                      <m:t>PI</m:t>
                    </m:r>
                    <m:r>
                      <a:rPr lang="en-AU" sz="2400" b="0" i="1" smtClean="0">
                        <a:latin typeface="Cambria Math" panose="02040503050406030204" pitchFamily="18" charset="0"/>
                      </a:rPr>
                      <m:t>= </m:t>
                    </m:r>
                    <m:f>
                      <m:fPr>
                        <m:ctrlPr>
                          <a:rPr lang="x-none" sz="2400">
                            <a:latin typeface="Cambria Math" panose="02040503050406030204" pitchFamily="18" charset="0"/>
                          </a:rPr>
                        </m:ctrlPr>
                      </m:fPr>
                      <m:num>
                        <m:r>
                          <a:rPr lang="x-none" sz="2400">
                            <a:latin typeface="Cambria Math" panose="02040503050406030204" pitchFamily="18" charset="0"/>
                          </a:rPr>
                          <m:t>𝑇𝑜𝑡𝑎𝑙</m:t>
                        </m:r>
                        <m:r>
                          <a:rPr lang="x-none" sz="2400">
                            <a:latin typeface="Cambria Math" panose="02040503050406030204" pitchFamily="18" charset="0"/>
                          </a:rPr>
                          <m:t> </m:t>
                        </m:r>
                        <m:r>
                          <a:rPr lang="x-none" sz="2400">
                            <a:latin typeface="Cambria Math" panose="02040503050406030204" pitchFamily="18" charset="0"/>
                          </a:rPr>
                          <m:t>𝑝𝑟𝑖𝑐𝑒</m:t>
                        </m:r>
                        <m:r>
                          <a:rPr lang="x-none" sz="2400">
                            <a:latin typeface="Cambria Math" panose="02040503050406030204" pitchFamily="18" charset="0"/>
                          </a:rPr>
                          <m:t> </m:t>
                        </m:r>
                        <m:r>
                          <a:rPr lang="x-none" sz="2400">
                            <a:latin typeface="Cambria Math" panose="02040503050406030204" pitchFamily="18" charset="0"/>
                          </a:rPr>
                          <m:t>𝑜𝑓</m:t>
                        </m:r>
                        <m:r>
                          <a:rPr lang="x-none" sz="2400">
                            <a:latin typeface="Cambria Math" panose="02040503050406030204" pitchFamily="18" charset="0"/>
                          </a:rPr>
                          <m:t> </m:t>
                        </m:r>
                        <m:r>
                          <a:rPr lang="x-none" sz="2400" smtClean="0">
                            <a:latin typeface="Cambria Math" panose="02040503050406030204" pitchFamily="18" charset="0"/>
                          </a:rPr>
                          <m:t>𝑒𝑎𝑐ℎ</m:t>
                        </m:r>
                        <m:r>
                          <a:rPr lang="x-none" sz="2400" smtClean="0">
                            <a:latin typeface="Cambria Math" panose="02040503050406030204" pitchFamily="18" charset="0"/>
                          </a:rPr>
                          <m:t> </m:t>
                        </m:r>
                        <m:r>
                          <a:rPr lang="x-none" sz="2400" smtClean="0">
                            <a:latin typeface="Cambria Math" panose="02040503050406030204" pitchFamily="18" charset="0"/>
                          </a:rPr>
                          <m:t>𝑦𝑒𝑎𝑟</m:t>
                        </m:r>
                      </m:num>
                      <m:den>
                        <m:r>
                          <a:rPr lang="x-none" sz="2400">
                            <a:latin typeface="Cambria Math" panose="02040503050406030204" pitchFamily="18" charset="0"/>
                          </a:rPr>
                          <m:t>𝑇𝑜𝑡𝑎𝑙</m:t>
                        </m:r>
                        <m:r>
                          <a:rPr lang="x-none" sz="2400">
                            <a:latin typeface="Cambria Math" panose="02040503050406030204" pitchFamily="18" charset="0"/>
                          </a:rPr>
                          <m:t> </m:t>
                        </m:r>
                        <m:r>
                          <a:rPr lang="x-none" sz="2400">
                            <a:latin typeface="Cambria Math" panose="02040503050406030204" pitchFamily="18" charset="0"/>
                          </a:rPr>
                          <m:t>𝑝𝑟𝑖𝑐𝑒</m:t>
                        </m:r>
                        <m:r>
                          <a:rPr lang="x-none" sz="2400">
                            <a:latin typeface="Cambria Math" panose="02040503050406030204" pitchFamily="18" charset="0"/>
                          </a:rPr>
                          <m:t> </m:t>
                        </m:r>
                        <m:r>
                          <a:rPr lang="x-none" sz="2400">
                            <a:latin typeface="Cambria Math" panose="02040503050406030204" pitchFamily="18" charset="0"/>
                          </a:rPr>
                          <m:t>𝑜𝑓</m:t>
                        </m:r>
                        <m:r>
                          <a:rPr lang="x-none" sz="2400">
                            <a:latin typeface="Cambria Math" panose="02040503050406030204" pitchFamily="18" charset="0"/>
                          </a:rPr>
                          <m:t> </m:t>
                        </m:r>
                        <m:r>
                          <a:rPr lang="x-none" sz="2400">
                            <a:latin typeface="Cambria Math" panose="02040503050406030204" pitchFamily="18" charset="0"/>
                          </a:rPr>
                          <m:t>𝑡ℎ𝑒</m:t>
                        </m:r>
                        <m:r>
                          <a:rPr lang="x-none" sz="2400">
                            <a:latin typeface="Cambria Math" panose="02040503050406030204" pitchFamily="18" charset="0"/>
                          </a:rPr>
                          <m:t> </m:t>
                        </m:r>
                        <m:r>
                          <a:rPr lang="x-none" sz="2400">
                            <a:latin typeface="Cambria Math" panose="02040503050406030204" pitchFamily="18" charset="0"/>
                          </a:rPr>
                          <m:t>𝑏𝑎𝑠𝑒</m:t>
                        </m:r>
                        <m:r>
                          <a:rPr lang="x-none" sz="2400">
                            <a:latin typeface="Cambria Math" panose="02040503050406030204" pitchFamily="18" charset="0"/>
                          </a:rPr>
                          <m:t> </m:t>
                        </m:r>
                        <m:r>
                          <a:rPr lang="x-none" sz="2400">
                            <a:latin typeface="Cambria Math" panose="02040503050406030204" pitchFamily="18" charset="0"/>
                          </a:rPr>
                          <m:t>𝑦𝑒𝑎𝑟</m:t>
                        </m:r>
                        <m:r>
                          <a:rPr lang="x-none" sz="2400">
                            <a:latin typeface="Cambria Math" panose="02040503050406030204" pitchFamily="18" charset="0"/>
                          </a:rPr>
                          <m:t> </m:t>
                        </m:r>
                      </m:den>
                    </m:f>
                  </m:oMath>
                </a14:m>
                <a:r>
                  <a:rPr lang="en-AU" sz="2400" dirty="0">
                    <a:latin typeface="Avenir Book" panose="02000503020000020003" pitchFamily="2" charset="0"/>
                  </a:rPr>
                  <a:t> x 100</a:t>
                </a:r>
              </a:p>
              <a:p>
                <a:pPr marL="0" indent="0" fontAlgn="ctr">
                  <a:buNone/>
                </a:pPr>
                <a:r>
                  <a:rPr lang="en-AU" sz="2400" dirty="0">
                    <a:latin typeface="Avenir Book" panose="02000503020000020003" pitchFamily="2" charset="0"/>
                  </a:rPr>
                  <a:t>				 </a:t>
                </a:r>
              </a:p>
              <a:p>
                <a:pPr marL="514350" indent="-514350" fontAlgn="ctr">
                  <a:buAutoNum type="arabicPeriod"/>
                </a:pPr>
                <a:endParaRPr lang="en-AU" sz="2400" dirty="0">
                  <a:latin typeface="Avenir Book" panose="02000503020000020003" pitchFamily="2" charset="0"/>
                </a:endParaRPr>
              </a:p>
              <a:p>
                <a:pPr marL="0" indent="0" fontAlgn="ctr">
                  <a:buNone/>
                </a:pPr>
                <a:endParaRPr lang="en-AU" sz="2400" dirty="0">
                  <a:latin typeface="Avenir Book" panose="02000503020000020003" pitchFamily="2" charset="0"/>
                </a:endParaRPr>
              </a:p>
              <a:p>
                <a:pPr marL="0" indent="0" fontAlgn="ctr">
                  <a:buNone/>
                </a:pPr>
                <a:r>
                  <a:rPr lang="en-AU" sz="2400" dirty="0">
                    <a:latin typeface="Avenir Book" panose="02000503020000020003" pitchFamily="2" charset="0"/>
                  </a:rPr>
                  <a:t> The MPI would be calculated the same way. </a:t>
                </a:r>
              </a:p>
              <a:p>
                <a:pPr marL="0" indent="0" algn="ctr">
                  <a:buNone/>
                </a:pPr>
                <a:endParaRPr lang="en-US" sz="3000" dirty="0">
                  <a:latin typeface="Avenir Book" panose="02000503020000020003" pitchFamily="2" charset="0"/>
                </a:endParaRPr>
              </a:p>
              <a:p>
                <a:pPr marL="0" indent="0" algn="ctr">
                  <a:buNone/>
                </a:pPr>
                <a:endParaRPr lang="en-US" sz="3000" dirty="0">
                  <a:latin typeface="Avenir Book" panose="02000503020000020003" pitchFamily="2" charset="0"/>
                </a:endParaRPr>
              </a:p>
              <a:p>
                <a:pPr marL="0" indent="0" algn="ctr">
                  <a:buNone/>
                </a:pPr>
                <a:endParaRPr lang="en-US" sz="3000" dirty="0">
                  <a:latin typeface="Avenir Book" panose="02000503020000020003" pitchFamily="2" charset="0"/>
                </a:endParaRPr>
              </a:p>
            </p:txBody>
          </p:sp>
        </mc:Choice>
        <mc:Fallback xmlns="">
          <p:sp>
            <p:nvSpPr>
              <p:cNvPr id="3" name="Content Placeholder 2">
                <a:extLst>
                  <a:ext uri="{FF2B5EF4-FFF2-40B4-BE49-F238E27FC236}">
                    <a16:creationId xmlns:a16="http://schemas.microsoft.com/office/drawing/2014/main" id="{642D7398-F55D-654A-8357-79DE081BAA80}"/>
                  </a:ext>
                </a:extLst>
              </p:cNvPr>
              <p:cNvSpPr>
                <a:spLocks noGrp="1" noRot="1" noChangeAspect="1" noMove="1" noResize="1" noEditPoints="1" noAdjustHandles="1" noChangeArrowheads="1" noChangeShapeType="1" noTextEdit="1"/>
              </p:cNvSpPr>
              <p:nvPr>
                <p:ph idx="1"/>
              </p:nvPr>
            </p:nvSpPr>
            <p:spPr>
              <a:xfrm>
                <a:off x="433137" y="1217511"/>
                <a:ext cx="11566357" cy="4958700"/>
              </a:xfrm>
              <a:blipFill>
                <a:blip r:embed="rId2"/>
                <a:stretch>
                  <a:fillRect l="-878" t="-2046" r="-110" b="-10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8992B338-7397-2D40-9772-1CEEF3F36B1B}"/>
                  </a:ext>
                </a:extLst>
              </p:cNvPr>
              <p:cNvGraphicFramePr>
                <a:graphicFrameLocks noGrp="1"/>
              </p:cNvGraphicFramePr>
              <p:nvPr>
                <p:extLst>
                  <p:ext uri="{D42A27DB-BD31-4B8C-83A1-F6EECF244321}">
                    <p14:modId xmlns:p14="http://schemas.microsoft.com/office/powerpoint/2010/main" val="2019649198"/>
                  </p:ext>
                </p:extLst>
              </p:nvPr>
            </p:nvGraphicFramePr>
            <p:xfrm>
              <a:off x="7523230" y="2104281"/>
              <a:ext cx="4283964" cy="3017520"/>
            </p:xfrm>
            <a:graphic>
              <a:graphicData uri="http://schemas.openxmlformats.org/drawingml/2006/table">
                <a:tbl>
                  <a:tblPr/>
                  <a:tblGrid>
                    <a:gridCol w="1025957">
                      <a:extLst>
                        <a:ext uri="{9D8B030D-6E8A-4147-A177-3AD203B41FA5}">
                          <a16:colId xmlns:a16="http://schemas.microsoft.com/office/drawing/2014/main" val="3944278986"/>
                        </a:ext>
                      </a:extLst>
                    </a:gridCol>
                    <a:gridCol w="1086307">
                      <a:extLst>
                        <a:ext uri="{9D8B030D-6E8A-4147-A177-3AD203B41FA5}">
                          <a16:colId xmlns:a16="http://schemas.microsoft.com/office/drawing/2014/main" val="580716216"/>
                        </a:ext>
                      </a:extLst>
                    </a:gridCol>
                    <a:gridCol w="1153058">
                      <a:extLst>
                        <a:ext uri="{9D8B030D-6E8A-4147-A177-3AD203B41FA5}">
                          <a16:colId xmlns:a16="http://schemas.microsoft.com/office/drawing/2014/main" val="2593577671"/>
                        </a:ext>
                      </a:extLst>
                    </a:gridCol>
                    <a:gridCol w="1018642">
                      <a:extLst>
                        <a:ext uri="{9D8B030D-6E8A-4147-A177-3AD203B41FA5}">
                          <a16:colId xmlns:a16="http://schemas.microsoft.com/office/drawing/2014/main" val="3232556513"/>
                        </a:ext>
                      </a:extLst>
                    </a:gridCol>
                  </a:tblGrid>
                  <a:tr h="0">
                    <a:tc>
                      <a:txBody>
                        <a:bodyPr/>
                        <a:lstStyle/>
                        <a:p>
                          <a:pPr marL="0" marR="0"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b="1">
                              <a:effectLst/>
                              <a:latin typeface="Avenir Book" panose="02000503020000020003" pitchFamily="2" charset="0"/>
                            </a:rPr>
                            <a:t>YEAR 1</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92D050"/>
                        </a:solidFill>
                      </a:tcPr>
                    </a:tc>
                    <a:tc>
                      <a:txBody>
                        <a:bodyPr/>
                        <a:lstStyle/>
                        <a:p>
                          <a:pPr marL="0" marR="0" algn="ctr" fontAlgn="t">
                            <a:spcBef>
                              <a:spcPts val="0"/>
                            </a:spcBef>
                            <a:spcAft>
                              <a:spcPts val="0"/>
                            </a:spcAft>
                          </a:pPr>
                          <a:r>
                            <a:rPr lang="en-AU" sz="1100" b="1">
                              <a:effectLst/>
                              <a:latin typeface="Avenir Book" panose="02000503020000020003" pitchFamily="2" charset="0"/>
                            </a:rPr>
                            <a:t>YEAR 2</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92D050"/>
                        </a:solidFill>
                      </a:tcPr>
                    </a:tc>
                    <a:tc>
                      <a:txBody>
                        <a:bodyPr/>
                        <a:lstStyle/>
                        <a:p>
                          <a:pPr marL="0" marR="0" algn="ctr" fontAlgn="t">
                            <a:spcBef>
                              <a:spcPts val="0"/>
                            </a:spcBef>
                            <a:spcAft>
                              <a:spcPts val="0"/>
                            </a:spcAft>
                          </a:pPr>
                          <a:r>
                            <a:rPr lang="en-AU" sz="1100" b="1">
                              <a:effectLst/>
                              <a:latin typeface="Avenir Book" panose="02000503020000020003" pitchFamily="2" charset="0"/>
                            </a:rPr>
                            <a:t>YEAR 3</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92D050"/>
                        </a:solidFill>
                      </a:tcPr>
                    </a:tc>
                    <a:extLst>
                      <a:ext uri="{0D108BD9-81ED-4DB2-BD59-A6C34878D82A}">
                        <a16:rowId xmlns:a16="http://schemas.microsoft.com/office/drawing/2014/main" val="635159282"/>
                      </a:ext>
                    </a:extLst>
                  </a:tr>
                  <a:tr h="0">
                    <a:tc>
                      <a:txBody>
                        <a:bodyPr/>
                        <a:lstStyle/>
                        <a:p>
                          <a:pPr marL="0" marR="0" fontAlgn="t">
                            <a:spcBef>
                              <a:spcPts val="0"/>
                            </a:spcBef>
                            <a:spcAft>
                              <a:spcPts val="0"/>
                            </a:spcAft>
                          </a:pPr>
                          <a:r>
                            <a:rPr lang="en-AU" sz="1100" b="1">
                              <a:effectLst/>
                              <a:latin typeface="Avenir Book" panose="02000503020000020003" pitchFamily="2" charset="0"/>
                            </a:rPr>
                            <a:t>Export Good A</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2CC"/>
                        </a:solidFill>
                      </a:tcPr>
                    </a:tc>
                    <a:tc>
                      <a:txBody>
                        <a:bodyPr/>
                        <a:lstStyle/>
                        <a:p>
                          <a:pPr marL="0" marR="0" algn="ctr" fontAlgn="t">
                            <a:spcBef>
                              <a:spcPts val="0"/>
                            </a:spcBef>
                            <a:spcAft>
                              <a:spcPts val="0"/>
                            </a:spcAft>
                          </a:pPr>
                          <a:r>
                            <a:rPr lang="en-AU" sz="1100">
                              <a:effectLst/>
                              <a:latin typeface="Avenir Book" panose="02000503020000020003" pitchFamily="2" charset="0"/>
                            </a:rPr>
                            <a:t>$200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$190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$200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025830466"/>
                      </a:ext>
                    </a:extLst>
                  </a:tr>
                  <a:tr h="0">
                    <a:tc>
                      <a:txBody>
                        <a:bodyPr/>
                        <a:lstStyle/>
                        <a:p>
                          <a:pPr marL="0" marR="0" fontAlgn="t">
                            <a:spcBef>
                              <a:spcPts val="0"/>
                            </a:spcBef>
                            <a:spcAft>
                              <a:spcPts val="0"/>
                            </a:spcAft>
                          </a:pPr>
                          <a:r>
                            <a:rPr lang="en-AU" sz="1100" b="1">
                              <a:effectLst/>
                              <a:latin typeface="Avenir Book" panose="02000503020000020003" pitchFamily="2" charset="0"/>
                            </a:rPr>
                            <a:t>Export Good B</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2CC"/>
                        </a:solidFill>
                      </a:tcPr>
                    </a:tc>
                    <a:tc>
                      <a:txBody>
                        <a:bodyPr/>
                        <a:lstStyle/>
                        <a:p>
                          <a:pPr marL="0" marR="0" algn="ctr" fontAlgn="t">
                            <a:spcBef>
                              <a:spcPts val="0"/>
                            </a:spcBef>
                            <a:spcAft>
                              <a:spcPts val="0"/>
                            </a:spcAft>
                          </a:pPr>
                          <a:r>
                            <a:rPr lang="en-AU" sz="1100">
                              <a:effectLst/>
                              <a:latin typeface="Avenir Book" panose="02000503020000020003" pitchFamily="2" charset="0"/>
                            </a:rPr>
                            <a:t>$100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$120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$130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239800909"/>
                      </a:ext>
                    </a:extLst>
                  </a:tr>
                  <a:tr h="0">
                    <a:tc>
                      <a:txBody>
                        <a:bodyPr/>
                        <a:lstStyle/>
                        <a:p>
                          <a:pPr marL="0" marR="0" fontAlgn="t">
                            <a:spcBef>
                              <a:spcPts val="0"/>
                            </a:spcBef>
                            <a:spcAft>
                              <a:spcPts val="0"/>
                            </a:spcAft>
                          </a:pPr>
                          <a:r>
                            <a:rPr lang="en-AU" sz="1100" b="1">
                              <a:effectLst/>
                              <a:latin typeface="Avenir Book" panose="02000503020000020003" pitchFamily="2" charset="0"/>
                            </a:rPr>
                            <a:t>Export Good C</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2CC"/>
                        </a:solidFill>
                      </a:tcPr>
                    </a:tc>
                    <a:tc>
                      <a:txBody>
                        <a:bodyPr/>
                        <a:lstStyle/>
                        <a:p>
                          <a:pPr marL="0" marR="0" algn="ctr" fontAlgn="t">
                            <a:spcBef>
                              <a:spcPts val="0"/>
                            </a:spcBef>
                            <a:spcAft>
                              <a:spcPts val="0"/>
                            </a:spcAft>
                          </a:pPr>
                          <a:r>
                            <a:rPr lang="en-AU" sz="1100" dirty="0">
                              <a:effectLst/>
                              <a:latin typeface="Avenir Book" panose="02000503020000020003" pitchFamily="2" charset="0"/>
                            </a:rPr>
                            <a:t>$120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$100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$140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920998943"/>
                      </a:ext>
                    </a:extLst>
                  </a:tr>
                  <a:tr h="0">
                    <a:tc>
                      <a:txBody>
                        <a:bodyPr/>
                        <a:lstStyle/>
                        <a:p>
                          <a:pPr marL="0" marR="0"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633474175"/>
                      </a:ext>
                    </a:extLst>
                  </a:tr>
                  <a:tr h="0">
                    <a:tc>
                      <a:txBody>
                        <a:bodyPr/>
                        <a:lstStyle/>
                        <a:p>
                          <a:pPr marL="0" marR="0" fontAlgn="t">
                            <a:spcBef>
                              <a:spcPts val="0"/>
                            </a:spcBef>
                            <a:spcAft>
                              <a:spcPts val="0"/>
                            </a:spcAft>
                          </a:pPr>
                          <a:r>
                            <a:rPr lang="en-AU" sz="1100" b="1">
                              <a:effectLst/>
                              <a:latin typeface="Avenir Book" panose="02000503020000020003" pitchFamily="2" charset="0"/>
                            </a:rPr>
                            <a:t>TOTAL</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2CC"/>
                        </a:solidFill>
                      </a:tcPr>
                    </a:tc>
                    <a:tc>
                      <a:txBody>
                        <a:bodyPr/>
                        <a:lstStyle/>
                        <a:p>
                          <a:pPr marL="0" marR="0" algn="ctr" fontAlgn="t">
                            <a:spcBef>
                              <a:spcPts val="0"/>
                            </a:spcBef>
                            <a:spcAft>
                              <a:spcPts val="0"/>
                            </a:spcAft>
                          </a:pPr>
                          <a:r>
                            <a:rPr lang="en-AU" sz="1100" b="1">
                              <a:effectLst/>
                              <a:latin typeface="Avenir Book" panose="02000503020000020003" pitchFamily="2" charset="0"/>
                            </a:rPr>
                            <a:t>$420</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b="1">
                              <a:effectLst/>
                              <a:latin typeface="Avenir Book" panose="02000503020000020003" pitchFamily="2" charset="0"/>
                            </a:rPr>
                            <a:t>$410</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b="1">
                              <a:effectLst/>
                              <a:latin typeface="Avenir Book" panose="02000503020000020003" pitchFamily="2" charset="0"/>
                            </a:rPr>
                            <a:t>$470</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1263391"/>
                      </a:ext>
                    </a:extLst>
                  </a:tr>
                  <a:tr h="0">
                    <a:tc>
                      <a:txBody>
                        <a:bodyPr/>
                        <a:lstStyle/>
                        <a:p>
                          <a:pPr marL="0" marR="0"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86492426"/>
                      </a:ext>
                    </a:extLst>
                  </a:tr>
                  <a:tr h="0">
                    <a:tc>
                      <a:txBody>
                        <a:bodyPr/>
                        <a:lstStyle/>
                        <a:p>
                          <a:pPr marL="0" marR="0" fontAlgn="t">
                            <a:spcBef>
                              <a:spcPts val="0"/>
                            </a:spcBef>
                            <a:spcAft>
                              <a:spcPts val="0"/>
                            </a:spcAft>
                          </a:pPr>
                          <a:r>
                            <a:rPr lang="en-AU" sz="1100" b="1">
                              <a:effectLst/>
                              <a:latin typeface="Avenir Book" panose="02000503020000020003" pitchFamily="2" charset="0"/>
                            </a:rPr>
                            <a:t>XPI</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2CC"/>
                        </a:solidFill>
                      </a:tcPr>
                    </a:tc>
                    <a:tc>
                      <a:txBody>
                        <a:bodyPr/>
                        <a:lstStyle/>
                        <a:p>
                          <a:pPr marL="0" marR="0" algn="ctr" fontAlgn="t">
                            <a:spcBef>
                              <a:spcPts val="0"/>
                            </a:spcBef>
                            <a:spcAft>
                              <a:spcPts val="0"/>
                            </a:spcAft>
                          </a:pPr>
                          <a:r>
                            <a:rPr lang="en-AU" sz="1100" b="1">
                              <a:effectLst/>
                              <a:latin typeface="Avenir Book" panose="02000503020000020003" pitchFamily="2" charset="0"/>
                            </a:rPr>
                            <a:t>100</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14:m>
                            <m:oMathPara xmlns:m="http://schemas.openxmlformats.org/officeDocument/2006/math">
                              <m:oMath>
                                <m:r>
                                  <a:rPr lang="x-none" sz="1100">
                                    <a:effectLst/>
                                    <a:latin typeface="Cambria Math" panose="02040503050406030204" pitchFamily="18" charset="0"/>
                                  </a:rPr>
                                  <m:t>=</m:t>
                                </m:r>
                                <m:r>
                                  <a:rPr lang="x-none" sz="1100" i="1">
                                    <a:effectLst/>
                                    <a:latin typeface="Cambria Math" panose="02040503050406030204" pitchFamily="18" charset="0"/>
                                  </a:rPr>
                                  <m:t> </m:t>
                                </m:r>
                                <m:f>
                                  <m:fPr>
                                    <m:ctrlPr>
                                      <a:rPr lang="x-none" sz="1100">
                                        <a:effectLst/>
                                        <a:latin typeface="Cambria Math" panose="02040503050406030204" pitchFamily="18" charset="0"/>
                                      </a:rPr>
                                    </m:ctrlPr>
                                  </m:fPr>
                                  <m:num>
                                    <m:r>
                                      <a:rPr lang="x-none" sz="1100">
                                        <a:effectLst/>
                                        <a:latin typeface="Cambria Math" panose="02040503050406030204" pitchFamily="18" charset="0"/>
                                      </a:rPr>
                                      <m:t>410</m:t>
                                    </m:r>
                                  </m:num>
                                  <m:den>
                                    <m:r>
                                      <a:rPr lang="x-none" sz="1100">
                                        <a:effectLst/>
                                        <a:latin typeface="Cambria Math" panose="02040503050406030204" pitchFamily="18" charset="0"/>
                                      </a:rPr>
                                      <m:t>420</m:t>
                                    </m:r>
                                  </m:den>
                                </m:f>
                                <m:r>
                                  <a:rPr lang="x-none" sz="1100" i="1">
                                    <a:effectLst/>
                                    <a:latin typeface="Cambria Math" panose="02040503050406030204" pitchFamily="18" charset="0"/>
                                  </a:rPr>
                                  <m:t> </m:t>
                                </m:r>
                                <m:r>
                                  <a:rPr lang="x-none" sz="1100">
                                    <a:effectLst/>
                                    <a:latin typeface="Cambria Math" panose="02040503050406030204" pitchFamily="18" charset="0"/>
                                  </a:rPr>
                                  <m:t>𝑥</m:t>
                                </m:r>
                                <m:r>
                                  <a:rPr lang="x-none" sz="1100" i="1">
                                    <a:effectLst/>
                                    <a:latin typeface="Cambria Math" panose="02040503050406030204" pitchFamily="18" charset="0"/>
                                  </a:rPr>
                                  <m:t> </m:t>
                                </m:r>
                                <m:r>
                                  <a:rPr lang="x-none" sz="1100">
                                    <a:effectLst/>
                                    <a:latin typeface="Cambria Math" panose="02040503050406030204" pitchFamily="18" charset="0"/>
                                  </a:rPr>
                                  <m:t>100</m:t>
                                </m:r>
                              </m:oMath>
                            </m:oMathPara>
                          </a14:m>
                          <a:endParaRPr lang="x-none" sz="1100" dirty="0">
                            <a:effectLst/>
                            <a:latin typeface="Avenir Book" panose="02000503020000020003" pitchFamily="2" charset="0"/>
                          </a:endParaRPr>
                        </a:p>
                        <a:p>
                          <a:pPr marL="0" marR="0" algn="ctr" fontAlgn="t">
                            <a:spcBef>
                              <a:spcPts val="0"/>
                            </a:spcBef>
                            <a:spcAft>
                              <a:spcPts val="0"/>
                            </a:spcAft>
                          </a:pPr>
                          <a:r>
                            <a:rPr lang="en-AU" sz="1100" dirty="0">
                              <a:effectLst/>
                              <a:latin typeface="Avenir Book" panose="02000503020000020003" pitchFamily="2" charset="0"/>
                            </a:rPr>
                            <a:t> </a:t>
                          </a:r>
                        </a:p>
                        <a:p>
                          <a:pPr marL="0" marR="0" algn="ctr" fontAlgn="t">
                            <a:spcBef>
                              <a:spcPts val="0"/>
                            </a:spcBef>
                            <a:spcAft>
                              <a:spcPts val="0"/>
                            </a:spcAft>
                          </a:pPr>
                          <a:r>
                            <a:rPr lang="en-AU" sz="1400" b="1" dirty="0">
                              <a:effectLst/>
                              <a:highlight>
                                <a:srgbClr val="FFFF00"/>
                              </a:highlight>
                              <a:latin typeface="Avenir Book" panose="02000503020000020003" pitchFamily="2" charset="0"/>
                            </a:rPr>
                            <a:t>= 98</a:t>
                          </a:r>
                          <a:endParaRPr lang="en-AU" sz="1400" dirty="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14:m>
                            <m:oMathPara xmlns:m="http://schemas.openxmlformats.org/officeDocument/2006/math">
                              <m:oMath>
                                <m:r>
                                  <a:rPr lang="x-none" sz="1100">
                                    <a:effectLst/>
                                    <a:latin typeface="Cambria Math" panose="02040503050406030204" pitchFamily="18" charset="0"/>
                                  </a:rPr>
                                  <m:t>=</m:t>
                                </m:r>
                                <m:r>
                                  <a:rPr lang="x-none" sz="1100" i="1">
                                    <a:effectLst/>
                                    <a:latin typeface="Cambria Math" panose="02040503050406030204" pitchFamily="18" charset="0"/>
                                  </a:rPr>
                                  <m:t> </m:t>
                                </m:r>
                                <m:f>
                                  <m:fPr>
                                    <m:ctrlPr>
                                      <a:rPr lang="x-none" sz="1100">
                                        <a:effectLst/>
                                        <a:latin typeface="Cambria Math" panose="02040503050406030204" pitchFamily="18" charset="0"/>
                                      </a:rPr>
                                    </m:ctrlPr>
                                  </m:fPr>
                                  <m:num>
                                    <m:r>
                                      <a:rPr lang="x-none" sz="1100">
                                        <a:effectLst/>
                                        <a:latin typeface="Cambria Math" panose="02040503050406030204" pitchFamily="18" charset="0"/>
                                      </a:rPr>
                                      <m:t>470</m:t>
                                    </m:r>
                                  </m:num>
                                  <m:den>
                                    <m:r>
                                      <a:rPr lang="x-none" sz="1100">
                                        <a:effectLst/>
                                        <a:latin typeface="Cambria Math" panose="02040503050406030204" pitchFamily="18" charset="0"/>
                                      </a:rPr>
                                      <m:t>420</m:t>
                                    </m:r>
                                  </m:den>
                                </m:f>
                                <m:r>
                                  <a:rPr lang="x-none" sz="1100" i="1">
                                    <a:effectLst/>
                                    <a:latin typeface="Cambria Math" panose="02040503050406030204" pitchFamily="18" charset="0"/>
                                  </a:rPr>
                                  <m:t> </m:t>
                                </m:r>
                                <m:r>
                                  <a:rPr lang="x-none" sz="1100">
                                    <a:effectLst/>
                                    <a:latin typeface="Cambria Math" panose="02040503050406030204" pitchFamily="18" charset="0"/>
                                  </a:rPr>
                                  <m:t>𝑥</m:t>
                                </m:r>
                                <m:r>
                                  <a:rPr lang="x-none" sz="1100" i="1">
                                    <a:effectLst/>
                                    <a:latin typeface="Cambria Math" panose="02040503050406030204" pitchFamily="18" charset="0"/>
                                  </a:rPr>
                                  <m:t> </m:t>
                                </m:r>
                                <m:r>
                                  <a:rPr lang="x-none" sz="1100">
                                    <a:effectLst/>
                                    <a:latin typeface="Cambria Math" panose="02040503050406030204" pitchFamily="18" charset="0"/>
                                  </a:rPr>
                                  <m:t>100</m:t>
                                </m:r>
                              </m:oMath>
                            </m:oMathPara>
                          </a14:m>
                          <a:endParaRPr lang="x-none" sz="1100" dirty="0">
                            <a:effectLst/>
                            <a:latin typeface="Avenir Book" panose="02000503020000020003" pitchFamily="2" charset="0"/>
                          </a:endParaRPr>
                        </a:p>
                        <a:p>
                          <a:pPr marL="0" marR="0" algn="ctr" fontAlgn="t">
                            <a:spcBef>
                              <a:spcPts val="0"/>
                            </a:spcBef>
                            <a:spcAft>
                              <a:spcPts val="0"/>
                            </a:spcAft>
                          </a:pPr>
                          <a:r>
                            <a:rPr lang="en-AU" sz="1100" dirty="0">
                              <a:effectLst/>
                              <a:latin typeface="Avenir Book" panose="02000503020000020003" pitchFamily="2" charset="0"/>
                            </a:rPr>
                            <a:t> </a:t>
                          </a:r>
                        </a:p>
                        <a:p>
                          <a:pPr marL="0" marR="0" algn="ctr" fontAlgn="t">
                            <a:spcBef>
                              <a:spcPts val="0"/>
                            </a:spcBef>
                            <a:spcAft>
                              <a:spcPts val="0"/>
                            </a:spcAft>
                          </a:pPr>
                          <a:r>
                            <a:rPr lang="en-AU" sz="1400" b="1" dirty="0">
                              <a:effectLst/>
                              <a:highlight>
                                <a:srgbClr val="FFFF00"/>
                              </a:highlight>
                              <a:latin typeface="Avenir Book" panose="02000503020000020003" pitchFamily="2" charset="0"/>
                            </a:rPr>
                            <a:t>= 112</a:t>
                          </a:r>
                          <a:endParaRPr lang="en-AU" sz="1400" dirty="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4248849295"/>
                      </a:ext>
                    </a:extLst>
                  </a:tr>
                </a:tbl>
              </a:graphicData>
            </a:graphic>
          </p:graphicFrame>
        </mc:Choice>
        <mc:Fallback xmlns="">
          <p:graphicFrame>
            <p:nvGraphicFramePr>
              <p:cNvPr id="6" name="Table 5">
                <a:extLst>
                  <a:ext uri="{FF2B5EF4-FFF2-40B4-BE49-F238E27FC236}">
                    <a16:creationId xmlns:a16="http://schemas.microsoft.com/office/drawing/2014/main" id="{8992B338-7397-2D40-9772-1CEEF3F36B1B}"/>
                  </a:ext>
                </a:extLst>
              </p:cNvPr>
              <p:cNvGraphicFramePr>
                <a:graphicFrameLocks noGrp="1"/>
              </p:cNvGraphicFramePr>
              <p:nvPr>
                <p:extLst>
                  <p:ext uri="{D42A27DB-BD31-4B8C-83A1-F6EECF244321}">
                    <p14:modId xmlns:p14="http://schemas.microsoft.com/office/powerpoint/2010/main" val="2019649198"/>
                  </p:ext>
                </p:extLst>
              </p:nvPr>
            </p:nvGraphicFramePr>
            <p:xfrm>
              <a:off x="7523230" y="2104281"/>
              <a:ext cx="4283964" cy="3185160"/>
            </p:xfrm>
            <a:graphic>
              <a:graphicData uri="http://schemas.openxmlformats.org/drawingml/2006/table">
                <a:tbl>
                  <a:tblPr/>
                  <a:tblGrid>
                    <a:gridCol w="1025957">
                      <a:extLst>
                        <a:ext uri="{9D8B030D-6E8A-4147-A177-3AD203B41FA5}">
                          <a16:colId xmlns:a16="http://schemas.microsoft.com/office/drawing/2014/main" val="3944278986"/>
                        </a:ext>
                      </a:extLst>
                    </a:gridCol>
                    <a:gridCol w="1086307">
                      <a:extLst>
                        <a:ext uri="{9D8B030D-6E8A-4147-A177-3AD203B41FA5}">
                          <a16:colId xmlns:a16="http://schemas.microsoft.com/office/drawing/2014/main" val="580716216"/>
                        </a:ext>
                      </a:extLst>
                    </a:gridCol>
                    <a:gridCol w="1153058">
                      <a:extLst>
                        <a:ext uri="{9D8B030D-6E8A-4147-A177-3AD203B41FA5}">
                          <a16:colId xmlns:a16="http://schemas.microsoft.com/office/drawing/2014/main" val="2593577671"/>
                        </a:ext>
                      </a:extLst>
                    </a:gridCol>
                    <a:gridCol w="1018642">
                      <a:extLst>
                        <a:ext uri="{9D8B030D-6E8A-4147-A177-3AD203B41FA5}">
                          <a16:colId xmlns:a16="http://schemas.microsoft.com/office/drawing/2014/main" val="3232556513"/>
                        </a:ext>
                      </a:extLst>
                    </a:gridCol>
                  </a:tblGrid>
                  <a:tr h="269240">
                    <a:tc>
                      <a:txBody>
                        <a:bodyPr/>
                        <a:lstStyle/>
                        <a:p>
                          <a:pPr marL="0" marR="0"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b="1">
                              <a:effectLst/>
                              <a:latin typeface="Avenir Book" panose="02000503020000020003" pitchFamily="2" charset="0"/>
                            </a:rPr>
                            <a:t>YEAR 1</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92D050"/>
                        </a:solidFill>
                      </a:tcPr>
                    </a:tc>
                    <a:tc>
                      <a:txBody>
                        <a:bodyPr/>
                        <a:lstStyle/>
                        <a:p>
                          <a:pPr marL="0" marR="0" algn="ctr" fontAlgn="t">
                            <a:spcBef>
                              <a:spcPts val="0"/>
                            </a:spcBef>
                            <a:spcAft>
                              <a:spcPts val="0"/>
                            </a:spcAft>
                          </a:pPr>
                          <a:r>
                            <a:rPr lang="en-AU" sz="1100" b="1">
                              <a:effectLst/>
                              <a:latin typeface="Avenir Book" panose="02000503020000020003" pitchFamily="2" charset="0"/>
                            </a:rPr>
                            <a:t>YEAR 2</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92D050"/>
                        </a:solidFill>
                      </a:tcPr>
                    </a:tc>
                    <a:tc>
                      <a:txBody>
                        <a:bodyPr/>
                        <a:lstStyle/>
                        <a:p>
                          <a:pPr marL="0" marR="0" algn="ctr" fontAlgn="t">
                            <a:spcBef>
                              <a:spcPts val="0"/>
                            </a:spcBef>
                            <a:spcAft>
                              <a:spcPts val="0"/>
                            </a:spcAft>
                          </a:pPr>
                          <a:r>
                            <a:rPr lang="en-AU" sz="1100" b="1">
                              <a:effectLst/>
                              <a:latin typeface="Avenir Book" panose="02000503020000020003" pitchFamily="2" charset="0"/>
                            </a:rPr>
                            <a:t>YEAR 3</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92D050"/>
                        </a:solidFill>
                      </a:tcPr>
                    </a:tc>
                    <a:extLst>
                      <a:ext uri="{0D108BD9-81ED-4DB2-BD59-A6C34878D82A}">
                        <a16:rowId xmlns:a16="http://schemas.microsoft.com/office/drawing/2014/main" val="635159282"/>
                      </a:ext>
                    </a:extLst>
                  </a:tr>
                  <a:tr h="436880">
                    <a:tc>
                      <a:txBody>
                        <a:bodyPr/>
                        <a:lstStyle/>
                        <a:p>
                          <a:pPr marL="0" marR="0" fontAlgn="t">
                            <a:spcBef>
                              <a:spcPts val="0"/>
                            </a:spcBef>
                            <a:spcAft>
                              <a:spcPts val="0"/>
                            </a:spcAft>
                          </a:pPr>
                          <a:r>
                            <a:rPr lang="en-AU" sz="1100" b="1">
                              <a:effectLst/>
                              <a:latin typeface="Avenir Book" panose="02000503020000020003" pitchFamily="2" charset="0"/>
                            </a:rPr>
                            <a:t>Export Good A</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2CC"/>
                        </a:solidFill>
                      </a:tcPr>
                    </a:tc>
                    <a:tc>
                      <a:txBody>
                        <a:bodyPr/>
                        <a:lstStyle/>
                        <a:p>
                          <a:pPr marL="0" marR="0" algn="ctr" fontAlgn="t">
                            <a:spcBef>
                              <a:spcPts val="0"/>
                            </a:spcBef>
                            <a:spcAft>
                              <a:spcPts val="0"/>
                            </a:spcAft>
                          </a:pPr>
                          <a:r>
                            <a:rPr lang="en-AU" sz="1100">
                              <a:effectLst/>
                              <a:latin typeface="Avenir Book" panose="02000503020000020003" pitchFamily="2" charset="0"/>
                            </a:rPr>
                            <a:t>$200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$190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$200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025830466"/>
                      </a:ext>
                    </a:extLst>
                  </a:tr>
                  <a:tr h="436880">
                    <a:tc>
                      <a:txBody>
                        <a:bodyPr/>
                        <a:lstStyle/>
                        <a:p>
                          <a:pPr marL="0" marR="0" fontAlgn="t">
                            <a:spcBef>
                              <a:spcPts val="0"/>
                            </a:spcBef>
                            <a:spcAft>
                              <a:spcPts val="0"/>
                            </a:spcAft>
                          </a:pPr>
                          <a:r>
                            <a:rPr lang="en-AU" sz="1100" b="1">
                              <a:effectLst/>
                              <a:latin typeface="Avenir Book" panose="02000503020000020003" pitchFamily="2" charset="0"/>
                            </a:rPr>
                            <a:t>Export Good B</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2CC"/>
                        </a:solidFill>
                      </a:tcPr>
                    </a:tc>
                    <a:tc>
                      <a:txBody>
                        <a:bodyPr/>
                        <a:lstStyle/>
                        <a:p>
                          <a:pPr marL="0" marR="0" algn="ctr" fontAlgn="t">
                            <a:spcBef>
                              <a:spcPts val="0"/>
                            </a:spcBef>
                            <a:spcAft>
                              <a:spcPts val="0"/>
                            </a:spcAft>
                          </a:pPr>
                          <a:r>
                            <a:rPr lang="en-AU" sz="1100">
                              <a:effectLst/>
                              <a:latin typeface="Avenir Book" panose="02000503020000020003" pitchFamily="2" charset="0"/>
                            </a:rPr>
                            <a:t>$100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$120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$130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239800909"/>
                      </a:ext>
                    </a:extLst>
                  </a:tr>
                  <a:tr h="436880">
                    <a:tc>
                      <a:txBody>
                        <a:bodyPr/>
                        <a:lstStyle/>
                        <a:p>
                          <a:pPr marL="0" marR="0" fontAlgn="t">
                            <a:spcBef>
                              <a:spcPts val="0"/>
                            </a:spcBef>
                            <a:spcAft>
                              <a:spcPts val="0"/>
                            </a:spcAft>
                          </a:pPr>
                          <a:r>
                            <a:rPr lang="en-AU" sz="1100" b="1">
                              <a:effectLst/>
                              <a:latin typeface="Avenir Book" panose="02000503020000020003" pitchFamily="2" charset="0"/>
                            </a:rPr>
                            <a:t>Export Good C</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2CC"/>
                        </a:solidFill>
                      </a:tcPr>
                    </a:tc>
                    <a:tc>
                      <a:txBody>
                        <a:bodyPr/>
                        <a:lstStyle/>
                        <a:p>
                          <a:pPr marL="0" marR="0" algn="ctr" fontAlgn="t">
                            <a:spcBef>
                              <a:spcPts val="0"/>
                            </a:spcBef>
                            <a:spcAft>
                              <a:spcPts val="0"/>
                            </a:spcAft>
                          </a:pPr>
                          <a:r>
                            <a:rPr lang="en-AU" sz="1100" dirty="0">
                              <a:effectLst/>
                              <a:latin typeface="Avenir Book" panose="02000503020000020003" pitchFamily="2" charset="0"/>
                            </a:rPr>
                            <a:t>$120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$100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$140</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920998943"/>
                      </a:ext>
                    </a:extLst>
                  </a:tr>
                  <a:tr h="269240">
                    <a:tc>
                      <a:txBody>
                        <a:bodyPr/>
                        <a:lstStyle/>
                        <a:p>
                          <a:pPr marL="0" marR="0"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633474175"/>
                      </a:ext>
                    </a:extLst>
                  </a:tr>
                  <a:tr h="269240">
                    <a:tc>
                      <a:txBody>
                        <a:bodyPr/>
                        <a:lstStyle/>
                        <a:p>
                          <a:pPr marL="0" marR="0" fontAlgn="t">
                            <a:spcBef>
                              <a:spcPts val="0"/>
                            </a:spcBef>
                            <a:spcAft>
                              <a:spcPts val="0"/>
                            </a:spcAft>
                          </a:pPr>
                          <a:r>
                            <a:rPr lang="en-AU" sz="1100" b="1">
                              <a:effectLst/>
                              <a:latin typeface="Avenir Book" panose="02000503020000020003" pitchFamily="2" charset="0"/>
                            </a:rPr>
                            <a:t>TOTAL</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2CC"/>
                        </a:solidFill>
                      </a:tcPr>
                    </a:tc>
                    <a:tc>
                      <a:txBody>
                        <a:bodyPr/>
                        <a:lstStyle/>
                        <a:p>
                          <a:pPr marL="0" marR="0" algn="ctr" fontAlgn="t">
                            <a:spcBef>
                              <a:spcPts val="0"/>
                            </a:spcBef>
                            <a:spcAft>
                              <a:spcPts val="0"/>
                            </a:spcAft>
                          </a:pPr>
                          <a:r>
                            <a:rPr lang="en-AU" sz="1100" b="1">
                              <a:effectLst/>
                              <a:latin typeface="Avenir Book" panose="02000503020000020003" pitchFamily="2" charset="0"/>
                            </a:rPr>
                            <a:t>$420</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b="1">
                              <a:effectLst/>
                              <a:latin typeface="Avenir Book" panose="02000503020000020003" pitchFamily="2" charset="0"/>
                            </a:rPr>
                            <a:t>$410</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b="1">
                              <a:effectLst/>
                              <a:latin typeface="Avenir Book" panose="02000503020000020003" pitchFamily="2" charset="0"/>
                            </a:rPr>
                            <a:t>$470</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1263391"/>
                      </a:ext>
                    </a:extLst>
                  </a:tr>
                  <a:tr h="269240">
                    <a:tc>
                      <a:txBody>
                        <a:bodyPr/>
                        <a:lstStyle/>
                        <a:p>
                          <a:pPr marL="0" marR="0"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AU" sz="1100">
                              <a:effectLst/>
                              <a:latin typeface="Avenir Book" panose="02000503020000020003"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86492426"/>
                      </a:ext>
                    </a:extLst>
                  </a:tr>
                  <a:tr h="797560">
                    <a:tc>
                      <a:txBody>
                        <a:bodyPr/>
                        <a:lstStyle/>
                        <a:p>
                          <a:pPr marL="0" marR="0" fontAlgn="t">
                            <a:spcBef>
                              <a:spcPts val="0"/>
                            </a:spcBef>
                            <a:spcAft>
                              <a:spcPts val="0"/>
                            </a:spcAft>
                          </a:pPr>
                          <a:r>
                            <a:rPr lang="en-AU" sz="1100" b="1">
                              <a:effectLst/>
                              <a:latin typeface="Avenir Book" panose="02000503020000020003" pitchFamily="2" charset="0"/>
                            </a:rPr>
                            <a:t>XPI</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FF2CC"/>
                        </a:solidFill>
                      </a:tcPr>
                    </a:tc>
                    <a:tc>
                      <a:txBody>
                        <a:bodyPr/>
                        <a:lstStyle/>
                        <a:p>
                          <a:pPr marL="0" marR="0" algn="ctr" fontAlgn="t">
                            <a:spcBef>
                              <a:spcPts val="0"/>
                            </a:spcBef>
                            <a:spcAft>
                              <a:spcPts val="0"/>
                            </a:spcAft>
                          </a:pPr>
                          <a:r>
                            <a:rPr lang="en-AU" sz="1100" b="1">
                              <a:effectLst/>
                              <a:latin typeface="Avenir Book" panose="02000503020000020003" pitchFamily="2" charset="0"/>
                            </a:rPr>
                            <a:t>100</a:t>
                          </a:r>
                          <a:endParaRPr lang="en-AU" sz="1100">
                            <a:effectLst/>
                            <a:latin typeface="Avenir Book" panose="02000503020000020003" pitchFamily="2" charset="0"/>
                          </a:endParaRP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endParaRPr lang="en-US"/>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blipFill>
                          <a:blip r:embed="rId3"/>
                          <a:stretch>
                            <a:fillRect l="-184615" t="-300000" r="-89011" b="-7937"/>
                          </a:stretch>
                        </a:blipFill>
                      </a:tcPr>
                    </a:tc>
                    <a:tc>
                      <a:txBody>
                        <a:bodyPr/>
                        <a:lstStyle/>
                        <a:p>
                          <a:endParaRPr lang="en-US"/>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blipFill>
                          <a:blip r:embed="rId3"/>
                          <a:stretch>
                            <a:fillRect l="-323750" t="-300000" r="-1250" b="-7937"/>
                          </a:stretch>
                        </a:blipFill>
                      </a:tcPr>
                    </a:tc>
                    <a:extLst>
                      <a:ext uri="{0D108BD9-81ED-4DB2-BD59-A6C34878D82A}">
                        <a16:rowId xmlns:a16="http://schemas.microsoft.com/office/drawing/2014/main" val="4248849295"/>
                      </a:ext>
                    </a:extLst>
                  </a:tr>
                </a:tbl>
              </a:graphicData>
            </a:graphic>
          </p:graphicFrame>
        </mc:Fallback>
      </mc:AlternateContent>
      <p:sp>
        <p:nvSpPr>
          <p:cNvPr id="7" name="Rectangle 2">
            <a:extLst>
              <a:ext uri="{FF2B5EF4-FFF2-40B4-BE49-F238E27FC236}">
                <a16:creationId xmlns:a16="http://schemas.microsoft.com/office/drawing/2014/main" id="{4A4B29E2-3B2A-094B-B2CF-EDDD9E8989E5}"/>
              </a:ext>
            </a:extLst>
          </p:cNvPr>
          <p:cNvSpPr>
            <a:spLocks noChangeArrowheads="1"/>
          </p:cNvSpPr>
          <p:nvPr/>
        </p:nvSpPr>
        <p:spPr bwMode="auto">
          <a:xfrm>
            <a:off x="7288012" y="321479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9" name="Straight Arrow Connector 8">
            <a:extLst>
              <a:ext uri="{FF2B5EF4-FFF2-40B4-BE49-F238E27FC236}">
                <a16:creationId xmlns:a16="http://schemas.microsoft.com/office/drawing/2014/main" id="{69071047-7D60-2B40-A232-B46726527F91}"/>
              </a:ext>
            </a:extLst>
          </p:cNvPr>
          <p:cNvCxnSpPr>
            <a:cxnSpLocks/>
          </p:cNvCxnSpPr>
          <p:nvPr/>
        </p:nvCxnSpPr>
        <p:spPr>
          <a:xfrm flipH="1">
            <a:off x="6528415" y="4106779"/>
            <a:ext cx="2390996" cy="4250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02B1CCB0-40A4-AE48-9E13-33D6E51CAF4B}"/>
              </a:ext>
            </a:extLst>
          </p:cNvPr>
          <p:cNvSpPr/>
          <p:nvPr/>
        </p:nvSpPr>
        <p:spPr>
          <a:xfrm>
            <a:off x="4952319" y="4531822"/>
            <a:ext cx="2335693" cy="923330"/>
          </a:xfrm>
          <a:prstGeom prst="rect">
            <a:avLst/>
          </a:prstGeom>
        </p:spPr>
        <p:txBody>
          <a:bodyPr wrap="square">
            <a:spAutoFit/>
          </a:bodyPr>
          <a:lstStyle/>
          <a:p>
            <a:pPr algn="ctr"/>
            <a:r>
              <a:rPr lang="en-AU" b="1" u="sng" dirty="0">
                <a:latin typeface="Creative Thoughts" pitchFamily="2" charset="0"/>
              </a:rPr>
              <a:t>BASE YEAR</a:t>
            </a:r>
            <a:r>
              <a:rPr lang="en-AU" b="1" dirty="0">
                <a:latin typeface="Creative Thoughts" pitchFamily="2" charset="0"/>
              </a:rPr>
              <a:t> - Assigned an index of 100</a:t>
            </a:r>
            <a:endParaRPr lang="en-AU" dirty="0">
              <a:latin typeface="Creative Thoughts" pitchFamily="2" charset="0"/>
            </a:endParaRPr>
          </a:p>
        </p:txBody>
      </p:sp>
      <p:sp>
        <p:nvSpPr>
          <p:cNvPr id="14" name="Rectangle 13">
            <a:extLst>
              <a:ext uri="{FF2B5EF4-FFF2-40B4-BE49-F238E27FC236}">
                <a16:creationId xmlns:a16="http://schemas.microsoft.com/office/drawing/2014/main" id="{B5CB5A50-360B-9A4D-80E4-58B998099457}"/>
              </a:ext>
            </a:extLst>
          </p:cNvPr>
          <p:cNvSpPr/>
          <p:nvPr/>
        </p:nvSpPr>
        <p:spPr>
          <a:xfrm>
            <a:off x="7168454" y="5278268"/>
            <a:ext cx="5137485" cy="1323439"/>
          </a:xfrm>
          <a:prstGeom prst="rect">
            <a:avLst/>
          </a:prstGeom>
        </p:spPr>
        <p:txBody>
          <a:bodyPr wrap="square">
            <a:spAutoFit/>
          </a:bodyPr>
          <a:lstStyle/>
          <a:p>
            <a:r>
              <a:rPr lang="en-AU" sz="1600" b="1" u="sng" dirty="0">
                <a:latin typeface="Avenir Book" panose="02000503020000020003" pitchFamily="2" charset="0"/>
              </a:rPr>
              <a:t>What does the XPI mean?</a:t>
            </a:r>
          </a:p>
          <a:p>
            <a:r>
              <a:rPr lang="en-AU" sz="1600" dirty="0">
                <a:latin typeface="Avenir Book" panose="02000503020000020003" pitchFamily="2" charset="0"/>
              </a:rPr>
              <a:t>If you calculate the </a:t>
            </a:r>
            <a:r>
              <a:rPr lang="en-AU" sz="1600" b="1" dirty="0">
                <a:latin typeface="Avenir Book" panose="02000503020000020003" pitchFamily="2" charset="0"/>
              </a:rPr>
              <a:t>rate of change then you can find the % increase or decrease</a:t>
            </a:r>
            <a:r>
              <a:rPr lang="en-AU" sz="1600" dirty="0">
                <a:latin typeface="Avenir Book" panose="02000503020000020003" pitchFamily="2" charset="0"/>
              </a:rPr>
              <a:t>.</a:t>
            </a:r>
          </a:p>
          <a:p>
            <a:pPr marL="342900" fontAlgn="ctr">
              <a:buFont typeface="Arial" panose="020B0604020202020204" pitchFamily="34" charset="0"/>
              <a:buChar char="•"/>
            </a:pPr>
            <a:r>
              <a:rPr lang="en-AU" sz="1600" dirty="0">
                <a:latin typeface="Avenir Book" panose="02000503020000020003" pitchFamily="2" charset="0"/>
              </a:rPr>
              <a:t>From year 1 to year 2 = 98 - 100 = fall of 2%, </a:t>
            </a:r>
          </a:p>
          <a:p>
            <a:pPr marL="342900" fontAlgn="ctr">
              <a:buFont typeface="Arial" panose="020B0604020202020204" pitchFamily="34" charset="0"/>
              <a:buChar char="•"/>
            </a:pPr>
            <a:r>
              <a:rPr lang="en-AU" sz="1600" dirty="0">
                <a:latin typeface="Avenir Book" panose="02000503020000020003" pitchFamily="2" charset="0"/>
              </a:rPr>
              <a:t>From year 2 to year 3 = 112-98 =  14% rise</a:t>
            </a:r>
          </a:p>
        </p:txBody>
      </p:sp>
    </p:spTree>
    <p:extLst>
      <p:ext uri="{BB962C8B-B14F-4D97-AF65-F5344CB8AC3E}">
        <p14:creationId xmlns:p14="http://schemas.microsoft.com/office/powerpoint/2010/main" val="2269551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6A046-DAC6-EE4A-9B96-2EACCF009218}"/>
              </a:ext>
            </a:extLst>
          </p:cNvPr>
          <p:cNvSpPr>
            <a:spLocks noGrp="1"/>
          </p:cNvSpPr>
          <p:nvPr>
            <p:ph type="title"/>
          </p:nvPr>
        </p:nvSpPr>
        <p:spPr>
          <a:xfrm>
            <a:off x="838200" y="272716"/>
            <a:ext cx="10515600" cy="1052847"/>
          </a:xfrm>
        </p:spPr>
        <p:txBody>
          <a:bodyPr>
            <a:normAutofit/>
          </a:bodyPr>
          <a:lstStyle/>
          <a:p>
            <a:pPr algn="ctr"/>
            <a:r>
              <a:rPr lang="en-US" sz="5000" b="1" dirty="0"/>
              <a:t>HAVE A GO!</a:t>
            </a:r>
          </a:p>
        </p:txBody>
      </p:sp>
      <p:pic>
        <p:nvPicPr>
          <p:cNvPr id="4" name="Picture 3">
            <a:extLst>
              <a:ext uri="{FF2B5EF4-FFF2-40B4-BE49-F238E27FC236}">
                <a16:creationId xmlns:a16="http://schemas.microsoft.com/office/drawing/2014/main" id="{55E7D79C-CCC8-8446-A184-4CBA4B892C30}"/>
              </a:ext>
            </a:extLst>
          </p:cNvPr>
          <p:cNvPicPr>
            <a:picLocks noChangeAspect="1"/>
          </p:cNvPicPr>
          <p:nvPr/>
        </p:nvPicPr>
        <p:blipFill rotWithShape="1">
          <a:blip r:embed="rId3"/>
          <a:srcRect l="1694" t="7713" r="46894" b="9766"/>
          <a:stretch/>
        </p:blipFill>
        <p:spPr>
          <a:xfrm>
            <a:off x="703759" y="1690688"/>
            <a:ext cx="4783805" cy="4616486"/>
          </a:xfrm>
          <a:prstGeom prst="rect">
            <a:avLst/>
          </a:prstGeom>
          <a:ln w="12700">
            <a:solidFill>
              <a:schemeClr val="tx1"/>
            </a:solidFill>
          </a:ln>
        </p:spPr>
      </p:pic>
      <p:sp>
        <p:nvSpPr>
          <p:cNvPr id="5" name="Rectangle 4">
            <a:extLst>
              <a:ext uri="{FF2B5EF4-FFF2-40B4-BE49-F238E27FC236}">
                <a16:creationId xmlns:a16="http://schemas.microsoft.com/office/drawing/2014/main" id="{82E6ED25-F315-EA46-940C-415365D84F7F}"/>
              </a:ext>
            </a:extLst>
          </p:cNvPr>
          <p:cNvSpPr/>
          <p:nvPr/>
        </p:nvSpPr>
        <p:spPr>
          <a:xfrm>
            <a:off x="2951747" y="3693659"/>
            <a:ext cx="433137" cy="192505"/>
          </a:xfrm>
          <a:prstGeom prst="rect">
            <a:avLst/>
          </a:prstGeom>
          <a:solidFill>
            <a:srgbClr val="FED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F263E98-D804-D34C-8313-691B167A8824}"/>
              </a:ext>
            </a:extLst>
          </p:cNvPr>
          <p:cNvSpPr/>
          <p:nvPr/>
        </p:nvSpPr>
        <p:spPr>
          <a:xfrm>
            <a:off x="4724399" y="3693659"/>
            <a:ext cx="433137" cy="188058"/>
          </a:xfrm>
          <a:prstGeom prst="rect">
            <a:avLst/>
          </a:prstGeom>
          <a:solidFill>
            <a:srgbClr val="FED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3D41CB4-7727-BB4B-B939-160AD1D42E81}"/>
              </a:ext>
            </a:extLst>
          </p:cNvPr>
          <p:cNvSpPr/>
          <p:nvPr/>
        </p:nvSpPr>
        <p:spPr>
          <a:xfrm>
            <a:off x="3874168" y="5542547"/>
            <a:ext cx="433137" cy="192505"/>
          </a:xfrm>
          <a:prstGeom prst="rect">
            <a:avLst/>
          </a:prstGeom>
          <a:solidFill>
            <a:srgbClr val="BAE3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68B8D59-2F6A-2844-954A-D1779EC4E75E}"/>
              </a:ext>
            </a:extLst>
          </p:cNvPr>
          <p:cNvSpPr/>
          <p:nvPr/>
        </p:nvSpPr>
        <p:spPr>
          <a:xfrm>
            <a:off x="4724399" y="5542546"/>
            <a:ext cx="433137" cy="192505"/>
          </a:xfrm>
          <a:prstGeom prst="rect">
            <a:avLst/>
          </a:prstGeom>
          <a:solidFill>
            <a:srgbClr val="BAE3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B7C1920-E90F-784A-9AC3-F38836D9F296}"/>
              </a:ext>
            </a:extLst>
          </p:cNvPr>
          <p:cNvSpPr/>
          <p:nvPr/>
        </p:nvSpPr>
        <p:spPr>
          <a:xfrm>
            <a:off x="2874209" y="5884686"/>
            <a:ext cx="505792" cy="192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D232DF-2B4E-9A42-82B5-56A1DCD6EAC7}"/>
              </a:ext>
            </a:extLst>
          </p:cNvPr>
          <p:cNvSpPr/>
          <p:nvPr/>
        </p:nvSpPr>
        <p:spPr>
          <a:xfrm>
            <a:off x="3801513" y="5886508"/>
            <a:ext cx="505792" cy="192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EC746A-49AD-9D48-AE41-E213F8C0C9B3}"/>
              </a:ext>
            </a:extLst>
          </p:cNvPr>
          <p:cNvSpPr/>
          <p:nvPr/>
        </p:nvSpPr>
        <p:spPr>
          <a:xfrm>
            <a:off x="4644538" y="5884687"/>
            <a:ext cx="505792" cy="192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BC212ED-7AE8-4F44-82B8-6AD76132F4DF}"/>
              </a:ext>
            </a:extLst>
          </p:cNvPr>
          <p:cNvSpPr txBox="1"/>
          <p:nvPr/>
        </p:nvSpPr>
        <p:spPr>
          <a:xfrm>
            <a:off x="5904658" y="1595021"/>
            <a:ext cx="5955631" cy="3785652"/>
          </a:xfrm>
          <a:prstGeom prst="rect">
            <a:avLst/>
          </a:prstGeom>
          <a:noFill/>
        </p:spPr>
        <p:txBody>
          <a:bodyPr wrap="square" rtlCol="0">
            <a:spAutoFit/>
          </a:bodyPr>
          <a:lstStyle/>
          <a:p>
            <a:pPr marL="538163" indent="-538163">
              <a:buAutoNum type="arabicPeriod"/>
            </a:pPr>
            <a:r>
              <a:rPr lang="en-US" sz="2400" dirty="0">
                <a:latin typeface="Avenir Book" panose="02000503020000020003" pitchFamily="2" charset="0"/>
              </a:rPr>
              <a:t>Find the missing XPI and MPI figures</a:t>
            </a:r>
          </a:p>
          <a:p>
            <a:pPr marL="538163" indent="-538163">
              <a:buAutoNum type="arabicPeriod"/>
            </a:pPr>
            <a:endParaRPr lang="en-US" sz="2400" dirty="0">
              <a:latin typeface="Avenir Book" panose="02000503020000020003" pitchFamily="2" charset="0"/>
            </a:endParaRPr>
          </a:p>
          <a:p>
            <a:pPr marL="538163" indent="-538163">
              <a:buAutoNum type="arabicPeriod"/>
            </a:pPr>
            <a:r>
              <a:rPr lang="en-US" sz="2400" dirty="0">
                <a:latin typeface="Avenir Book" panose="02000503020000020003" pitchFamily="2" charset="0"/>
              </a:rPr>
              <a:t>Calculate the TOT for years 2-4</a:t>
            </a:r>
          </a:p>
          <a:p>
            <a:pPr marL="538163" indent="-538163">
              <a:buAutoNum type="arabicPeriod"/>
            </a:pPr>
            <a:endParaRPr lang="en-US" sz="2400" dirty="0">
              <a:latin typeface="Avenir Book" panose="02000503020000020003" pitchFamily="2" charset="0"/>
            </a:endParaRPr>
          </a:p>
          <a:p>
            <a:pPr marL="514350" indent="-514350">
              <a:buFont typeface="+mj-lt"/>
              <a:buAutoNum type="arabicPeriod"/>
            </a:pPr>
            <a:r>
              <a:rPr lang="en-US" sz="2400" dirty="0">
                <a:latin typeface="Avenir Book" panose="02000503020000020003" pitchFamily="2" charset="0"/>
              </a:rPr>
              <a:t>Calculate the percentage change in the TOT for Y2, Y3 and Y4.</a:t>
            </a:r>
          </a:p>
          <a:p>
            <a:pPr marL="514350" indent="-514350">
              <a:buFont typeface="+mj-lt"/>
              <a:buAutoNum type="arabicPeriod"/>
            </a:pPr>
            <a:endParaRPr lang="en-US" sz="2400" dirty="0">
              <a:latin typeface="Avenir Book" panose="02000503020000020003" pitchFamily="2" charset="0"/>
            </a:endParaRPr>
          </a:p>
          <a:p>
            <a:pPr marL="514350" indent="-514350">
              <a:buFont typeface="+mj-lt"/>
              <a:buAutoNum type="arabicPeriod"/>
            </a:pPr>
            <a:r>
              <a:rPr lang="en-US" sz="2400" dirty="0">
                <a:latin typeface="Avenir Book" panose="02000503020000020003" pitchFamily="2" charset="0"/>
              </a:rPr>
              <a:t>Give potential reasons for the change in the TOT for each period.</a:t>
            </a:r>
          </a:p>
          <a:p>
            <a:endParaRPr lang="en-US" sz="2400" dirty="0">
              <a:latin typeface="Avenir Book" panose="02000503020000020003" pitchFamily="2" charset="0"/>
            </a:endParaRPr>
          </a:p>
        </p:txBody>
      </p:sp>
    </p:spTree>
    <p:extLst>
      <p:ext uri="{BB962C8B-B14F-4D97-AF65-F5344CB8AC3E}">
        <p14:creationId xmlns:p14="http://schemas.microsoft.com/office/powerpoint/2010/main" val="2137862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8AD84-7A30-6B48-B575-8D22DAEEC125}"/>
              </a:ext>
            </a:extLst>
          </p:cNvPr>
          <p:cNvSpPr>
            <a:spLocks noGrp="1"/>
          </p:cNvSpPr>
          <p:nvPr>
            <p:ph type="title"/>
          </p:nvPr>
        </p:nvSpPr>
        <p:spPr/>
        <p:txBody>
          <a:bodyPr>
            <a:normAutofit/>
          </a:bodyPr>
          <a:lstStyle/>
          <a:p>
            <a:pPr algn="ctr"/>
            <a:r>
              <a:rPr lang="en-US" sz="5000" b="1" dirty="0"/>
              <a:t>SOLUTIONS</a:t>
            </a:r>
          </a:p>
        </p:txBody>
      </p:sp>
      <p:pic>
        <p:nvPicPr>
          <p:cNvPr id="4" name="Picture 3">
            <a:extLst>
              <a:ext uri="{FF2B5EF4-FFF2-40B4-BE49-F238E27FC236}">
                <a16:creationId xmlns:a16="http://schemas.microsoft.com/office/drawing/2014/main" id="{78755EF0-B2AC-0E4A-A058-524CC8F5D23E}"/>
              </a:ext>
            </a:extLst>
          </p:cNvPr>
          <p:cNvPicPr>
            <a:picLocks noChangeAspect="1"/>
          </p:cNvPicPr>
          <p:nvPr/>
        </p:nvPicPr>
        <p:blipFill rotWithShape="1">
          <a:blip r:embed="rId2"/>
          <a:srcRect l="1694" t="7713" r="46894" b="9766"/>
          <a:stretch/>
        </p:blipFill>
        <p:spPr>
          <a:xfrm>
            <a:off x="445711" y="1876389"/>
            <a:ext cx="4783805" cy="4616486"/>
          </a:xfrm>
          <a:prstGeom prst="rect">
            <a:avLst/>
          </a:prstGeom>
          <a:ln w="12700">
            <a:solidFill>
              <a:schemeClr val="tx1"/>
            </a:solidFill>
          </a:ln>
        </p:spPr>
      </p:pic>
      <p:sp>
        <p:nvSpPr>
          <p:cNvPr id="6" name="TextBox 5">
            <a:extLst>
              <a:ext uri="{FF2B5EF4-FFF2-40B4-BE49-F238E27FC236}">
                <a16:creationId xmlns:a16="http://schemas.microsoft.com/office/drawing/2014/main" id="{ED4DC2AE-862B-124B-96A1-9D3A65D9387D}"/>
              </a:ext>
            </a:extLst>
          </p:cNvPr>
          <p:cNvSpPr txBox="1"/>
          <p:nvPr/>
        </p:nvSpPr>
        <p:spPr>
          <a:xfrm>
            <a:off x="5665833" y="1876389"/>
            <a:ext cx="6368717" cy="4154984"/>
          </a:xfrm>
          <a:prstGeom prst="rect">
            <a:avLst/>
          </a:prstGeom>
          <a:noFill/>
        </p:spPr>
        <p:txBody>
          <a:bodyPr wrap="square" rtlCol="0">
            <a:spAutoFit/>
          </a:bodyPr>
          <a:lstStyle/>
          <a:p>
            <a:r>
              <a:rPr lang="en-US" sz="2400" dirty="0">
                <a:solidFill>
                  <a:srgbClr val="FF0000"/>
                </a:solidFill>
                <a:latin typeface="Avenir Book" panose="02000503020000020003" pitchFamily="2" charset="0"/>
              </a:rPr>
              <a:t>Y2 – TOT fell by 4.5%</a:t>
            </a:r>
          </a:p>
          <a:p>
            <a:r>
              <a:rPr lang="en-US" sz="2400" dirty="0">
                <a:solidFill>
                  <a:srgbClr val="FF0000"/>
                </a:solidFill>
                <a:latin typeface="Avenir Book" panose="02000503020000020003" pitchFamily="2" charset="0"/>
              </a:rPr>
              <a:t>Reason – Rise in M prices greater than the rise in X prices.</a:t>
            </a:r>
          </a:p>
          <a:p>
            <a:endParaRPr lang="en-US" sz="2400" dirty="0">
              <a:solidFill>
                <a:srgbClr val="FF0000"/>
              </a:solidFill>
              <a:latin typeface="Avenir Book" panose="02000503020000020003" pitchFamily="2" charset="0"/>
            </a:endParaRPr>
          </a:p>
          <a:p>
            <a:r>
              <a:rPr lang="en-US" sz="2400" dirty="0">
                <a:solidFill>
                  <a:srgbClr val="FF0000"/>
                </a:solidFill>
                <a:latin typeface="Avenir Book" panose="02000503020000020003" pitchFamily="2" charset="0"/>
              </a:rPr>
              <a:t>Y3 – TOT rose by 2.83%</a:t>
            </a:r>
          </a:p>
          <a:p>
            <a:r>
              <a:rPr lang="en-US" sz="2400" dirty="0">
                <a:solidFill>
                  <a:srgbClr val="FF0000"/>
                </a:solidFill>
                <a:latin typeface="Avenir Book" panose="02000503020000020003" pitchFamily="2" charset="0"/>
              </a:rPr>
              <a:t>Reason – Rise in X prices greater than the rise in M prices.</a:t>
            </a:r>
          </a:p>
          <a:p>
            <a:endParaRPr lang="en-US" sz="2400" dirty="0">
              <a:solidFill>
                <a:srgbClr val="FF0000"/>
              </a:solidFill>
              <a:latin typeface="Avenir Book" panose="02000503020000020003" pitchFamily="2" charset="0"/>
            </a:endParaRPr>
          </a:p>
          <a:p>
            <a:r>
              <a:rPr lang="en-US" sz="2400" dirty="0">
                <a:solidFill>
                  <a:srgbClr val="FF0000"/>
                </a:solidFill>
                <a:latin typeface="Avenir Book" panose="02000503020000020003" pitchFamily="2" charset="0"/>
              </a:rPr>
              <a:t>Y4 – TOT rose by 4.58%</a:t>
            </a:r>
          </a:p>
          <a:p>
            <a:r>
              <a:rPr lang="en-US" sz="2400" dirty="0">
                <a:solidFill>
                  <a:srgbClr val="FF0000"/>
                </a:solidFill>
                <a:latin typeface="Avenir Book" panose="02000503020000020003" pitchFamily="2" charset="0"/>
              </a:rPr>
              <a:t>Reason – No change in M prices, however X prices continued to rise.</a:t>
            </a:r>
          </a:p>
        </p:txBody>
      </p:sp>
    </p:spTree>
    <p:extLst>
      <p:ext uri="{BB962C8B-B14F-4D97-AF65-F5344CB8AC3E}">
        <p14:creationId xmlns:p14="http://schemas.microsoft.com/office/powerpoint/2010/main" val="1472191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82584-2397-6242-A9E3-CDC8277735C4}"/>
              </a:ext>
            </a:extLst>
          </p:cNvPr>
          <p:cNvSpPr>
            <a:spLocks noGrp="1"/>
          </p:cNvSpPr>
          <p:nvPr>
            <p:ph type="title"/>
          </p:nvPr>
        </p:nvSpPr>
        <p:spPr>
          <a:xfrm>
            <a:off x="218573" y="243679"/>
            <a:ext cx="11754853" cy="1009651"/>
          </a:xfrm>
        </p:spPr>
        <p:txBody>
          <a:bodyPr>
            <a:noAutofit/>
          </a:bodyPr>
          <a:lstStyle/>
          <a:p>
            <a:pPr algn="ctr"/>
            <a:r>
              <a:rPr lang="en-US" sz="4000" b="1" dirty="0"/>
              <a:t>UNDERSTANDING A RISE OR FALL IN THE TOT</a:t>
            </a:r>
          </a:p>
        </p:txBody>
      </p:sp>
      <p:sp>
        <p:nvSpPr>
          <p:cNvPr id="3" name="Content Placeholder 2">
            <a:extLst>
              <a:ext uri="{FF2B5EF4-FFF2-40B4-BE49-F238E27FC236}">
                <a16:creationId xmlns:a16="http://schemas.microsoft.com/office/drawing/2014/main" id="{CF308BEB-4291-014C-8A8B-EC50EA23CCF4}"/>
              </a:ext>
            </a:extLst>
          </p:cNvPr>
          <p:cNvSpPr>
            <a:spLocks noGrp="1"/>
          </p:cNvSpPr>
          <p:nvPr>
            <p:ph idx="1"/>
          </p:nvPr>
        </p:nvSpPr>
        <p:spPr>
          <a:xfrm>
            <a:off x="218573" y="1434768"/>
            <a:ext cx="7085051" cy="5179553"/>
          </a:xfrm>
        </p:spPr>
        <p:txBody>
          <a:bodyPr>
            <a:normAutofit/>
          </a:bodyPr>
          <a:lstStyle/>
          <a:p>
            <a:r>
              <a:rPr lang="en-AU" sz="2400" dirty="0"/>
              <a:t>The absolute value of the TOT is NOT as important as the CHANGE from year to year.</a:t>
            </a:r>
          </a:p>
          <a:p>
            <a:pPr lvl="1"/>
            <a:r>
              <a:rPr lang="en-AU" sz="2400" dirty="0"/>
              <a:t>For example, if the TOT for year 3 was 109.5, that number is not important, what is important is whether it has risen or fallen from the previous year.</a:t>
            </a:r>
          </a:p>
          <a:p>
            <a:r>
              <a:rPr lang="en-AU" sz="2400" dirty="0"/>
              <a:t>We talk about the TOT being favourable or unfavourable from year to year. </a:t>
            </a:r>
          </a:p>
          <a:p>
            <a:r>
              <a:rPr lang="en-AU" sz="2400" dirty="0"/>
              <a:t>A rise in the TOT is seen as favourable.</a:t>
            </a:r>
          </a:p>
          <a:p>
            <a:r>
              <a:rPr lang="en-AU" sz="2400" dirty="0"/>
              <a:t>A fall would be unfavourable.</a:t>
            </a:r>
          </a:p>
          <a:p>
            <a:endParaRPr lang="en-US" sz="2400" dirty="0"/>
          </a:p>
        </p:txBody>
      </p:sp>
      <p:graphicFrame>
        <p:nvGraphicFramePr>
          <p:cNvPr id="5" name="Table 4">
            <a:extLst>
              <a:ext uri="{FF2B5EF4-FFF2-40B4-BE49-F238E27FC236}">
                <a16:creationId xmlns:a16="http://schemas.microsoft.com/office/drawing/2014/main" id="{8CB595D3-ADE4-8C4C-BED9-92AB1911FF2A}"/>
              </a:ext>
            </a:extLst>
          </p:cNvPr>
          <p:cNvGraphicFramePr>
            <a:graphicFrameLocks noGrp="1"/>
          </p:cNvGraphicFramePr>
          <p:nvPr/>
        </p:nvGraphicFramePr>
        <p:xfrm>
          <a:off x="7591147" y="2074328"/>
          <a:ext cx="2162453" cy="3454400"/>
        </p:xfrm>
        <a:graphic>
          <a:graphicData uri="http://schemas.openxmlformats.org/drawingml/2006/table">
            <a:tbl>
              <a:tblPr/>
              <a:tblGrid>
                <a:gridCol w="1181291">
                  <a:extLst>
                    <a:ext uri="{9D8B030D-6E8A-4147-A177-3AD203B41FA5}">
                      <a16:colId xmlns:a16="http://schemas.microsoft.com/office/drawing/2014/main" val="181256965"/>
                    </a:ext>
                  </a:extLst>
                </a:gridCol>
                <a:gridCol w="981162">
                  <a:extLst>
                    <a:ext uri="{9D8B030D-6E8A-4147-A177-3AD203B41FA5}">
                      <a16:colId xmlns:a16="http://schemas.microsoft.com/office/drawing/2014/main" val="1037424790"/>
                    </a:ext>
                  </a:extLst>
                </a:gridCol>
              </a:tblGrid>
              <a:tr h="754148">
                <a:tc>
                  <a:txBody>
                    <a:bodyPr/>
                    <a:lstStyle/>
                    <a:p>
                      <a:pPr marL="0" marR="0" fontAlgn="t">
                        <a:spcBef>
                          <a:spcPts val="0"/>
                        </a:spcBef>
                        <a:spcAft>
                          <a:spcPts val="0"/>
                        </a:spcAft>
                      </a:pPr>
                      <a:r>
                        <a:rPr lang="en-AU" sz="2500" b="1">
                          <a:effectLst/>
                          <a:latin typeface="Creative Thoughts" pitchFamily="2" charset="0"/>
                        </a:rPr>
                        <a:t>Year 1</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AU" sz="2500" b="0" dirty="0">
                          <a:effectLst/>
                          <a:latin typeface="Creative Thoughts" pitchFamily="2" charset="0"/>
                        </a:rPr>
                        <a:t>100</a:t>
                      </a:r>
                    </a:p>
                    <a:p>
                      <a:pPr marL="0" marR="0" fontAlgn="t">
                        <a:spcBef>
                          <a:spcPts val="0"/>
                        </a:spcBef>
                        <a:spcAft>
                          <a:spcPts val="0"/>
                        </a:spcAft>
                      </a:pPr>
                      <a:r>
                        <a:rPr lang="en-AU" sz="2500" b="0" dirty="0">
                          <a:effectLst/>
                          <a:latin typeface="Creative Thoughts"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70921241"/>
                  </a:ext>
                </a:extLst>
              </a:tr>
              <a:tr h="754148">
                <a:tc>
                  <a:txBody>
                    <a:bodyPr/>
                    <a:lstStyle/>
                    <a:p>
                      <a:pPr marL="0" marR="0" fontAlgn="t">
                        <a:spcBef>
                          <a:spcPts val="0"/>
                        </a:spcBef>
                        <a:spcAft>
                          <a:spcPts val="0"/>
                        </a:spcAft>
                      </a:pPr>
                      <a:r>
                        <a:rPr lang="en-AU" sz="2500" b="1">
                          <a:effectLst/>
                          <a:latin typeface="Creative Thoughts" pitchFamily="2" charset="0"/>
                        </a:rPr>
                        <a:t>Year 2</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AU" sz="2500" b="0">
                          <a:effectLst/>
                          <a:latin typeface="Creative Thoughts" pitchFamily="2" charset="0"/>
                        </a:rPr>
                        <a:t>95.5</a:t>
                      </a:r>
                    </a:p>
                    <a:p>
                      <a:pPr marL="0" marR="0" fontAlgn="t">
                        <a:spcBef>
                          <a:spcPts val="0"/>
                        </a:spcBef>
                        <a:spcAft>
                          <a:spcPts val="0"/>
                        </a:spcAft>
                      </a:pPr>
                      <a:r>
                        <a:rPr lang="en-AU" sz="2500" b="0">
                          <a:effectLst/>
                          <a:latin typeface="Creative Thoughts"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255764197"/>
                  </a:ext>
                </a:extLst>
              </a:tr>
              <a:tr h="754148">
                <a:tc>
                  <a:txBody>
                    <a:bodyPr/>
                    <a:lstStyle/>
                    <a:p>
                      <a:pPr marL="0" marR="0" fontAlgn="t">
                        <a:spcBef>
                          <a:spcPts val="0"/>
                        </a:spcBef>
                        <a:spcAft>
                          <a:spcPts val="0"/>
                        </a:spcAft>
                      </a:pPr>
                      <a:r>
                        <a:rPr lang="en-AU" sz="2500" b="1">
                          <a:effectLst/>
                          <a:latin typeface="Creative Thoughts" pitchFamily="2" charset="0"/>
                        </a:rPr>
                        <a:t>Year 3</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AU" sz="2500" b="0">
                          <a:effectLst/>
                          <a:latin typeface="Creative Thoughts" pitchFamily="2" charset="0"/>
                        </a:rPr>
                        <a:t>97.4</a:t>
                      </a:r>
                    </a:p>
                    <a:p>
                      <a:pPr marL="0" marR="0" fontAlgn="t">
                        <a:spcBef>
                          <a:spcPts val="0"/>
                        </a:spcBef>
                        <a:spcAft>
                          <a:spcPts val="0"/>
                        </a:spcAft>
                      </a:pPr>
                      <a:r>
                        <a:rPr lang="en-AU" sz="2500" b="0">
                          <a:effectLst/>
                          <a:latin typeface="Creative Thoughts"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493191598"/>
                  </a:ext>
                </a:extLst>
              </a:tr>
              <a:tr h="754148">
                <a:tc>
                  <a:txBody>
                    <a:bodyPr/>
                    <a:lstStyle/>
                    <a:p>
                      <a:pPr marL="0" marR="0" fontAlgn="t">
                        <a:spcBef>
                          <a:spcPts val="0"/>
                        </a:spcBef>
                        <a:spcAft>
                          <a:spcPts val="0"/>
                        </a:spcAft>
                      </a:pPr>
                      <a:r>
                        <a:rPr lang="en-AU" sz="2500" b="1" dirty="0">
                          <a:effectLst/>
                          <a:latin typeface="Creative Thoughts" pitchFamily="2" charset="0"/>
                        </a:rPr>
                        <a:t>Year 4</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AU" sz="2500" b="0" dirty="0">
                          <a:effectLst/>
                          <a:latin typeface="Creative Thoughts" pitchFamily="2" charset="0"/>
                        </a:rPr>
                        <a:t>101.9</a:t>
                      </a:r>
                    </a:p>
                    <a:p>
                      <a:pPr marL="0" marR="0" fontAlgn="t">
                        <a:spcBef>
                          <a:spcPts val="0"/>
                        </a:spcBef>
                        <a:spcAft>
                          <a:spcPts val="0"/>
                        </a:spcAft>
                      </a:pPr>
                      <a:r>
                        <a:rPr lang="en-AU" sz="2500" b="0" dirty="0">
                          <a:effectLst/>
                          <a:latin typeface="Creative Thoughts" pitchFamily="2" charset="0"/>
                        </a:rPr>
                        <a:t> </a:t>
                      </a:r>
                    </a:p>
                  </a:txBody>
                  <a:tcPr marL="50800" marR="50800" marT="50800" marB="50800">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398501406"/>
                  </a:ext>
                </a:extLst>
              </a:tr>
            </a:tbl>
          </a:graphicData>
        </a:graphic>
      </p:graphicFrame>
      <p:sp>
        <p:nvSpPr>
          <p:cNvPr id="6" name="Rectangle 5">
            <a:extLst>
              <a:ext uri="{FF2B5EF4-FFF2-40B4-BE49-F238E27FC236}">
                <a16:creationId xmlns:a16="http://schemas.microsoft.com/office/drawing/2014/main" id="{DA5D3A6C-EF93-834C-B963-D2D57D46F350}"/>
              </a:ext>
            </a:extLst>
          </p:cNvPr>
          <p:cNvSpPr/>
          <p:nvPr/>
        </p:nvSpPr>
        <p:spPr>
          <a:xfrm>
            <a:off x="9753600" y="3013438"/>
            <a:ext cx="2541224" cy="584775"/>
          </a:xfrm>
          <a:prstGeom prst="rect">
            <a:avLst/>
          </a:prstGeom>
        </p:spPr>
        <p:txBody>
          <a:bodyPr wrap="square">
            <a:spAutoFit/>
          </a:bodyPr>
          <a:lstStyle/>
          <a:p>
            <a:pPr algn="ctr"/>
            <a:r>
              <a:rPr lang="en-AU" sz="1600" b="1" dirty="0">
                <a:solidFill>
                  <a:srgbClr val="002060"/>
                </a:solidFill>
              </a:rPr>
              <a:t>TOT has fallen by 4.5% = UNFAVOURABLE</a:t>
            </a:r>
            <a:endParaRPr lang="en-AU" sz="1600" dirty="0">
              <a:solidFill>
                <a:srgbClr val="002060"/>
              </a:solidFill>
            </a:endParaRPr>
          </a:p>
        </p:txBody>
      </p:sp>
      <p:sp>
        <p:nvSpPr>
          <p:cNvPr id="8" name="Rectangle 7">
            <a:extLst>
              <a:ext uri="{FF2B5EF4-FFF2-40B4-BE49-F238E27FC236}">
                <a16:creationId xmlns:a16="http://schemas.microsoft.com/office/drawing/2014/main" id="{6C7D89A5-E033-F149-8182-7E042634372C}"/>
              </a:ext>
            </a:extLst>
          </p:cNvPr>
          <p:cNvSpPr/>
          <p:nvPr/>
        </p:nvSpPr>
        <p:spPr>
          <a:xfrm>
            <a:off x="9753600" y="3919640"/>
            <a:ext cx="2219826" cy="584775"/>
          </a:xfrm>
          <a:prstGeom prst="rect">
            <a:avLst/>
          </a:prstGeom>
        </p:spPr>
        <p:txBody>
          <a:bodyPr wrap="square">
            <a:spAutoFit/>
          </a:bodyPr>
          <a:lstStyle/>
          <a:p>
            <a:pPr algn="ctr"/>
            <a:r>
              <a:rPr lang="en-AU" sz="1600" b="1" dirty="0">
                <a:solidFill>
                  <a:srgbClr val="002060"/>
                </a:solidFill>
              </a:rPr>
              <a:t>TOT has risen 1.9% = FAVOURABLE</a:t>
            </a:r>
            <a:endParaRPr lang="en-AU" sz="1600" dirty="0">
              <a:solidFill>
                <a:srgbClr val="002060"/>
              </a:solidFill>
            </a:endParaRPr>
          </a:p>
        </p:txBody>
      </p:sp>
      <p:sp>
        <p:nvSpPr>
          <p:cNvPr id="9" name="Rectangle 8">
            <a:extLst>
              <a:ext uri="{FF2B5EF4-FFF2-40B4-BE49-F238E27FC236}">
                <a16:creationId xmlns:a16="http://schemas.microsoft.com/office/drawing/2014/main" id="{A80E36D4-46D6-3E44-91E9-0D8800B438ED}"/>
              </a:ext>
            </a:extLst>
          </p:cNvPr>
          <p:cNvSpPr/>
          <p:nvPr/>
        </p:nvSpPr>
        <p:spPr>
          <a:xfrm>
            <a:off x="9753600" y="4622526"/>
            <a:ext cx="2219826" cy="584775"/>
          </a:xfrm>
          <a:prstGeom prst="rect">
            <a:avLst/>
          </a:prstGeom>
        </p:spPr>
        <p:txBody>
          <a:bodyPr wrap="square">
            <a:spAutoFit/>
          </a:bodyPr>
          <a:lstStyle/>
          <a:p>
            <a:pPr algn="ctr"/>
            <a:r>
              <a:rPr lang="en-AU" sz="1600" b="1" dirty="0">
                <a:solidFill>
                  <a:srgbClr val="002060"/>
                </a:solidFill>
              </a:rPr>
              <a:t>TOT has risen 4.6% = FAVOURABLE</a:t>
            </a:r>
            <a:endParaRPr lang="en-AU" sz="1600" dirty="0">
              <a:solidFill>
                <a:srgbClr val="002060"/>
              </a:solidFill>
            </a:endParaRPr>
          </a:p>
        </p:txBody>
      </p:sp>
    </p:spTree>
    <p:extLst>
      <p:ext uri="{BB962C8B-B14F-4D97-AF65-F5344CB8AC3E}">
        <p14:creationId xmlns:p14="http://schemas.microsoft.com/office/powerpoint/2010/main" val="1616855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916BA-B37F-D343-8719-D85393CE0282}"/>
              </a:ext>
            </a:extLst>
          </p:cNvPr>
          <p:cNvSpPr>
            <a:spLocks noGrp="1"/>
          </p:cNvSpPr>
          <p:nvPr>
            <p:ph type="title"/>
          </p:nvPr>
        </p:nvSpPr>
        <p:spPr/>
        <p:txBody>
          <a:bodyPr/>
          <a:lstStyle/>
          <a:p>
            <a:pPr algn="ctr"/>
            <a:r>
              <a:rPr lang="en-US" b="1" dirty="0"/>
              <a:t>RISE IN THE TOT (FAVOURABLE)</a:t>
            </a:r>
          </a:p>
        </p:txBody>
      </p:sp>
      <p:sp>
        <p:nvSpPr>
          <p:cNvPr id="3" name="Content Placeholder 2">
            <a:extLst>
              <a:ext uri="{FF2B5EF4-FFF2-40B4-BE49-F238E27FC236}">
                <a16:creationId xmlns:a16="http://schemas.microsoft.com/office/drawing/2014/main" id="{9D7CDBF0-0EFB-1C48-9AD3-9D9FE4E5B271}"/>
              </a:ext>
            </a:extLst>
          </p:cNvPr>
          <p:cNvSpPr>
            <a:spLocks noGrp="1"/>
          </p:cNvSpPr>
          <p:nvPr>
            <p:ph idx="1"/>
          </p:nvPr>
        </p:nvSpPr>
        <p:spPr>
          <a:xfrm>
            <a:off x="402511" y="2028180"/>
            <a:ext cx="11386977" cy="4351338"/>
          </a:xfrm>
        </p:spPr>
        <p:txBody>
          <a:bodyPr>
            <a:normAutofit fontScale="92500" lnSpcReduction="20000"/>
          </a:bodyPr>
          <a:lstStyle/>
          <a:p>
            <a:pPr fontAlgn="ctr"/>
            <a:r>
              <a:rPr lang="en-AU" sz="3000" dirty="0"/>
              <a:t>Means that export prices rise relative to import prices</a:t>
            </a:r>
          </a:p>
          <a:p>
            <a:pPr marL="514350" indent="-514350" fontAlgn="ctr">
              <a:buFont typeface="+mj-lt"/>
              <a:buAutoNum type="alphaLcParenR"/>
            </a:pPr>
            <a:r>
              <a:rPr lang="en-AU" sz="3000" dirty="0"/>
              <a:t>Caused by XPI rises and/or MPI falls</a:t>
            </a:r>
          </a:p>
          <a:p>
            <a:pPr marL="514350" indent="-514350" fontAlgn="ctr">
              <a:buFont typeface="+mj-lt"/>
              <a:buAutoNum type="alphaLcParenR"/>
            </a:pPr>
            <a:r>
              <a:rPr lang="en-AU" sz="2800" dirty="0"/>
              <a:t>OR Could get XPI and MPI rising but for TOT to rise, XPI must have risen by more</a:t>
            </a:r>
          </a:p>
          <a:p>
            <a:pPr marL="514350" indent="-514350" fontAlgn="ctr">
              <a:buFont typeface="+mj-lt"/>
              <a:buAutoNum type="alphaLcParenR"/>
            </a:pPr>
            <a:r>
              <a:rPr lang="en-AU" sz="3000" dirty="0"/>
              <a:t>OR Could be Fall in XPI and MPI, but for TOT to rise MPI must fall by more</a:t>
            </a:r>
          </a:p>
          <a:p>
            <a:pPr fontAlgn="ctr"/>
            <a:r>
              <a:rPr lang="en-AU" sz="3000" dirty="0"/>
              <a:t>Means that we can purchase more imports with a given quantity of exports </a:t>
            </a:r>
          </a:p>
          <a:p>
            <a:pPr fontAlgn="ctr"/>
            <a:r>
              <a:rPr lang="en-AU" sz="3000" dirty="0"/>
              <a:t>In other words, purchasing power has increased </a:t>
            </a:r>
          </a:p>
          <a:p>
            <a:pPr marL="0" indent="0">
              <a:buNone/>
            </a:pPr>
            <a:endParaRPr lang="en-US" dirty="0"/>
          </a:p>
        </p:txBody>
      </p:sp>
    </p:spTree>
    <p:extLst>
      <p:ext uri="{BB962C8B-B14F-4D97-AF65-F5344CB8AC3E}">
        <p14:creationId xmlns:p14="http://schemas.microsoft.com/office/powerpoint/2010/main" val="2375038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42E0-15A6-014F-9927-71B39FF2733C}"/>
              </a:ext>
            </a:extLst>
          </p:cNvPr>
          <p:cNvSpPr>
            <a:spLocks noGrp="1"/>
          </p:cNvSpPr>
          <p:nvPr>
            <p:ph type="title"/>
          </p:nvPr>
        </p:nvSpPr>
        <p:spPr/>
        <p:txBody>
          <a:bodyPr>
            <a:normAutofit fontScale="90000"/>
          </a:bodyPr>
          <a:lstStyle/>
          <a:p>
            <a:pPr algn="ctr"/>
            <a:r>
              <a:rPr lang="en-US" b="1" dirty="0"/>
              <a:t>FALL IN THE TOT (UNFAVOURABLE)</a:t>
            </a:r>
            <a:endParaRPr lang="en-US" dirty="0"/>
          </a:p>
        </p:txBody>
      </p:sp>
      <p:sp>
        <p:nvSpPr>
          <p:cNvPr id="3" name="Content Placeholder 2">
            <a:extLst>
              <a:ext uri="{FF2B5EF4-FFF2-40B4-BE49-F238E27FC236}">
                <a16:creationId xmlns:a16="http://schemas.microsoft.com/office/drawing/2014/main" id="{32441043-4A1F-6847-8EF0-9A329FA1D4A1}"/>
              </a:ext>
            </a:extLst>
          </p:cNvPr>
          <p:cNvSpPr>
            <a:spLocks noGrp="1"/>
          </p:cNvSpPr>
          <p:nvPr>
            <p:ph idx="1"/>
          </p:nvPr>
        </p:nvSpPr>
        <p:spPr>
          <a:xfrm>
            <a:off x="444537" y="1690688"/>
            <a:ext cx="11302926" cy="4351338"/>
          </a:xfrm>
        </p:spPr>
        <p:txBody>
          <a:bodyPr>
            <a:normAutofit fontScale="92500" lnSpcReduction="10000"/>
          </a:bodyPr>
          <a:lstStyle/>
          <a:p>
            <a:pPr fontAlgn="ctr"/>
            <a:r>
              <a:rPr lang="en-AU" sz="3000" dirty="0"/>
              <a:t>Means that import prices rise relative to export prices</a:t>
            </a:r>
          </a:p>
          <a:p>
            <a:pPr marL="514350" indent="-514350" fontAlgn="ctr">
              <a:buFont typeface="+mj-lt"/>
              <a:buAutoNum type="alphaLcParenR"/>
            </a:pPr>
            <a:r>
              <a:rPr lang="en-AU" sz="3000" dirty="0"/>
              <a:t>Caused by XPI falls and/or MPI rises</a:t>
            </a:r>
          </a:p>
          <a:p>
            <a:pPr marL="514350" indent="-514350" fontAlgn="ctr">
              <a:buFont typeface="+mj-lt"/>
              <a:buAutoNum type="alphaLcParenR"/>
            </a:pPr>
            <a:r>
              <a:rPr lang="en-AU" sz="3000" dirty="0"/>
              <a:t>OR Could get a fall in XPI and MPI, but for TOT to fall XPI must fall more</a:t>
            </a:r>
          </a:p>
          <a:p>
            <a:pPr marL="514350" indent="-514350" fontAlgn="ctr">
              <a:buFont typeface="+mj-lt"/>
              <a:buAutoNum type="alphaLcParenR"/>
            </a:pPr>
            <a:r>
              <a:rPr lang="en-AU" sz="3000" dirty="0"/>
              <a:t>OR Rise in XPI and MPI, but for TOT to fall MPI must rise by more</a:t>
            </a:r>
          </a:p>
          <a:p>
            <a:pPr fontAlgn="ctr"/>
            <a:r>
              <a:rPr lang="en-AU" sz="3000" dirty="0"/>
              <a:t>Means we can purchase less imports with a given quantity of exports</a:t>
            </a:r>
          </a:p>
          <a:p>
            <a:pPr fontAlgn="ctr"/>
            <a:r>
              <a:rPr lang="en-AU" sz="3000" dirty="0"/>
              <a:t>In other words, purchasing power has declined</a:t>
            </a:r>
          </a:p>
          <a:p>
            <a:pPr marL="0" indent="0">
              <a:buNone/>
            </a:pPr>
            <a:endParaRPr lang="en-US" dirty="0"/>
          </a:p>
        </p:txBody>
      </p:sp>
    </p:spTree>
    <p:extLst>
      <p:ext uri="{BB962C8B-B14F-4D97-AF65-F5344CB8AC3E}">
        <p14:creationId xmlns:p14="http://schemas.microsoft.com/office/powerpoint/2010/main" val="2040094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1ED62-E2AD-E8FD-F53D-827C9C0BCF8D}"/>
              </a:ext>
            </a:extLst>
          </p:cNvPr>
          <p:cNvSpPr>
            <a:spLocks noGrp="1"/>
          </p:cNvSpPr>
          <p:nvPr>
            <p:ph type="title"/>
          </p:nvPr>
        </p:nvSpPr>
        <p:spPr/>
        <p:txBody>
          <a:bodyPr/>
          <a:lstStyle/>
          <a:p>
            <a:r>
              <a:rPr lang="en-GB" dirty="0"/>
              <a:t>PAST EXAM QUESTIONS </a:t>
            </a:r>
            <a:endParaRPr lang="en-AU" dirty="0"/>
          </a:p>
        </p:txBody>
      </p:sp>
      <p:pic>
        <p:nvPicPr>
          <p:cNvPr id="5" name="Picture 4">
            <a:extLst>
              <a:ext uri="{FF2B5EF4-FFF2-40B4-BE49-F238E27FC236}">
                <a16:creationId xmlns:a16="http://schemas.microsoft.com/office/drawing/2014/main" id="{ED3BBA5D-9908-5B05-432C-EA12ED0CB05E}"/>
              </a:ext>
            </a:extLst>
          </p:cNvPr>
          <p:cNvPicPr>
            <a:picLocks noChangeAspect="1"/>
          </p:cNvPicPr>
          <p:nvPr/>
        </p:nvPicPr>
        <p:blipFill>
          <a:blip r:embed="rId3"/>
          <a:stretch>
            <a:fillRect/>
          </a:stretch>
        </p:blipFill>
        <p:spPr>
          <a:xfrm>
            <a:off x="1063752" y="1864897"/>
            <a:ext cx="8468907" cy="4229690"/>
          </a:xfrm>
          <a:prstGeom prst="rect">
            <a:avLst/>
          </a:prstGeom>
        </p:spPr>
      </p:pic>
      <p:sp>
        <p:nvSpPr>
          <p:cNvPr id="6" name="Rectangle 5">
            <a:extLst>
              <a:ext uri="{FF2B5EF4-FFF2-40B4-BE49-F238E27FC236}">
                <a16:creationId xmlns:a16="http://schemas.microsoft.com/office/drawing/2014/main" id="{954A8C49-0D4A-D3DD-D870-5A951AD18E6C}"/>
              </a:ext>
            </a:extLst>
          </p:cNvPr>
          <p:cNvSpPr/>
          <p:nvPr/>
        </p:nvSpPr>
        <p:spPr>
          <a:xfrm>
            <a:off x="1572768" y="4486656"/>
            <a:ext cx="4828032" cy="414528"/>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1388013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320CF-FA0F-3993-214E-FD6B39B717B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2755890-D414-4CF9-9979-9605DE52ABC7}"/>
              </a:ext>
            </a:extLst>
          </p:cNvPr>
          <p:cNvPicPr>
            <a:picLocks noChangeAspect="1"/>
          </p:cNvPicPr>
          <p:nvPr/>
        </p:nvPicPr>
        <p:blipFill>
          <a:blip r:embed="rId3"/>
          <a:stretch>
            <a:fillRect/>
          </a:stretch>
        </p:blipFill>
        <p:spPr>
          <a:xfrm>
            <a:off x="1063752" y="1666151"/>
            <a:ext cx="7983064" cy="4915586"/>
          </a:xfrm>
          <a:prstGeom prst="rect">
            <a:avLst/>
          </a:prstGeom>
        </p:spPr>
      </p:pic>
      <p:sp>
        <p:nvSpPr>
          <p:cNvPr id="2" name="Title 1">
            <a:extLst>
              <a:ext uri="{FF2B5EF4-FFF2-40B4-BE49-F238E27FC236}">
                <a16:creationId xmlns:a16="http://schemas.microsoft.com/office/drawing/2014/main" id="{7C6C7DEF-9C17-DD8B-09A1-F80BC804EA15}"/>
              </a:ext>
            </a:extLst>
          </p:cNvPr>
          <p:cNvSpPr>
            <a:spLocks noGrp="1"/>
          </p:cNvSpPr>
          <p:nvPr>
            <p:ph type="title"/>
          </p:nvPr>
        </p:nvSpPr>
        <p:spPr/>
        <p:txBody>
          <a:bodyPr/>
          <a:lstStyle/>
          <a:p>
            <a:r>
              <a:rPr lang="en-GB" dirty="0"/>
              <a:t>PAST EXAM QUESTIONS </a:t>
            </a:r>
            <a:endParaRPr lang="en-AU" dirty="0"/>
          </a:p>
        </p:txBody>
      </p:sp>
      <p:sp>
        <p:nvSpPr>
          <p:cNvPr id="6" name="Rectangle 5">
            <a:extLst>
              <a:ext uri="{FF2B5EF4-FFF2-40B4-BE49-F238E27FC236}">
                <a16:creationId xmlns:a16="http://schemas.microsoft.com/office/drawing/2014/main" id="{D5877260-2E36-3379-CB02-BC1E7B683742}"/>
              </a:ext>
            </a:extLst>
          </p:cNvPr>
          <p:cNvSpPr/>
          <p:nvPr/>
        </p:nvSpPr>
        <p:spPr>
          <a:xfrm>
            <a:off x="1584960" y="6166104"/>
            <a:ext cx="4828032" cy="414528"/>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2444062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17B32-C964-0124-61F7-DEE712FDA601}"/>
              </a:ext>
            </a:extLst>
          </p:cNvPr>
          <p:cNvSpPr>
            <a:spLocks noGrp="1"/>
          </p:cNvSpPr>
          <p:nvPr>
            <p:ph type="title"/>
          </p:nvPr>
        </p:nvSpPr>
        <p:spPr>
          <a:xfrm>
            <a:off x="4970109" y="484632"/>
            <a:ext cx="6730277" cy="1609344"/>
          </a:xfrm>
          <a:ln>
            <a:noFill/>
          </a:ln>
        </p:spPr>
        <p:txBody>
          <a:bodyPr>
            <a:normAutofit/>
          </a:bodyPr>
          <a:lstStyle/>
          <a:p>
            <a:r>
              <a:rPr lang="en-GB" sz="4800"/>
              <a:t>In your notebook,</a:t>
            </a:r>
            <a:endParaRPr lang="en-AU" sz="4800"/>
          </a:p>
        </p:txBody>
      </p:sp>
      <p:sp>
        <p:nvSpPr>
          <p:cNvPr id="3" name="Content Placeholder 2">
            <a:extLst>
              <a:ext uri="{FF2B5EF4-FFF2-40B4-BE49-F238E27FC236}">
                <a16:creationId xmlns:a16="http://schemas.microsoft.com/office/drawing/2014/main" id="{D9710E81-5CCA-F8D2-20A5-75A63E192665}"/>
              </a:ext>
            </a:extLst>
          </p:cNvPr>
          <p:cNvSpPr>
            <a:spLocks noGrp="1"/>
          </p:cNvSpPr>
          <p:nvPr>
            <p:ph idx="1"/>
          </p:nvPr>
        </p:nvSpPr>
        <p:spPr>
          <a:xfrm>
            <a:off x="4970109" y="2121408"/>
            <a:ext cx="6730276" cy="4050792"/>
          </a:xfrm>
        </p:spPr>
        <p:txBody>
          <a:bodyPr>
            <a:normAutofit/>
          </a:bodyPr>
          <a:lstStyle/>
          <a:p>
            <a:r>
              <a:rPr lang="en-GB" sz="3200" dirty="0"/>
              <a:t>Complete review questions on TB page 88, </a:t>
            </a:r>
            <a:r>
              <a:rPr lang="en-GB" sz="3200" dirty="0" err="1"/>
              <a:t>mcq</a:t>
            </a:r>
            <a:r>
              <a:rPr lang="en-GB" sz="3200" dirty="0"/>
              <a:t> 1-8 on p97</a:t>
            </a:r>
            <a:endParaRPr lang="en-AU" sz="3200" dirty="0"/>
          </a:p>
        </p:txBody>
      </p:sp>
      <p:pic>
        <p:nvPicPr>
          <p:cNvPr id="5" name="Picture 4" descr="Spiral open diary laid on blue wooden floor">
            <a:extLst>
              <a:ext uri="{FF2B5EF4-FFF2-40B4-BE49-F238E27FC236}">
                <a16:creationId xmlns:a16="http://schemas.microsoft.com/office/drawing/2014/main" id="{3E1A09E8-9689-41D5-2953-19D214EE1301}"/>
              </a:ext>
            </a:extLst>
          </p:cNvPr>
          <p:cNvPicPr>
            <a:picLocks noChangeAspect="1"/>
          </p:cNvPicPr>
          <p:nvPr/>
        </p:nvPicPr>
        <p:blipFill>
          <a:blip r:embed="rId2"/>
          <a:srcRect l="13295" r="41477" b="-1"/>
          <a:stretch/>
        </p:blipFill>
        <p:spPr>
          <a:xfrm>
            <a:off x="3344" y="10"/>
            <a:ext cx="4646726" cy="6857990"/>
          </a:xfrm>
          <a:prstGeom prst="rect">
            <a:avLst/>
          </a:prstGeom>
        </p:spPr>
      </p:pic>
    </p:spTree>
    <p:extLst>
      <p:ext uri="{BB962C8B-B14F-4D97-AF65-F5344CB8AC3E}">
        <p14:creationId xmlns:p14="http://schemas.microsoft.com/office/powerpoint/2010/main" val="2890226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table with numbers and text&#10;&#10;AI-generated content may be incorrect.">
            <a:extLst>
              <a:ext uri="{FF2B5EF4-FFF2-40B4-BE49-F238E27FC236}">
                <a16:creationId xmlns:a16="http://schemas.microsoft.com/office/drawing/2014/main" id="{3889E3DA-C47E-5E71-087E-B94EA9AB71DA}"/>
              </a:ext>
            </a:extLst>
          </p:cNvPr>
          <p:cNvPicPr>
            <a:picLocks noGrp="1" noChangeAspect="1"/>
          </p:cNvPicPr>
          <p:nvPr>
            <p:ph idx="1"/>
          </p:nvPr>
        </p:nvPicPr>
        <p:blipFill>
          <a:blip r:embed="rId2"/>
          <a:stretch>
            <a:fillRect/>
          </a:stretch>
        </p:blipFill>
        <p:spPr>
          <a:xfrm>
            <a:off x="120650" y="504603"/>
            <a:ext cx="11950700" cy="6094857"/>
          </a:xfrm>
          <a:prstGeom prst="rect">
            <a:avLst/>
          </a:prstGeom>
          <a:noFill/>
        </p:spPr>
      </p:pic>
      <p:sp>
        <p:nvSpPr>
          <p:cNvPr id="5" name="TextBox 4">
            <a:extLst>
              <a:ext uri="{FF2B5EF4-FFF2-40B4-BE49-F238E27FC236}">
                <a16:creationId xmlns:a16="http://schemas.microsoft.com/office/drawing/2014/main" id="{9977AB2A-8A4F-9B81-2051-857AB0555753}"/>
              </a:ext>
            </a:extLst>
          </p:cNvPr>
          <p:cNvSpPr txBox="1"/>
          <p:nvPr/>
        </p:nvSpPr>
        <p:spPr>
          <a:xfrm>
            <a:off x="120650" y="2579914"/>
            <a:ext cx="11950700" cy="1077686"/>
          </a:xfrm>
          <a:prstGeom prst="rect">
            <a:avLst/>
          </a:prstGeom>
          <a:noFill/>
          <a:ln w="57150">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3096337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0653AE3-5024-50D9-2288-D3E494D58229}"/>
              </a:ext>
            </a:extLst>
          </p:cNvPr>
          <p:cNvSpPr>
            <a:spLocks noGrp="1"/>
          </p:cNvSpPr>
          <p:nvPr>
            <p:ph type="title"/>
          </p:nvPr>
        </p:nvSpPr>
        <p:spPr>
          <a:xfrm>
            <a:off x="838200" y="365125"/>
            <a:ext cx="10515600" cy="1325563"/>
          </a:xfrm>
        </p:spPr>
        <p:txBody>
          <a:bodyPr/>
          <a:lstStyle/>
          <a:p>
            <a:endParaRPr lang="en-US"/>
          </a:p>
        </p:txBody>
      </p:sp>
      <p:sp>
        <p:nvSpPr>
          <p:cNvPr id="3" name="Content Placeholder 2">
            <a:extLst>
              <a:ext uri="{FF2B5EF4-FFF2-40B4-BE49-F238E27FC236}">
                <a16:creationId xmlns:a16="http://schemas.microsoft.com/office/drawing/2014/main" id="{052A5EDD-9DA1-CF56-46FD-A2287F6CDFA3}"/>
              </a:ext>
            </a:extLst>
          </p:cNvPr>
          <p:cNvSpPr>
            <a:spLocks noGrp="1"/>
          </p:cNvSpPr>
          <p:nvPr>
            <p:ph sz="half" idx="1"/>
          </p:nvPr>
        </p:nvSpPr>
        <p:spPr>
          <a:xfrm>
            <a:off x="838200" y="1940876"/>
            <a:ext cx="5181600" cy="4236086"/>
          </a:xfrm>
        </p:spPr>
        <p:txBody>
          <a:bodyPr>
            <a:normAutofit/>
          </a:bodyPr>
          <a:lstStyle/>
          <a:p>
            <a:pPr marL="0" indent="0">
              <a:lnSpc>
                <a:spcPct val="100000"/>
              </a:lnSpc>
              <a:buNone/>
            </a:pPr>
            <a:r>
              <a:rPr lang="en-AU" sz="1600"/>
              <a:t>Year 1: 100/100 ×100 = 100</a:t>
            </a:r>
          </a:p>
          <a:p>
            <a:pPr marL="0" indent="0">
              <a:lnSpc>
                <a:spcPct val="100000"/>
              </a:lnSpc>
              <a:buNone/>
            </a:pPr>
            <a:r>
              <a:rPr lang="en-AU" sz="1600"/>
              <a:t>Year 2: 115/110 ×100 = 104.5 (</a:t>
            </a:r>
            <a:r>
              <a:rPr lang="en-AU" sz="1600" err="1"/>
              <a:t>ToT</a:t>
            </a:r>
            <a:r>
              <a:rPr lang="en-AU" sz="1600"/>
              <a:t> improves)</a:t>
            </a:r>
          </a:p>
          <a:p>
            <a:pPr marL="0" indent="0">
              <a:lnSpc>
                <a:spcPct val="100000"/>
              </a:lnSpc>
              <a:buNone/>
            </a:pPr>
            <a:r>
              <a:rPr lang="en-AU" sz="1600"/>
              <a:t>Year 3: 102/108 ×100 = 94.4 (</a:t>
            </a:r>
            <a:r>
              <a:rPr lang="en-AU" sz="1600" err="1"/>
              <a:t>ToT</a:t>
            </a:r>
            <a:r>
              <a:rPr lang="en-AU" sz="1600"/>
              <a:t> deteriorates)</a:t>
            </a:r>
          </a:p>
          <a:p>
            <a:pPr>
              <a:lnSpc>
                <a:spcPct val="100000"/>
              </a:lnSpc>
            </a:pPr>
            <a:r>
              <a:rPr lang="en-AU" sz="1600"/>
              <a:t>So, in Year 3 a given quantity of exports buys fewer imports than in Year 2 → statement (c) is correct.</a:t>
            </a:r>
          </a:p>
          <a:p>
            <a:pPr>
              <a:lnSpc>
                <a:spcPct val="100000"/>
              </a:lnSpc>
            </a:pPr>
            <a:r>
              <a:rPr lang="en-AU" sz="1600"/>
              <a:t>Why the others are wrong:</a:t>
            </a:r>
          </a:p>
          <a:p>
            <a:pPr>
              <a:lnSpc>
                <a:spcPct val="100000"/>
              </a:lnSpc>
            </a:pPr>
            <a:r>
              <a:rPr lang="en-AU" sz="1600"/>
              <a:t>(a) Import prices rose 10% (110→ from 100), export prices rose 15% (115 from 100) → imports did not increase faster.</a:t>
            </a:r>
          </a:p>
          <a:p>
            <a:pPr>
              <a:lnSpc>
                <a:spcPct val="100000"/>
              </a:lnSpc>
            </a:pPr>
            <a:r>
              <a:rPr lang="en-AU" sz="1600"/>
              <a:t>(b) &amp; (d) talk about the value of exports (price × quantity). We only have price indexes, no quantities, so we can’t conclude value fell/declined.</a:t>
            </a:r>
          </a:p>
          <a:p>
            <a:pPr>
              <a:lnSpc>
                <a:spcPct val="100000"/>
              </a:lnSpc>
            </a:pPr>
            <a:endParaRPr lang="en-US" sz="1600"/>
          </a:p>
        </p:txBody>
      </p:sp>
      <p:pic>
        <p:nvPicPr>
          <p:cNvPr id="4" name="Content Placeholder 3" descr="A table with numbers and text&#10;&#10;AI-generated content may be incorrect.">
            <a:extLst>
              <a:ext uri="{FF2B5EF4-FFF2-40B4-BE49-F238E27FC236}">
                <a16:creationId xmlns:a16="http://schemas.microsoft.com/office/drawing/2014/main" id="{D205916D-C00C-0528-1085-0A726E42C625}"/>
              </a:ext>
            </a:extLst>
          </p:cNvPr>
          <p:cNvPicPr>
            <a:picLocks noChangeAspect="1"/>
          </p:cNvPicPr>
          <p:nvPr/>
        </p:nvPicPr>
        <p:blipFill>
          <a:blip r:embed="rId2"/>
          <a:stretch>
            <a:fillRect/>
          </a:stretch>
        </p:blipFill>
        <p:spPr>
          <a:xfrm>
            <a:off x="6172200" y="2737611"/>
            <a:ext cx="5181600" cy="2642616"/>
          </a:xfrm>
          <a:prstGeom prst="rect">
            <a:avLst/>
          </a:prstGeom>
          <a:noFill/>
        </p:spPr>
      </p:pic>
    </p:spTree>
    <p:extLst>
      <p:ext uri="{BB962C8B-B14F-4D97-AF65-F5344CB8AC3E}">
        <p14:creationId xmlns:p14="http://schemas.microsoft.com/office/powerpoint/2010/main" val="1835399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8717E0A-EA3E-63C4-5EA1-9F6A58197B43}"/>
              </a:ext>
            </a:extLst>
          </p:cNvPr>
          <p:cNvPicPr>
            <a:picLocks noGrp="1" noChangeAspect="1"/>
          </p:cNvPicPr>
          <p:nvPr>
            <p:ph idx="1"/>
          </p:nvPr>
        </p:nvPicPr>
        <p:blipFill>
          <a:blip r:embed="rId2"/>
          <a:stretch>
            <a:fillRect/>
          </a:stretch>
        </p:blipFill>
        <p:spPr>
          <a:xfrm>
            <a:off x="120650" y="1669797"/>
            <a:ext cx="11950700" cy="3764469"/>
          </a:xfrm>
          <a:prstGeom prst="rect">
            <a:avLst/>
          </a:prstGeom>
          <a:noFill/>
        </p:spPr>
      </p:pic>
      <p:pic>
        <p:nvPicPr>
          <p:cNvPr id="5" name="Content Placeholder 3">
            <a:extLst>
              <a:ext uri="{FF2B5EF4-FFF2-40B4-BE49-F238E27FC236}">
                <a16:creationId xmlns:a16="http://schemas.microsoft.com/office/drawing/2014/main" id="{8FE9D23C-8DC9-8FE2-83C0-E6F9FF5BD0F8}"/>
              </a:ext>
            </a:extLst>
          </p:cNvPr>
          <p:cNvPicPr>
            <a:picLocks noChangeAspect="1"/>
          </p:cNvPicPr>
          <p:nvPr/>
        </p:nvPicPr>
        <p:blipFill>
          <a:blip r:embed="rId2"/>
          <a:stretch>
            <a:fillRect/>
          </a:stretch>
        </p:blipFill>
        <p:spPr>
          <a:xfrm>
            <a:off x="273050" y="1822197"/>
            <a:ext cx="11950700" cy="3764469"/>
          </a:xfrm>
          <a:prstGeom prst="rect">
            <a:avLst/>
          </a:prstGeom>
          <a:noFill/>
        </p:spPr>
      </p:pic>
      <p:sp>
        <p:nvSpPr>
          <p:cNvPr id="6" name="TextBox 5">
            <a:extLst>
              <a:ext uri="{FF2B5EF4-FFF2-40B4-BE49-F238E27FC236}">
                <a16:creationId xmlns:a16="http://schemas.microsoft.com/office/drawing/2014/main" id="{59B5403C-2209-EF5A-BD35-F69A043102F2}"/>
              </a:ext>
            </a:extLst>
          </p:cNvPr>
          <p:cNvSpPr txBox="1"/>
          <p:nvPr/>
        </p:nvSpPr>
        <p:spPr>
          <a:xfrm>
            <a:off x="273049" y="3266281"/>
            <a:ext cx="9115879" cy="571500"/>
          </a:xfrm>
          <a:prstGeom prst="rect">
            <a:avLst/>
          </a:prstGeom>
          <a:noFill/>
          <a:ln w="57150">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345862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69ECE06-BFFB-C65D-CDF0-A813197145D4}"/>
              </a:ext>
            </a:extLst>
          </p:cNvPr>
          <p:cNvSpPr>
            <a:spLocks noGrp="1"/>
          </p:cNvSpPr>
          <p:nvPr>
            <p:ph type="title"/>
          </p:nvPr>
        </p:nvSpPr>
        <p:spPr>
          <a:xfrm>
            <a:off x="838200" y="365125"/>
            <a:ext cx="10515600" cy="1325563"/>
          </a:xfrm>
        </p:spPr>
        <p:txBody>
          <a:bodyPr/>
          <a:lstStyle/>
          <a:p>
            <a:endParaRPr lang="en-US"/>
          </a:p>
        </p:txBody>
      </p:sp>
      <p:sp>
        <p:nvSpPr>
          <p:cNvPr id="3" name="Content Placeholder 2">
            <a:extLst>
              <a:ext uri="{FF2B5EF4-FFF2-40B4-BE49-F238E27FC236}">
                <a16:creationId xmlns:a16="http://schemas.microsoft.com/office/drawing/2014/main" id="{4C08AF33-ED8D-8569-84BD-DDB516984A1B}"/>
              </a:ext>
            </a:extLst>
          </p:cNvPr>
          <p:cNvSpPr>
            <a:spLocks noGrp="1"/>
          </p:cNvSpPr>
          <p:nvPr>
            <p:ph sz="half" idx="1"/>
          </p:nvPr>
        </p:nvSpPr>
        <p:spPr>
          <a:xfrm>
            <a:off x="838200" y="1940876"/>
            <a:ext cx="5676900" cy="4214995"/>
          </a:xfrm>
        </p:spPr>
        <p:txBody>
          <a:bodyPr>
            <a:normAutofit/>
          </a:bodyPr>
          <a:lstStyle/>
          <a:p>
            <a:r>
              <a:rPr lang="en-AU" b="1" dirty="0"/>
              <a:t>A)</a:t>
            </a:r>
            <a:r>
              <a:rPr lang="en-AU" dirty="0"/>
              <a:t> Appreciation of the AUD → More likely to cause a fall in TOT if driven by weaker export prices, but it’s not </a:t>
            </a:r>
            <a:r>
              <a:rPr lang="en-AU" i="1" dirty="0"/>
              <a:t>the</a:t>
            </a:r>
            <a:r>
              <a:rPr lang="en-AU" dirty="0"/>
              <a:t> main consequence.</a:t>
            </a:r>
          </a:p>
          <a:p>
            <a:r>
              <a:rPr lang="en-AU" b="1" dirty="0"/>
              <a:t>C)</a:t>
            </a:r>
            <a:r>
              <a:rPr lang="en-AU" dirty="0"/>
              <a:t> Stronger economic growth in Aus → Not a direct result; in fact, a fall in TOT generally reduces growth prospects.</a:t>
            </a:r>
          </a:p>
          <a:p>
            <a:r>
              <a:rPr lang="en-AU" b="1" dirty="0"/>
              <a:t>D)</a:t>
            </a:r>
            <a:r>
              <a:rPr lang="en-AU" dirty="0"/>
              <a:t> Improvement in national economic welfare → The opposite usually happens; falling TOT means reduced real purchasing power from trade.</a:t>
            </a:r>
          </a:p>
          <a:p>
            <a:endParaRPr lang="en-US" dirty="0"/>
          </a:p>
        </p:txBody>
      </p:sp>
      <p:pic>
        <p:nvPicPr>
          <p:cNvPr id="4" name="Content Placeholder 3">
            <a:extLst>
              <a:ext uri="{FF2B5EF4-FFF2-40B4-BE49-F238E27FC236}">
                <a16:creationId xmlns:a16="http://schemas.microsoft.com/office/drawing/2014/main" id="{5339BDCD-61AF-D74E-57D3-FDF093818667}"/>
              </a:ext>
            </a:extLst>
          </p:cNvPr>
          <p:cNvPicPr>
            <a:picLocks noChangeAspect="1"/>
          </p:cNvPicPr>
          <p:nvPr/>
        </p:nvPicPr>
        <p:blipFill>
          <a:blip r:embed="rId2"/>
          <a:stretch>
            <a:fillRect/>
          </a:stretch>
        </p:blipFill>
        <p:spPr>
          <a:xfrm>
            <a:off x="6515100" y="3242817"/>
            <a:ext cx="5181600" cy="1632203"/>
          </a:xfrm>
          <a:prstGeom prst="rect">
            <a:avLst/>
          </a:prstGeom>
          <a:noFill/>
        </p:spPr>
      </p:pic>
    </p:spTree>
    <p:extLst>
      <p:ext uri="{BB962C8B-B14F-4D97-AF65-F5344CB8AC3E}">
        <p14:creationId xmlns:p14="http://schemas.microsoft.com/office/powerpoint/2010/main" val="3118846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34FCDD-9708-0CA2-65B4-953B457BE926}"/>
              </a:ext>
            </a:extLst>
          </p:cNvPr>
          <p:cNvPicPr>
            <a:picLocks noGrp="1" noChangeAspect="1"/>
          </p:cNvPicPr>
          <p:nvPr>
            <p:ph idx="1"/>
          </p:nvPr>
        </p:nvPicPr>
        <p:blipFill>
          <a:blip r:embed="rId2"/>
          <a:stretch>
            <a:fillRect/>
          </a:stretch>
        </p:blipFill>
        <p:spPr>
          <a:xfrm>
            <a:off x="120650" y="1475599"/>
            <a:ext cx="11950700" cy="4152865"/>
          </a:xfrm>
          <a:prstGeom prst="rect">
            <a:avLst/>
          </a:prstGeom>
          <a:noFill/>
        </p:spPr>
      </p:pic>
      <p:sp>
        <p:nvSpPr>
          <p:cNvPr id="5" name="TextBox 4">
            <a:extLst>
              <a:ext uri="{FF2B5EF4-FFF2-40B4-BE49-F238E27FC236}">
                <a16:creationId xmlns:a16="http://schemas.microsoft.com/office/drawing/2014/main" id="{8229D5F1-C13E-3655-F646-10AC6E534726}"/>
              </a:ext>
            </a:extLst>
          </p:cNvPr>
          <p:cNvSpPr txBox="1"/>
          <p:nvPr/>
        </p:nvSpPr>
        <p:spPr>
          <a:xfrm>
            <a:off x="240392" y="4180681"/>
            <a:ext cx="9115879" cy="571500"/>
          </a:xfrm>
          <a:prstGeom prst="rect">
            <a:avLst/>
          </a:prstGeom>
          <a:noFill/>
          <a:ln w="57150">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392671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6E80B3-E5DB-E0E5-9FBD-347C35EBEC15}"/>
              </a:ext>
            </a:extLst>
          </p:cNvPr>
          <p:cNvSpPr txBox="1"/>
          <p:nvPr/>
        </p:nvSpPr>
        <p:spPr>
          <a:xfrm>
            <a:off x="838200" y="1040574"/>
            <a:ext cx="5181600" cy="4236086"/>
          </a:xfrm>
          <a:prstGeom prst="rect">
            <a:avLst/>
          </a:prstGeom>
        </p:spPr>
        <p:txBody>
          <a:bodyPr vert="horz" lIns="91440" tIns="45720" rIns="91440" bIns="45720" rtlCol="0">
            <a:normAutofit/>
          </a:bodyPr>
          <a:lstStyle/>
          <a:p>
            <a:pPr marL="228600" indent="-228600">
              <a:spcBef>
                <a:spcPts val="1000"/>
              </a:spcBef>
              <a:buClr>
                <a:schemeClr val="tx2"/>
              </a:buClr>
              <a:buFont typeface="Arial" panose="020B0604020202020204" pitchFamily="34" charset="0"/>
              <a:buChar char="•"/>
            </a:pPr>
            <a:r>
              <a:rPr lang="en-US" sz="1600" b="1" i="0" u="none" strike="noStrike" dirty="0">
                <a:effectLst/>
              </a:rPr>
              <a:t>Step 1: Calculate </a:t>
            </a:r>
            <a:r>
              <a:rPr lang="en-US" sz="1600" b="1" i="0" u="none" strike="noStrike" dirty="0" err="1">
                <a:effectLst/>
              </a:rPr>
              <a:t>ToT</a:t>
            </a:r>
            <a:r>
              <a:rPr lang="en-US" sz="1600" b="1" i="0" u="none" strike="noStrike" dirty="0">
                <a:effectLst/>
              </a:rPr>
              <a:t> for both years</a:t>
            </a:r>
          </a:p>
          <a:p>
            <a:pPr>
              <a:spcBef>
                <a:spcPts val="1000"/>
              </a:spcBef>
              <a:buClr>
                <a:schemeClr val="tx2"/>
              </a:buClr>
            </a:pPr>
            <a:r>
              <a:rPr lang="en-US" sz="1600" b="1" i="0" u="none" strike="noStrike" dirty="0">
                <a:effectLst/>
              </a:rPr>
              <a:t>2015</a:t>
            </a:r>
            <a:r>
              <a:rPr lang="en-US" sz="1600" b="0" i="0" u="none" strike="noStrike" dirty="0">
                <a:effectLst/>
              </a:rPr>
              <a:t>:</a:t>
            </a:r>
          </a:p>
          <a:p>
            <a:pPr>
              <a:spcBef>
                <a:spcPts val="1000"/>
              </a:spcBef>
              <a:buClr>
                <a:schemeClr val="tx2"/>
              </a:buClr>
            </a:pPr>
            <a:r>
              <a:rPr lang="en-US" sz="1600" dirty="0"/>
              <a:t>(103/117) x 100 = 88</a:t>
            </a:r>
            <a:endParaRPr lang="en-US" sz="1600" b="0" i="0" u="none" strike="noStrike" dirty="0">
              <a:effectLst/>
            </a:endParaRPr>
          </a:p>
          <a:p>
            <a:pPr>
              <a:spcBef>
                <a:spcPts val="1000"/>
              </a:spcBef>
              <a:buClr>
                <a:schemeClr val="tx2"/>
              </a:buClr>
            </a:pPr>
            <a:r>
              <a:rPr lang="en-US" sz="1600" b="1" i="0" u="none" strike="noStrike" dirty="0">
                <a:effectLst/>
              </a:rPr>
              <a:t>2020</a:t>
            </a:r>
            <a:r>
              <a:rPr lang="en-US" sz="1600" b="0" i="0" u="none" strike="noStrike" dirty="0">
                <a:effectLst/>
              </a:rPr>
              <a:t>:</a:t>
            </a:r>
          </a:p>
          <a:p>
            <a:pPr>
              <a:spcBef>
                <a:spcPts val="1000"/>
              </a:spcBef>
              <a:buClr>
                <a:schemeClr val="tx2"/>
              </a:buClr>
            </a:pPr>
            <a:r>
              <a:rPr lang="en-US" sz="1600" dirty="0"/>
              <a:t>(109/119) x 100 = 91.6</a:t>
            </a:r>
          </a:p>
          <a:p>
            <a:pPr marL="228600" indent="-228600">
              <a:spcBef>
                <a:spcPts val="1000"/>
              </a:spcBef>
              <a:buClr>
                <a:schemeClr val="tx2"/>
              </a:buClr>
              <a:buFont typeface="Arial" panose="020B0604020202020204" pitchFamily="34" charset="0"/>
              <a:buChar char="•"/>
            </a:pPr>
            <a:endParaRPr lang="en-US" sz="1600" dirty="0"/>
          </a:p>
          <a:p>
            <a:pPr>
              <a:spcBef>
                <a:spcPts val="1000"/>
              </a:spcBef>
              <a:buClr>
                <a:schemeClr val="tx2"/>
              </a:buClr>
            </a:pPr>
            <a:r>
              <a:rPr lang="en-US" sz="1600" b="1" dirty="0"/>
              <a:t>Step 2: Calculate the percentage increase in </a:t>
            </a:r>
            <a:r>
              <a:rPr lang="en-US" sz="1600" b="1" dirty="0" err="1"/>
              <a:t>ToT</a:t>
            </a:r>
            <a:endParaRPr lang="en-US" sz="1600" b="1" dirty="0"/>
          </a:p>
          <a:p>
            <a:pPr>
              <a:spcBef>
                <a:spcPts val="1000"/>
              </a:spcBef>
              <a:buClr>
                <a:schemeClr val="tx2"/>
              </a:buClr>
            </a:pPr>
            <a:r>
              <a:rPr lang="en-US" sz="1600" b="0" i="0" u="none" strike="noStrike" dirty="0">
                <a:effectLst/>
              </a:rPr>
              <a:t>(91.6-88)/88 x 100 = approx. 4.1%</a:t>
            </a:r>
          </a:p>
        </p:txBody>
      </p:sp>
      <p:pic>
        <p:nvPicPr>
          <p:cNvPr id="6" name="Content Placeholder 3">
            <a:extLst>
              <a:ext uri="{FF2B5EF4-FFF2-40B4-BE49-F238E27FC236}">
                <a16:creationId xmlns:a16="http://schemas.microsoft.com/office/drawing/2014/main" id="{DFBCF97E-DB71-30BB-495E-7626BA197F95}"/>
              </a:ext>
            </a:extLst>
          </p:cNvPr>
          <p:cNvPicPr>
            <a:picLocks noChangeAspect="1"/>
          </p:cNvPicPr>
          <p:nvPr/>
        </p:nvPicPr>
        <p:blipFill>
          <a:blip r:embed="rId2"/>
          <a:stretch>
            <a:fillRect/>
          </a:stretch>
        </p:blipFill>
        <p:spPr>
          <a:xfrm>
            <a:off x="6172200" y="3158617"/>
            <a:ext cx="5181600" cy="1800604"/>
          </a:xfrm>
          <a:prstGeom prst="rect">
            <a:avLst/>
          </a:prstGeom>
          <a:noFill/>
        </p:spPr>
      </p:pic>
    </p:spTree>
    <p:extLst>
      <p:ext uri="{BB962C8B-B14F-4D97-AF65-F5344CB8AC3E}">
        <p14:creationId xmlns:p14="http://schemas.microsoft.com/office/powerpoint/2010/main" val="1792681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EFBD7E-67F4-DE83-21E9-A200403F1B13}"/>
              </a:ext>
            </a:extLst>
          </p:cNvPr>
          <p:cNvPicPr>
            <a:picLocks noChangeAspect="1"/>
          </p:cNvPicPr>
          <p:nvPr/>
        </p:nvPicPr>
        <p:blipFill>
          <a:blip r:embed="rId2"/>
          <a:stretch>
            <a:fillRect/>
          </a:stretch>
        </p:blipFill>
        <p:spPr>
          <a:xfrm>
            <a:off x="809948" y="314325"/>
            <a:ext cx="10572104" cy="6475413"/>
          </a:xfrm>
          <a:prstGeom prst="rect">
            <a:avLst/>
          </a:prstGeom>
          <a:noFill/>
        </p:spPr>
      </p:pic>
      <p:sp>
        <p:nvSpPr>
          <p:cNvPr id="6" name="TextBox 5">
            <a:extLst>
              <a:ext uri="{FF2B5EF4-FFF2-40B4-BE49-F238E27FC236}">
                <a16:creationId xmlns:a16="http://schemas.microsoft.com/office/drawing/2014/main" id="{4E603B24-4200-057C-A936-F207092E3C05}"/>
              </a:ext>
            </a:extLst>
          </p:cNvPr>
          <p:cNvSpPr txBox="1"/>
          <p:nvPr/>
        </p:nvSpPr>
        <p:spPr>
          <a:xfrm>
            <a:off x="403677" y="5829866"/>
            <a:ext cx="9115879" cy="571500"/>
          </a:xfrm>
          <a:prstGeom prst="rect">
            <a:avLst/>
          </a:prstGeom>
          <a:noFill/>
          <a:ln w="57150">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209794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7BD4ABC-CD6E-369F-5CD8-F597F54C2305}"/>
              </a:ext>
            </a:extLst>
          </p:cNvPr>
          <p:cNvSpPr>
            <a:spLocks noGrp="1"/>
          </p:cNvSpPr>
          <p:nvPr>
            <p:ph type="title"/>
          </p:nvPr>
        </p:nvSpPr>
        <p:spPr>
          <a:xfrm>
            <a:off x="838200" y="365125"/>
            <a:ext cx="10515600" cy="1325563"/>
          </a:xfrm>
        </p:spPr>
        <p:txBody>
          <a:bodyPr/>
          <a:lstStyle/>
          <a:p>
            <a:endParaRPr lang="en-US"/>
          </a:p>
        </p:txBody>
      </p:sp>
      <p:pic>
        <p:nvPicPr>
          <p:cNvPr id="4" name="Picture 3">
            <a:extLst>
              <a:ext uri="{FF2B5EF4-FFF2-40B4-BE49-F238E27FC236}">
                <a16:creationId xmlns:a16="http://schemas.microsoft.com/office/drawing/2014/main" id="{144F9D62-FCFE-5774-E49A-7DAEF1FC3BCF}"/>
              </a:ext>
            </a:extLst>
          </p:cNvPr>
          <p:cNvPicPr>
            <a:picLocks noChangeAspect="1"/>
          </p:cNvPicPr>
          <p:nvPr/>
        </p:nvPicPr>
        <p:blipFill>
          <a:blip r:embed="rId3"/>
          <a:srcRect l="2655" r="22423" b="-1"/>
          <a:stretch>
            <a:fillRect/>
          </a:stretch>
        </p:blipFill>
        <p:spPr>
          <a:xfrm>
            <a:off x="838200" y="1940876"/>
            <a:ext cx="5181600" cy="4236086"/>
          </a:xfrm>
          <a:prstGeom prst="rect">
            <a:avLst/>
          </a:prstGeom>
          <a:noFill/>
        </p:spPr>
      </p:pic>
      <p:sp>
        <p:nvSpPr>
          <p:cNvPr id="3" name="Content Placeholder 2">
            <a:extLst>
              <a:ext uri="{FF2B5EF4-FFF2-40B4-BE49-F238E27FC236}">
                <a16:creationId xmlns:a16="http://schemas.microsoft.com/office/drawing/2014/main" id="{C3CE7139-4040-4991-6760-C1450E75E630}"/>
              </a:ext>
            </a:extLst>
          </p:cNvPr>
          <p:cNvSpPr>
            <a:spLocks noGrp="1"/>
          </p:cNvSpPr>
          <p:nvPr>
            <p:ph sz="half" idx="2"/>
          </p:nvPr>
        </p:nvSpPr>
        <p:spPr>
          <a:xfrm>
            <a:off x="6809014" y="1940876"/>
            <a:ext cx="5181600" cy="4236086"/>
          </a:xfrm>
        </p:spPr>
        <p:txBody>
          <a:bodyPr>
            <a:normAutofit/>
          </a:bodyPr>
          <a:lstStyle/>
          <a:p>
            <a:pPr marL="0" indent="0">
              <a:buNone/>
            </a:pPr>
            <a:r>
              <a:rPr lang="en-US" b="1" dirty="0"/>
              <a:t>Step 1:  </a:t>
            </a:r>
            <a:r>
              <a:rPr lang="en-US" dirty="0"/>
              <a:t>Calculate </a:t>
            </a:r>
            <a:r>
              <a:rPr lang="en-US" dirty="0" err="1"/>
              <a:t>ToT</a:t>
            </a:r>
            <a:r>
              <a:rPr lang="en-US" dirty="0"/>
              <a:t> for year 2 &amp; 3</a:t>
            </a:r>
          </a:p>
          <a:p>
            <a:pPr marL="0" indent="0">
              <a:buNone/>
            </a:pPr>
            <a:r>
              <a:rPr lang="en-US" dirty="0"/>
              <a:t>Year 2 =  91.67</a:t>
            </a:r>
          </a:p>
          <a:p>
            <a:pPr marL="0" indent="0">
              <a:buNone/>
            </a:pPr>
            <a:r>
              <a:rPr lang="en-US" dirty="0"/>
              <a:t>Year 3 = 96</a:t>
            </a:r>
          </a:p>
          <a:p>
            <a:pPr marL="0" indent="0">
              <a:buNone/>
            </a:pPr>
            <a:endParaRPr lang="en-US" dirty="0"/>
          </a:p>
          <a:p>
            <a:pPr marL="0" indent="0">
              <a:buNone/>
            </a:pPr>
            <a:r>
              <a:rPr lang="en-US" b="1" dirty="0"/>
              <a:t>Step 2: </a:t>
            </a:r>
            <a:r>
              <a:rPr lang="en-US" dirty="0"/>
              <a:t>What happened in year 3?</a:t>
            </a:r>
          </a:p>
          <a:p>
            <a:pPr marL="0" indent="0">
              <a:buNone/>
            </a:pPr>
            <a:endParaRPr lang="en-US" b="1" dirty="0"/>
          </a:p>
          <a:p>
            <a:pPr marL="0" indent="0">
              <a:buNone/>
            </a:pPr>
            <a:r>
              <a:rPr lang="en-US" b="1" dirty="0"/>
              <a:t>Step 3: </a:t>
            </a:r>
            <a:r>
              <a:rPr lang="en-US" dirty="0"/>
              <a:t>Eliminate answers</a:t>
            </a:r>
            <a:endParaRPr lang="en-US" b="1" dirty="0"/>
          </a:p>
        </p:txBody>
      </p:sp>
    </p:spTree>
    <p:extLst>
      <p:ext uri="{BB962C8B-B14F-4D97-AF65-F5344CB8AC3E}">
        <p14:creationId xmlns:p14="http://schemas.microsoft.com/office/powerpoint/2010/main" val="2043835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318521-694C-28B6-C6A5-75F82189AC82}"/>
              </a:ext>
            </a:extLst>
          </p:cNvPr>
          <p:cNvPicPr>
            <a:picLocks noChangeAspect="1"/>
          </p:cNvPicPr>
          <p:nvPr/>
        </p:nvPicPr>
        <p:blipFill>
          <a:blip r:embed="rId3"/>
          <a:stretch>
            <a:fillRect/>
          </a:stretch>
        </p:blipFill>
        <p:spPr>
          <a:xfrm>
            <a:off x="838200" y="2341135"/>
            <a:ext cx="10515600" cy="2677284"/>
          </a:xfrm>
          <a:prstGeom prst="rect">
            <a:avLst/>
          </a:prstGeom>
          <a:noFill/>
        </p:spPr>
      </p:pic>
      <p:sp>
        <p:nvSpPr>
          <p:cNvPr id="6" name="TextBox 5">
            <a:extLst>
              <a:ext uri="{FF2B5EF4-FFF2-40B4-BE49-F238E27FC236}">
                <a16:creationId xmlns:a16="http://schemas.microsoft.com/office/drawing/2014/main" id="{4585AEB2-9424-BE71-2AC4-C650AB5E14DA}"/>
              </a:ext>
            </a:extLst>
          </p:cNvPr>
          <p:cNvSpPr txBox="1"/>
          <p:nvPr/>
        </p:nvSpPr>
        <p:spPr>
          <a:xfrm>
            <a:off x="838200" y="4268695"/>
            <a:ext cx="10515600" cy="571500"/>
          </a:xfrm>
          <a:prstGeom prst="rect">
            <a:avLst/>
          </a:prstGeom>
          <a:noFill/>
          <a:ln w="57150">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242665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6A9517-9F67-4668-C25B-E50A87E3795E}"/>
              </a:ext>
            </a:extLst>
          </p:cNvPr>
          <p:cNvPicPr>
            <a:picLocks noChangeAspect="1"/>
          </p:cNvPicPr>
          <p:nvPr/>
        </p:nvPicPr>
        <p:blipFill>
          <a:blip r:embed="rId3"/>
          <a:stretch>
            <a:fillRect/>
          </a:stretch>
        </p:blipFill>
        <p:spPr>
          <a:xfrm>
            <a:off x="209261" y="314325"/>
            <a:ext cx="11773478" cy="6475413"/>
          </a:xfrm>
          <a:prstGeom prst="rect">
            <a:avLst/>
          </a:prstGeom>
          <a:noFill/>
        </p:spPr>
      </p:pic>
      <p:sp>
        <p:nvSpPr>
          <p:cNvPr id="5" name="TextBox 4">
            <a:extLst>
              <a:ext uri="{FF2B5EF4-FFF2-40B4-BE49-F238E27FC236}">
                <a16:creationId xmlns:a16="http://schemas.microsoft.com/office/drawing/2014/main" id="{55C8E7B6-A13A-D05B-95F4-2A824CD5DFD1}"/>
              </a:ext>
            </a:extLst>
          </p:cNvPr>
          <p:cNvSpPr txBox="1"/>
          <p:nvPr/>
        </p:nvSpPr>
        <p:spPr>
          <a:xfrm>
            <a:off x="423746" y="6088566"/>
            <a:ext cx="8408019" cy="701172"/>
          </a:xfrm>
          <a:prstGeom prst="rect">
            <a:avLst/>
          </a:prstGeom>
          <a:noFill/>
          <a:ln w="57150">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344923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0E3C437A-DF0F-619E-4DE0-CA6213851B58}"/>
              </a:ext>
            </a:extLst>
          </p:cNvPr>
          <p:cNvSpPr>
            <a:spLocks noGrp="1"/>
          </p:cNvSpPr>
          <p:nvPr>
            <p:ph type="title"/>
          </p:nvPr>
        </p:nvSpPr>
        <p:spPr>
          <a:xfrm>
            <a:off x="838200" y="365125"/>
            <a:ext cx="10515600" cy="1325563"/>
          </a:xfrm>
        </p:spPr>
        <p:txBody>
          <a:bodyPr/>
          <a:lstStyle/>
          <a:p>
            <a:endParaRPr lang="en-US"/>
          </a:p>
        </p:txBody>
      </p:sp>
      <p:pic>
        <p:nvPicPr>
          <p:cNvPr id="5" name="Picture 4">
            <a:extLst>
              <a:ext uri="{FF2B5EF4-FFF2-40B4-BE49-F238E27FC236}">
                <a16:creationId xmlns:a16="http://schemas.microsoft.com/office/drawing/2014/main" id="{A4EEC980-4A22-6A6B-34B3-2ECE0AA8DB90}"/>
              </a:ext>
            </a:extLst>
          </p:cNvPr>
          <p:cNvPicPr>
            <a:picLocks noChangeAspect="1"/>
          </p:cNvPicPr>
          <p:nvPr/>
        </p:nvPicPr>
        <p:blipFill>
          <a:blip r:embed="rId3"/>
          <a:stretch>
            <a:fillRect/>
          </a:stretch>
        </p:blipFill>
        <p:spPr>
          <a:xfrm>
            <a:off x="838200" y="2994215"/>
            <a:ext cx="10515600" cy="2129406"/>
          </a:xfrm>
          <a:prstGeom prst="rect">
            <a:avLst/>
          </a:prstGeom>
          <a:noFill/>
        </p:spPr>
      </p:pic>
      <p:sp>
        <p:nvSpPr>
          <p:cNvPr id="7" name="TextBox 6">
            <a:extLst>
              <a:ext uri="{FF2B5EF4-FFF2-40B4-BE49-F238E27FC236}">
                <a16:creationId xmlns:a16="http://schemas.microsoft.com/office/drawing/2014/main" id="{1EBFD919-C353-24E1-0EBF-FCE16BA7C67B}"/>
              </a:ext>
            </a:extLst>
          </p:cNvPr>
          <p:cNvSpPr txBox="1"/>
          <p:nvPr/>
        </p:nvSpPr>
        <p:spPr>
          <a:xfrm flipV="1">
            <a:off x="2207940" y="3791415"/>
            <a:ext cx="579865" cy="267628"/>
          </a:xfrm>
          <a:prstGeom prst="rect">
            <a:avLst/>
          </a:prstGeom>
          <a:noFill/>
          <a:ln w="57150">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138225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75FA302-FCB4-0EF7-D497-4E4786819700}"/>
              </a:ext>
            </a:extLst>
          </p:cNvPr>
          <p:cNvSpPr>
            <a:spLocks noGrp="1"/>
          </p:cNvSpPr>
          <p:nvPr>
            <p:ph type="title"/>
          </p:nvPr>
        </p:nvSpPr>
        <p:spPr>
          <a:xfrm>
            <a:off x="838200" y="365125"/>
            <a:ext cx="10515600" cy="1325563"/>
          </a:xfrm>
        </p:spPr>
        <p:txBody>
          <a:bodyPr/>
          <a:lstStyle/>
          <a:p>
            <a:endParaRPr lang="en-US"/>
          </a:p>
        </p:txBody>
      </p:sp>
      <p:pic>
        <p:nvPicPr>
          <p:cNvPr id="4" name="Picture 3">
            <a:extLst>
              <a:ext uri="{FF2B5EF4-FFF2-40B4-BE49-F238E27FC236}">
                <a16:creationId xmlns:a16="http://schemas.microsoft.com/office/drawing/2014/main" id="{4AF286CE-C1C8-DED2-5CC1-D473F5057B1D}"/>
              </a:ext>
            </a:extLst>
          </p:cNvPr>
          <p:cNvPicPr>
            <a:picLocks noChangeAspect="1"/>
          </p:cNvPicPr>
          <p:nvPr/>
        </p:nvPicPr>
        <p:blipFill>
          <a:blip r:embed="rId3"/>
          <a:srcRect r="35459" b="1"/>
          <a:stretch>
            <a:fillRect/>
          </a:stretch>
        </p:blipFill>
        <p:spPr>
          <a:xfrm>
            <a:off x="838200" y="1940875"/>
            <a:ext cx="10515600" cy="4236087"/>
          </a:xfrm>
          <a:prstGeom prst="rect">
            <a:avLst/>
          </a:prstGeom>
          <a:noFill/>
        </p:spPr>
      </p:pic>
      <p:sp>
        <p:nvSpPr>
          <p:cNvPr id="5" name="TextBox 4">
            <a:extLst>
              <a:ext uri="{FF2B5EF4-FFF2-40B4-BE49-F238E27FC236}">
                <a16:creationId xmlns:a16="http://schemas.microsoft.com/office/drawing/2014/main" id="{009384C8-2461-050F-690D-2F676EA223FF}"/>
              </a:ext>
            </a:extLst>
          </p:cNvPr>
          <p:cNvSpPr txBox="1"/>
          <p:nvPr/>
        </p:nvSpPr>
        <p:spPr>
          <a:xfrm flipV="1">
            <a:off x="2720896" y="4951142"/>
            <a:ext cx="602167" cy="446048"/>
          </a:xfrm>
          <a:prstGeom prst="rect">
            <a:avLst/>
          </a:prstGeom>
          <a:noFill/>
          <a:ln w="57150">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4167535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1C165CD-23A6-4854-84D6-48B86F081850}"/>
              </a:ext>
            </a:extLst>
          </p:cNvPr>
          <p:cNvSpPr>
            <a:spLocks noGrp="1"/>
          </p:cNvSpPr>
          <p:nvPr>
            <p:ph type="title"/>
          </p:nvPr>
        </p:nvSpPr>
        <p:spPr>
          <a:xfrm>
            <a:off x="838200" y="365125"/>
            <a:ext cx="10515600" cy="1325563"/>
          </a:xfrm>
        </p:spPr>
        <p:txBody>
          <a:bodyPr/>
          <a:lstStyle/>
          <a:p>
            <a:endParaRPr lang="en-US"/>
          </a:p>
        </p:txBody>
      </p:sp>
      <p:pic>
        <p:nvPicPr>
          <p:cNvPr id="4" name="Content Placeholder 3">
            <a:extLst>
              <a:ext uri="{FF2B5EF4-FFF2-40B4-BE49-F238E27FC236}">
                <a16:creationId xmlns:a16="http://schemas.microsoft.com/office/drawing/2014/main" id="{76C1C422-6D19-D81B-68BB-125B1ED419E4}"/>
              </a:ext>
            </a:extLst>
          </p:cNvPr>
          <p:cNvPicPr>
            <a:picLocks noGrp="1" noChangeAspect="1"/>
          </p:cNvPicPr>
          <p:nvPr>
            <p:ph idx="1"/>
          </p:nvPr>
        </p:nvPicPr>
        <p:blipFill>
          <a:blip r:embed="rId3"/>
          <a:srcRect t="12426"/>
          <a:stretch>
            <a:fillRect/>
          </a:stretch>
        </p:blipFill>
        <p:spPr>
          <a:xfrm>
            <a:off x="838200" y="1940875"/>
            <a:ext cx="10515600" cy="4236087"/>
          </a:xfrm>
          <a:prstGeom prst="rect">
            <a:avLst/>
          </a:prstGeom>
          <a:noFill/>
        </p:spPr>
      </p:pic>
      <p:sp>
        <p:nvSpPr>
          <p:cNvPr id="5" name="TextBox 4">
            <a:extLst>
              <a:ext uri="{FF2B5EF4-FFF2-40B4-BE49-F238E27FC236}">
                <a16:creationId xmlns:a16="http://schemas.microsoft.com/office/drawing/2014/main" id="{4C3511F0-167E-DD68-7369-C331803B2624}"/>
              </a:ext>
            </a:extLst>
          </p:cNvPr>
          <p:cNvSpPr txBox="1"/>
          <p:nvPr/>
        </p:nvSpPr>
        <p:spPr>
          <a:xfrm flipV="1">
            <a:off x="1669974" y="5084830"/>
            <a:ext cx="446051" cy="312234"/>
          </a:xfrm>
          <a:prstGeom prst="rect">
            <a:avLst/>
          </a:prstGeom>
          <a:noFill/>
          <a:ln w="57150">
            <a:solidFill>
              <a:schemeClr val="accent1"/>
            </a:solidFill>
          </a:ln>
        </p:spPr>
        <p:txBody>
          <a:bodyPr wrap="square" rtlCol="0">
            <a:spAutoFit/>
          </a:bodyPr>
          <a:lstStyle/>
          <a:p>
            <a:endParaRPr lang="en-US" dirty="0"/>
          </a:p>
        </p:txBody>
      </p:sp>
    </p:spTree>
    <p:extLst>
      <p:ext uri="{BB962C8B-B14F-4D97-AF65-F5344CB8AC3E}">
        <p14:creationId xmlns:p14="http://schemas.microsoft.com/office/powerpoint/2010/main" val="469056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ADBED-9FD0-1857-F1FA-3C1D8BEA46B2}"/>
              </a:ext>
            </a:extLst>
          </p:cNvPr>
          <p:cNvSpPr>
            <a:spLocks noGrp="1"/>
          </p:cNvSpPr>
          <p:nvPr>
            <p:ph type="ctrTitle"/>
          </p:nvPr>
        </p:nvSpPr>
        <p:spPr>
          <a:xfrm>
            <a:off x="5853675" y="596644"/>
            <a:ext cx="5500125" cy="3435606"/>
          </a:xfrm>
        </p:spPr>
        <p:txBody>
          <a:bodyPr anchor="b">
            <a:normAutofit/>
          </a:bodyPr>
          <a:lstStyle/>
          <a:p>
            <a:pPr algn="r"/>
            <a:r>
              <a:rPr lang="en-US" dirty="0"/>
              <a:t>FACTORS THAT AFFECT THE TOT</a:t>
            </a:r>
            <a:endParaRPr lang="en-US"/>
          </a:p>
        </p:txBody>
      </p:sp>
      <p:sp>
        <p:nvSpPr>
          <p:cNvPr id="3" name="Subtitle 2">
            <a:extLst>
              <a:ext uri="{FF2B5EF4-FFF2-40B4-BE49-F238E27FC236}">
                <a16:creationId xmlns:a16="http://schemas.microsoft.com/office/drawing/2014/main" id="{F3A1D2A0-5BC2-A6B3-38C5-6FC73160E7D3}"/>
              </a:ext>
            </a:extLst>
          </p:cNvPr>
          <p:cNvSpPr>
            <a:spLocks noGrp="1"/>
          </p:cNvSpPr>
          <p:nvPr>
            <p:ph type="subTitle" idx="1"/>
          </p:nvPr>
        </p:nvSpPr>
        <p:spPr>
          <a:xfrm>
            <a:off x="5853675" y="4298950"/>
            <a:ext cx="5500125" cy="1962406"/>
          </a:xfrm>
        </p:spPr>
        <p:txBody>
          <a:bodyPr vert="horz" lIns="91440" tIns="45720" rIns="91440" bIns="45720" rtlCol="0" anchor="t">
            <a:normAutofit/>
          </a:bodyPr>
          <a:lstStyle/>
          <a:p>
            <a:r>
              <a:rPr lang="en-GB" i="1" dirty="0">
                <a:solidFill>
                  <a:schemeClr val="tx2"/>
                </a:solidFill>
              </a:rPr>
              <a:t>SYLLABUS:</a:t>
            </a:r>
          </a:p>
          <a:p>
            <a:pPr marL="342900" indent="-342900">
              <a:buFont typeface="Arial" panose="020B0604020202020204" pitchFamily="34" charset="0"/>
              <a:buChar char="•"/>
            </a:pPr>
            <a:r>
              <a:rPr lang="en-US" i="1" dirty="0"/>
              <a:t>Factors that affect terms of trade including changes in commodity prices</a:t>
            </a:r>
          </a:p>
          <a:p>
            <a:pPr algn="r"/>
            <a:endParaRPr lang="en-US" dirty="0"/>
          </a:p>
        </p:txBody>
      </p:sp>
      <p:pic>
        <p:nvPicPr>
          <p:cNvPr id="4" name="Picture 3">
            <a:extLst>
              <a:ext uri="{FF2B5EF4-FFF2-40B4-BE49-F238E27FC236}">
                <a16:creationId xmlns:a16="http://schemas.microsoft.com/office/drawing/2014/main" id="{2C51474F-3995-6BA1-C05D-E0670CD4EBDF}"/>
              </a:ext>
            </a:extLst>
          </p:cNvPr>
          <p:cNvPicPr>
            <a:picLocks noChangeAspect="1"/>
          </p:cNvPicPr>
          <p:nvPr/>
        </p:nvPicPr>
        <p:blipFill>
          <a:blip r:embed="rId2"/>
          <a:stretch>
            <a:fillRect/>
          </a:stretch>
        </p:blipFill>
        <p:spPr>
          <a:xfrm>
            <a:off x="789719" y="3613155"/>
            <a:ext cx="4403754" cy="2653262"/>
          </a:xfrm>
          <a:prstGeom prst="rect">
            <a:avLst/>
          </a:prstGeom>
        </p:spPr>
      </p:pic>
      <p:pic>
        <p:nvPicPr>
          <p:cNvPr id="5" name="Picture 4">
            <a:extLst>
              <a:ext uri="{FF2B5EF4-FFF2-40B4-BE49-F238E27FC236}">
                <a16:creationId xmlns:a16="http://schemas.microsoft.com/office/drawing/2014/main" id="{36ED32E1-ED02-EEF2-6D4F-DA065F3356EE}"/>
              </a:ext>
            </a:extLst>
          </p:cNvPr>
          <p:cNvPicPr>
            <a:picLocks noChangeAspect="1"/>
          </p:cNvPicPr>
          <p:nvPr/>
        </p:nvPicPr>
        <p:blipFill>
          <a:blip r:embed="rId3"/>
          <a:stretch>
            <a:fillRect/>
          </a:stretch>
        </p:blipFill>
        <p:spPr>
          <a:xfrm>
            <a:off x="789720" y="596644"/>
            <a:ext cx="4403754" cy="2653262"/>
          </a:xfrm>
          <a:prstGeom prst="rect">
            <a:avLst/>
          </a:prstGeom>
        </p:spPr>
      </p:pic>
    </p:spTree>
    <p:extLst>
      <p:ext uri="{BB962C8B-B14F-4D97-AF65-F5344CB8AC3E}">
        <p14:creationId xmlns:p14="http://schemas.microsoft.com/office/powerpoint/2010/main" val="3273507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C5D14-88B1-7BEA-2917-CB5792323D98}"/>
              </a:ext>
            </a:extLst>
          </p:cNvPr>
          <p:cNvSpPr>
            <a:spLocks noGrp="1"/>
          </p:cNvSpPr>
          <p:nvPr>
            <p:ph type="title"/>
          </p:nvPr>
        </p:nvSpPr>
        <p:spPr/>
        <p:txBody>
          <a:bodyPr/>
          <a:lstStyle/>
          <a:p>
            <a:r>
              <a:rPr lang="en-US" dirty="0"/>
              <a:t>FACTORS AFFECTING THE TOT</a:t>
            </a:r>
          </a:p>
        </p:txBody>
      </p:sp>
      <p:sp>
        <p:nvSpPr>
          <p:cNvPr id="3" name="Content Placeholder 2">
            <a:extLst>
              <a:ext uri="{FF2B5EF4-FFF2-40B4-BE49-F238E27FC236}">
                <a16:creationId xmlns:a16="http://schemas.microsoft.com/office/drawing/2014/main" id="{3CED8EC5-957F-9C85-26A8-95063C4D957E}"/>
              </a:ext>
            </a:extLst>
          </p:cNvPr>
          <p:cNvSpPr>
            <a:spLocks noGrp="1"/>
          </p:cNvSpPr>
          <p:nvPr>
            <p:ph idx="1"/>
          </p:nvPr>
        </p:nvSpPr>
        <p:spPr/>
        <p:txBody>
          <a:bodyPr/>
          <a:lstStyle/>
          <a:p>
            <a:r>
              <a:rPr lang="en-AU" sz="2000" dirty="0"/>
              <a:t>Australia is generally a 'price taker’ for both X &amp; M as we are a medium-sized economy</a:t>
            </a:r>
          </a:p>
          <a:p>
            <a:r>
              <a:rPr lang="en-AU" dirty="0"/>
              <a:t>This means that</a:t>
            </a:r>
            <a:r>
              <a:rPr lang="en-AU" sz="2000" dirty="0"/>
              <a:t> X and M prices are determined on global markets (not us).</a:t>
            </a:r>
          </a:p>
          <a:p>
            <a:r>
              <a:rPr lang="en-US" dirty="0"/>
              <a:t>The main factors that affect the TOT are:</a:t>
            </a:r>
          </a:p>
          <a:p>
            <a:pPr marL="800100" lvl="1" indent="-342900">
              <a:buFont typeface="+mj-lt"/>
              <a:buAutoNum type="arabicPeriod"/>
            </a:pPr>
            <a:r>
              <a:rPr lang="en-US" sz="2000" dirty="0"/>
              <a:t>Commodity prices</a:t>
            </a:r>
          </a:p>
          <a:p>
            <a:pPr marL="800100" lvl="1" indent="-342900">
              <a:buFont typeface="+mj-lt"/>
              <a:buAutoNum type="arabicPeriod"/>
            </a:pPr>
            <a:r>
              <a:rPr lang="en-US" sz="2000" dirty="0"/>
              <a:t>Manufactured goods prices</a:t>
            </a:r>
          </a:p>
          <a:p>
            <a:pPr marL="800100" lvl="1" indent="-342900">
              <a:buFont typeface="+mj-lt"/>
              <a:buAutoNum type="arabicPeriod"/>
            </a:pPr>
            <a:r>
              <a:rPr lang="en-US" sz="2000" dirty="0"/>
              <a:t>Oil prices</a:t>
            </a:r>
          </a:p>
        </p:txBody>
      </p:sp>
    </p:spTree>
    <p:extLst>
      <p:ext uri="{BB962C8B-B14F-4D97-AF65-F5344CB8AC3E}">
        <p14:creationId xmlns:p14="http://schemas.microsoft.com/office/powerpoint/2010/main" val="1562873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67690-C716-300D-AFF3-4DF3037ADD39}"/>
              </a:ext>
            </a:extLst>
          </p:cNvPr>
          <p:cNvSpPr>
            <a:spLocks noGrp="1"/>
          </p:cNvSpPr>
          <p:nvPr>
            <p:ph type="title"/>
          </p:nvPr>
        </p:nvSpPr>
        <p:spPr/>
        <p:txBody>
          <a:bodyPr/>
          <a:lstStyle/>
          <a:p>
            <a:r>
              <a:rPr lang="en-US" dirty="0"/>
              <a:t>COMMODITY PRICES</a:t>
            </a:r>
          </a:p>
        </p:txBody>
      </p:sp>
      <p:sp>
        <p:nvSpPr>
          <p:cNvPr id="3" name="Content Placeholder 2">
            <a:extLst>
              <a:ext uri="{FF2B5EF4-FFF2-40B4-BE49-F238E27FC236}">
                <a16:creationId xmlns:a16="http://schemas.microsoft.com/office/drawing/2014/main" id="{4F80679A-52C4-4B44-1146-F5E27771D065}"/>
              </a:ext>
            </a:extLst>
          </p:cNvPr>
          <p:cNvSpPr>
            <a:spLocks noGrp="1"/>
          </p:cNvSpPr>
          <p:nvPr>
            <p:ph idx="1"/>
          </p:nvPr>
        </p:nvSpPr>
        <p:spPr>
          <a:xfrm>
            <a:off x="347729" y="1850723"/>
            <a:ext cx="11719775" cy="4236087"/>
          </a:xfrm>
        </p:spPr>
        <p:txBody>
          <a:bodyPr/>
          <a:lstStyle/>
          <a:p>
            <a:pPr marL="0" indent="0">
              <a:buNone/>
            </a:pPr>
            <a:r>
              <a:rPr lang="en-AU" dirty="0"/>
              <a:t>Commodities tend to be inelastic in BOTH demand and in supply and therefore have a relatively steep D&amp;S curves -  so small shifts in D and S can lead to large fluctuations in price (big effect on export revenues and terms of trade).</a:t>
            </a:r>
            <a:endParaRPr lang="en-US" dirty="0"/>
          </a:p>
          <a:p>
            <a:endParaRPr lang="en-AU" dirty="0"/>
          </a:p>
        </p:txBody>
      </p:sp>
      <p:graphicFrame>
        <p:nvGraphicFramePr>
          <p:cNvPr id="4" name="Table 3">
            <a:extLst>
              <a:ext uri="{FF2B5EF4-FFF2-40B4-BE49-F238E27FC236}">
                <a16:creationId xmlns:a16="http://schemas.microsoft.com/office/drawing/2014/main" id="{07A6A91B-40CE-1B95-FCC6-E9A1FDDC1037}"/>
              </a:ext>
            </a:extLst>
          </p:cNvPr>
          <p:cNvGraphicFramePr>
            <a:graphicFrameLocks noGrp="1"/>
          </p:cNvGraphicFramePr>
          <p:nvPr>
            <p:extLst>
              <p:ext uri="{D42A27DB-BD31-4B8C-83A1-F6EECF244321}">
                <p14:modId xmlns:p14="http://schemas.microsoft.com/office/powerpoint/2010/main" val="1103413362"/>
              </p:ext>
            </p:extLst>
          </p:nvPr>
        </p:nvGraphicFramePr>
        <p:xfrm>
          <a:off x="859664" y="3053865"/>
          <a:ext cx="10515600" cy="3277644"/>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719764740"/>
                    </a:ext>
                  </a:extLst>
                </a:gridCol>
                <a:gridCol w="5257800">
                  <a:extLst>
                    <a:ext uri="{9D8B030D-6E8A-4147-A177-3AD203B41FA5}">
                      <a16:colId xmlns:a16="http://schemas.microsoft.com/office/drawing/2014/main" val="2671885512"/>
                    </a:ext>
                  </a:extLst>
                </a:gridCol>
              </a:tblGrid>
              <a:tr h="622295">
                <a:tc>
                  <a:txBody>
                    <a:bodyPr/>
                    <a:lstStyle/>
                    <a:p>
                      <a:pPr algn="ctr"/>
                      <a:r>
                        <a:rPr lang="en-US" dirty="0"/>
                        <a:t>Inelastic demand</a:t>
                      </a:r>
                    </a:p>
                  </a:txBody>
                  <a:tcPr/>
                </a:tc>
                <a:tc>
                  <a:txBody>
                    <a:bodyPr/>
                    <a:lstStyle/>
                    <a:p>
                      <a:pPr algn="ctr"/>
                      <a:r>
                        <a:rPr lang="en-US" dirty="0"/>
                        <a:t>Inelastic supply</a:t>
                      </a:r>
                    </a:p>
                  </a:txBody>
                  <a:tcPr/>
                </a:tc>
                <a:extLst>
                  <a:ext uri="{0D108BD9-81ED-4DB2-BD59-A6C34878D82A}">
                    <a16:rowId xmlns:a16="http://schemas.microsoft.com/office/drawing/2014/main" val="3531995042"/>
                  </a:ext>
                </a:extLst>
              </a:tr>
              <a:tr h="2655349">
                <a:tc>
                  <a:txBody>
                    <a:bodyPr/>
                    <a:lstStyle/>
                    <a:p>
                      <a:pPr marL="285750" indent="-285750">
                        <a:buFont typeface="Arial" panose="020B0604020202020204" pitchFamily="34" charset="0"/>
                        <a:buChar char="•"/>
                      </a:pPr>
                      <a:r>
                        <a:rPr lang="en-US" dirty="0"/>
                        <a:t>Few substitutes globally</a:t>
                      </a:r>
                    </a:p>
                    <a:p>
                      <a:pPr marL="285750" indent="-285750">
                        <a:buFont typeface="Arial" panose="020B0604020202020204" pitchFamily="34" charset="0"/>
                        <a:buChar char="•"/>
                      </a:pPr>
                      <a:r>
                        <a:rPr lang="en-US" dirty="0"/>
                        <a:t>Commodities are a small proportion of final good and therefore small proportion of final cost</a:t>
                      </a:r>
                    </a:p>
                    <a:p>
                      <a:pPr marL="285750" indent="-285750">
                        <a:buFont typeface="Arial" panose="020B0604020202020204" pitchFamily="34" charset="0"/>
                        <a:buChar char="•"/>
                      </a:pPr>
                      <a:r>
                        <a:rPr lang="en-US" dirty="0"/>
                        <a:t>Necessity for production – can’t easily stop using them in the short run</a:t>
                      </a:r>
                    </a:p>
                    <a:p>
                      <a:pPr marL="285750" indent="-285750">
                        <a:buFont typeface="Arial" panose="020B0604020202020204" pitchFamily="34" charset="0"/>
                        <a:buChar char="•"/>
                      </a:pPr>
                      <a:r>
                        <a:rPr lang="en-US" dirty="0"/>
                        <a:t>Global contracts – long term contracts in export markets reduce responsiveness to price changes</a:t>
                      </a:r>
                    </a:p>
                  </a:txBody>
                  <a:tcPr/>
                </a:tc>
                <a:tc>
                  <a:txBody>
                    <a:bodyPr/>
                    <a:lstStyle/>
                    <a:p>
                      <a:pPr marL="285750" indent="-285750">
                        <a:buFont typeface="Arial" panose="020B0604020202020204" pitchFamily="34" charset="0"/>
                        <a:buChar char="•"/>
                      </a:pPr>
                      <a:r>
                        <a:rPr lang="en-US" dirty="0"/>
                        <a:t>Long production lags (mining projects and agricultural cycles take years to adjust output – can’t suddenly produce more because the price went up</a:t>
                      </a:r>
                    </a:p>
                    <a:p>
                      <a:pPr marL="285750" indent="-285750">
                        <a:buFont typeface="Arial" panose="020B0604020202020204" pitchFamily="34" charset="0"/>
                        <a:buChar char="•"/>
                      </a:pPr>
                      <a:r>
                        <a:rPr lang="en-US" dirty="0"/>
                        <a:t>High capital requirements (investment and time) – difficult to scale instantly</a:t>
                      </a:r>
                    </a:p>
                    <a:p>
                      <a:pPr marL="285750" indent="-285750">
                        <a:buFont typeface="Arial" panose="020B0604020202020204" pitchFamily="34" charset="0"/>
                        <a:buChar char="•"/>
                      </a:pPr>
                      <a:r>
                        <a:rPr lang="en-US" dirty="0"/>
                        <a:t>Geographical and climate restraints</a:t>
                      </a:r>
                    </a:p>
                    <a:p>
                      <a:pPr marL="285750" indent="-285750">
                        <a:buFont typeface="Arial" panose="020B0604020202020204" pitchFamily="34" charset="0"/>
                        <a:buChar char="•"/>
                      </a:pPr>
                      <a:r>
                        <a:rPr lang="en-US" dirty="0"/>
                        <a:t>Regulatory &amp; infrastructure limits</a:t>
                      </a:r>
                    </a:p>
                  </a:txBody>
                  <a:tcPr/>
                </a:tc>
                <a:extLst>
                  <a:ext uri="{0D108BD9-81ED-4DB2-BD59-A6C34878D82A}">
                    <a16:rowId xmlns:a16="http://schemas.microsoft.com/office/drawing/2014/main" val="4066760735"/>
                  </a:ext>
                </a:extLst>
              </a:tr>
            </a:tbl>
          </a:graphicData>
        </a:graphic>
      </p:graphicFrame>
    </p:spTree>
    <p:extLst>
      <p:ext uri="{BB962C8B-B14F-4D97-AF65-F5344CB8AC3E}">
        <p14:creationId xmlns:p14="http://schemas.microsoft.com/office/powerpoint/2010/main" val="4128948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BF78A-1BAB-8E4B-9076-E85EDBB06F70}"/>
              </a:ext>
            </a:extLst>
          </p:cNvPr>
          <p:cNvSpPr>
            <a:spLocks noGrp="1"/>
          </p:cNvSpPr>
          <p:nvPr>
            <p:ph type="title"/>
          </p:nvPr>
        </p:nvSpPr>
        <p:spPr/>
        <p:txBody>
          <a:bodyPr/>
          <a:lstStyle/>
          <a:p>
            <a:r>
              <a:rPr lang="en-US" dirty="0"/>
              <a:t>COMMODITY PRICES</a:t>
            </a:r>
          </a:p>
        </p:txBody>
      </p:sp>
      <p:sp>
        <p:nvSpPr>
          <p:cNvPr id="3" name="Content Placeholder 2">
            <a:extLst>
              <a:ext uri="{FF2B5EF4-FFF2-40B4-BE49-F238E27FC236}">
                <a16:creationId xmlns:a16="http://schemas.microsoft.com/office/drawing/2014/main" id="{118B8171-B13A-7DD4-4D60-331698A9440A}"/>
              </a:ext>
            </a:extLst>
          </p:cNvPr>
          <p:cNvSpPr>
            <a:spLocks noGrp="1"/>
          </p:cNvSpPr>
          <p:nvPr>
            <p:ph idx="1"/>
          </p:nvPr>
        </p:nvSpPr>
        <p:spPr/>
        <p:txBody>
          <a:bodyPr>
            <a:normAutofit fontScale="92500" lnSpcReduction="20000"/>
          </a:bodyPr>
          <a:lstStyle/>
          <a:p>
            <a:pPr fontAlgn="ctr"/>
            <a:r>
              <a:rPr lang="en-AU" sz="3000" dirty="0"/>
              <a:t>3/4s (75%) of Australia's exports are commodities (a raw material or primary agricultural product that can be bought and sold. EG - iron ore, coal, wool, beef, LNG, gold, etc)</a:t>
            </a:r>
          </a:p>
          <a:p>
            <a:pPr fontAlgn="ctr"/>
            <a:r>
              <a:rPr lang="en-AU" sz="3000" dirty="0"/>
              <a:t>Commodity prices are determined on global markets. </a:t>
            </a:r>
          </a:p>
          <a:p>
            <a:pPr lvl="1" fontAlgn="ctr">
              <a:buFont typeface="Courier New" panose="02070309020205020404" pitchFamily="49" charset="0"/>
              <a:buChar char="o"/>
            </a:pPr>
            <a:r>
              <a:rPr lang="en-AU" sz="2700" dirty="0"/>
              <a:t>If world (or China’s) growth rises --&gt; demand for commodities rises --&gt; rise in the price of commodities --&gt; rise in XPI</a:t>
            </a:r>
          </a:p>
          <a:p>
            <a:pPr lvl="1" fontAlgn="ctr">
              <a:buFont typeface="Courier New" panose="02070309020205020404" pitchFamily="49" charset="0"/>
              <a:buChar char="o"/>
            </a:pPr>
            <a:r>
              <a:rPr lang="en-AU" sz="2700" dirty="0"/>
              <a:t>If world (or China’s) growth falls --&gt; demand for commodities falls --&gt; fall in price of commodities --&gt; fall in XPI</a:t>
            </a:r>
          </a:p>
          <a:p>
            <a:pPr lvl="1" fontAlgn="ctr">
              <a:buFont typeface="Courier New" panose="02070309020205020404" pitchFamily="49" charset="0"/>
              <a:buChar char="o"/>
            </a:pPr>
            <a:r>
              <a:rPr lang="en-AU" sz="2700" dirty="0"/>
              <a:t>If global S rises --&gt; fall in price of commodities --&gt; fall in XPI</a:t>
            </a:r>
          </a:p>
          <a:p>
            <a:pPr lvl="1" fontAlgn="ctr">
              <a:buFont typeface="Courier New" panose="02070309020205020404" pitchFamily="49" charset="0"/>
              <a:buChar char="o"/>
            </a:pPr>
            <a:r>
              <a:rPr lang="en-AU" sz="2700" dirty="0"/>
              <a:t>If global S falls --&gt; rise in price of commodities --&gt; rise in XPI</a:t>
            </a:r>
          </a:p>
          <a:p>
            <a:endParaRPr lang="en-US" dirty="0"/>
          </a:p>
        </p:txBody>
      </p:sp>
    </p:spTree>
    <p:extLst>
      <p:ext uri="{BB962C8B-B14F-4D97-AF65-F5344CB8AC3E}">
        <p14:creationId xmlns:p14="http://schemas.microsoft.com/office/powerpoint/2010/main" val="257388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10A28-B42D-DBB5-EF34-E4D3B5EF89FC}"/>
              </a:ext>
            </a:extLst>
          </p:cNvPr>
          <p:cNvSpPr>
            <a:spLocks noGrp="1"/>
          </p:cNvSpPr>
          <p:nvPr>
            <p:ph type="title"/>
          </p:nvPr>
        </p:nvSpPr>
        <p:spPr/>
        <p:txBody>
          <a:bodyPr/>
          <a:lstStyle/>
          <a:p>
            <a:r>
              <a:rPr lang="en-GB" dirty="0"/>
              <a:t>Let’s look at fig 4.2 tb </a:t>
            </a:r>
            <a:r>
              <a:rPr lang="en-GB" dirty="0" err="1"/>
              <a:t>pg</a:t>
            </a:r>
            <a:r>
              <a:rPr lang="en-GB" dirty="0"/>
              <a:t> 90</a:t>
            </a:r>
            <a:endParaRPr lang="en-AU" dirty="0"/>
          </a:p>
        </p:txBody>
      </p:sp>
      <p:cxnSp>
        <p:nvCxnSpPr>
          <p:cNvPr id="5" name="Straight Connector 4">
            <a:extLst>
              <a:ext uri="{FF2B5EF4-FFF2-40B4-BE49-F238E27FC236}">
                <a16:creationId xmlns:a16="http://schemas.microsoft.com/office/drawing/2014/main" id="{48F92C73-85D1-2AC1-5AA2-B181A6FE1AA7}"/>
              </a:ext>
            </a:extLst>
          </p:cNvPr>
          <p:cNvCxnSpPr/>
          <p:nvPr/>
        </p:nvCxnSpPr>
        <p:spPr>
          <a:xfrm>
            <a:off x="1429966" y="2305455"/>
            <a:ext cx="0" cy="24805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3BEE40B-4D2F-FAD0-26F8-5B4F0AE279DC}"/>
              </a:ext>
            </a:extLst>
          </p:cNvPr>
          <p:cNvCxnSpPr>
            <a:cxnSpLocks/>
          </p:cNvCxnSpPr>
          <p:nvPr/>
        </p:nvCxnSpPr>
        <p:spPr>
          <a:xfrm flipH="1">
            <a:off x="1309991" y="4675762"/>
            <a:ext cx="289235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EE37EB8-287A-2934-96D0-6DF07EDC91C7}"/>
              </a:ext>
            </a:extLst>
          </p:cNvPr>
          <p:cNvCxnSpPr>
            <a:cxnSpLocks/>
          </p:cNvCxnSpPr>
          <p:nvPr/>
        </p:nvCxnSpPr>
        <p:spPr>
          <a:xfrm flipH="1" flipV="1">
            <a:off x="2021733" y="2305455"/>
            <a:ext cx="873571" cy="2187102"/>
          </a:xfrm>
          <a:prstGeom prst="line">
            <a:avLst/>
          </a:prstGeom>
          <a:ln w="285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232E027-0447-66B9-C14B-16ADC0674923}"/>
              </a:ext>
            </a:extLst>
          </p:cNvPr>
          <p:cNvCxnSpPr>
            <a:cxnSpLocks/>
            <a:stCxn id="34" idx="3"/>
          </p:cNvCxnSpPr>
          <p:nvPr/>
        </p:nvCxnSpPr>
        <p:spPr>
          <a:xfrm flipH="1" flipV="1">
            <a:off x="2756169" y="2303784"/>
            <a:ext cx="808840" cy="2062743"/>
          </a:xfrm>
          <a:prstGeom prst="line">
            <a:avLst/>
          </a:prstGeom>
          <a:ln w="28575">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9BE628F-BC11-F6DD-46B6-50FC2B10C298}"/>
              </a:ext>
            </a:extLst>
          </p:cNvPr>
          <p:cNvCxnSpPr>
            <a:cxnSpLocks/>
          </p:cNvCxnSpPr>
          <p:nvPr/>
        </p:nvCxnSpPr>
        <p:spPr>
          <a:xfrm flipH="1">
            <a:off x="1824800" y="2056673"/>
            <a:ext cx="1562329" cy="230985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AFAB719-DCA5-8E39-0AA0-37A468A33A55}"/>
              </a:ext>
            </a:extLst>
          </p:cNvPr>
          <p:cNvCxnSpPr/>
          <p:nvPr/>
        </p:nvCxnSpPr>
        <p:spPr>
          <a:xfrm>
            <a:off x="2286000" y="2537956"/>
            <a:ext cx="47016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37B8565-2086-8DA0-B635-CE7EF4ABF2DB}"/>
              </a:ext>
            </a:extLst>
          </p:cNvPr>
          <p:cNvCxnSpPr>
            <a:cxnSpLocks/>
          </p:cNvCxnSpPr>
          <p:nvPr/>
        </p:nvCxnSpPr>
        <p:spPr>
          <a:xfrm flipH="1">
            <a:off x="1408659" y="3494821"/>
            <a:ext cx="1047101"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18132FF-AF74-C9B2-0209-439488A1A1CF}"/>
              </a:ext>
            </a:extLst>
          </p:cNvPr>
          <p:cNvCxnSpPr>
            <a:cxnSpLocks/>
          </p:cNvCxnSpPr>
          <p:nvPr/>
        </p:nvCxnSpPr>
        <p:spPr>
          <a:xfrm flipH="1">
            <a:off x="1370737" y="2762846"/>
            <a:ext cx="1606071"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2C8020F-6040-3930-D42C-67AD6492DD6E}"/>
              </a:ext>
            </a:extLst>
          </p:cNvPr>
          <p:cNvCxnSpPr>
            <a:cxnSpLocks/>
          </p:cNvCxnSpPr>
          <p:nvPr/>
        </p:nvCxnSpPr>
        <p:spPr>
          <a:xfrm flipH="1" flipV="1">
            <a:off x="2919971" y="2759395"/>
            <a:ext cx="30156" cy="1928092"/>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918B42D-E179-BA4C-CC1D-CE8EA475DCD2}"/>
              </a:ext>
            </a:extLst>
          </p:cNvPr>
          <p:cNvCxnSpPr>
            <a:cxnSpLocks/>
          </p:cNvCxnSpPr>
          <p:nvPr/>
        </p:nvCxnSpPr>
        <p:spPr>
          <a:xfrm flipV="1">
            <a:off x="2455760" y="3465844"/>
            <a:ext cx="0" cy="1233435"/>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5A6FAE30-C8B3-B6D0-F3BD-CEFAB4587EA9}"/>
              </a:ext>
            </a:extLst>
          </p:cNvPr>
          <p:cNvSpPr txBox="1"/>
          <p:nvPr/>
        </p:nvSpPr>
        <p:spPr>
          <a:xfrm>
            <a:off x="1032504" y="2605507"/>
            <a:ext cx="393056" cy="307777"/>
          </a:xfrm>
          <a:prstGeom prst="rect">
            <a:avLst/>
          </a:prstGeom>
          <a:noFill/>
        </p:spPr>
        <p:txBody>
          <a:bodyPr wrap="none" rtlCol="0">
            <a:spAutoFit/>
          </a:bodyPr>
          <a:lstStyle/>
          <a:p>
            <a:r>
              <a:rPr lang="en-GB" sz="1400" dirty="0"/>
              <a:t>P2</a:t>
            </a:r>
            <a:endParaRPr lang="en-AU" sz="1400" dirty="0"/>
          </a:p>
        </p:txBody>
      </p:sp>
      <p:sp>
        <p:nvSpPr>
          <p:cNvPr id="30" name="TextBox 29">
            <a:extLst>
              <a:ext uri="{FF2B5EF4-FFF2-40B4-BE49-F238E27FC236}">
                <a16:creationId xmlns:a16="http://schemas.microsoft.com/office/drawing/2014/main" id="{D5F9FF06-0364-BC65-CD8B-C95E8AF8B74E}"/>
              </a:ext>
            </a:extLst>
          </p:cNvPr>
          <p:cNvSpPr txBox="1"/>
          <p:nvPr/>
        </p:nvSpPr>
        <p:spPr>
          <a:xfrm>
            <a:off x="1032504" y="3298888"/>
            <a:ext cx="393056" cy="307777"/>
          </a:xfrm>
          <a:prstGeom prst="rect">
            <a:avLst/>
          </a:prstGeom>
          <a:noFill/>
        </p:spPr>
        <p:txBody>
          <a:bodyPr wrap="none" rtlCol="0">
            <a:spAutoFit/>
          </a:bodyPr>
          <a:lstStyle/>
          <a:p>
            <a:r>
              <a:rPr lang="en-GB" sz="1400" dirty="0"/>
              <a:t>P1</a:t>
            </a:r>
            <a:endParaRPr lang="en-AU" sz="1400" dirty="0"/>
          </a:p>
        </p:txBody>
      </p:sp>
      <p:sp>
        <p:nvSpPr>
          <p:cNvPr id="31" name="TextBox 30">
            <a:extLst>
              <a:ext uri="{FF2B5EF4-FFF2-40B4-BE49-F238E27FC236}">
                <a16:creationId xmlns:a16="http://schemas.microsoft.com/office/drawing/2014/main" id="{4B91FB27-D733-8AEE-D1B2-8CB97D663CCB}"/>
              </a:ext>
            </a:extLst>
          </p:cNvPr>
          <p:cNvSpPr txBox="1"/>
          <p:nvPr/>
        </p:nvSpPr>
        <p:spPr>
          <a:xfrm>
            <a:off x="2301312" y="4737305"/>
            <a:ext cx="439544" cy="307777"/>
          </a:xfrm>
          <a:prstGeom prst="rect">
            <a:avLst/>
          </a:prstGeom>
          <a:noFill/>
        </p:spPr>
        <p:txBody>
          <a:bodyPr wrap="none" rtlCol="0">
            <a:spAutoFit/>
          </a:bodyPr>
          <a:lstStyle/>
          <a:p>
            <a:r>
              <a:rPr lang="en-GB" sz="1400" dirty="0"/>
              <a:t>Q1</a:t>
            </a:r>
            <a:endParaRPr lang="en-AU" sz="1400" dirty="0"/>
          </a:p>
        </p:txBody>
      </p:sp>
      <p:sp>
        <p:nvSpPr>
          <p:cNvPr id="32" name="TextBox 31">
            <a:extLst>
              <a:ext uri="{FF2B5EF4-FFF2-40B4-BE49-F238E27FC236}">
                <a16:creationId xmlns:a16="http://schemas.microsoft.com/office/drawing/2014/main" id="{92F8D42E-F9A0-1EE9-1B15-EC6A551FFEB3}"/>
              </a:ext>
            </a:extLst>
          </p:cNvPr>
          <p:cNvSpPr txBox="1"/>
          <p:nvPr/>
        </p:nvSpPr>
        <p:spPr>
          <a:xfrm>
            <a:off x="2740856" y="4732779"/>
            <a:ext cx="439544" cy="307777"/>
          </a:xfrm>
          <a:prstGeom prst="rect">
            <a:avLst/>
          </a:prstGeom>
          <a:noFill/>
        </p:spPr>
        <p:txBody>
          <a:bodyPr wrap="none" rtlCol="0">
            <a:spAutoFit/>
          </a:bodyPr>
          <a:lstStyle/>
          <a:p>
            <a:r>
              <a:rPr lang="en-GB" sz="1400" dirty="0"/>
              <a:t>Q2</a:t>
            </a:r>
            <a:endParaRPr lang="en-AU" sz="1400" dirty="0"/>
          </a:p>
        </p:txBody>
      </p:sp>
      <p:sp>
        <p:nvSpPr>
          <p:cNvPr id="33" name="TextBox 32">
            <a:extLst>
              <a:ext uri="{FF2B5EF4-FFF2-40B4-BE49-F238E27FC236}">
                <a16:creationId xmlns:a16="http://schemas.microsoft.com/office/drawing/2014/main" id="{71483E38-E62F-A851-3FD4-DF999206E8EC}"/>
              </a:ext>
            </a:extLst>
          </p:cNvPr>
          <p:cNvSpPr txBox="1"/>
          <p:nvPr/>
        </p:nvSpPr>
        <p:spPr>
          <a:xfrm>
            <a:off x="3844098" y="4184780"/>
            <a:ext cx="425116" cy="307777"/>
          </a:xfrm>
          <a:prstGeom prst="rect">
            <a:avLst/>
          </a:prstGeom>
          <a:noFill/>
        </p:spPr>
        <p:txBody>
          <a:bodyPr wrap="none" rtlCol="0">
            <a:spAutoFit/>
          </a:bodyPr>
          <a:lstStyle/>
          <a:p>
            <a:r>
              <a:rPr lang="en-GB" sz="1400" dirty="0"/>
              <a:t>D2</a:t>
            </a:r>
            <a:endParaRPr lang="en-AU" sz="1400" dirty="0"/>
          </a:p>
        </p:txBody>
      </p:sp>
      <p:sp>
        <p:nvSpPr>
          <p:cNvPr id="34" name="TextBox 33">
            <a:extLst>
              <a:ext uri="{FF2B5EF4-FFF2-40B4-BE49-F238E27FC236}">
                <a16:creationId xmlns:a16="http://schemas.microsoft.com/office/drawing/2014/main" id="{C4D282D7-6B4A-EC0D-73CD-32022E30F298}"/>
              </a:ext>
            </a:extLst>
          </p:cNvPr>
          <p:cNvSpPr txBox="1"/>
          <p:nvPr/>
        </p:nvSpPr>
        <p:spPr>
          <a:xfrm>
            <a:off x="3139893" y="4212638"/>
            <a:ext cx="425116" cy="307777"/>
          </a:xfrm>
          <a:prstGeom prst="rect">
            <a:avLst/>
          </a:prstGeom>
          <a:noFill/>
        </p:spPr>
        <p:txBody>
          <a:bodyPr wrap="none" rtlCol="0">
            <a:spAutoFit/>
          </a:bodyPr>
          <a:lstStyle/>
          <a:p>
            <a:r>
              <a:rPr lang="en-GB" sz="1400" dirty="0"/>
              <a:t>D1</a:t>
            </a:r>
            <a:endParaRPr lang="en-AU" sz="1400" dirty="0"/>
          </a:p>
        </p:txBody>
      </p:sp>
      <p:sp>
        <p:nvSpPr>
          <p:cNvPr id="35" name="TextBox 34">
            <a:extLst>
              <a:ext uri="{FF2B5EF4-FFF2-40B4-BE49-F238E27FC236}">
                <a16:creationId xmlns:a16="http://schemas.microsoft.com/office/drawing/2014/main" id="{F5818946-91D7-0633-94EA-B36AC57B9DFD}"/>
              </a:ext>
            </a:extLst>
          </p:cNvPr>
          <p:cNvSpPr txBox="1"/>
          <p:nvPr/>
        </p:nvSpPr>
        <p:spPr>
          <a:xfrm>
            <a:off x="3719759" y="2270488"/>
            <a:ext cx="285656" cy="307777"/>
          </a:xfrm>
          <a:prstGeom prst="rect">
            <a:avLst/>
          </a:prstGeom>
          <a:noFill/>
        </p:spPr>
        <p:txBody>
          <a:bodyPr wrap="none" rtlCol="0">
            <a:spAutoFit/>
          </a:bodyPr>
          <a:lstStyle/>
          <a:p>
            <a:r>
              <a:rPr lang="en-GB" sz="1400" dirty="0"/>
              <a:t>S</a:t>
            </a:r>
            <a:endParaRPr lang="en-AU" sz="1400" dirty="0"/>
          </a:p>
        </p:txBody>
      </p:sp>
      <p:sp>
        <p:nvSpPr>
          <p:cNvPr id="36" name="TextBox 35">
            <a:extLst>
              <a:ext uri="{FF2B5EF4-FFF2-40B4-BE49-F238E27FC236}">
                <a16:creationId xmlns:a16="http://schemas.microsoft.com/office/drawing/2014/main" id="{D71B343E-72D6-D119-23C2-26244643BA44}"/>
              </a:ext>
            </a:extLst>
          </p:cNvPr>
          <p:cNvSpPr txBox="1"/>
          <p:nvPr/>
        </p:nvSpPr>
        <p:spPr>
          <a:xfrm>
            <a:off x="2157057" y="1797253"/>
            <a:ext cx="1476494" cy="307777"/>
          </a:xfrm>
          <a:prstGeom prst="rect">
            <a:avLst/>
          </a:prstGeom>
          <a:noFill/>
        </p:spPr>
        <p:txBody>
          <a:bodyPr wrap="none" rtlCol="0">
            <a:spAutoFit/>
          </a:bodyPr>
          <a:lstStyle/>
          <a:p>
            <a:r>
              <a:rPr lang="en-GB" sz="1400" dirty="0"/>
              <a:t>Iron Ore market</a:t>
            </a:r>
            <a:endParaRPr lang="en-AU" sz="1400" dirty="0"/>
          </a:p>
        </p:txBody>
      </p:sp>
      <p:sp>
        <p:nvSpPr>
          <p:cNvPr id="37" name="Content Placeholder 2">
            <a:extLst>
              <a:ext uri="{FF2B5EF4-FFF2-40B4-BE49-F238E27FC236}">
                <a16:creationId xmlns:a16="http://schemas.microsoft.com/office/drawing/2014/main" id="{73D99399-DCC7-4B93-A72B-000BA454537F}"/>
              </a:ext>
            </a:extLst>
          </p:cNvPr>
          <p:cNvSpPr>
            <a:spLocks noGrp="1"/>
          </p:cNvSpPr>
          <p:nvPr>
            <p:ph idx="1"/>
          </p:nvPr>
        </p:nvSpPr>
        <p:spPr>
          <a:xfrm>
            <a:off x="4936784" y="1940875"/>
            <a:ext cx="6417016" cy="4236087"/>
          </a:xfrm>
        </p:spPr>
        <p:txBody>
          <a:bodyPr>
            <a:normAutofit fontScale="77500" lnSpcReduction="20000"/>
          </a:bodyPr>
          <a:lstStyle/>
          <a:p>
            <a:pPr fontAlgn="ctr"/>
            <a:r>
              <a:rPr lang="en-AU" sz="3000" dirty="0"/>
              <a:t>Suppose the Chinese economy expands, shifting the world demand for iron ore to the right (D2). This causes the price to increase from P1 to P2 and the quantity sold increase from Q1 to Q2.</a:t>
            </a:r>
          </a:p>
          <a:p>
            <a:pPr fontAlgn="ctr"/>
            <a:r>
              <a:rPr lang="en-AU" sz="3000" dirty="0"/>
              <a:t>Australia’s iron ore exporters will be extremely happy (sell more at a higher price)</a:t>
            </a:r>
          </a:p>
          <a:p>
            <a:pPr fontAlgn="ctr"/>
            <a:r>
              <a:rPr lang="en-AU" sz="3000" dirty="0"/>
              <a:t>Aus XPI will increase </a:t>
            </a:r>
          </a:p>
          <a:p>
            <a:pPr fontAlgn="ctr"/>
            <a:r>
              <a:rPr lang="en-AU" sz="3000" dirty="0"/>
              <a:t>CAB increase (ceteris paribus)</a:t>
            </a:r>
          </a:p>
          <a:p>
            <a:pPr fontAlgn="ctr"/>
            <a:r>
              <a:rPr lang="en-AU" sz="3000" dirty="0"/>
              <a:t>National Income increases</a:t>
            </a:r>
            <a:endParaRPr lang="en-AU" sz="2700" dirty="0"/>
          </a:p>
          <a:p>
            <a:endParaRPr lang="en-US" dirty="0"/>
          </a:p>
        </p:txBody>
      </p:sp>
    </p:spTree>
    <p:extLst>
      <p:ext uri="{BB962C8B-B14F-4D97-AF65-F5344CB8AC3E}">
        <p14:creationId xmlns:p14="http://schemas.microsoft.com/office/powerpoint/2010/main" val="24584466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BF78A-1BAB-8E4B-9076-E85EDBB06F70}"/>
              </a:ext>
            </a:extLst>
          </p:cNvPr>
          <p:cNvSpPr>
            <a:spLocks noGrp="1"/>
          </p:cNvSpPr>
          <p:nvPr>
            <p:ph type="title"/>
          </p:nvPr>
        </p:nvSpPr>
        <p:spPr/>
        <p:txBody>
          <a:bodyPr/>
          <a:lstStyle/>
          <a:p>
            <a:r>
              <a:rPr lang="en-US" dirty="0"/>
              <a:t>COMMODITY PRICES</a:t>
            </a:r>
          </a:p>
        </p:txBody>
      </p:sp>
      <p:sp>
        <p:nvSpPr>
          <p:cNvPr id="3" name="Content Placeholder 2">
            <a:extLst>
              <a:ext uri="{FF2B5EF4-FFF2-40B4-BE49-F238E27FC236}">
                <a16:creationId xmlns:a16="http://schemas.microsoft.com/office/drawing/2014/main" id="{118B8171-B13A-7DD4-4D60-331698A9440A}"/>
              </a:ext>
            </a:extLst>
          </p:cNvPr>
          <p:cNvSpPr>
            <a:spLocks noGrp="1"/>
          </p:cNvSpPr>
          <p:nvPr>
            <p:ph idx="1"/>
          </p:nvPr>
        </p:nvSpPr>
        <p:spPr/>
        <p:txBody>
          <a:bodyPr>
            <a:normAutofit fontScale="85000" lnSpcReduction="10000"/>
          </a:bodyPr>
          <a:lstStyle/>
          <a:p>
            <a:pPr fontAlgn="ctr"/>
            <a:r>
              <a:rPr lang="en-AU" sz="3000" dirty="0"/>
              <a:t>In summary, as the Chinese/global economy expands, the demand for global resources also expands. Thus, global commodity prices rise and Australia's XPI rises --&gt; favourable change in the TOT</a:t>
            </a:r>
          </a:p>
          <a:p>
            <a:pPr fontAlgn="ctr"/>
            <a:r>
              <a:rPr lang="en-AU" sz="3000" dirty="0"/>
              <a:t>However, if global/Chinese growth contracts then global demand for resources falls --&gt; fall in commodity prices --&gt; fall in Australia's XPI --&gt; unfavourable change in the TOT</a:t>
            </a:r>
          </a:p>
          <a:p>
            <a:pPr fontAlgn="ctr"/>
            <a:endParaRPr lang="en-AU" sz="3000" dirty="0"/>
          </a:p>
          <a:p>
            <a:pPr fontAlgn="ctr"/>
            <a:r>
              <a:rPr lang="en-AU" sz="3000" dirty="0"/>
              <a:t>A decrease in demand and/or increase in supply will lead to a fall in commodity prices, vice versa.</a:t>
            </a:r>
          </a:p>
        </p:txBody>
      </p:sp>
    </p:spTree>
    <p:extLst>
      <p:ext uri="{BB962C8B-B14F-4D97-AF65-F5344CB8AC3E}">
        <p14:creationId xmlns:p14="http://schemas.microsoft.com/office/powerpoint/2010/main" val="1752350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D9700-091D-0239-0842-BBA6F0F04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B0F73-7E67-77B4-28A9-8C7CCECD0CA4}"/>
              </a:ext>
            </a:extLst>
          </p:cNvPr>
          <p:cNvSpPr>
            <a:spLocks noGrp="1"/>
          </p:cNvSpPr>
          <p:nvPr>
            <p:ph type="title"/>
          </p:nvPr>
        </p:nvSpPr>
        <p:spPr/>
        <p:txBody>
          <a:bodyPr/>
          <a:lstStyle/>
          <a:p>
            <a:r>
              <a:rPr lang="en-AU" b="1" dirty="0"/>
              <a:t>MANUFACTURED GOOD PRICES</a:t>
            </a:r>
            <a:endParaRPr lang="en-US" dirty="0"/>
          </a:p>
        </p:txBody>
      </p:sp>
      <p:sp>
        <p:nvSpPr>
          <p:cNvPr id="3" name="Content Placeholder 2">
            <a:extLst>
              <a:ext uri="{FF2B5EF4-FFF2-40B4-BE49-F238E27FC236}">
                <a16:creationId xmlns:a16="http://schemas.microsoft.com/office/drawing/2014/main" id="{FA21309B-8277-FEAC-A16E-F6874B32255A}"/>
              </a:ext>
            </a:extLst>
          </p:cNvPr>
          <p:cNvSpPr>
            <a:spLocks noGrp="1"/>
          </p:cNvSpPr>
          <p:nvPr>
            <p:ph idx="1"/>
          </p:nvPr>
        </p:nvSpPr>
        <p:spPr>
          <a:xfrm>
            <a:off x="347729" y="1850723"/>
            <a:ext cx="11719775" cy="4236087"/>
          </a:xfrm>
        </p:spPr>
        <p:txBody>
          <a:bodyPr/>
          <a:lstStyle/>
          <a:p>
            <a:pPr marL="0" indent="0" fontAlgn="ctr">
              <a:buNone/>
            </a:pPr>
            <a:r>
              <a:rPr lang="en-AU" dirty="0"/>
              <a:t>The supply of Manufactured goods tend to be elastic in nature with a relatively flat supply curve, so changes in demand has little effect on price. </a:t>
            </a:r>
          </a:p>
          <a:p>
            <a:endParaRPr lang="en-AU" dirty="0"/>
          </a:p>
        </p:txBody>
      </p:sp>
      <p:graphicFrame>
        <p:nvGraphicFramePr>
          <p:cNvPr id="4" name="Table 3">
            <a:extLst>
              <a:ext uri="{FF2B5EF4-FFF2-40B4-BE49-F238E27FC236}">
                <a16:creationId xmlns:a16="http://schemas.microsoft.com/office/drawing/2014/main" id="{1D765AD5-FA47-6D02-7929-71E9DA3F6BEA}"/>
              </a:ext>
            </a:extLst>
          </p:cNvPr>
          <p:cNvGraphicFramePr>
            <a:graphicFrameLocks noGrp="1"/>
          </p:cNvGraphicFramePr>
          <p:nvPr>
            <p:extLst>
              <p:ext uri="{D42A27DB-BD31-4B8C-83A1-F6EECF244321}">
                <p14:modId xmlns:p14="http://schemas.microsoft.com/office/powerpoint/2010/main" val="2097429633"/>
              </p:ext>
            </p:extLst>
          </p:nvPr>
        </p:nvGraphicFramePr>
        <p:xfrm>
          <a:off x="838200" y="2969201"/>
          <a:ext cx="10515600" cy="3277644"/>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719764740"/>
                    </a:ext>
                  </a:extLst>
                </a:gridCol>
                <a:gridCol w="5257800">
                  <a:extLst>
                    <a:ext uri="{9D8B030D-6E8A-4147-A177-3AD203B41FA5}">
                      <a16:colId xmlns:a16="http://schemas.microsoft.com/office/drawing/2014/main" val="2671885512"/>
                    </a:ext>
                  </a:extLst>
                </a:gridCol>
              </a:tblGrid>
              <a:tr h="622295">
                <a:tc>
                  <a:txBody>
                    <a:bodyPr/>
                    <a:lstStyle/>
                    <a:p>
                      <a:pPr algn="ctr"/>
                      <a:r>
                        <a:rPr lang="en-US" dirty="0"/>
                        <a:t>Elastic demand</a:t>
                      </a:r>
                    </a:p>
                  </a:txBody>
                  <a:tcPr/>
                </a:tc>
                <a:tc>
                  <a:txBody>
                    <a:bodyPr/>
                    <a:lstStyle/>
                    <a:p>
                      <a:pPr algn="ctr"/>
                      <a:r>
                        <a:rPr lang="en-US" dirty="0"/>
                        <a:t>Elastic supply</a:t>
                      </a:r>
                    </a:p>
                  </a:txBody>
                  <a:tcPr/>
                </a:tc>
                <a:extLst>
                  <a:ext uri="{0D108BD9-81ED-4DB2-BD59-A6C34878D82A}">
                    <a16:rowId xmlns:a16="http://schemas.microsoft.com/office/drawing/2014/main" val="3531995042"/>
                  </a:ext>
                </a:extLst>
              </a:tr>
              <a:tr h="2655349">
                <a:tc>
                  <a:txBody>
                    <a:bodyPr/>
                    <a:lstStyle/>
                    <a:p>
                      <a:pPr marL="285750" indent="-285750">
                        <a:buFont typeface="Arial" panose="020B0604020202020204" pitchFamily="34" charset="0"/>
                        <a:buChar char="•"/>
                      </a:pPr>
                      <a:endParaRPr lang="en-US" dirty="0"/>
                    </a:p>
                  </a:txBody>
                  <a:tcPr/>
                </a:tc>
                <a:tc>
                  <a:txBody>
                    <a:bodyPr/>
                    <a:lstStyle/>
                    <a:p>
                      <a:pPr marL="285750" indent="-285750">
                        <a:buFont typeface="Arial" panose="020B0604020202020204" pitchFamily="34" charset="0"/>
                        <a:buChar char="•"/>
                      </a:pPr>
                      <a:endParaRPr lang="en-US" dirty="0"/>
                    </a:p>
                  </a:txBody>
                  <a:tcPr/>
                </a:tc>
                <a:extLst>
                  <a:ext uri="{0D108BD9-81ED-4DB2-BD59-A6C34878D82A}">
                    <a16:rowId xmlns:a16="http://schemas.microsoft.com/office/drawing/2014/main" val="4066760735"/>
                  </a:ext>
                </a:extLst>
              </a:tr>
            </a:tbl>
          </a:graphicData>
        </a:graphic>
      </p:graphicFrame>
    </p:spTree>
    <p:extLst>
      <p:ext uri="{BB962C8B-B14F-4D97-AF65-F5344CB8AC3E}">
        <p14:creationId xmlns:p14="http://schemas.microsoft.com/office/powerpoint/2010/main" val="35737373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B5033-E20F-A96D-FFCF-5B6A63891332}"/>
              </a:ext>
            </a:extLst>
          </p:cNvPr>
          <p:cNvSpPr>
            <a:spLocks noGrp="1"/>
          </p:cNvSpPr>
          <p:nvPr>
            <p:ph type="title"/>
          </p:nvPr>
        </p:nvSpPr>
        <p:spPr/>
        <p:txBody>
          <a:bodyPr>
            <a:normAutofit/>
          </a:bodyPr>
          <a:lstStyle/>
          <a:p>
            <a:r>
              <a:rPr lang="en-AU" b="1" dirty="0"/>
              <a:t>MANUFACTURED GOOD PRICES</a:t>
            </a:r>
            <a:endParaRPr lang="en-US" dirty="0"/>
          </a:p>
        </p:txBody>
      </p:sp>
      <p:sp>
        <p:nvSpPr>
          <p:cNvPr id="3" name="Content Placeholder 2">
            <a:extLst>
              <a:ext uri="{FF2B5EF4-FFF2-40B4-BE49-F238E27FC236}">
                <a16:creationId xmlns:a16="http://schemas.microsoft.com/office/drawing/2014/main" id="{6DC914E9-7AE8-4636-07D1-BC0EF50EE96C}"/>
              </a:ext>
            </a:extLst>
          </p:cNvPr>
          <p:cNvSpPr>
            <a:spLocks noGrp="1"/>
          </p:cNvSpPr>
          <p:nvPr>
            <p:ph idx="1"/>
          </p:nvPr>
        </p:nvSpPr>
        <p:spPr/>
        <p:txBody>
          <a:bodyPr>
            <a:normAutofit lnSpcReduction="10000"/>
          </a:bodyPr>
          <a:lstStyle/>
          <a:p>
            <a:pPr fontAlgn="ctr"/>
            <a:r>
              <a:rPr lang="en-AU" dirty="0"/>
              <a:t>Most of Australia's imports are manufactured and intermediate goods (household appliances, equipment, machinery and ICT)</a:t>
            </a:r>
          </a:p>
          <a:p>
            <a:pPr fontAlgn="ctr"/>
            <a:r>
              <a:rPr lang="en-AU" dirty="0"/>
              <a:t>As China has grown into the world’s largest manufacturer, the price of manufactured goods has declined. This has been assisted by increases in productivity from technology, labour training etc. </a:t>
            </a:r>
          </a:p>
          <a:p>
            <a:pPr fontAlgn="ctr"/>
            <a:r>
              <a:rPr lang="en-AU" dirty="0"/>
              <a:t>Prices of ICT goods also tend to fall over time due to advancements in technology which lowers costs of production.</a:t>
            </a:r>
          </a:p>
          <a:p>
            <a:pPr fontAlgn="ctr"/>
            <a:r>
              <a:rPr lang="en-AU" dirty="0"/>
              <a:t>Thus, if the import price of manufactured and intermediate goods falls --&gt; fall in MPI --&gt; rise in TOT and vice versa</a:t>
            </a:r>
          </a:p>
          <a:p>
            <a:r>
              <a:rPr lang="en-US" dirty="0"/>
              <a:t>During Covid, there were supply bottlenecks </a:t>
            </a:r>
            <a:r>
              <a:rPr lang="en-US" dirty="0">
                <a:sym typeface="Wingdings" panose="05000000000000000000" pitchFamily="2" charset="2"/>
              </a:rPr>
              <a:t> decrease in supply  increase M prices  rise MPI  fall in TOT</a:t>
            </a:r>
            <a:endParaRPr lang="en-US" dirty="0"/>
          </a:p>
        </p:txBody>
      </p:sp>
    </p:spTree>
    <p:extLst>
      <p:ext uri="{BB962C8B-B14F-4D97-AF65-F5344CB8AC3E}">
        <p14:creationId xmlns:p14="http://schemas.microsoft.com/office/powerpoint/2010/main" val="33137062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B3CC-0214-71A9-BDF7-2119AF3C8E70}"/>
              </a:ext>
            </a:extLst>
          </p:cNvPr>
          <p:cNvSpPr>
            <a:spLocks noGrp="1"/>
          </p:cNvSpPr>
          <p:nvPr>
            <p:ph type="title"/>
          </p:nvPr>
        </p:nvSpPr>
        <p:spPr/>
        <p:txBody>
          <a:bodyPr/>
          <a:lstStyle/>
          <a:p>
            <a:r>
              <a:rPr lang="en-US" dirty="0"/>
              <a:t>OIL PRICES</a:t>
            </a:r>
          </a:p>
        </p:txBody>
      </p:sp>
      <p:sp>
        <p:nvSpPr>
          <p:cNvPr id="3" name="Content Placeholder 2">
            <a:extLst>
              <a:ext uri="{FF2B5EF4-FFF2-40B4-BE49-F238E27FC236}">
                <a16:creationId xmlns:a16="http://schemas.microsoft.com/office/drawing/2014/main" id="{0317EB65-E141-BF57-1CEF-37553BCCEFB6}"/>
              </a:ext>
            </a:extLst>
          </p:cNvPr>
          <p:cNvSpPr>
            <a:spLocks noGrp="1"/>
          </p:cNvSpPr>
          <p:nvPr>
            <p:ph idx="1"/>
          </p:nvPr>
        </p:nvSpPr>
        <p:spPr/>
        <p:txBody>
          <a:bodyPr>
            <a:normAutofit fontScale="92500"/>
          </a:bodyPr>
          <a:lstStyle/>
          <a:p>
            <a:pPr fontAlgn="ctr"/>
            <a:r>
              <a:rPr lang="en-AU" sz="2800" dirty="0"/>
              <a:t>The global oil price is volatile (inelastic good) and Australia is a significant importer of oil </a:t>
            </a:r>
          </a:p>
          <a:p>
            <a:pPr fontAlgn="ctr"/>
            <a:r>
              <a:rPr lang="en-AU" sz="2800" dirty="0"/>
              <a:t>Global oil price is decided on global markets via forces of demand and supply</a:t>
            </a:r>
          </a:p>
          <a:p>
            <a:pPr fontAlgn="ctr"/>
            <a:r>
              <a:rPr lang="en-AU" sz="2800" dirty="0"/>
              <a:t>For e.g. 2022-2024, Ukraine-Russia War and tensions in Middle East spiked oil prices. </a:t>
            </a:r>
            <a:r>
              <a:rPr lang="en-AU" sz="2800" dirty="0">
                <a:sym typeface="Wingdings" panose="05000000000000000000" pitchFamily="2" charset="2"/>
              </a:rPr>
              <a:t> rise in MPI  deterioration in TOT</a:t>
            </a:r>
            <a:endParaRPr lang="en-AU" sz="2800" dirty="0"/>
          </a:p>
          <a:p>
            <a:r>
              <a:rPr lang="en-US" sz="2800" dirty="0"/>
              <a:t>Higher oil prices potentially affect all import prices because it increases energy and transport costs.</a:t>
            </a:r>
          </a:p>
        </p:txBody>
      </p:sp>
    </p:spTree>
    <p:extLst>
      <p:ext uri="{BB962C8B-B14F-4D97-AF65-F5344CB8AC3E}">
        <p14:creationId xmlns:p14="http://schemas.microsoft.com/office/powerpoint/2010/main" val="17191418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0D21A-3159-C882-6462-B2195A0543CB}"/>
              </a:ext>
            </a:extLst>
          </p:cNvPr>
          <p:cNvSpPr>
            <a:spLocks noGrp="1"/>
          </p:cNvSpPr>
          <p:nvPr>
            <p:ph type="title"/>
          </p:nvPr>
        </p:nvSpPr>
        <p:spPr/>
        <p:txBody>
          <a:bodyPr/>
          <a:lstStyle/>
          <a:p>
            <a:pPr algn="ctr"/>
            <a:r>
              <a:rPr lang="en-US" dirty="0"/>
              <a:t>COMMODITY PRICES VS TOT</a:t>
            </a:r>
          </a:p>
        </p:txBody>
      </p:sp>
      <p:sp>
        <p:nvSpPr>
          <p:cNvPr id="3" name="Content Placeholder 2">
            <a:extLst>
              <a:ext uri="{FF2B5EF4-FFF2-40B4-BE49-F238E27FC236}">
                <a16:creationId xmlns:a16="http://schemas.microsoft.com/office/drawing/2014/main" id="{0DD2DE1C-69AA-17E1-7191-378C526E09EE}"/>
              </a:ext>
            </a:extLst>
          </p:cNvPr>
          <p:cNvSpPr>
            <a:spLocks noGrp="1"/>
          </p:cNvSpPr>
          <p:nvPr>
            <p:ph idx="1"/>
          </p:nvPr>
        </p:nvSpPr>
        <p:spPr>
          <a:xfrm>
            <a:off x="838200" y="5362132"/>
            <a:ext cx="10515600" cy="1325563"/>
          </a:xfrm>
        </p:spPr>
        <p:txBody>
          <a:bodyPr>
            <a:normAutofit/>
          </a:bodyPr>
          <a:lstStyle/>
          <a:p>
            <a:r>
              <a:rPr lang="en-AU" sz="1800" dirty="0"/>
              <a:t>Can you see a similar trend between commodity price and the TOT?</a:t>
            </a:r>
          </a:p>
          <a:p>
            <a:r>
              <a:rPr lang="en-AU" sz="1800" dirty="0"/>
              <a:t>Due to commodities being Australia’s largest export, and the fact that commodity prices are volatile, commodities tend to be the biggest driver of changes in the TOT</a:t>
            </a:r>
          </a:p>
          <a:p>
            <a:endParaRPr lang="en-US" sz="1800" dirty="0"/>
          </a:p>
        </p:txBody>
      </p:sp>
      <p:pic>
        <p:nvPicPr>
          <p:cNvPr id="7" name="Picture 6" descr="A graph with pink lines&#10;&#10;Description automatically generated">
            <a:extLst>
              <a:ext uri="{FF2B5EF4-FFF2-40B4-BE49-F238E27FC236}">
                <a16:creationId xmlns:a16="http://schemas.microsoft.com/office/drawing/2014/main" id="{3D70E058-43C2-4F5E-B991-BD0A1F58BADE}"/>
              </a:ext>
            </a:extLst>
          </p:cNvPr>
          <p:cNvPicPr>
            <a:picLocks noChangeAspect="1"/>
          </p:cNvPicPr>
          <p:nvPr/>
        </p:nvPicPr>
        <p:blipFill>
          <a:blip r:embed="rId2"/>
          <a:stretch>
            <a:fillRect/>
          </a:stretch>
        </p:blipFill>
        <p:spPr>
          <a:xfrm>
            <a:off x="1939066" y="1884532"/>
            <a:ext cx="4006327" cy="3129942"/>
          </a:xfrm>
          <a:prstGeom prst="rect">
            <a:avLst/>
          </a:prstGeom>
          <a:ln>
            <a:solidFill>
              <a:schemeClr val="accent1"/>
            </a:solidFill>
          </a:ln>
        </p:spPr>
      </p:pic>
      <p:pic>
        <p:nvPicPr>
          <p:cNvPr id="9" name="Picture 8" descr="A graph with blue lines&#10;&#10;Description automatically generated">
            <a:extLst>
              <a:ext uri="{FF2B5EF4-FFF2-40B4-BE49-F238E27FC236}">
                <a16:creationId xmlns:a16="http://schemas.microsoft.com/office/drawing/2014/main" id="{B90CFE47-EE69-3A47-F57A-298283CD11C6}"/>
              </a:ext>
            </a:extLst>
          </p:cNvPr>
          <p:cNvPicPr>
            <a:picLocks noChangeAspect="1"/>
          </p:cNvPicPr>
          <p:nvPr/>
        </p:nvPicPr>
        <p:blipFill>
          <a:blip r:embed="rId3"/>
          <a:stretch>
            <a:fillRect/>
          </a:stretch>
        </p:blipFill>
        <p:spPr>
          <a:xfrm>
            <a:off x="6246608" y="1884532"/>
            <a:ext cx="4006326" cy="3283756"/>
          </a:xfrm>
          <a:prstGeom prst="rect">
            <a:avLst/>
          </a:prstGeom>
          <a:ln>
            <a:solidFill>
              <a:schemeClr val="accent1"/>
            </a:solidFill>
          </a:ln>
        </p:spPr>
      </p:pic>
    </p:spTree>
    <p:extLst>
      <p:ext uri="{BB962C8B-B14F-4D97-AF65-F5344CB8AC3E}">
        <p14:creationId xmlns:p14="http://schemas.microsoft.com/office/powerpoint/2010/main" val="2055352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a graph showing the price of coal&#10;&#10;Description automatically generated with medium confidence">
            <a:extLst>
              <a:ext uri="{FF2B5EF4-FFF2-40B4-BE49-F238E27FC236}">
                <a16:creationId xmlns:a16="http://schemas.microsoft.com/office/drawing/2014/main" id="{59AEE3D6-5883-0B35-B8F6-4F4C8222E34B}"/>
              </a:ext>
            </a:extLst>
          </p:cNvPr>
          <p:cNvPicPr>
            <a:picLocks noGrp="1" noChangeAspect="1"/>
          </p:cNvPicPr>
          <p:nvPr>
            <p:ph idx="1"/>
          </p:nvPr>
        </p:nvPicPr>
        <p:blipFill>
          <a:blip r:embed="rId3"/>
          <a:stretch>
            <a:fillRect/>
          </a:stretch>
        </p:blipFill>
        <p:spPr>
          <a:xfrm>
            <a:off x="2069789" y="3467630"/>
            <a:ext cx="3822125" cy="3218093"/>
          </a:xfrm>
          <a:ln>
            <a:solidFill>
              <a:schemeClr val="accent1"/>
            </a:solidFill>
          </a:ln>
        </p:spPr>
      </p:pic>
      <p:pic>
        <p:nvPicPr>
          <p:cNvPr id="7" name="Picture 6" descr="A graph of oil prices&#10;&#10;Description automatically generated">
            <a:extLst>
              <a:ext uri="{FF2B5EF4-FFF2-40B4-BE49-F238E27FC236}">
                <a16:creationId xmlns:a16="http://schemas.microsoft.com/office/drawing/2014/main" id="{013A597E-5D43-EAF3-A3E5-3FC5EAA2BD1E}"/>
              </a:ext>
            </a:extLst>
          </p:cNvPr>
          <p:cNvPicPr>
            <a:picLocks noChangeAspect="1"/>
          </p:cNvPicPr>
          <p:nvPr/>
        </p:nvPicPr>
        <p:blipFill>
          <a:blip r:embed="rId4"/>
          <a:stretch>
            <a:fillRect/>
          </a:stretch>
        </p:blipFill>
        <p:spPr>
          <a:xfrm>
            <a:off x="6096000" y="3511853"/>
            <a:ext cx="4057916" cy="3173870"/>
          </a:xfrm>
          <a:prstGeom prst="rect">
            <a:avLst/>
          </a:prstGeom>
          <a:ln>
            <a:solidFill>
              <a:schemeClr val="accent1"/>
            </a:solidFill>
          </a:ln>
        </p:spPr>
      </p:pic>
      <p:pic>
        <p:nvPicPr>
          <p:cNvPr id="9" name="Picture 8" descr="A graph with pink lines&#10;&#10;Description automatically generated">
            <a:extLst>
              <a:ext uri="{FF2B5EF4-FFF2-40B4-BE49-F238E27FC236}">
                <a16:creationId xmlns:a16="http://schemas.microsoft.com/office/drawing/2014/main" id="{C6355416-A623-4F37-8EF7-3D3DADA44272}"/>
              </a:ext>
            </a:extLst>
          </p:cNvPr>
          <p:cNvPicPr>
            <a:picLocks noChangeAspect="1"/>
          </p:cNvPicPr>
          <p:nvPr/>
        </p:nvPicPr>
        <p:blipFill>
          <a:blip r:embed="rId5"/>
          <a:stretch>
            <a:fillRect/>
          </a:stretch>
        </p:blipFill>
        <p:spPr>
          <a:xfrm>
            <a:off x="6096001" y="88792"/>
            <a:ext cx="4057915" cy="3170246"/>
          </a:xfrm>
          <a:prstGeom prst="rect">
            <a:avLst/>
          </a:prstGeom>
          <a:ln>
            <a:solidFill>
              <a:schemeClr val="accent1"/>
            </a:solidFill>
          </a:ln>
        </p:spPr>
      </p:pic>
      <p:pic>
        <p:nvPicPr>
          <p:cNvPr id="11" name="Picture 10" descr="A graph with blue lines&#10;&#10;Description automatically generated">
            <a:extLst>
              <a:ext uri="{FF2B5EF4-FFF2-40B4-BE49-F238E27FC236}">
                <a16:creationId xmlns:a16="http://schemas.microsoft.com/office/drawing/2014/main" id="{07312563-A73E-BEE8-8F09-E799C82E2E1A}"/>
              </a:ext>
            </a:extLst>
          </p:cNvPr>
          <p:cNvPicPr>
            <a:picLocks noChangeAspect="1"/>
          </p:cNvPicPr>
          <p:nvPr/>
        </p:nvPicPr>
        <p:blipFill>
          <a:blip r:embed="rId6"/>
          <a:stretch>
            <a:fillRect/>
          </a:stretch>
        </p:blipFill>
        <p:spPr>
          <a:xfrm>
            <a:off x="2069790" y="88792"/>
            <a:ext cx="3822125" cy="3132777"/>
          </a:xfrm>
          <a:prstGeom prst="rect">
            <a:avLst/>
          </a:prstGeom>
          <a:ln>
            <a:solidFill>
              <a:schemeClr val="accent1"/>
            </a:solidFill>
          </a:ln>
        </p:spPr>
      </p:pic>
    </p:spTree>
    <p:extLst>
      <p:ext uri="{BB962C8B-B14F-4D97-AF65-F5344CB8AC3E}">
        <p14:creationId xmlns:p14="http://schemas.microsoft.com/office/powerpoint/2010/main" val="9750107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8AD2-2FBB-2BD1-13E8-F695FB71AE9E}"/>
              </a:ext>
            </a:extLst>
          </p:cNvPr>
          <p:cNvSpPr>
            <a:spLocks noGrp="1"/>
          </p:cNvSpPr>
          <p:nvPr>
            <p:ph type="title"/>
          </p:nvPr>
        </p:nvSpPr>
        <p:spPr>
          <a:xfrm>
            <a:off x="429324" y="0"/>
            <a:ext cx="11510428" cy="617262"/>
          </a:xfrm>
        </p:spPr>
        <p:txBody>
          <a:bodyPr>
            <a:normAutofit fontScale="90000"/>
          </a:bodyPr>
          <a:lstStyle/>
          <a:p>
            <a:r>
              <a:rPr lang="en-GB" sz="3600" dirty="0"/>
              <a:t>Use TOT key points to complete extended response 1b p100</a:t>
            </a:r>
            <a:endParaRPr lang="en-AU" sz="3600" dirty="0"/>
          </a:p>
        </p:txBody>
      </p:sp>
      <p:graphicFrame>
        <p:nvGraphicFramePr>
          <p:cNvPr id="4" name="Content Placeholder 3">
            <a:extLst>
              <a:ext uri="{FF2B5EF4-FFF2-40B4-BE49-F238E27FC236}">
                <a16:creationId xmlns:a16="http://schemas.microsoft.com/office/drawing/2014/main" id="{52A6F4C5-8ED4-6D75-4B9B-A8CF4A5D7EA6}"/>
              </a:ext>
            </a:extLst>
          </p:cNvPr>
          <p:cNvGraphicFramePr>
            <a:graphicFrameLocks noGrp="1"/>
          </p:cNvGraphicFramePr>
          <p:nvPr>
            <p:ph idx="1"/>
          </p:nvPr>
        </p:nvGraphicFramePr>
        <p:xfrm>
          <a:off x="543339" y="750294"/>
          <a:ext cx="10810461" cy="5857240"/>
        </p:xfrm>
        <a:graphic>
          <a:graphicData uri="http://schemas.openxmlformats.org/drawingml/2006/table">
            <a:tbl>
              <a:tblPr firstRow="1" bandRow="1">
                <a:tableStyleId>{21E4AEA4-8DFA-4A89-87EB-49C32662AFE0}</a:tableStyleId>
              </a:tblPr>
              <a:tblGrid>
                <a:gridCol w="1222734">
                  <a:extLst>
                    <a:ext uri="{9D8B030D-6E8A-4147-A177-3AD203B41FA5}">
                      <a16:colId xmlns:a16="http://schemas.microsoft.com/office/drawing/2014/main" val="1731641946"/>
                    </a:ext>
                  </a:extLst>
                </a:gridCol>
                <a:gridCol w="4757421">
                  <a:extLst>
                    <a:ext uri="{9D8B030D-6E8A-4147-A177-3AD203B41FA5}">
                      <a16:colId xmlns:a16="http://schemas.microsoft.com/office/drawing/2014/main" val="1691302615"/>
                    </a:ext>
                  </a:extLst>
                </a:gridCol>
                <a:gridCol w="4830306">
                  <a:extLst>
                    <a:ext uri="{9D8B030D-6E8A-4147-A177-3AD203B41FA5}">
                      <a16:colId xmlns:a16="http://schemas.microsoft.com/office/drawing/2014/main" val="4024910388"/>
                    </a:ext>
                  </a:extLst>
                </a:gridCol>
              </a:tblGrid>
              <a:tr h="370840">
                <a:tc>
                  <a:txBody>
                    <a:bodyPr/>
                    <a:lstStyle/>
                    <a:p>
                      <a:endParaRPr lang="en-AU" sz="1800"/>
                    </a:p>
                  </a:txBody>
                  <a:tcPr/>
                </a:tc>
                <a:tc>
                  <a:txBody>
                    <a:bodyPr/>
                    <a:lstStyle/>
                    <a:p>
                      <a:r>
                        <a:rPr lang="en-GB" sz="1800" dirty="0"/>
                        <a:t>Increase in TOT</a:t>
                      </a:r>
                      <a:endParaRPr lang="en-AU" sz="1800" dirty="0"/>
                    </a:p>
                  </a:txBody>
                  <a:tcPr/>
                </a:tc>
                <a:tc>
                  <a:txBody>
                    <a:bodyPr/>
                    <a:lstStyle/>
                    <a:p>
                      <a:r>
                        <a:rPr lang="en-GB" sz="1800" dirty="0"/>
                        <a:t>Decrease in TOT</a:t>
                      </a:r>
                      <a:endParaRPr lang="en-AU" sz="1800" dirty="0"/>
                    </a:p>
                  </a:txBody>
                  <a:tcPr/>
                </a:tc>
                <a:extLst>
                  <a:ext uri="{0D108BD9-81ED-4DB2-BD59-A6C34878D82A}">
                    <a16:rowId xmlns:a16="http://schemas.microsoft.com/office/drawing/2014/main" val="1032725049"/>
                  </a:ext>
                </a:extLst>
              </a:tr>
              <a:tr h="370840">
                <a:tc>
                  <a:txBody>
                    <a:bodyPr/>
                    <a:lstStyle/>
                    <a:p>
                      <a:r>
                        <a:rPr lang="en-GB" sz="1800" dirty="0"/>
                        <a:t>Meaning</a:t>
                      </a:r>
                      <a:endParaRPr lang="en-AU" sz="1800" dirty="0"/>
                    </a:p>
                  </a:txBody>
                  <a:tcPr/>
                </a:tc>
                <a:tc>
                  <a:txBody>
                    <a:bodyPr/>
                    <a:lstStyle/>
                    <a:p>
                      <a:r>
                        <a:rPr lang="en-GB" sz="1800" dirty="0"/>
                        <a:t>XPI rises relative to MPI (More imports can be purchased from a given volume of exports)</a:t>
                      </a:r>
                      <a:endParaRPr lang="en-AU" sz="1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MPI rises relative to XPI (Fewer imports can be purchased from a given volume of exports)</a:t>
                      </a:r>
                      <a:endParaRPr lang="en-AU" sz="1800" dirty="0"/>
                    </a:p>
                    <a:p>
                      <a:endParaRPr lang="en-AU" sz="1800" dirty="0"/>
                    </a:p>
                  </a:txBody>
                  <a:tcPr/>
                </a:tc>
                <a:extLst>
                  <a:ext uri="{0D108BD9-81ED-4DB2-BD59-A6C34878D82A}">
                    <a16:rowId xmlns:a16="http://schemas.microsoft.com/office/drawing/2014/main" val="4090068427"/>
                  </a:ext>
                </a:extLst>
              </a:tr>
              <a:tr h="370840">
                <a:tc>
                  <a:txBody>
                    <a:bodyPr/>
                    <a:lstStyle/>
                    <a:p>
                      <a:r>
                        <a:rPr lang="en-GB" sz="1800" dirty="0"/>
                        <a:t>Causes</a:t>
                      </a:r>
                      <a:endParaRPr lang="en-AU" sz="1800" dirty="0"/>
                    </a:p>
                  </a:txBody>
                  <a:tcPr/>
                </a:tc>
                <a:tc>
                  <a:txBody>
                    <a:bodyPr/>
                    <a:lstStyle/>
                    <a:p>
                      <a:r>
                        <a:rPr lang="en-GB" sz="1800" dirty="0"/>
                        <a:t>Increase in commodity prices</a:t>
                      </a:r>
                    </a:p>
                    <a:p>
                      <a:r>
                        <a:rPr lang="en-GB" sz="1800" dirty="0"/>
                        <a:t>Natural disasters increasing rural prices</a:t>
                      </a:r>
                    </a:p>
                    <a:p>
                      <a:r>
                        <a:rPr lang="en-GB" sz="1800" dirty="0"/>
                        <a:t>Fall in global oil prices</a:t>
                      </a:r>
                    </a:p>
                    <a:p>
                      <a:r>
                        <a:rPr lang="en-GB" sz="1800" dirty="0"/>
                        <a:t>Fall in manufacturing costs</a:t>
                      </a:r>
                    </a:p>
                    <a:p>
                      <a:r>
                        <a:rPr lang="en-GB" sz="1800" dirty="0"/>
                        <a:t>Technology lowers ICT prices</a:t>
                      </a:r>
                      <a:endParaRPr lang="en-AU" sz="1800" dirty="0"/>
                    </a:p>
                  </a:txBody>
                  <a:tcPr/>
                </a:tc>
                <a:tc>
                  <a:txBody>
                    <a:bodyPr/>
                    <a:lstStyle/>
                    <a:p>
                      <a:r>
                        <a:rPr lang="en-GB" sz="1800" dirty="0"/>
                        <a:t>Decrease in commodity prices</a:t>
                      </a:r>
                    </a:p>
                    <a:p>
                      <a:r>
                        <a:rPr lang="en-GB" sz="1800" dirty="0"/>
                        <a:t>Increase in global oil prices</a:t>
                      </a:r>
                    </a:p>
                    <a:p>
                      <a:r>
                        <a:rPr lang="en-GB" sz="1800" dirty="0"/>
                        <a:t>Increase in supply bottlenecks</a:t>
                      </a:r>
                    </a:p>
                    <a:p>
                      <a:r>
                        <a:rPr lang="en-GB" sz="1800" dirty="0"/>
                        <a:t>Increase in manufacturing costs</a:t>
                      </a:r>
                      <a:endParaRPr lang="en-AU" sz="1800" dirty="0"/>
                    </a:p>
                  </a:txBody>
                  <a:tcPr/>
                </a:tc>
                <a:extLst>
                  <a:ext uri="{0D108BD9-81ED-4DB2-BD59-A6C34878D82A}">
                    <a16:rowId xmlns:a16="http://schemas.microsoft.com/office/drawing/2014/main" val="1698309664"/>
                  </a:ext>
                </a:extLst>
              </a:tr>
              <a:tr h="370840">
                <a:tc>
                  <a:txBody>
                    <a:bodyPr/>
                    <a:lstStyle/>
                    <a:p>
                      <a:r>
                        <a:rPr lang="en-GB" sz="1800" dirty="0"/>
                        <a:t>Effects</a:t>
                      </a:r>
                      <a:endParaRPr lang="en-AU" sz="1800" dirty="0"/>
                    </a:p>
                  </a:txBody>
                  <a:tcPr/>
                </a:tc>
                <a:tc>
                  <a:txBody>
                    <a:bodyPr/>
                    <a:lstStyle/>
                    <a:p>
                      <a:pPr marL="342900" indent="-342900">
                        <a:buFont typeface="+mj-lt"/>
                        <a:buAutoNum type="arabicPeriod"/>
                      </a:pPr>
                      <a:r>
                        <a:rPr lang="en-GB" sz="1800" dirty="0"/>
                        <a:t>Increase in Trade balance / BOGS (X-M)</a:t>
                      </a:r>
                    </a:p>
                    <a:p>
                      <a:pPr marL="342900" indent="-342900">
                        <a:buFont typeface="+mj-lt"/>
                        <a:buAutoNum type="arabicPeriod"/>
                      </a:pPr>
                      <a:r>
                        <a:rPr lang="en-GB" sz="1800" dirty="0"/>
                        <a:t>Increase in  real GDP &amp; National income</a:t>
                      </a:r>
                    </a:p>
                    <a:p>
                      <a:pPr marL="342900" indent="-342900">
                        <a:buFont typeface="+mj-lt"/>
                        <a:buAutoNum type="arabicPeriod"/>
                      </a:pPr>
                      <a:r>
                        <a:rPr lang="en-GB" sz="1800" dirty="0"/>
                        <a:t>Unemployment rate decreases</a:t>
                      </a:r>
                    </a:p>
                    <a:p>
                      <a:pPr marL="342900" indent="-342900">
                        <a:buFont typeface="+mj-lt"/>
                        <a:buAutoNum type="arabicPeriod"/>
                      </a:pPr>
                      <a:r>
                        <a:rPr lang="en-GB" sz="1800" dirty="0"/>
                        <a:t>Increase in government tax revenue</a:t>
                      </a:r>
                    </a:p>
                    <a:p>
                      <a:pPr marL="342900" indent="-342900">
                        <a:buFont typeface="+mj-lt"/>
                        <a:buAutoNum type="arabicPeriod"/>
                      </a:pPr>
                      <a:r>
                        <a:rPr lang="en-GB" sz="1800" dirty="0"/>
                        <a:t>Rise in living standards</a:t>
                      </a:r>
                    </a:p>
                    <a:p>
                      <a:pPr marL="342900" indent="-342900">
                        <a:buFont typeface="+mj-lt"/>
                        <a:buAutoNum type="arabicPeriod"/>
                      </a:pPr>
                      <a:r>
                        <a:rPr lang="en-GB" sz="1800" dirty="0"/>
                        <a:t> Investment and Employment rises in resources sector</a:t>
                      </a:r>
                    </a:p>
                    <a:p>
                      <a:pPr marL="342900" indent="-342900">
                        <a:buFont typeface="+mj-lt"/>
                        <a:buAutoNum type="arabicPeriod"/>
                      </a:pPr>
                      <a:r>
                        <a:rPr lang="en-GB" sz="1800" dirty="0"/>
                        <a:t>AUD appreciates (More demand for our currency)</a:t>
                      </a:r>
                    </a:p>
                    <a:p>
                      <a:pPr marL="342900" indent="-342900">
                        <a:buFont typeface="+mj-lt"/>
                        <a:buAutoNum type="arabicPeriod"/>
                      </a:pPr>
                      <a:r>
                        <a:rPr lang="en-GB" sz="1800" dirty="0"/>
                        <a:t>Inflation rate increases</a:t>
                      </a:r>
                      <a:endParaRPr lang="en-AU" sz="1800" dirty="0"/>
                    </a:p>
                  </a:txBody>
                  <a:tcPr/>
                </a:tc>
                <a:tc>
                  <a:txBody>
                    <a:bodyPr/>
                    <a:lstStyle/>
                    <a:p>
                      <a:pPr marL="342900" indent="-342900">
                        <a:buFont typeface="+mj-lt"/>
                        <a:buAutoNum type="arabicPeriod"/>
                      </a:pPr>
                      <a:r>
                        <a:rPr lang="en-GB" sz="1800" dirty="0"/>
                        <a:t>Decrease in Trade balance / BOGS (X-M)</a:t>
                      </a:r>
                    </a:p>
                    <a:p>
                      <a:pPr marL="342900" indent="-342900">
                        <a:buFont typeface="+mj-lt"/>
                        <a:buAutoNum type="arabicPeriod"/>
                      </a:pPr>
                      <a:r>
                        <a:rPr lang="en-GB" sz="1800" dirty="0"/>
                        <a:t>Decrease in  real GDP &amp; National income</a:t>
                      </a:r>
                    </a:p>
                    <a:p>
                      <a:pPr marL="342900" indent="-342900">
                        <a:buFont typeface="+mj-lt"/>
                        <a:buAutoNum type="arabicPeriod"/>
                      </a:pPr>
                      <a:r>
                        <a:rPr lang="en-GB" sz="1800" dirty="0"/>
                        <a:t>Unemployment rate increases</a:t>
                      </a:r>
                    </a:p>
                    <a:p>
                      <a:pPr marL="342900" indent="-342900">
                        <a:buFont typeface="+mj-lt"/>
                        <a:buAutoNum type="arabicPeriod"/>
                      </a:pPr>
                      <a:r>
                        <a:rPr lang="en-GB" sz="1800" dirty="0"/>
                        <a:t>Decrease in government tax revenue</a:t>
                      </a:r>
                    </a:p>
                    <a:p>
                      <a:pPr marL="342900" indent="-342900">
                        <a:buFont typeface="+mj-lt"/>
                        <a:buAutoNum type="arabicPeriod"/>
                      </a:pPr>
                      <a:r>
                        <a:rPr lang="en-GB" sz="1800" dirty="0"/>
                        <a:t>Fall in living standards</a:t>
                      </a:r>
                    </a:p>
                    <a:p>
                      <a:pPr marL="342900" indent="-342900">
                        <a:buFont typeface="+mj-lt"/>
                        <a:buAutoNum type="arabicPeriod"/>
                      </a:pPr>
                      <a:r>
                        <a:rPr lang="en-GB" sz="1800" dirty="0"/>
                        <a:t> Investment and Employment falls in resources sector</a:t>
                      </a:r>
                    </a:p>
                    <a:p>
                      <a:pPr marL="342900" indent="-342900">
                        <a:buFont typeface="+mj-lt"/>
                        <a:buAutoNum type="arabicPeriod"/>
                      </a:pPr>
                      <a:r>
                        <a:rPr lang="en-GB" sz="1800" dirty="0"/>
                        <a:t>AUD depreciates (Less demand for our currency)</a:t>
                      </a:r>
                    </a:p>
                    <a:p>
                      <a:pPr marL="342900" indent="-342900">
                        <a:buFont typeface="+mj-lt"/>
                        <a:buAutoNum type="arabicPeriod"/>
                      </a:pPr>
                      <a:r>
                        <a:rPr lang="en-GB" sz="1800" dirty="0"/>
                        <a:t>Inflation rate decreases</a:t>
                      </a:r>
                      <a:endParaRPr lang="en-AU" sz="1800" dirty="0"/>
                    </a:p>
                  </a:txBody>
                  <a:tcPr/>
                </a:tc>
                <a:extLst>
                  <a:ext uri="{0D108BD9-81ED-4DB2-BD59-A6C34878D82A}">
                    <a16:rowId xmlns:a16="http://schemas.microsoft.com/office/drawing/2014/main" val="2797056715"/>
                  </a:ext>
                </a:extLst>
              </a:tr>
            </a:tbl>
          </a:graphicData>
        </a:graphic>
      </p:graphicFrame>
    </p:spTree>
    <p:extLst>
      <p:ext uri="{BB962C8B-B14F-4D97-AF65-F5344CB8AC3E}">
        <p14:creationId xmlns:p14="http://schemas.microsoft.com/office/powerpoint/2010/main" val="922204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B169D-A9A3-2B6A-8205-AB040F1A7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652DD-D490-52C7-4FCD-062397D6DBA8}"/>
              </a:ext>
            </a:extLst>
          </p:cNvPr>
          <p:cNvSpPr>
            <a:spLocks noGrp="1"/>
          </p:cNvSpPr>
          <p:nvPr>
            <p:ph type="title"/>
          </p:nvPr>
        </p:nvSpPr>
        <p:spPr>
          <a:xfrm>
            <a:off x="839788" y="457200"/>
            <a:ext cx="4343400" cy="2971800"/>
          </a:xfrm>
        </p:spPr>
        <p:txBody>
          <a:bodyPr vert="horz" lIns="91440" tIns="45720" rIns="91440" bIns="45720" rtlCol="0" anchor="b">
            <a:normAutofit/>
          </a:bodyPr>
          <a:lstStyle/>
          <a:p>
            <a:r>
              <a:rPr lang="en-US" dirty="0"/>
              <a:t>TRENDS IN TERMS OF TRADE</a:t>
            </a:r>
          </a:p>
        </p:txBody>
      </p:sp>
      <p:sp>
        <p:nvSpPr>
          <p:cNvPr id="3" name="Content Placeholder 2">
            <a:extLst>
              <a:ext uri="{FF2B5EF4-FFF2-40B4-BE49-F238E27FC236}">
                <a16:creationId xmlns:a16="http://schemas.microsoft.com/office/drawing/2014/main" id="{727327B7-F538-6142-0870-A68818890775}"/>
              </a:ext>
            </a:extLst>
          </p:cNvPr>
          <p:cNvSpPr txBox="1">
            <a:spLocks/>
          </p:cNvSpPr>
          <p:nvPr/>
        </p:nvSpPr>
        <p:spPr>
          <a:xfrm>
            <a:off x="839788" y="3664424"/>
            <a:ext cx="4343400" cy="220456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2200" kern="1200">
                <a:solidFill>
                  <a:schemeClr val="tx1"/>
                </a:solidFill>
                <a:latin typeface="+mn-lt"/>
                <a:ea typeface="+mn-ea"/>
                <a:cs typeface="+mn-cs"/>
              </a:defRPr>
            </a:lvl1pPr>
            <a:lvl2pPr marL="457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2pPr>
            <a:lvl3pPr marL="914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200" kern="1200">
                <a:solidFill>
                  <a:schemeClr val="tx1"/>
                </a:solidFill>
                <a:latin typeface="+mn-lt"/>
                <a:ea typeface="+mn-ea"/>
                <a:cs typeface="+mn-cs"/>
              </a:defRPr>
            </a:lvl3pPr>
            <a:lvl4pPr marL="1371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4pPr>
            <a:lvl5pPr marL="18288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5pPr>
            <a:lvl6pPr marL="22860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6pPr>
            <a:lvl7pPr marL="2743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7pPr>
            <a:lvl8pPr marL="3200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8pPr>
            <a:lvl9pPr marL="3657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9pPr>
          </a:lstStyle>
          <a:p>
            <a:pPr>
              <a:lnSpc>
                <a:spcPct val="110000"/>
              </a:lnSpc>
              <a:spcBef>
                <a:spcPts val="1000"/>
              </a:spcBef>
              <a:buClr>
                <a:schemeClr val="tx2"/>
              </a:buClr>
            </a:pPr>
            <a:r>
              <a:rPr lang="en-GB" sz="2400" i="1" kern="1200">
                <a:solidFill>
                  <a:schemeClr val="tx2"/>
                </a:solidFill>
                <a:latin typeface="+mn-lt"/>
                <a:ea typeface="+mn-ea"/>
                <a:cs typeface="+mn-cs"/>
              </a:rPr>
              <a:t>SYLLABUS:</a:t>
            </a:r>
          </a:p>
          <a:p>
            <a:pPr>
              <a:lnSpc>
                <a:spcPct val="110000"/>
              </a:lnSpc>
              <a:spcBef>
                <a:spcPts val="1000"/>
              </a:spcBef>
              <a:buClr>
                <a:schemeClr val="tx2"/>
              </a:buClr>
            </a:pPr>
            <a:r>
              <a:rPr lang="en-GB" sz="2400" i="1" kern="1200" dirty="0">
                <a:solidFill>
                  <a:schemeClr val="tx2"/>
                </a:solidFill>
                <a:latin typeface="+mn-lt"/>
                <a:ea typeface="+mn-ea"/>
                <a:cs typeface="+mn-cs"/>
              </a:rPr>
              <a:t>trends in Australia’s terms of trade over the last 10 years</a:t>
            </a:r>
          </a:p>
        </p:txBody>
      </p:sp>
      <p:pic>
        <p:nvPicPr>
          <p:cNvPr id="7" name="Picture 6" descr="A map of australia with different colored squares&#10;&#10;AI-generated content may be incorrect.">
            <a:extLst>
              <a:ext uri="{FF2B5EF4-FFF2-40B4-BE49-F238E27FC236}">
                <a16:creationId xmlns:a16="http://schemas.microsoft.com/office/drawing/2014/main" id="{1AFC230C-8272-7379-9FE6-CD6E68D3E955}"/>
              </a:ext>
            </a:extLst>
          </p:cNvPr>
          <p:cNvPicPr>
            <a:picLocks noChangeAspect="1"/>
          </p:cNvPicPr>
          <p:nvPr/>
        </p:nvPicPr>
        <p:blipFill>
          <a:blip r:embed="rId2"/>
          <a:stretch>
            <a:fillRect/>
          </a:stretch>
        </p:blipFill>
        <p:spPr>
          <a:xfrm>
            <a:off x="5446217" y="1267293"/>
            <a:ext cx="5905995" cy="3874333"/>
          </a:xfrm>
          <a:prstGeom prst="rect">
            <a:avLst/>
          </a:prstGeom>
        </p:spPr>
      </p:pic>
    </p:spTree>
    <p:extLst>
      <p:ext uri="{BB962C8B-B14F-4D97-AF65-F5344CB8AC3E}">
        <p14:creationId xmlns:p14="http://schemas.microsoft.com/office/powerpoint/2010/main" val="6687813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5BB4EEA-4270-EBB2-D07C-26E3729CF6C7}"/>
              </a:ext>
            </a:extLst>
          </p:cNvPr>
          <p:cNvSpPr>
            <a:spLocks noGrp="1"/>
          </p:cNvSpPr>
          <p:nvPr>
            <p:ph type="title"/>
          </p:nvPr>
        </p:nvSpPr>
        <p:spPr>
          <a:xfrm>
            <a:off x="839788" y="457200"/>
            <a:ext cx="4343400" cy="2971800"/>
          </a:xfrm>
        </p:spPr>
        <p:txBody>
          <a:bodyPr/>
          <a:lstStyle/>
          <a:p>
            <a:endParaRPr lang="en-US"/>
          </a:p>
        </p:txBody>
      </p:sp>
      <p:sp>
        <p:nvSpPr>
          <p:cNvPr id="15" name="Text Placeholder 3">
            <a:extLst>
              <a:ext uri="{FF2B5EF4-FFF2-40B4-BE49-F238E27FC236}">
                <a16:creationId xmlns:a16="http://schemas.microsoft.com/office/drawing/2014/main" id="{93BC6CEE-B83F-4734-0E88-4ED9953544CB}"/>
              </a:ext>
            </a:extLst>
          </p:cNvPr>
          <p:cNvSpPr>
            <a:spLocks noGrp="1"/>
          </p:cNvSpPr>
          <p:nvPr>
            <p:ph type="body" sz="half" idx="2"/>
          </p:nvPr>
        </p:nvSpPr>
        <p:spPr>
          <a:xfrm>
            <a:off x="839788" y="3657600"/>
            <a:ext cx="4343400" cy="2211387"/>
          </a:xfrm>
        </p:spPr>
        <p:txBody>
          <a:bodyPr/>
          <a:lstStyle/>
          <a:p>
            <a:endParaRPr lang="en-US"/>
          </a:p>
        </p:txBody>
      </p:sp>
      <p:sp>
        <p:nvSpPr>
          <p:cNvPr id="7" name="Content Placeholder 6">
            <a:extLst>
              <a:ext uri="{FF2B5EF4-FFF2-40B4-BE49-F238E27FC236}">
                <a16:creationId xmlns:a16="http://schemas.microsoft.com/office/drawing/2014/main" id="{0DFDE044-860F-1B87-B6E2-C2444F263725}"/>
              </a:ext>
            </a:extLst>
          </p:cNvPr>
          <p:cNvSpPr>
            <a:spLocks noGrp="1"/>
          </p:cNvSpPr>
          <p:nvPr>
            <p:ph idx="1"/>
          </p:nvPr>
        </p:nvSpPr>
        <p:spPr/>
        <p:txBody>
          <a:bodyPr/>
          <a:lstStyle/>
          <a:p>
            <a:endParaRPr lang="en-US" dirty="0"/>
          </a:p>
        </p:txBody>
      </p:sp>
      <p:pic>
        <p:nvPicPr>
          <p:cNvPr id="8" name="Picture 7" descr="A graph of the trade&#10;&#10;AI-generated content may be incorrect.">
            <a:extLst>
              <a:ext uri="{FF2B5EF4-FFF2-40B4-BE49-F238E27FC236}">
                <a16:creationId xmlns:a16="http://schemas.microsoft.com/office/drawing/2014/main" id="{0CBB63CA-95C6-A016-F6EF-6809479B3E23}"/>
              </a:ext>
            </a:extLst>
          </p:cNvPr>
          <p:cNvPicPr>
            <a:picLocks noChangeAspect="1"/>
          </p:cNvPicPr>
          <p:nvPr/>
        </p:nvPicPr>
        <p:blipFill>
          <a:blip r:embed="rId3">
            <a:extLst>
              <a:ext uri="{BEBA8EAE-BF5A-486C-A8C5-ECC9F3942E4B}">
                <a14:imgProps xmlns:a14="http://schemas.microsoft.com/office/drawing/2010/main">
                  <a14:imgLayer r:embed="rId4">
                    <a14:imgEffect>
                      <a14:saturation sat="33000"/>
                    </a14:imgEffect>
                  </a14:imgLayer>
                </a14:imgProps>
              </a:ext>
              <a:ext uri="{28A0092B-C50C-407E-A947-70E740481C1C}">
                <a14:useLocalDpi xmlns:a14="http://schemas.microsoft.com/office/drawing/2010/main" val="0"/>
              </a:ext>
            </a:extLst>
          </a:blip>
          <a:stretch>
            <a:fillRect/>
          </a:stretch>
        </p:blipFill>
        <p:spPr>
          <a:xfrm>
            <a:off x="1902595" y="50713"/>
            <a:ext cx="8386809" cy="5818274"/>
          </a:xfrm>
          <a:prstGeom prst="rect">
            <a:avLst/>
          </a:prstGeom>
        </p:spPr>
      </p:pic>
      <p:cxnSp>
        <p:nvCxnSpPr>
          <p:cNvPr id="9" name="Straight Arrow Connector 8">
            <a:extLst>
              <a:ext uri="{FF2B5EF4-FFF2-40B4-BE49-F238E27FC236}">
                <a16:creationId xmlns:a16="http://schemas.microsoft.com/office/drawing/2014/main" id="{2EEDCFF2-C780-1AB6-4A75-419158636FB6}"/>
              </a:ext>
            </a:extLst>
          </p:cNvPr>
          <p:cNvCxnSpPr>
            <a:cxnSpLocks/>
          </p:cNvCxnSpPr>
          <p:nvPr/>
        </p:nvCxnSpPr>
        <p:spPr>
          <a:xfrm>
            <a:off x="2644515" y="3089887"/>
            <a:ext cx="1213022" cy="906827"/>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21A84727-CA66-09E9-920E-739F57151DC0}"/>
              </a:ext>
            </a:extLst>
          </p:cNvPr>
          <p:cNvCxnSpPr>
            <a:cxnSpLocks/>
          </p:cNvCxnSpPr>
          <p:nvPr/>
        </p:nvCxnSpPr>
        <p:spPr>
          <a:xfrm flipV="1">
            <a:off x="3883182" y="1374430"/>
            <a:ext cx="4432955" cy="2622284"/>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D306CE8C-6905-2589-4927-FED4000E7C61}"/>
              </a:ext>
            </a:extLst>
          </p:cNvPr>
          <p:cNvCxnSpPr>
            <a:cxnSpLocks/>
          </p:cNvCxnSpPr>
          <p:nvPr/>
        </p:nvCxnSpPr>
        <p:spPr>
          <a:xfrm>
            <a:off x="8316137" y="1374430"/>
            <a:ext cx="779555" cy="668898"/>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17A80487-A477-0828-4F5F-6306B318A4E2}"/>
              </a:ext>
            </a:extLst>
          </p:cNvPr>
          <p:cNvSpPr txBox="1"/>
          <p:nvPr/>
        </p:nvSpPr>
        <p:spPr>
          <a:xfrm>
            <a:off x="601884" y="6026046"/>
            <a:ext cx="10602409" cy="646331"/>
          </a:xfrm>
          <a:prstGeom prst="rect">
            <a:avLst/>
          </a:prstGeom>
          <a:noFill/>
        </p:spPr>
        <p:txBody>
          <a:bodyPr wrap="square" rtlCol="0">
            <a:spAutoFit/>
          </a:bodyPr>
          <a:lstStyle/>
          <a:p>
            <a:pPr algn="ctr"/>
            <a:r>
              <a:rPr lang="en-US" dirty="0">
                <a:solidFill>
                  <a:srgbClr val="000000"/>
                </a:solidFill>
                <a:latin typeface="Avenir Book" panose="02000503020000020003" pitchFamily="2" charset="0"/>
                <a:ea typeface="Open Sauce Bold"/>
                <a:cs typeface="Open Sauce Bold"/>
                <a:sym typeface="Open Sauce Bold"/>
              </a:rPr>
              <a:t>You need to know the past ten years but really concentrate on post 2020 to explain very well</a:t>
            </a:r>
          </a:p>
          <a:p>
            <a:pPr algn="ctr"/>
            <a:r>
              <a:rPr lang="en-US" dirty="0">
                <a:solidFill>
                  <a:srgbClr val="000000"/>
                </a:solidFill>
                <a:latin typeface="Avenir Book" panose="02000503020000020003" pitchFamily="2" charset="0"/>
                <a:ea typeface="Open Sauce Bold"/>
                <a:cs typeface="Open Sauce Bold"/>
                <a:sym typeface="Open Sauce Bold"/>
              </a:rPr>
              <a:t>Overall rise in TOT from 2016 to 2022.</a:t>
            </a:r>
          </a:p>
        </p:txBody>
      </p:sp>
    </p:spTree>
    <p:extLst>
      <p:ext uri="{BB962C8B-B14F-4D97-AF65-F5344CB8AC3E}">
        <p14:creationId xmlns:p14="http://schemas.microsoft.com/office/powerpoint/2010/main" val="15133438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45DFDD-D74C-BCD7-5AB1-0333159E39B7}"/>
              </a:ext>
            </a:extLst>
          </p:cNvPr>
          <p:cNvSpPr>
            <a:spLocks noGrp="1"/>
          </p:cNvSpPr>
          <p:nvPr>
            <p:ph idx="1"/>
          </p:nvPr>
        </p:nvSpPr>
        <p:spPr>
          <a:xfrm>
            <a:off x="699704" y="648182"/>
            <a:ext cx="4657105" cy="5237543"/>
          </a:xfrm>
        </p:spPr>
        <p:txBody>
          <a:bodyPr>
            <a:normAutofit/>
          </a:bodyPr>
          <a:lstStyle/>
          <a:p>
            <a:pPr>
              <a:lnSpc>
                <a:spcPct val="120000"/>
              </a:lnSpc>
            </a:pPr>
            <a:r>
              <a:rPr lang="en-US" dirty="0"/>
              <a:t>TOT is more closely correlated with the XPI than the MPI</a:t>
            </a:r>
          </a:p>
          <a:p>
            <a:pPr>
              <a:lnSpc>
                <a:spcPct val="120000"/>
              </a:lnSpc>
            </a:pPr>
            <a:r>
              <a:rPr lang="en-US" dirty="0"/>
              <a:t>MPI is relatively less volatile than XPI</a:t>
            </a:r>
          </a:p>
          <a:p>
            <a:pPr>
              <a:lnSpc>
                <a:spcPct val="120000"/>
              </a:lnSpc>
            </a:pPr>
            <a:r>
              <a:rPr lang="en-US" dirty="0"/>
              <a:t>Fluctuates from a low of 83 to a high of 113 (range 29)</a:t>
            </a:r>
          </a:p>
          <a:p>
            <a:pPr>
              <a:lnSpc>
                <a:spcPct val="120000"/>
              </a:lnSpc>
            </a:pPr>
            <a:r>
              <a:rPr lang="en-US" dirty="0"/>
              <a:t>In comparison, XPI low of 64 to a high of 114 (range (60)</a:t>
            </a:r>
          </a:p>
          <a:p>
            <a:pPr>
              <a:lnSpc>
                <a:spcPct val="120000"/>
              </a:lnSpc>
            </a:pPr>
            <a:endParaRPr lang="en-US" b="1" dirty="0"/>
          </a:p>
          <a:p>
            <a:pPr marL="0" indent="0">
              <a:lnSpc>
                <a:spcPct val="120000"/>
              </a:lnSpc>
              <a:buNone/>
            </a:pPr>
            <a:r>
              <a:rPr lang="en-US" b="1" dirty="0"/>
              <a:t>Can you think of WHY??</a:t>
            </a:r>
            <a:endParaRPr lang="en-US" dirty="0"/>
          </a:p>
        </p:txBody>
      </p:sp>
      <p:sp>
        <p:nvSpPr>
          <p:cNvPr id="4" name="Text Placeholder 3">
            <a:extLst>
              <a:ext uri="{FF2B5EF4-FFF2-40B4-BE49-F238E27FC236}">
                <a16:creationId xmlns:a16="http://schemas.microsoft.com/office/drawing/2014/main" id="{9D6BE55E-2613-60CE-96D3-812B3672AC02}"/>
              </a:ext>
            </a:extLst>
          </p:cNvPr>
          <p:cNvSpPr>
            <a:spLocks noGrp="1"/>
          </p:cNvSpPr>
          <p:nvPr>
            <p:ph type="body" sz="half" idx="2"/>
          </p:nvPr>
        </p:nvSpPr>
        <p:spPr>
          <a:xfrm>
            <a:off x="6677982" y="4131850"/>
            <a:ext cx="3843405" cy="1753876"/>
          </a:xfrm>
        </p:spPr>
        <p:txBody>
          <a:bodyPr/>
          <a:lstStyle/>
          <a:p>
            <a:r>
              <a:rPr lang="en-US" dirty="0">
                <a:solidFill>
                  <a:srgbClr val="FF0000"/>
                </a:solidFill>
              </a:rPr>
              <a:t>Supply of manufactured goods is more elastic than the supply of primary commodities</a:t>
            </a:r>
          </a:p>
        </p:txBody>
      </p:sp>
      <p:pic>
        <p:nvPicPr>
          <p:cNvPr id="6" name="Picture 5">
            <a:extLst>
              <a:ext uri="{FF2B5EF4-FFF2-40B4-BE49-F238E27FC236}">
                <a16:creationId xmlns:a16="http://schemas.microsoft.com/office/drawing/2014/main" id="{44E48AC5-7856-FE12-9F12-B0CE421451DB}"/>
              </a:ext>
            </a:extLst>
          </p:cNvPr>
          <p:cNvPicPr>
            <a:picLocks noChangeAspect="1"/>
          </p:cNvPicPr>
          <p:nvPr/>
        </p:nvPicPr>
        <p:blipFill>
          <a:blip r:embed="rId2"/>
          <a:stretch>
            <a:fillRect/>
          </a:stretch>
        </p:blipFill>
        <p:spPr>
          <a:xfrm>
            <a:off x="6476177" y="514764"/>
            <a:ext cx="4747010" cy="3295445"/>
          </a:xfrm>
          <a:prstGeom prst="rect">
            <a:avLst/>
          </a:prstGeom>
        </p:spPr>
      </p:pic>
    </p:spTree>
    <p:extLst>
      <p:ext uri="{BB962C8B-B14F-4D97-AF65-F5344CB8AC3E}">
        <p14:creationId xmlns:p14="http://schemas.microsoft.com/office/powerpoint/2010/main" val="4243560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0EC5E-DC9D-C9A5-D71C-16822391148F}"/>
              </a:ext>
            </a:extLst>
          </p:cNvPr>
          <p:cNvSpPr>
            <a:spLocks noGrp="1"/>
          </p:cNvSpPr>
          <p:nvPr>
            <p:ph type="title"/>
          </p:nvPr>
        </p:nvSpPr>
        <p:spPr>
          <a:xfrm>
            <a:off x="269452" y="612091"/>
            <a:ext cx="5040420" cy="1070658"/>
          </a:xfrm>
        </p:spPr>
        <p:txBody>
          <a:bodyPr/>
          <a:lstStyle/>
          <a:p>
            <a:pPr algn="ctr"/>
            <a:r>
              <a:rPr lang="en-US" sz="5900" dirty="0"/>
              <a:t>2014-15: </a:t>
            </a:r>
            <a:br>
              <a:rPr lang="en-US" sz="5900" dirty="0"/>
            </a:br>
            <a:r>
              <a:rPr lang="en-US" sz="4000" dirty="0"/>
              <a:t>TOT FALLING</a:t>
            </a:r>
          </a:p>
        </p:txBody>
      </p:sp>
      <p:sp>
        <p:nvSpPr>
          <p:cNvPr id="3" name="Content Placeholder 2">
            <a:extLst>
              <a:ext uri="{FF2B5EF4-FFF2-40B4-BE49-F238E27FC236}">
                <a16:creationId xmlns:a16="http://schemas.microsoft.com/office/drawing/2014/main" id="{4AE5AD19-9C0D-A20B-6656-D6625DF1B2E7}"/>
              </a:ext>
            </a:extLst>
          </p:cNvPr>
          <p:cNvSpPr>
            <a:spLocks noGrp="1"/>
          </p:cNvSpPr>
          <p:nvPr>
            <p:ph idx="1"/>
          </p:nvPr>
        </p:nvSpPr>
        <p:spPr/>
        <p:txBody>
          <a:bodyPr>
            <a:normAutofit fontScale="77500" lnSpcReduction="20000"/>
          </a:bodyPr>
          <a:lstStyle/>
          <a:p>
            <a:pPr marL="0" indent="0">
              <a:buNone/>
            </a:pPr>
            <a:r>
              <a:rPr lang="en-AU" b="1" u="sng" dirty="0"/>
              <a:t>XPI falling</a:t>
            </a:r>
            <a:endParaRPr lang="en-AU" u="sng" dirty="0"/>
          </a:p>
          <a:p>
            <a:pPr fontAlgn="ctr"/>
            <a:r>
              <a:rPr lang="en-AU" sz="2800" dirty="0"/>
              <a:t>World Commodity prices start to fall</a:t>
            </a:r>
          </a:p>
          <a:p>
            <a:pPr lvl="1" fontAlgn="ctr"/>
            <a:r>
              <a:rPr lang="en-AU" dirty="0"/>
              <a:t>Increased S on global commodity markets and falling global D as growth slows in China ➝ decreased price of commodities</a:t>
            </a:r>
          </a:p>
          <a:p>
            <a:pPr lvl="1" fontAlgn="ctr"/>
            <a:r>
              <a:rPr lang="en-AU" dirty="0"/>
              <a:t>Iron Ore $180 per tonne to $40 a tonne (2011 to 2015)</a:t>
            </a:r>
          </a:p>
          <a:p>
            <a:pPr fontAlgn="ctr"/>
            <a:r>
              <a:rPr lang="en-AU" sz="2800" dirty="0"/>
              <a:t>Fall in Global Oil prices</a:t>
            </a:r>
          </a:p>
          <a:p>
            <a:pPr lvl="1" fontAlgn="ctr"/>
            <a:r>
              <a:rPr lang="en-AU" dirty="0"/>
              <a:t>Last quarter of 2015 oil prices dropped from $US 48 to $US 32 (33% fall) - due to weak demand and end of trade sanctions against Iran leading to rising supply</a:t>
            </a:r>
          </a:p>
          <a:p>
            <a:pPr lvl="1" fontAlgn="ctr"/>
            <a:r>
              <a:rPr lang="en-AU" dirty="0"/>
              <a:t>Led to a fall in the price of Australia’s energy substitutes such as coal and natural gas</a:t>
            </a:r>
          </a:p>
          <a:p>
            <a:pPr marL="0" indent="0">
              <a:buNone/>
            </a:pPr>
            <a:r>
              <a:rPr lang="en-AU" dirty="0"/>
              <a:t> </a:t>
            </a:r>
          </a:p>
          <a:p>
            <a:pPr marL="0" indent="0">
              <a:buNone/>
            </a:pPr>
            <a:r>
              <a:rPr lang="en-AU" b="1" u="sng" dirty="0"/>
              <a:t>MPI stable </a:t>
            </a:r>
            <a:endParaRPr lang="en-AU" dirty="0"/>
          </a:p>
          <a:p>
            <a:pPr fontAlgn="ctr"/>
            <a:r>
              <a:rPr lang="en-AU" sz="2800" dirty="0"/>
              <a:t>Lack of growth in import prices over this period</a:t>
            </a:r>
          </a:p>
          <a:p>
            <a:endParaRPr lang="en-US" dirty="0"/>
          </a:p>
          <a:p>
            <a:pPr marL="0" indent="0">
              <a:buNone/>
            </a:pPr>
            <a:endParaRPr lang="en-US" dirty="0"/>
          </a:p>
        </p:txBody>
      </p:sp>
      <p:pic>
        <p:nvPicPr>
          <p:cNvPr id="5" name="Picture 4">
            <a:extLst>
              <a:ext uri="{FF2B5EF4-FFF2-40B4-BE49-F238E27FC236}">
                <a16:creationId xmlns:a16="http://schemas.microsoft.com/office/drawing/2014/main" id="{FA7B49E2-DC7A-9622-9065-09715434F9E0}"/>
              </a:ext>
            </a:extLst>
          </p:cNvPr>
          <p:cNvPicPr>
            <a:picLocks noChangeAspect="1"/>
          </p:cNvPicPr>
          <p:nvPr/>
        </p:nvPicPr>
        <p:blipFill>
          <a:blip r:embed="rId2"/>
          <a:stretch>
            <a:fillRect/>
          </a:stretch>
        </p:blipFill>
        <p:spPr>
          <a:xfrm>
            <a:off x="269452" y="1932210"/>
            <a:ext cx="5040421" cy="3500578"/>
          </a:xfrm>
          <a:prstGeom prst="rect">
            <a:avLst/>
          </a:prstGeom>
        </p:spPr>
      </p:pic>
    </p:spTree>
    <p:extLst>
      <p:ext uri="{BB962C8B-B14F-4D97-AF65-F5344CB8AC3E}">
        <p14:creationId xmlns:p14="http://schemas.microsoft.com/office/powerpoint/2010/main" val="4139364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220B0-4BAA-C460-792A-017AA465C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032DE-BC34-352D-2BF9-4FB617BEFEF8}"/>
              </a:ext>
            </a:extLst>
          </p:cNvPr>
          <p:cNvSpPr>
            <a:spLocks noGrp="1"/>
          </p:cNvSpPr>
          <p:nvPr>
            <p:ph type="title"/>
          </p:nvPr>
        </p:nvSpPr>
        <p:spPr>
          <a:xfrm>
            <a:off x="269452" y="612091"/>
            <a:ext cx="5040420" cy="1070658"/>
          </a:xfrm>
        </p:spPr>
        <p:txBody>
          <a:bodyPr/>
          <a:lstStyle/>
          <a:p>
            <a:pPr algn="ctr"/>
            <a:r>
              <a:rPr lang="en-US" sz="5900" dirty="0"/>
              <a:t>2016-19: </a:t>
            </a:r>
            <a:br>
              <a:rPr lang="en-US" sz="5900" dirty="0"/>
            </a:br>
            <a:r>
              <a:rPr lang="en-US" sz="4000" dirty="0"/>
              <a:t>TOT RISING</a:t>
            </a:r>
          </a:p>
        </p:txBody>
      </p:sp>
      <p:sp>
        <p:nvSpPr>
          <p:cNvPr id="3" name="Content Placeholder 2">
            <a:extLst>
              <a:ext uri="{FF2B5EF4-FFF2-40B4-BE49-F238E27FC236}">
                <a16:creationId xmlns:a16="http://schemas.microsoft.com/office/drawing/2014/main" id="{818B2F47-9F71-4DB6-5356-FE6E23276D71}"/>
              </a:ext>
            </a:extLst>
          </p:cNvPr>
          <p:cNvSpPr>
            <a:spLocks noGrp="1"/>
          </p:cNvSpPr>
          <p:nvPr>
            <p:ph idx="1"/>
          </p:nvPr>
        </p:nvSpPr>
        <p:spPr/>
        <p:txBody>
          <a:bodyPr>
            <a:normAutofit fontScale="47500" lnSpcReduction="20000"/>
          </a:bodyPr>
          <a:lstStyle/>
          <a:p>
            <a:pPr marL="0" indent="0">
              <a:buNone/>
            </a:pPr>
            <a:r>
              <a:rPr lang="en-AU" sz="4000" b="1" u="sng" dirty="0"/>
              <a:t>XPI rising (40%)</a:t>
            </a:r>
            <a:endParaRPr lang="en-AU" sz="4000" dirty="0"/>
          </a:p>
          <a:p>
            <a:pPr fontAlgn="ctr"/>
            <a:r>
              <a:rPr lang="en-AU" sz="4000" dirty="0"/>
              <a:t>World economic growth increase </a:t>
            </a:r>
            <a:r>
              <a:rPr lang="en-AU" sz="4000" dirty="0">
                <a:sym typeface="Wingdings" panose="05000000000000000000" pitchFamily="2" charset="2"/>
              </a:rPr>
              <a:t> </a:t>
            </a:r>
            <a:r>
              <a:rPr lang="en-AU" sz="4000" dirty="0"/>
              <a:t>Rise in Commodity prices</a:t>
            </a:r>
          </a:p>
          <a:p>
            <a:pPr lvl="1" fontAlgn="ctr"/>
            <a:r>
              <a:rPr lang="en-AU" sz="3600" dirty="0"/>
              <a:t>Particularly coal and iron ore due to strong growth in China</a:t>
            </a:r>
          </a:p>
          <a:p>
            <a:pPr fontAlgn="ctr"/>
            <a:r>
              <a:rPr lang="en-AU" sz="4000" dirty="0"/>
              <a:t>Rise in Oil prices (substitution effect)</a:t>
            </a:r>
          </a:p>
          <a:p>
            <a:pPr lvl="1" fontAlgn="ctr"/>
            <a:r>
              <a:rPr lang="en-AU" sz="3600" dirty="0"/>
              <a:t>Members of the OPEC cartel (which controls global S of oil) stabilised oil prices by stabilising S, thus leading to an increase in global oil prices </a:t>
            </a:r>
          </a:p>
          <a:p>
            <a:pPr lvl="1" fontAlgn="ctr"/>
            <a:r>
              <a:rPr lang="en-AU" sz="3600" dirty="0"/>
              <a:t>Increased demand for oil substitutes ➝ increase XPI (LNG) ➝ increase in TOT (30%)</a:t>
            </a:r>
          </a:p>
          <a:p>
            <a:pPr marL="0" indent="0">
              <a:buNone/>
            </a:pPr>
            <a:endParaRPr lang="en-AU" sz="4000" dirty="0"/>
          </a:p>
          <a:p>
            <a:pPr marL="0" indent="0">
              <a:buNone/>
            </a:pPr>
            <a:r>
              <a:rPr lang="en-AU" sz="4000" b="1" u="sng" dirty="0"/>
              <a:t>MPI rising (though by less than XPI)</a:t>
            </a:r>
          </a:p>
          <a:p>
            <a:r>
              <a:rPr lang="en-AU" sz="4000" dirty="0"/>
              <a:t>Rise in Oil prices – one of Australia’s major imports </a:t>
            </a:r>
          </a:p>
          <a:p>
            <a:r>
              <a:rPr lang="en-AU" sz="4000" dirty="0"/>
              <a:t>Somewhat offset by lower manufacturing prices (thus smaller MPI movements) </a:t>
            </a:r>
          </a:p>
          <a:p>
            <a:endParaRPr lang="en-US" dirty="0"/>
          </a:p>
          <a:p>
            <a:pPr marL="0" indent="0">
              <a:buNone/>
            </a:pPr>
            <a:endParaRPr lang="en-US" dirty="0"/>
          </a:p>
        </p:txBody>
      </p:sp>
      <p:pic>
        <p:nvPicPr>
          <p:cNvPr id="4" name="Picture 3">
            <a:extLst>
              <a:ext uri="{FF2B5EF4-FFF2-40B4-BE49-F238E27FC236}">
                <a16:creationId xmlns:a16="http://schemas.microsoft.com/office/drawing/2014/main" id="{608FF0A1-14BC-FC9C-A992-5B211B180AD5}"/>
              </a:ext>
            </a:extLst>
          </p:cNvPr>
          <p:cNvPicPr>
            <a:picLocks noChangeAspect="1"/>
          </p:cNvPicPr>
          <p:nvPr/>
        </p:nvPicPr>
        <p:blipFill>
          <a:blip r:embed="rId2"/>
          <a:stretch>
            <a:fillRect/>
          </a:stretch>
        </p:blipFill>
        <p:spPr>
          <a:xfrm>
            <a:off x="666911" y="2282945"/>
            <a:ext cx="4530122" cy="3139689"/>
          </a:xfrm>
          <a:prstGeom prst="rect">
            <a:avLst/>
          </a:prstGeom>
        </p:spPr>
      </p:pic>
    </p:spTree>
    <p:extLst>
      <p:ext uri="{BB962C8B-B14F-4D97-AF65-F5344CB8AC3E}">
        <p14:creationId xmlns:p14="http://schemas.microsoft.com/office/powerpoint/2010/main" val="1676712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A082E-2666-2B54-4BFC-CD581B701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1FAEA-A5CA-45A8-045E-803DC464320E}"/>
              </a:ext>
            </a:extLst>
          </p:cNvPr>
          <p:cNvSpPr>
            <a:spLocks noGrp="1"/>
          </p:cNvSpPr>
          <p:nvPr>
            <p:ph type="title"/>
          </p:nvPr>
        </p:nvSpPr>
        <p:spPr>
          <a:xfrm>
            <a:off x="838200" y="365125"/>
            <a:ext cx="10515600" cy="1325563"/>
          </a:xfrm>
        </p:spPr>
        <p:txBody>
          <a:bodyPr anchor="b">
            <a:normAutofit fontScale="90000"/>
          </a:bodyPr>
          <a:lstStyle/>
          <a:p>
            <a:pPr>
              <a:lnSpc>
                <a:spcPct val="90000"/>
              </a:lnSpc>
            </a:pPr>
            <a:r>
              <a:rPr lang="en-US" sz="5900" dirty="0"/>
              <a:t>2020</a:t>
            </a:r>
            <a:r>
              <a:rPr lang="en-US" sz="4200" dirty="0"/>
              <a:t> (JUNE &amp; SEPT QUARTER)</a:t>
            </a:r>
            <a:br>
              <a:rPr lang="en-US" sz="4200" dirty="0"/>
            </a:br>
            <a:r>
              <a:rPr lang="en-US" sz="4200" dirty="0"/>
              <a:t>SMALL FALL IN TOT</a:t>
            </a:r>
          </a:p>
        </p:txBody>
      </p:sp>
      <p:pic>
        <p:nvPicPr>
          <p:cNvPr id="5" name="Picture 4" descr="A graph of a trade&#10;&#10;AI-generated content may be incorrect.">
            <a:extLst>
              <a:ext uri="{FF2B5EF4-FFF2-40B4-BE49-F238E27FC236}">
                <a16:creationId xmlns:a16="http://schemas.microsoft.com/office/drawing/2014/main" id="{A94E1EF5-7D98-7561-89C7-6A37DD73C578}"/>
              </a:ext>
            </a:extLst>
          </p:cNvPr>
          <p:cNvPicPr>
            <a:picLocks noChangeAspect="1"/>
          </p:cNvPicPr>
          <p:nvPr/>
        </p:nvPicPr>
        <p:blipFill>
          <a:blip r:embed="rId2"/>
          <a:srcRect r="15295" b="2"/>
          <a:stretch>
            <a:fillRect/>
          </a:stretch>
        </p:blipFill>
        <p:spPr>
          <a:xfrm>
            <a:off x="838200" y="1940876"/>
            <a:ext cx="5181600" cy="4236086"/>
          </a:xfrm>
          <a:prstGeom prst="rect">
            <a:avLst/>
          </a:prstGeom>
          <a:noFill/>
        </p:spPr>
      </p:pic>
      <p:sp>
        <p:nvSpPr>
          <p:cNvPr id="3" name="Content Placeholder 2">
            <a:extLst>
              <a:ext uri="{FF2B5EF4-FFF2-40B4-BE49-F238E27FC236}">
                <a16:creationId xmlns:a16="http://schemas.microsoft.com/office/drawing/2014/main" id="{8C1D3DF9-3CC9-8FCF-1871-C056CF13AA1F}"/>
              </a:ext>
            </a:extLst>
          </p:cNvPr>
          <p:cNvSpPr>
            <a:spLocks noGrp="1"/>
          </p:cNvSpPr>
          <p:nvPr>
            <p:ph sz="half" idx="2"/>
          </p:nvPr>
        </p:nvSpPr>
        <p:spPr>
          <a:xfrm>
            <a:off x="6172200" y="1690688"/>
            <a:ext cx="5181600" cy="4236086"/>
          </a:xfrm>
        </p:spPr>
        <p:txBody>
          <a:bodyPr>
            <a:noAutofit/>
          </a:bodyPr>
          <a:lstStyle/>
          <a:p>
            <a:pPr marL="0" indent="0">
              <a:lnSpc>
                <a:spcPct val="100000"/>
              </a:lnSpc>
              <a:buNone/>
            </a:pPr>
            <a:r>
              <a:rPr lang="en-AU" sz="1700" b="1" u="sng" dirty="0"/>
              <a:t>XPI Fell</a:t>
            </a:r>
            <a:endParaRPr lang="en-AU" sz="1700" dirty="0"/>
          </a:p>
          <a:p>
            <a:pPr fontAlgn="ctr">
              <a:lnSpc>
                <a:spcPct val="100000"/>
              </a:lnSpc>
            </a:pPr>
            <a:r>
              <a:rPr lang="en-AU" sz="1700" dirty="0"/>
              <a:t>Covid caused a global recession </a:t>
            </a:r>
            <a:r>
              <a:rPr lang="en-AU" sz="1700" dirty="0">
                <a:sym typeface="Wingdings" pitchFamily="2" charset="2"/>
              </a:rPr>
              <a:t> XPI falling</a:t>
            </a:r>
          </a:p>
          <a:p>
            <a:pPr fontAlgn="ctr">
              <a:lnSpc>
                <a:spcPct val="100000"/>
              </a:lnSpc>
            </a:pPr>
            <a:r>
              <a:rPr lang="en-AU" sz="1700" dirty="0">
                <a:sym typeface="Wingdings" pitchFamily="2" charset="2"/>
              </a:rPr>
              <a:t>Fall in LNG and Coal prices due to reduced global energy demand (travel restrictions</a:t>
            </a:r>
            <a:endParaRPr lang="en-AU" sz="1700" dirty="0"/>
          </a:p>
          <a:p>
            <a:pPr marL="0" indent="0">
              <a:lnSpc>
                <a:spcPct val="100000"/>
              </a:lnSpc>
              <a:buNone/>
            </a:pPr>
            <a:endParaRPr lang="en-AU" sz="1700" dirty="0"/>
          </a:p>
          <a:p>
            <a:pPr marL="0" indent="0">
              <a:lnSpc>
                <a:spcPct val="100000"/>
              </a:lnSpc>
              <a:buNone/>
            </a:pPr>
            <a:r>
              <a:rPr lang="en-AU" sz="1700" b="1" u="sng" dirty="0"/>
              <a:t>MPI Fell</a:t>
            </a:r>
          </a:p>
          <a:p>
            <a:pPr>
              <a:lnSpc>
                <a:spcPct val="100000"/>
              </a:lnSpc>
            </a:pPr>
            <a:r>
              <a:rPr lang="en-AU" sz="1700" dirty="0"/>
              <a:t>Fall in oil prices due to significant reduction in demand during lockdowns (one of Australia’s major import costs).</a:t>
            </a:r>
          </a:p>
          <a:p>
            <a:pPr>
              <a:lnSpc>
                <a:spcPct val="100000"/>
              </a:lnSpc>
            </a:pPr>
            <a:r>
              <a:rPr lang="en-AU" sz="1700" dirty="0"/>
              <a:t>Weak global demand for consumption and manufactured goods due to uncertainty/sentiment</a:t>
            </a:r>
          </a:p>
          <a:p>
            <a:pPr>
              <a:lnSpc>
                <a:spcPct val="100000"/>
              </a:lnSpc>
            </a:pPr>
            <a:r>
              <a:rPr lang="en-AU" sz="1700" dirty="0"/>
              <a:t>Strong AUD in latter half of 2020 </a:t>
            </a:r>
            <a:r>
              <a:rPr lang="en-AU" sz="1700" dirty="0">
                <a:sym typeface="Wingdings" pitchFamily="2" charset="2"/>
              </a:rPr>
              <a:t> makes imported goods cheaper/more affordable</a:t>
            </a:r>
            <a:endParaRPr lang="en-AU" sz="1700" dirty="0"/>
          </a:p>
          <a:p>
            <a:pPr>
              <a:lnSpc>
                <a:spcPct val="100000"/>
              </a:lnSpc>
            </a:pPr>
            <a:endParaRPr lang="en-US" sz="1700" dirty="0"/>
          </a:p>
          <a:p>
            <a:pPr marL="0" indent="0">
              <a:lnSpc>
                <a:spcPct val="100000"/>
              </a:lnSpc>
              <a:buNone/>
            </a:pPr>
            <a:endParaRPr lang="en-US" sz="1700" dirty="0"/>
          </a:p>
        </p:txBody>
      </p:sp>
    </p:spTree>
    <p:extLst>
      <p:ext uri="{BB962C8B-B14F-4D97-AF65-F5344CB8AC3E}">
        <p14:creationId xmlns:p14="http://schemas.microsoft.com/office/powerpoint/2010/main" val="26049115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8A557-E3AA-98B9-BFFD-3A46FADCF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BB526-AB33-BDE8-8D58-89AA01F30B2D}"/>
              </a:ext>
            </a:extLst>
          </p:cNvPr>
          <p:cNvSpPr>
            <a:spLocks noGrp="1"/>
          </p:cNvSpPr>
          <p:nvPr>
            <p:ph type="title"/>
          </p:nvPr>
        </p:nvSpPr>
        <p:spPr>
          <a:xfrm>
            <a:off x="838200" y="365125"/>
            <a:ext cx="10515600" cy="1325563"/>
          </a:xfrm>
        </p:spPr>
        <p:txBody>
          <a:bodyPr anchor="b">
            <a:normAutofit fontScale="90000"/>
          </a:bodyPr>
          <a:lstStyle/>
          <a:p>
            <a:pPr>
              <a:lnSpc>
                <a:spcPct val="90000"/>
              </a:lnSpc>
            </a:pPr>
            <a:r>
              <a:rPr lang="en-US" sz="5900" dirty="0"/>
              <a:t>2020-2022</a:t>
            </a:r>
            <a:r>
              <a:rPr lang="en-US" sz="4200" dirty="0"/>
              <a:t> CONTEMPORARY:</a:t>
            </a:r>
            <a:br>
              <a:rPr lang="en-US" sz="4200" dirty="0"/>
            </a:br>
            <a:r>
              <a:rPr lang="en-US" sz="4200" dirty="0"/>
              <a:t>TOT RISING</a:t>
            </a:r>
          </a:p>
        </p:txBody>
      </p:sp>
      <p:sp>
        <p:nvSpPr>
          <p:cNvPr id="3" name="Content Placeholder 2">
            <a:extLst>
              <a:ext uri="{FF2B5EF4-FFF2-40B4-BE49-F238E27FC236}">
                <a16:creationId xmlns:a16="http://schemas.microsoft.com/office/drawing/2014/main" id="{B437B637-E7F9-06F7-790E-984DFE617B6A}"/>
              </a:ext>
            </a:extLst>
          </p:cNvPr>
          <p:cNvSpPr>
            <a:spLocks noGrp="1"/>
          </p:cNvSpPr>
          <p:nvPr>
            <p:ph sz="half" idx="2"/>
          </p:nvPr>
        </p:nvSpPr>
        <p:spPr>
          <a:xfrm>
            <a:off x="6172200" y="1588749"/>
            <a:ext cx="5181600" cy="4236086"/>
          </a:xfrm>
        </p:spPr>
        <p:txBody>
          <a:bodyPr>
            <a:noAutofit/>
          </a:bodyPr>
          <a:lstStyle/>
          <a:p>
            <a:pPr marL="0" indent="0">
              <a:buNone/>
            </a:pPr>
            <a:r>
              <a:rPr lang="en-AU" sz="1700" b="1" u="sng" dirty="0"/>
              <a:t>XPI rising (after fall in June-Sept </a:t>
            </a:r>
            <a:r>
              <a:rPr lang="en-AU" sz="1700" b="1" u="sng" dirty="0" err="1"/>
              <a:t>qtrs</a:t>
            </a:r>
            <a:r>
              <a:rPr lang="en-AU" sz="1700" b="1" u="sng" dirty="0"/>
              <a:t> 2020)</a:t>
            </a:r>
          </a:p>
          <a:p>
            <a:r>
              <a:rPr lang="en-AU" sz="1700" dirty="0"/>
              <a:t>Rise in commodity prices (especially coal, gas)</a:t>
            </a:r>
          </a:p>
          <a:p>
            <a:pPr lvl="1"/>
            <a:r>
              <a:rPr lang="en-AU" sz="1700" dirty="0"/>
              <a:t>Caused by rising demand for exports. Economies began to recover from 2020 recessions and invest, build, grow ➝ need raw materials ➝ rise in commodity prices</a:t>
            </a:r>
          </a:p>
          <a:p>
            <a:r>
              <a:rPr lang="en-AU" sz="1700" dirty="0"/>
              <a:t>Rise in oil prices (Mar 2022 petrol prices highest in a decade above $2 p/L)</a:t>
            </a:r>
          </a:p>
          <a:p>
            <a:pPr lvl="1"/>
            <a:r>
              <a:rPr lang="en-AU" sz="1700" dirty="0"/>
              <a:t>driven by strong global oil demand and constrained global supply (Ukraine- Russia conflict). Increased demand for oil substitutes ➝ </a:t>
            </a:r>
            <a:r>
              <a:rPr lang="en-AU" sz="1700" dirty="0" err="1"/>
              <a:t>incr</a:t>
            </a:r>
            <a:r>
              <a:rPr lang="en-AU" sz="1700" dirty="0"/>
              <a:t> XPI ➝ </a:t>
            </a:r>
            <a:r>
              <a:rPr lang="en-AU" sz="1700" dirty="0" err="1"/>
              <a:t>incr</a:t>
            </a:r>
            <a:r>
              <a:rPr lang="en-AU" sz="1700" dirty="0"/>
              <a:t> TOT. </a:t>
            </a:r>
          </a:p>
          <a:p>
            <a:pPr lvl="1" indent="0" fontAlgn="ctr">
              <a:buNone/>
            </a:pPr>
            <a:endParaRPr lang="en-AU" sz="1700" dirty="0"/>
          </a:p>
          <a:p>
            <a:pPr marL="0" indent="0" fontAlgn="ctr">
              <a:buNone/>
            </a:pPr>
            <a:endParaRPr lang="en-AU" sz="1700" dirty="0"/>
          </a:p>
        </p:txBody>
      </p:sp>
      <p:pic>
        <p:nvPicPr>
          <p:cNvPr id="4" name="Picture 3">
            <a:extLst>
              <a:ext uri="{FF2B5EF4-FFF2-40B4-BE49-F238E27FC236}">
                <a16:creationId xmlns:a16="http://schemas.microsoft.com/office/drawing/2014/main" id="{8BCC0929-80B4-6026-E917-6F0AD97B3931}"/>
              </a:ext>
            </a:extLst>
          </p:cNvPr>
          <p:cNvPicPr>
            <a:picLocks noChangeAspect="1"/>
          </p:cNvPicPr>
          <p:nvPr/>
        </p:nvPicPr>
        <p:blipFill>
          <a:blip r:embed="rId2"/>
          <a:stretch>
            <a:fillRect/>
          </a:stretch>
        </p:blipFill>
        <p:spPr>
          <a:xfrm>
            <a:off x="508242" y="2152650"/>
            <a:ext cx="5039496" cy="3484221"/>
          </a:xfrm>
          <a:prstGeom prst="rect">
            <a:avLst/>
          </a:prstGeom>
        </p:spPr>
      </p:pic>
    </p:spTree>
    <p:extLst>
      <p:ext uri="{BB962C8B-B14F-4D97-AF65-F5344CB8AC3E}">
        <p14:creationId xmlns:p14="http://schemas.microsoft.com/office/powerpoint/2010/main" val="19894390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F1251-655C-FFBA-A225-B82FFA7DD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96AF1-5A48-C40E-301B-F462BFE17B8B}"/>
              </a:ext>
            </a:extLst>
          </p:cNvPr>
          <p:cNvSpPr>
            <a:spLocks noGrp="1"/>
          </p:cNvSpPr>
          <p:nvPr>
            <p:ph type="title"/>
          </p:nvPr>
        </p:nvSpPr>
        <p:spPr>
          <a:xfrm>
            <a:off x="838200" y="365125"/>
            <a:ext cx="10515600" cy="1325563"/>
          </a:xfrm>
        </p:spPr>
        <p:txBody>
          <a:bodyPr anchor="b">
            <a:normAutofit fontScale="90000"/>
          </a:bodyPr>
          <a:lstStyle/>
          <a:p>
            <a:pPr>
              <a:lnSpc>
                <a:spcPct val="90000"/>
              </a:lnSpc>
            </a:pPr>
            <a:r>
              <a:rPr lang="en-US" sz="5900" dirty="0"/>
              <a:t>2020-2022</a:t>
            </a:r>
            <a:r>
              <a:rPr lang="en-US" sz="4200" dirty="0"/>
              <a:t> CONTEMPORARY:</a:t>
            </a:r>
            <a:br>
              <a:rPr lang="en-US" sz="4200" dirty="0"/>
            </a:br>
            <a:r>
              <a:rPr lang="en-US" sz="4200" dirty="0"/>
              <a:t>TOT RISING</a:t>
            </a:r>
          </a:p>
        </p:txBody>
      </p:sp>
      <p:sp>
        <p:nvSpPr>
          <p:cNvPr id="3" name="Content Placeholder 2">
            <a:extLst>
              <a:ext uri="{FF2B5EF4-FFF2-40B4-BE49-F238E27FC236}">
                <a16:creationId xmlns:a16="http://schemas.microsoft.com/office/drawing/2014/main" id="{05E541EF-A3AF-D667-EDF4-79DCAAB2D6CD}"/>
              </a:ext>
            </a:extLst>
          </p:cNvPr>
          <p:cNvSpPr>
            <a:spLocks noGrp="1"/>
          </p:cNvSpPr>
          <p:nvPr>
            <p:ph sz="half" idx="2"/>
          </p:nvPr>
        </p:nvSpPr>
        <p:spPr>
          <a:xfrm>
            <a:off x="6172200" y="1776717"/>
            <a:ext cx="5181600" cy="4236086"/>
          </a:xfrm>
        </p:spPr>
        <p:txBody>
          <a:bodyPr>
            <a:noAutofit/>
          </a:bodyPr>
          <a:lstStyle/>
          <a:p>
            <a:pPr marL="0" indent="0">
              <a:buNone/>
            </a:pPr>
            <a:r>
              <a:rPr lang="en-AU" sz="1900" b="1" u="sng" dirty="0"/>
              <a:t>MPI rising (after falling through 2020)</a:t>
            </a:r>
          </a:p>
          <a:p>
            <a:pPr fontAlgn="ctr"/>
            <a:r>
              <a:rPr lang="en-AU" sz="1900" dirty="0"/>
              <a:t>While import prices fell through 2020, they began to rise through 2021 due to global supply constraints/shortages forcing prices to rise</a:t>
            </a:r>
          </a:p>
          <a:p>
            <a:pPr lvl="1" fontAlgn="ctr"/>
            <a:r>
              <a:rPr lang="en-AU" sz="1900" dirty="0"/>
              <a:t>Main contributors of these price rises were petroleum, road vehicles and fertilisers </a:t>
            </a:r>
          </a:p>
          <a:p>
            <a:pPr marL="457200" lvl="1" indent="0" fontAlgn="ctr">
              <a:buNone/>
            </a:pPr>
            <a:endParaRPr lang="en-AU" sz="1900" dirty="0"/>
          </a:p>
          <a:p>
            <a:pPr lvl="1" indent="0" fontAlgn="ctr">
              <a:buNone/>
            </a:pPr>
            <a:endParaRPr lang="en-AU" sz="1900" dirty="0"/>
          </a:p>
          <a:p>
            <a:pPr marL="0" indent="0" fontAlgn="ctr">
              <a:buNone/>
            </a:pPr>
            <a:endParaRPr lang="en-AU" sz="1900" dirty="0"/>
          </a:p>
        </p:txBody>
      </p:sp>
      <p:pic>
        <p:nvPicPr>
          <p:cNvPr id="4" name="Picture 3">
            <a:extLst>
              <a:ext uri="{FF2B5EF4-FFF2-40B4-BE49-F238E27FC236}">
                <a16:creationId xmlns:a16="http://schemas.microsoft.com/office/drawing/2014/main" id="{5520EECA-3505-E2B1-4DBF-9E0F33F612A7}"/>
              </a:ext>
            </a:extLst>
          </p:cNvPr>
          <p:cNvPicPr>
            <a:picLocks noChangeAspect="1"/>
          </p:cNvPicPr>
          <p:nvPr/>
        </p:nvPicPr>
        <p:blipFill>
          <a:blip r:embed="rId2"/>
          <a:stretch>
            <a:fillRect/>
          </a:stretch>
        </p:blipFill>
        <p:spPr>
          <a:xfrm>
            <a:off x="508242" y="2152650"/>
            <a:ext cx="5039496" cy="3484221"/>
          </a:xfrm>
          <a:prstGeom prst="rect">
            <a:avLst/>
          </a:prstGeom>
        </p:spPr>
      </p:pic>
    </p:spTree>
    <p:extLst>
      <p:ext uri="{BB962C8B-B14F-4D97-AF65-F5344CB8AC3E}">
        <p14:creationId xmlns:p14="http://schemas.microsoft.com/office/powerpoint/2010/main" val="30446806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BBFD8-D6C3-CB4B-07D0-45BFEE723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6D0B7-C38F-4814-53A2-13C028484823}"/>
              </a:ext>
            </a:extLst>
          </p:cNvPr>
          <p:cNvSpPr>
            <a:spLocks noGrp="1"/>
          </p:cNvSpPr>
          <p:nvPr>
            <p:ph type="title"/>
          </p:nvPr>
        </p:nvSpPr>
        <p:spPr>
          <a:xfrm>
            <a:off x="838200" y="365125"/>
            <a:ext cx="10515600" cy="1325563"/>
          </a:xfrm>
        </p:spPr>
        <p:txBody>
          <a:bodyPr anchor="b">
            <a:normAutofit fontScale="90000"/>
          </a:bodyPr>
          <a:lstStyle/>
          <a:p>
            <a:pPr>
              <a:lnSpc>
                <a:spcPct val="90000"/>
              </a:lnSpc>
            </a:pPr>
            <a:r>
              <a:rPr lang="en-US" sz="5900" dirty="0"/>
              <a:t>2020-2022</a:t>
            </a:r>
            <a:r>
              <a:rPr lang="en-US" sz="4200" dirty="0"/>
              <a:t> CONTEMPORARY:</a:t>
            </a:r>
            <a:br>
              <a:rPr lang="en-US" sz="4200" dirty="0"/>
            </a:br>
            <a:r>
              <a:rPr lang="en-US" sz="4200" dirty="0"/>
              <a:t>TOT RISING</a:t>
            </a:r>
          </a:p>
        </p:txBody>
      </p:sp>
      <p:sp>
        <p:nvSpPr>
          <p:cNvPr id="3" name="Content Placeholder 2">
            <a:extLst>
              <a:ext uri="{FF2B5EF4-FFF2-40B4-BE49-F238E27FC236}">
                <a16:creationId xmlns:a16="http://schemas.microsoft.com/office/drawing/2014/main" id="{4F954519-5F6C-3C0F-30D7-DA48D7761E49}"/>
              </a:ext>
            </a:extLst>
          </p:cNvPr>
          <p:cNvSpPr>
            <a:spLocks noGrp="1"/>
          </p:cNvSpPr>
          <p:nvPr>
            <p:ph sz="half" idx="2"/>
          </p:nvPr>
        </p:nvSpPr>
        <p:spPr>
          <a:xfrm>
            <a:off x="6276372" y="2152650"/>
            <a:ext cx="5181600" cy="4236086"/>
          </a:xfrm>
        </p:spPr>
        <p:txBody>
          <a:bodyPr>
            <a:noAutofit/>
          </a:bodyPr>
          <a:lstStyle/>
          <a:p>
            <a:pPr marL="0" indent="0" fontAlgn="ctr">
              <a:buNone/>
            </a:pPr>
            <a:r>
              <a:rPr lang="en-AU" dirty="0"/>
              <a:t>Even though both XPI and MPI fell through 2020, the TOT was still favourable (MPI fell more than XPI).</a:t>
            </a:r>
          </a:p>
          <a:p>
            <a:pPr marL="0" indent="0" fontAlgn="ctr">
              <a:buNone/>
            </a:pPr>
            <a:endParaRPr lang="en-AU" dirty="0"/>
          </a:p>
          <a:p>
            <a:pPr marL="0" indent="0" fontAlgn="ctr">
              <a:buNone/>
            </a:pPr>
            <a:r>
              <a:rPr lang="en-AU" dirty="0"/>
              <a:t>The year to Sept 2021, XPI rose 41%, while MPI rose 6.4% - TOT reached a historic high of 128 index points. However, fell to 125 index points in the Dec 2021 qtr.</a:t>
            </a:r>
          </a:p>
        </p:txBody>
      </p:sp>
      <p:pic>
        <p:nvPicPr>
          <p:cNvPr id="4" name="Picture 3">
            <a:extLst>
              <a:ext uri="{FF2B5EF4-FFF2-40B4-BE49-F238E27FC236}">
                <a16:creationId xmlns:a16="http://schemas.microsoft.com/office/drawing/2014/main" id="{C7F045B2-733E-EB23-97D7-A7F14B11D2C2}"/>
              </a:ext>
            </a:extLst>
          </p:cNvPr>
          <p:cNvPicPr>
            <a:picLocks noChangeAspect="1"/>
          </p:cNvPicPr>
          <p:nvPr/>
        </p:nvPicPr>
        <p:blipFill>
          <a:blip r:embed="rId2"/>
          <a:stretch>
            <a:fillRect/>
          </a:stretch>
        </p:blipFill>
        <p:spPr>
          <a:xfrm>
            <a:off x="508242" y="2152650"/>
            <a:ext cx="5039496" cy="3484221"/>
          </a:xfrm>
          <a:prstGeom prst="rect">
            <a:avLst/>
          </a:prstGeom>
        </p:spPr>
      </p:pic>
    </p:spTree>
    <p:extLst>
      <p:ext uri="{BB962C8B-B14F-4D97-AF65-F5344CB8AC3E}">
        <p14:creationId xmlns:p14="http://schemas.microsoft.com/office/powerpoint/2010/main" val="29305406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91E9B-A402-1A70-BB00-7B21A657E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EA8E81-8038-E2E2-011D-67BF5BD06D42}"/>
              </a:ext>
            </a:extLst>
          </p:cNvPr>
          <p:cNvSpPr>
            <a:spLocks noGrp="1"/>
          </p:cNvSpPr>
          <p:nvPr>
            <p:ph type="title"/>
          </p:nvPr>
        </p:nvSpPr>
        <p:spPr>
          <a:xfrm>
            <a:off x="838200" y="365125"/>
            <a:ext cx="10515600" cy="1325563"/>
          </a:xfrm>
        </p:spPr>
        <p:txBody>
          <a:bodyPr anchor="b">
            <a:normAutofit fontScale="90000"/>
          </a:bodyPr>
          <a:lstStyle/>
          <a:p>
            <a:pPr>
              <a:lnSpc>
                <a:spcPct val="90000"/>
              </a:lnSpc>
            </a:pPr>
            <a:r>
              <a:rPr lang="en-US" sz="5900" dirty="0"/>
              <a:t>2023-</a:t>
            </a:r>
            <a:r>
              <a:rPr lang="en-US" sz="4200" dirty="0"/>
              <a:t> PRESENT CONTEMPORARY:</a:t>
            </a:r>
            <a:br>
              <a:rPr lang="en-US" sz="4200" dirty="0"/>
            </a:br>
            <a:r>
              <a:rPr lang="en-US" sz="4200" dirty="0"/>
              <a:t>TOT DECLINE</a:t>
            </a:r>
          </a:p>
        </p:txBody>
      </p:sp>
      <p:sp>
        <p:nvSpPr>
          <p:cNvPr id="3" name="Content Placeholder 2">
            <a:extLst>
              <a:ext uri="{FF2B5EF4-FFF2-40B4-BE49-F238E27FC236}">
                <a16:creationId xmlns:a16="http://schemas.microsoft.com/office/drawing/2014/main" id="{C95D2E39-513B-B50F-8146-775C026DD851}"/>
              </a:ext>
            </a:extLst>
          </p:cNvPr>
          <p:cNvSpPr>
            <a:spLocks noGrp="1"/>
          </p:cNvSpPr>
          <p:nvPr>
            <p:ph sz="half" idx="2"/>
          </p:nvPr>
        </p:nvSpPr>
        <p:spPr>
          <a:xfrm>
            <a:off x="6276372" y="1944305"/>
            <a:ext cx="5181600" cy="4236086"/>
          </a:xfrm>
        </p:spPr>
        <p:txBody>
          <a:bodyPr>
            <a:noAutofit/>
          </a:bodyPr>
          <a:lstStyle/>
          <a:p>
            <a:pPr marL="0" indent="0">
              <a:buNone/>
            </a:pPr>
            <a:r>
              <a:rPr lang="en-AU" sz="1900" b="1" u="sng" dirty="0"/>
              <a:t>XPI falling</a:t>
            </a:r>
          </a:p>
          <a:p>
            <a:r>
              <a:rPr lang="en-AU" sz="1900" dirty="0"/>
              <a:t>Fall in commodity prices (especially iron ore)</a:t>
            </a:r>
          </a:p>
          <a:p>
            <a:pPr lvl="1"/>
            <a:r>
              <a:rPr lang="en-AU" sz="1900" dirty="0"/>
              <a:t>Caused by economic slowdown in China ( less demand for Aus X) </a:t>
            </a:r>
            <a:r>
              <a:rPr lang="en-AU" sz="1900" dirty="0">
                <a:sym typeface="Wingdings" panose="05000000000000000000" pitchFamily="2" charset="2"/>
              </a:rPr>
              <a:t> decrease XPI  reduce purchasing power</a:t>
            </a:r>
          </a:p>
          <a:p>
            <a:pPr marL="457200" lvl="1" indent="0">
              <a:buNone/>
            </a:pPr>
            <a:r>
              <a:rPr lang="en-AU" sz="1900" dirty="0">
                <a:sym typeface="Wingdings" panose="05000000000000000000" pitchFamily="2" charset="2"/>
              </a:rPr>
              <a:t>- Current global economic factors: U.S announced tariffs on Australia steel and aluminium exports (may lead to further downturn and fall in XPI in 2025)</a:t>
            </a:r>
            <a:endParaRPr lang="en-AU" sz="1900" dirty="0"/>
          </a:p>
          <a:p>
            <a:pPr marL="0" indent="0" fontAlgn="ctr">
              <a:buNone/>
            </a:pPr>
            <a:endParaRPr lang="en-AU" sz="1900" dirty="0"/>
          </a:p>
        </p:txBody>
      </p:sp>
      <p:pic>
        <p:nvPicPr>
          <p:cNvPr id="5" name="Picture 4">
            <a:extLst>
              <a:ext uri="{FF2B5EF4-FFF2-40B4-BE49-F238E27FC236}">
                <a16:creationId xmlns:a16="http://schemas.microsoft.com/office/drawing/2014/main" id="{47663331-B465-1E72-B667-A9064777A81E}"/>
              </a:ext>
            </a:extLst>
          </p:cNvPr>
          <p:cNvPicPr>
            <a:picLocks noChangeAspect="1"/>
          </p:cNvPicPr>
          <p:nvPr/>
        </p:nvPicPr>
        <p:blipFill>
          <a:blip r:embed="rId2"/>
          <a:stretch>
            <a:fillRect/>
          </a:stretch>
        </p:blipFill>
        <p:spPr>
          <a:xfrm>
            <a:off x="734028" y="2032658"/>
            <a:ext cx="5181600" cy="3616757"/>
          </a:xfrm>
          <a:prstGeom prst="rect">
            <a:avLst/>
          </a:prstGeom>
        </p:spPr>
      </p:pic>
    </p:spTree>
    <p:extLst>
      <p:ext uri="{BB962C8B-B14F-4D97-AF65-F5344CB8AC3E}">
        <p14:creationId xmlns:p14="http://schemas.microsoft.com/office/powerpoint/2010/main" val="23635031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38837-22DC-4EA0-6816-154B911F7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A28086-3844-1091-AFC0-8D84929C111B}"/>
              </a:ext>
            </a:extLst>
          </p:cNvPr>
          <p:cNvSpPr>
            <a:spLocks noGrp="1"/>
          </p:cNvSpPr>
          <p:nvPr>
            <p:ph type="title"/>
          </p:nvPr>
        </p:nvSpPr>
        <p:spPr>
          <a:xfrm>
            <a:off x="838200" y="365125"/>
            <a:ext cx="10515600" cy="1325563"/>
          </a:xfrm>
        </p:spPr>
        <p:txBody>
          <a:bodyPr anchor="b">
            <a:normAutofit fontScale="90000"/>
          </a:bodyPr>
          <a:lstStyle/>
          <a:p>
            <a:pPr>
              <a:lnSpc>
                <a:spcPct val="90000"/>
              </a:lnSpc>
            </a:pPr>
            <a:r>
              <a:rPr lang="en-US" sz="5900" dirty="0"/>
              <a:t>2023-</a:t>
            </a:r>
            <a:r>
              <a:rPr lang="en-US" sz="4200" dirty="0"/>
              <a:t> PRESENT CONTEMPORARY:</a:t>
            </a:r>
            <a:br>
              <a:rPr lang="en-US" sz="4200" dirty="0"/>
            </a:br>
            <a:r>
              <a:rPr lang="en-US" sz="4200" dirty="0"/>
              <a:t>TOT DECLINE</a:t>
            </a:r>
          </a:p>
        </p:txBody>
      </p:sp>
      <p:sp>
        <p:nvSpPr>
          <p:cNvPr id="3" name="Content Placeholder 2">
            <a:extLst>
              <a:ext uri="{FF2B5EF4-FFF2-40B4-BE49-F238E27FC236}">
                <a16:creationId xmlns:a16="http://schemas.microsoft.com/office/drawing/2014/main" id="{AC5AE267-67B4-D68D-8553-73C1AB027964}"/>
              </a:ext>
            </a:extLst>
          </p:cNvPr>
          <p:cNvSpPr>
            <a:spLocks noGrp="1"/>
          </p:cNvSpPr>
          <p:nvPr>
            <p:ph sz="half" idx="2"/>
          </p:nvPr>
        </p:nvSpPr>
        <p:spPr>
          <a:xfrm>
            <a:off x="6276372" y="1690688"/>
            <a:ext cx="5181600" cy="4236086"/>
          </a:xfrm>
        </p:spPr>
        <p:txBody>
          <a:bodyPr>
            <a:noAutofit/>
          </a:bodyPr>
          <a:lstStyle/>
          <a:p>
            <a:pPr lvl="1" indent="0" fontAlgn="ctr">
              <a:buNone/>
            </a:pPr>
            <a:endParaRPr lang="en-AU" sz="1900" dirty="0"/>
          </a:p>
          <a:p>
            <a:pPr marL="0" indent="0">
              <a:buNone/>
            </a:pPr>
            <a:r>
              <a:rPr lang="en-AU" sz="1900" b="1" u="sng" dirty="0"/>
              <a:t>MPI falling </a:t>
            </a:r>
          </a:p>
          <a:p>
            <a:pPr fontAlgn="ctr"/>
            <a:r>
              <a:rPr lang="en-AU" sz="1900" dirty="0"/>
              <a:t>Prices of oil and petroleum fell by 17.7% (mar quarter 2024)</a:t>
            </a:r>
          </a:p>
          <a:p>
            <a:pPr fontAlgn="ctr"/>
            <a:r>
              <a:rPr lang="en-AU" sz="1900" dirty="0"/>
              <a:t>- </a:t>
            </a:r>
            <a:r>
              <a:rPr lang="en-AU" sz="1900" dirty="0">
                <a:sym typeface="Wingdings" panose="05000000000000000000" pitchFamily="2" charset="2"/>
              </a:rPr>
              <a:t> weaker global demand </a:t>
            </a:r>
          </a:p>
          <a:p>
            <a:pPr fontAlgn="ctr"/>
            <a:r>
              <a:rPr lang="en-AU" sz="1900" dirty="0">
                <a:sym typeface="Wingdings" panose="05000000000000000000" pitchFamily="2" charset="2"/>
              </a:rPr>
              <a:t>High inflation in Australia 7% in 2023  slow down in the economy  decrease in consumption and imports</a:t>
            </a:r>
            <a:endParaRPr lang="en-AU" sz="1900" dirty="0"/>
          </a:p>
          <a:p>
            <a:pPr lvl="1" indent="0" fontAlgn="ctr">
              <a:buNone/>
            </a:pPr>
            <a:endParaRPr lang="en-AU" sz="1900" dirty="0"/>
          </a:p>
        </p:txBody>
      </p:sp>
      <p:pic>
        <p:nvPicPr>
          <p:cNvPr id="5" name="Picture 4">
            <a:extLst>
              <a:ext uri="{FF2B5EF4-FFF2-40B4-BE49-F238E27FC236}">
                <a16:creationId xmlns:a16="http://schemas.microsoft.com/office/drawing/2014/main" id="{59578D7F-F684-ECDE-4E33-76159F529DD6}"/>
              </a:ext>
            </a:extLst>
          </p:cNvPr>
          <p:cNvPicPr>
            <a:picLocks noChangeAspect="1"/>
          </p:cNvPicPr>
          <p:nvPr/>
        </p:nvPicPr>
        <p:blipFill>
          <a:blip r:embed="rId2"/>
          <a:stretch>
            <a:fillRect/>
          </a:stretch>
        </p:blipFill>
        <p:spPr>
          <a:xfrm>
            <a:off x="734028" y="2032658"/>
            <a:ext cx="5181600" cy="3616757"/>
          </a:xfrm>
          <a:prstGeom prst="rect">
            <a:avLst/>
          </a:prstGeom>
        </p:spPr>
      </p:pic>
    </p:spTree>
    <p:extLst>
      <p:ext uri="{BB962C8B-B14F-4D97-AF65-F5344CB8AC3E}">
        <p14:creationId xmlns:p14="http://schemas.microsoft.com/office/powerpoint/2010/main" val="671350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7AF6C-9E08-83E9-DDC0-D6932C4E65FF}"/>
              </a:ext>
            </a:extLst>
          </p:cNvPr>
          <p:cNvSpPr>
            <a:spLocks noGrp="1"/>
          </p:cNvSpPr>
          <p:nvPr>
            <p:ph type="title"/>
          </p:nvPr>
        </p:nvSpPr>
        <p:spPr/>
        <p:txBody>
          <a:bodyPr/>
          <a:lstStyle/>
          <a:p>
            <a:r>
              <a:rPr lang="en-US" dirty="0"/>
              <a:t>RESEARCH TASK</a:t>
            </a:r>
          </a:p>
        </p:txBody>
      </p:sp>
      <p:sp>
        <p:nvSpPr>
          <p:cNvPr id="3" name="Content Placeholder 2">
            <a:extLst>
              <a:ext uri="{FF2B5EF4-FFF2-40B4-BE49-F238E27FC236}">
                <a16:creationId xmlns:a16="http://schemas.microsoft.com/office/drawing/2014/main" id="{47FB2601-F1D2-0FAC-7657-A3DEDB3B8520}"/>
              </a:ext>
            </a:extLst>
          </p:cNvPr>
          <p:cNvSpPr>
            <a:spLocks noGrp="1"/>
          </p:cNvSpPr>
          <p:nvPr>
            <p:ph idx="1"/>
          </p:nvPr>
        </p:nvSpPr>
        <p:spPr>
          <a:xfrm>
            <a:off x="5551463" y="1593668"/>
            <a:ext cx="5800749" cy="4275319"/>
          </a:xfrm>
        </p:spPr>
        <p:txBody>
          <a:bodyPr>
            <a:normAutofit/>
          </a:bodyPr>
          <a:lstStyle/>
          <a:p>
            <a:pPr algn="just">
              <a:lnSpc>
                <a:spcPct val="100000"/>
              </a:lnSpc>
            </a:pPr>
            <a:r>
              <a:rPr lang="en-US" sz="2200" dirty="0">
                <a:solidFill>
                  <a:srgbClr val="000000"/>
                </a:solidFill>
                <a:latin typeface="Avenir Book" panose="02000503020000020003" pitchFamily="2" charset="0"/>
                <a:ea typeface="Open Sauce"/>
                <a:cs typeface="Open Sauce"/>
                <a:sym typeface="Open Sauce"/>
              </a:rPr>
              <a:t>Find 1 news article about key factors influencing Australia’s terms of trade</a:t>
            </a:r>
          </a:p>
          <a:p>
            <a:pPr marL="0" indent="0" algn="just">
              <a:lnSpc>
                <a:spcPct val="100000"/>
              </a:lnSpc>
              <a:buNone/>
            </a:pPr>
            <a:r>
              <a:rPr lang="en-US" sz="2200" dirty="0">
                <a:solidFill>
                  <a:srgbClr val="000000"/>
                </a:solidFill>
                <a:latin typeface="Avenir Book" panose="02000503020000020003" pitchFamily="2" charset="0"/>
                <a:ea typeface="Open Sauce"/>
                <a:cs typeface="Open Sauce"/>
                <a:sym typeface="Open Sauce"/>
              </a:rPr>
              <a:t>(e.g. iron ore prices, trade relations with China, Oil price changes, tariffs </a:t>
            </a:r>
            <a:r>
              <a:rPr lang="en-US" sz="2200" dirty="0" err="1">
                <a:solidFill>
                  <a:srgbClr val="000000"/>
                </a:solidFill>
                <a:latin typeface="Avenir Book" panose="02000503020000020003" pitchFamily="2" charset="0"/>
                <a:ea typeface="Open Sauce"/>
                <a:cs typeface="Open Sauce"/>
                <a:sym typeface="Open Sauce"/>
              </a:rPr>
              <a:t>etc</a:t>
            </a:r>
            <a:r>
              <a:rPr lang="en-US" sz="2200" dirty="0">
                <a:solidFill>
                  <a:srgbClr val="000000"/>
                </a:solidFill>
                <a:latin typeface="Avenir Book" panose="02000503020000020003" pitchFamily="2" charset="0"/>
                <a:ea typeface="Open Sauce"/>
                <a:cs typeface="Open Sauce"/>
                <a:sym typeface="Open Sauce"/>
              </a:rPr>
              <a:t>)</a:t>
            </a:r>
          </a:p>
          <a:p>
            <a:pPr algn="just">
              <a:lnSpc>
                <a:spcPct val="100000"/>
              </a:lnSpc>
            </a:pPr>
            <a:endParaRPr lang="en-US" sz="2200" dirty="0">
              <a:solidFill>
                <a:srgbClr val="000000"/>
              </a:solidFill>
              <a:latin typeface="Avenir Book" panose="02000503020000020003" pitchFamily="2" charset="0"/>
              <a:ea typeface="Open Sauce"/>
              <a:cs typeface="Open Sauce"/>
              <a:sym typeface="Open Sauce"/>
            </a:endParaRPr>
          </a:p>
          <a:p>
            <a:pPr algn="just">
              <a:lnSpc>
                <a:spcPct val="100000"/>
              </a:lnSpc>
            </a:pPr>
            <a:r>
              <a:rPr lang="en-US" sz="2200" dirty="0">
                <a:solidFill>
                  <a:srgbClr val="000000"/>
                </a:solidFill>
                <a:latin typeface="Avenir Book" panose="02000503020000020003" pitchFamily="2" charset="0"/>
                <a:ea typeface="Open Sauce"/>
                <a:cs typeface="Open Sauce"/>
                <a:sym typeface="Open Sauce"/>
              </a:rPr>
              <a:t>Create a summary on this article and how the factor has influenced/ will influence Australia’s </a:t>
            </a:r>
            <a:r>
              <a:rPr lang="en-US" sz="2200" dirty="0" err="1">
                <a:solidFill>
                  <a:srgbClr val="000000"/>
                </a:solidFill>
                <a:latin typeface="Avenir Book" panose="02000503020000020003" pitchFamily="2" charset="0"/>
                <a:ea typeface="Open Sauce"/>
                <a:cs typeface="Open Sauce"/>
                <a:sym typeface="Open Sauce"/>
              </a:rPr>
              <a:t>ToT</a:t>
            </a:r>
            <a:r>
              <a:rPr lang="en-US" sz="2200" dirty="0">
                <a:solidFill>
                  <a:srgbClr val="000000"/>
                </a:solidFill>
                <a:latin typeface="Avenir Book" panose="02000503020000020003" pitchFamily="2" charset="0"/>
                <a:ea typeface="Open Sauce"/>
                <a:cs typeface="Open Sauce"/>
                <a:sym typeface="Open Sauce"/>
              </a:rPr>
              <a:t>.</a:t>
            </a:r>
          </a:p>
          <a:p>
            <a:pPr algn="just">
              <a:lnSpc>
                <a:spcPct val="100000"/>
              </a:lnSpc>
            </a:pPr>
            <a:endParaRPr lang="en-US" sz="2200" dirty="0">
              <a:solidFill>
                <a:srgbClr val="000000"/>
              </a:solidFill>
              <a:latin typeface="Avenir Book" panose="02000503020000020003" pitchFamily="2" charset="0"/>
              <a:ea typeface="Open Sauce"/>
              <a:cs typeface="Open Sauce"/>
              <a:sym typeface="Open Sauce"/>
            </a:endParaRPr>
          </a:p>
          <a:p>
            <a:pPr algn="just">
              <a:lnSpc>
                <a:spcPct val="100000"/>
              </a:lnSpc>
            </a:pPr>
            <a:r>
              <a:rPr lang="en-US" sz="2200" dirty="0">
                <a:solidFill>
                  <a:srgbClr val="000000"/>
                </a:solidFill>
                <a:latin typeface="Avenir Book" panose="02000503020000020003" pitchFamily="2" charset="0"/>
                <a:ea typeface="Open Sauce"/>
                <a:cs typeface="Open Sauce"/>
                <a:sym typeface="Open Sauce"/>
              </a:rPr>
              <a:t>Share with the rest of the class</a:t>
            </a:r>
          </a:p>
          <a:p>
            <a:pPr>
              <a:lnSpc>
                <a:spcPct val="100000"/>
              </a:lnSpc>
            </a:pPr>
            <a:endParaRPr lang="en-US" sz="2200" dirty="0">
              <a:latin typeface="Avenir Book" panose="02000503020000020003" pitchFamily="2" charset="0"/>
            </a:endParaRPr>
          </a:p>
        </p:txBody>
      </p:sp>
      <p:sp>
        <p:nvSpPr>
          <p:cNvPr id="4" name="Text Placeholder 3">
            <a:extLst>
              <a:ext uri="{FF2B5EF4-FFF2-40B4-BE49-F238E27FC236}">
                <a16:creationId xmlns:a16="http://schemas.microsoft.com/office/drawing/2014/main" id="{C4F7F085-C274-E1E8-5AF3-7D97B148E314}"/>
              </a:ext>
            </a:extLst>
          </p:cNvPr>
          <p:cNvSpPr>
            <a:spLocks noGrp="1"/>
          </p:cNvSpPr>
          <p:nvPr>
            <p:ph type="body" sz="half" idx="2"/>
          </p:nvPr>
        </p:nvSpPr>
        <p:spPr/>
        <p:txBody>
          <a:bodyPr>
            <a:normAutofit/>
          </a:bodyPr>
          <a:lstStyle/>
          <a:p>
            <a:r>
              <a:rPr lang="en-US" sz="2200" b="1" dirty="0">
                <a:solidFill>
                  <a:srgbClr val="000000"/>
                </a:solidFill>
                <a:latin typeface="Avenir Book" panose="02000503020000020003" pitchFamily="2" charset="0"/>
                <a:ea typeface="Open Sauce Bold"/>
                <a:cs typeface="Open Sauce Bold"/>
                <a:sym typeface="Open Sauce Bold"/>
              </a:rPr>
              <a:t>News articles about key factors influencing Australia’s terms of trade ( 5 years)</a:t>
            </a:r>
          </a:p>
          <a:p>
            <a:endParaRPr lang="en-US" sz="2200" b="1" dirty="0">
              <a:latin typeface="Avenir Book" panose="02000503020000020003" pitchFamily="2" charset="0"/>
            </a:endParaRPr>
          </a:p>
        </p:txBody>
      </p:sp>
    </p:spTree>
    <p:extLst>
      <p:ext uri="{BB962C8B-B14F-4D97-AF65-F5344CB8AC3E}">
        <p14:creationId xmlns:p14="http://schemas.microsoft.com/office/powerpoint/2010/main" val="2147954928"/>
      </p:ext>
    </p:extLst>
  </p:cSld>
  <p:clrMapOvr>
    <a:masterClrMapping/>
  </p:clrMapOvr>
</p:sld>
</file>

<file path=ppt/theme/theme1.xml><?xml version="1.0" encoding="utf-8"?>
<a:theme xmlns:a="http://schemas.openxmlformats.org/drawingml/2006/main" name="Theme1">
  <a:themeElements>
    <a:clrScheme name="gradient">
      <a:dk1>
        <a:sysClr val="windowText" lastClr="000000"/>
      </a:dk1>
      <a:lt1>
        <a:sysClr val="window" lastClr="FFFFFF"/>
      </a:lt1>
      <a:dk2>
        <a:srgbClr val="203040"/>
      </a:dk2>
      <a:lt2>
        <a:srgbClr val="ECF0F0"/>
      </a:lt2>
      <a:accent1>
        <a:srgbClr val="00BAC8"/>
      </a:accent1>
      <a:accent2>
        <a:srgbClr val="794DFF"/>
      </a:accent2>
      <a:accent3>
        <a:srgbClr val="00D17D"/>
      </a:accent3>
      <a:accent4>
        <a:srgbClr val="E69500"/>
      </a:accent4>
      <a:accent5>
        <a:srgbClr val="FE5D21"/>
      </a:accent5>
      <a:accent6>
        <a:srgbClr val="DA2A69"/>
      </a:accent6>
      <a:hlink>
        <a:srgbClr val="3E8FF1"/>
      </a:hlink>
      <a:folHlink>
        <a:srgbClr val="939393"/>
      </a:folHlink>
    </a:clrScheme>
    <a:fontScheme name="Custom 49">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C43B2F53-CECC-4241-81D2-3B654A396709}" vid="{1511C1AC-5AA4-6A4C-BE2E-BE2AEEE0C9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1418</TotalTime>
  <Words>3559</Words>
  <Application>Microsoft Macintosh PowerPoint</Application>
  <PresentationFormat>Widescreen</PresentationFormat>
  <Paragraphs>381</Paragraphs>
  <Slides>51</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Aharoni</vt:lpstr>
      <vt:lpstr>Aptos</vt:lpstr>
      <vt:lpstr>Arial</vt:lpstr>
      <vt:lpstr>Avenir Book</vt:lpstr>
      <vt:lpstr>Avenir Next LT Pro</vt:lpstr>
      <vt:lpstr>Calibri</vt:lpstr>
      <vt:lpstr>Cambria Math</vt:lpstr>
      <vt:lpstr>Courier New</vt:lpstr>
      <vt:lpstr>Creative Thoughts</vt:lpstr>
      <vt:lpstr>Wingdings</vt:lpstr>
      <vt:lpstr>Theme1</vt:lpstr>
      <vt:lpstr>TERMS OF TRADE</vt:lpstr>
      <vt:lpstr>WHAT IS THE TOT?</vt:lpstr>
      <vt:lpstr>CALCULATING THE TOT INDEX </vt:lpstr>
      <vt:lpstr>EXAMPLE - XPI</vt:lpstr>
      <vt:lpstr>EXAMPLE - MPI</vt:lpstr>
      <vt:lpstr>CALCULATING AN XPI/MPI</vt:lpstr>
      <vt:lpstr>HAVE A GO!</vt:lpstr>
      <vt:lpstr>SOLUTIONS</vt:lpstr>
      <vt:lpstr>UNDERSTANDING A RISE OR FALL IN THE TOT</vt:lpstr>
      <vt:lpstr>RISE IN THE TOT (FAVOURABLE)</vt:lpstr>
      <vt:lpstr>FALL IN THE TOT (UNFAVOURABLE)</vt:lpstr>
      <vt:lpstr>PAST EXAM QUESTIONS </vt:lpstr>
      <vt:lpstr>PAST EXAM QUESTIONS </vt:lpstr>
      <vt:lpstr>In your notebook,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FACTORS THAT AFFECT THE TOT</vt:lpstr>
      <vt:lpstr>FACTORS AFFECTING THE TOT</vt:lpstr>
      <vt:lpstr>COMMODITY PRICES</vt:lpstr>
      <vt:lpstr>COMMODITY PRICES</vt:lpstr>
      <vt:lpstr>Let’s look at fig 4.2 tb pg 90</vt:lpstr>
      <vt:lpstr>COMMODITY PRICES</vt:lpstr>
      <vt:lpstr>MANUFACTURED GOOD PRICES</vt:lpstr>
      <vt:lpstr>MANUFACTURED GOOD PRICES</vt:lpstr>
      <vt:lpstr>OIL PRICES</vt:lpstr>
      <vt:lpstr>COMMODITY PRICES VS TOT</vt:lpstr>
      <vt:lpstr>PowerPoint Presentation</vt:lpstr>
      <vt:lpstr>Use TOT key points to complete extended response 1b p100</vt:lpstr>
      <vt:lpstr>TRENDS IN TERMS OF TRADE</vt:lpstr>
      <vt:lpstr>PowerPoint Presentation</vt:lpstr>
      <vt:lpstr>PowerPoint Presentation</vt:lpstr>
      <vt:lpstr>2014-15:  TOT FALLING</vt:lpstr>
      <vt:lpstr>2016-19:  TOT RISING</vt:lpstr>
      <vt:lpstr>2020 (JUNE &amp; SEPT QUARTER) SMALL FALL IN TOT</vt:lpstr>
      <vt:lpstr>2020-2022 CONTEMPORARY: TOT RISING</vt:lpstr>
      <vt:lpstr>2020-2022 CONTEMPORARY: TOT RISING</vt:lpstr>
      <vt:lpstr>2020-2022 CONTEMPORARY: TOT RISING</vt:lpstr>
      <vt:lpstr>2023- PRESENT CONTEMPORARY: TOT DECLINE</vt:lpstr>
      <vt:lpstr>2023- PRESENT CONTEMPORARY: TOT DECLINE</vt:lpstr>
      <vt:lpstr>RESEARCH 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SALEKIAN Samin [Kent Street Senior High School]</dc:creator>
  <cp:lastModifiedBy>SALEKIAN Samin [Kent Street Senior High School]</cp:lastModifiedBy>
  <cp:revision>14</cp:revision>
  <dcterms:created xsi:type="dcterms:W3CDTF">2025-08-12T00:11:42Z</dcterms:created>
  <dcterms:modified xsi:type="dcterms:W3CDTF">2026-08-11T04:08:44Z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ab51697-d8d5-4b00-af1f-cc3ba473113c_Enabled">
    <vt:lpwstr>true</vt:lpwstr>
  </property>
  <property fmtid="{D5CDD505-2E9C-101B-9397-08002B2CF9AE}" pid="3" name="MSIP_Label_1ab51697-d8d5-4b00-af1f-cc3ba473113c_SetDate">
    <vt:lpwstr>2025-08-13T01:43:57Z</vt:lpwstr>
  </property>
  <property fmtid="{D5CDD505-2E9C-101B-9397-08002B2CF9AE}" pid="4" name="MSIP_Label_1ab51697-d8d5-4b00-af1f-cc3ba473113c_Method">
    <vt:lpwstr>Standard</vt:lpwstr>
  </property>
  <property fmtid="{D5CDD505-2E9C-101B-9397-08002B2CF9AE}" pid="5" name="MSIP_Label_1ab51697-d8d5-4b00-af1f-cc3ba473113c_Name">
    <vt:lpwstr>OFFICIAL</vt:lpwstr>
  </property>
  <property fmtid="{D5CDD505-2E9C-101B-9397-08002B2CF9AE}" pid="6" name="MSIP_Label_1ab51697-d8d5-4b00-af1f-cc3ba473113c_SiteId">
    <vt:lpwstr>e08016f9-d1fd-4cbb-83b0-b76eb4361627</vt:lpwstr>
  </property>
  <property fmtid="{D5CDD505-2E9C-101B-9397-08002B2CF9AE}" pid="7" name="MSIP_Label_1ab51697-d8d5-4b00-af1f-cc3ba473113c_ActionId">
    <vt:lpwstr>1de46e32-e753-435e-9065-7ec4fd198029</vt:lpwstr>
  </property>
  <property fmtid="{D5CDD505-2E9C-101B-9397-08002B2CF9AE}" pid="8" name="MSIP_Label_1ab51697-d8d5-4b00-af1f-cc3ba473113c_ContentBits">
    <vt:lpwstr>1</vt:lpwstr>
  </property>
  <property fmtid="{D5CDD505-2E9C-101B-9397-08002B2CF9AE}" pid="9" name="MSIP_Label_1ab51697-d8d5-4b00-af1f-cc3ba473113c_Tag">
    <vt:lpwstr>50, 3, 0, 1</vt:lpwstr>
  </property>
  <property fmtid="{D5CDD505-2E9C-101B-9397-08002B2CF9AE}" pid="10" name="ClassificationContentMarkingHeaderLocations">
    <vt:lpwstr>Theme1:12</vt:lpwstr>
  </property>
  <property fmtid="{D5CDD505-2E9C-101B-9397-08002B2CF9AE}" pid="11" name="ClassificationContentMarkingHeaderText">
    <vt:lpwstr>OFFICIAL</vt:lpwstr>
  </property>
</Properties>
</file>