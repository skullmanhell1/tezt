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12"/>
  </p:notesMasterIdLst>
  <p:sldIdLst>
    <p:sldId id="257" r:id="rId2"/>
    <p:sldId id="394" r:id="rId3"/>
    <p:sldId id="395" r:id="rId4"/>
    <p:sldId id="400" r:id="rId5"/>
    <p:sldId id="258" r:id="rId6"/>
    <p:sldId id="396" r:id="rId7"/>
    <p:sldId id="312" r:id="rId8"/>
    <p:sldId id="397" r:id="rId9"/>
    <p:sldId id="259" r:id="rId10"/>
    <p:sldId id="401" r:id="rId11"/>
    <p:sldId id="260" r:id="rId12"/>
    <p:sldId id="262" r:id="rId13"/>
    <p:sldId id="263" r:id="rId14"/>
    <p:sldId id="264" r:id="rId15"/>
    <p:sldId id="552" r:id="rId16"/>
    <p:sldId id="398" r:id="rId17"/>
    <p:sldId id="399" r:id="rId18"/>
    <p:sldId id="265" r:id="rId19"/>
    <p:sldId id="266" r:id="rId20"/>
    <p:sldId id="548" r:id="rId21"/>
    <p:sldId id="509" r:id="rId22"/>
    <p:sldId id="521" r:id="rId23"/>
    <p:sldId id="546" r:id="rId24"/>
    <p:sldId id="522" r:id="rId25"/>
    <p:sldId id="550" r:id="rId26"/>
    <p:sldId id="525" r:id="rId27"/>
    <p:sldId id="547" r:id="rId28"/>
    <p:sldId id="549" r:id="rId29"/>
    <p:sldId id="432" r:id="rId30"/>
    <p:sldId id="556" r:id="rId31"/>
    <p:sldId id="557" r:id="rId32"/>
    <p:sldId id="553" r:id="rId33"/>
    <p:sldId id="554" r:id="rId34"/>
    <p:sldId id="555" r:id="rId35"/>
    <p:sldId id="511" r:id="rId36"/>
    <p:sldId id="530" r:id="rId37"/>
    <p:sldId id="561" r:id="rId38"/>
    <p:sldId id="564" r:id="rId39"/>
    <p:sldId id="565" r:id="rId40"/>
    <p:sldId id="560" r:id="rId41"/>
    <p:sldId id="562" r:id="rId42"/>
    <p:sldId id="563" r:id="rId43"/>
    <p:sldId id="551" r:id="rId44"/>
    <p:sldId id="524" r:id="rId45"/>
    <p:sldId id="566" r:id="rId46"/>
    <p:sldId id="567" r:id="rId47"/>
    <p:sldId id="568" r:id="rId48"/>
    <p:sldId id="569" r:id="rId49"/>
    <p:sldId id="570" r:id="rId50"/>
    <p:sldId id="571" r:id="rId51"/>
    <p:sldId id="533" r:id="rId52"/>
    <p:sldId id="558" r:id="rId53"/>
    <p:sldId id="532" r:id="rId54"/>
    <p:sldId id="534" r:id="rId55"/>
    <p:sldId id="535" r:id="rId56"/>
    <p:sldId id="536" r:id="rId57"/>
    <p:sldId id="537" r:id="rId58"/>
    <p:sldId id="538" r:id="rId59"/>
    <p:sldId id="540" r:id="rId60"/>
    <p:sldId id="541" r:id="rId61"/>
    <p:sldId id="542" r:id="rId62"/>
    <p:sldId id="543" r:id="rId63"/>
    <p:sldId id="544" r:id="rId64"/>
    <p:sldId id="572" r:id="rId65"/>
    <p:sldId id="573" r:id="rId66"/>
    <p:sldId id="574" r:id="rId67"/>
    <p:sldId id="576" r:id="rId68"/>
    <p:sldId id="575" r:id="rId69"/>
    <p:sldId id="581" r:id="rId70"/>
    <p:sldId id="578" r:id="rId71"/>
    <p:sldId id="583" r:id="rId72"/>
    <p:sldId id="579" r:id="rId73"/>
    <p:sldId id="584" r:id="rId74"/>
    <p:sldId id="580" r:id="rId75"/>
    <p:sldId id="585" r:id="rId76"/>
    <p:sldId id="609" r:id="rId77"/>
    <p:sldId id="314" r:id="rId78"/>
    <p:sldId id="315" r:id="rId79"/>
    <p:sldId id="586" r:id="rId80"/>
    <p:sldId id="267" r:id="rId81"/>
    <p:sldId id="587" r:id="rId82"/>
    <p:sldId id="308" r:id="rId83"/>
    <p:sldId id="309" r:id="rId84"/>
    <p:sldId id="310" r:id="rId85"/>
    <p:sldId id="311" r:id="rId86"/>
    <p:sldId id="588" r:id="rId87"/>
    <p:sldId id="313" r:id="rId88"/>
    <p:sldId id="316" r:id="rId89"/>
    <p:sldId id="600" r:id="rId90"/>
    <p:sldId id="602" r:id="rId91"/>
    <p:sldId id="592" r:id="rId92"/>
    <p:sldId id="603" r:id="rId93"/>
    <p:sldId id="604" r:id="rId94"/>
    <p:sldId id="594" r:id="rId95"/>
    <p:sldId id="598" r:id="rId96"/>
    <p:sldId id="599" r:id="rId97"/>
    <p:sldId id="605" r:id="rId98"/>
    <p:sldId id="453" r:id="rId99"/>
    <p:sldId id="606" r:id="rId100"/>
    <p:sldId id="464" r:id="rId101"/>
    <p:sldId id="465" r:id="rId102"/>
    <p:sldId id="466" r:id="rId103"/>
    <p:sldId id="607" r:id="rId104"/>
    <p:sldId id="472" r:id="rId105"/>
    <p:sldId id="471" r:id="rId106"/>
    <p:sldId id="467" r:id="rId107"/>
    <p:sldId id="468" r:id="rId108"/>
    <p:sldId id="469" r:id="rId109"/>
    <p:sldId id="470" r:id="rId110"/>
    <p:sldId id="608" r:id="rId1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5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614"/>
    <p:restoredTop sz="71206"/>
  </p:normalViewPr>
  <p:slideViewPr>
    <p:cSldViewPr snapToGrid="0">
      <p:cViewPr varScale="1">
        <p:scale>
          <a:sx n="85" d="100"/>
          <a:sy n="85" d="100"/>
        </p:scale>
        <p:origin x="73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s>
</file>

<file path=ppt/diagrams/_rels/data4.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ata7.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rawing7.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871C1EA-E42C-4D64-9A2C-C24CCE846A42}"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6B6D6C84-A47B-4718-A90F-2B6C31248C51}">
      <dgm:prSet/>
      <dgm:spPr/>
      <dgm:t>
        <a:bodyPr/>
        <a:lstStyle/>
        <a:p>
          <a:r>
            <a:rPr lang="en-AU" b="1">
              <a:latin typeface="Creative Thoughts" pitchFamily="2" charset="0"/>
              <a:cs typeface="TH SarabunPSK" panose="020B0500040200020003" pitchFamily="34" charset="-34"/>
            </a:rPr>
            <a:t>Balance = two sides equal</a:t>
          </a:r>
          <a:endParaRPr lang="en-US">
            <a:latin typeface="Creative Thoughts" pitchFamily="2" charset="0"/>
            <a:cs typeface="TH SarabunPSK" panose="020B0500040200020003" pitchFamily="34" charset="-34"/>
          </a:endParaRPr>
        </a:p>
      </dgm:t>
    </dgm:pt>
    <dgm:pt modelId="{ADCBF1DA-A59A-45FA-8028-1728E6F6D57F}" type="parTrans" cxnId="{70944244-1C30-4BB1-9CE1-0AEC7F5B1E7C}">
      <dgm:prSet/>
      <dgm:spPr/>
      <dgm:t>
        <a:bodyPr/>
        <a:lstStyle/>
        <a:p>
          <a:endParaRPr lang="en-US">
            <a:latin typeface="Creative Thoughts" pitchFamily="2" charset="0"/>
            <a:cs typeface="TH SarabunPSK" panose="020B0500040200020003" pitchFamily="34" charset="-34"/>
          </a:endParaRPr>
        </a:p>
      </dgm:t>
    </dgm:pt>
    <dgm:pt modelId="{BB0E5226-4872-47D9-8BCE-D8243ED39640}" type="sibTrans" cxnId="{70944244-1C30-4BB1-9CE1-0AEC7F5B1E7C}">
      <dgm:prSet/>
      <dgm:spPr/>
      <dgm:t>
        <a:bodyPr/>
        <a:lstStyle/>
        <a:p>
          <a:endParaRPr lang="en-US">
            <a:latin typeface="Creative Thoughts" pitchFamily="2" charset="0"/>
            <a:cs typeface="TH SarabunPSK" panose="020B0500040200020003" pitchFamily="34" charset="-34"/>
          </a:endParaRPr>
        </a:p>
      </dgm:t>
    </dgm:pt>
    <dgm:pt modelId="{7841931A-9038-440B-8080-DBF537897338}">
      <dgm:prSet/>
      <dgm:spPr/>
      <dgm:t>
        <a:bodyPr/>
        <a:lstStyle/>
        <a:p>
          <a:r>
            <a:rPr lang="en-AU" b="1">
              <a:latin typeface="Creative Thoughts" pitchFamily="2" charset="0"/>
              <a:cs typeface="TH SarabunPSK" panose="020B0500040200020003" pitchFamily="34" charset="-34"/>
            </a:rPr>
            <a:t>Payments = money in and out</a:t>
          </a:r>
          <a:endParaRPr lang="en-US">
            <a:latin typeface="Creative Thoughts" pitchFamily="2" charset="0"/>
            <a:cs typeface="TH SarabunPSK" panose="020B0500040200020003" pitchFamily="34" charset="-34"/>
          </a:endParaRPr>
        </a:p>
      </dgm:t>
    </dgm:pt>
    <dgm:pt modelId="{D2BF0707-37E2-4E5D-810C-8D13540AD24C}" type="parTrans" cxnId="{B0C3137C-F6A5-4F7E-A3E1-C63E95A8273A}">
      <dgm:prSet/>
      <dgm:spPr/>
      <dgm:t>
        <a:bodyPr/>
        <a:lstStyle/>
        <a:p>
          <a:endParaRPr lang="en-US">
            <a:latin typeface="Creative Thoughts" pitchFamily="2" charset="0"/>
            <a:cs typeface="TH SarabunPSK" panose="020B0500040200020003" pitchFamily="34" charset="-34"/>
          </a:endParaRPr>
        </a:p>
      </dgm:t>
    </dgm:pt>
    <dgm:pt modelId="{2AD2AC7F-0324-4950-BE79-962D2E3A4480}" type="sibTrans" cxnId="{B0C3137C-F6A5-4F7E-A3E1-C63E95A8273A}">
      <dgm:prSet/>
      <dgm:spPr/>
      <dgm:t>
        <a:bodyPr/>
        <a:lstStyle/>
        <a:p>
          <a:endParaRPr lang="en-US">
            <a:latin typeface="Creative Thoughts" pitchFamily="2" charset="0"/>
            <a:cs typeface="TH SarabunPSK" panose="020B0500040200020003" pitchFamily="34" charset="-34"/>
          </a:endParaRPr>
        </a:p>
      </dgm:t>
    </dgm:pt>
    <dgm:pt modelId="{666AB00A-F0F1-B44F-B725-6F5157AC100C}" type="pres">
      <dgm:prSet presAssocID="{E871C1EA-E42C-4D64-9A2C-C24CCE846A42}" presName="outerComposite" presStyleCnt="0">
        <dgm:presLayoutVars>
          <dgm:chMax val="5"/>
          <dgm:dir/>
          <dgm:resizeHandles val="exact"/>
        </dgm:presLayoutVars>
      </dgm:prSet>
      <dgm:spPr/>
    </dgm:pt>
    <dgm:pt modelId="{169A1126-190D-904A-A250-34A4590C2138}" type="pres">
      <dgm:prSet presAssocID="{E871C1EA-E42C-4D64-9A2C-C24CCE846A42}" presName="dummyMaxCanvas" presStyleCnt="0">
        <dgm:presLayoutVars/>
      </dgm:prSet>
      <dgm:spPr/>
    </dgm:pt>
    <dgm:pt modelId="{49EFE60C-7117-1242-82D6-6917B426953C}" type="pres">
      <dgm:prSet presAssocID="{E871C1EA-E42C-4D64-9A2C-C24CCE846A42}" presName="TwoNodes_1" presStyleLbl="node1" presStyleIdx="0" presStyleCnt="2">
        <dgm:presLayoutVars>
          <dgm:bulletEnabled val="1"/>
        </dgm:presLayoutVars>
      </dgm:prSet>
      <dgm:spPr/>
    </dgm:pt>
    <dgm:pt modelId="{5ABDB83C-8625-7849-88F1-FFC36487EFED}" type="pres">
      <dgm:prSet presAssocID="{E871C1EA-E42C-4D64-9A2C-C24CCE846A42}" presName="TwoNodes_2" presStyleLbl="node1" presStyleIdx="1" presStyleCnt="2">
        <dgm:presLayoutVars>
          <dgm:bulletEnabled val="1"/>
        </dgm:presLayoutVars>
      </dgm:prSet>
      <dgm:spPr/>
    </dgm:pt>
    <dgm:pt modelId="{51893CA2-A16C-0D46-A5AB-0EA8B0A535F6}" type="pres">
      <dgm:prSet presAssocID="{E871C1EA-E42C-4D64-9A2C-C24CCE846A42}" presName="TwoConn_1-2" presStyleLbl="fgAccFollowNode1" presStyleIdx="0" presStyleCnt="1">
        <dgm:presLayoutVars>
          <dgm:bulletEnabled val="1"/>
        </dgm:presLayoutVars>
      </dgm:prSet>
      <dgm:spPr/>
    </dgm:pt>
    <dgm:pt modelId="{CCEC6639-085B-6B40-A86A-64A2C265EBDA}" type="pres">
      <dgm:prSet presAssocID="{E871C1EA-E42C-4D64-9A2C-C24CCE846A42}" presName="TwoNodes_1_text" presStyleLbl="node1" presStyleIdx="1" presStyleCnt="2">
        <dgm:presLayoutVars>
          <dgm:bulletEnabled val="1"/>
        </dgm:presLayoutVars>
      </dgm:prSet>
      <dgm:spPr/>
    </dgm:pt>
    <dgm:pt modelId="{2A3C6AE0-0A28-4C4A-A769-86DFA1A20CB4}" type="pres">
      <dgm:prSet presAssocID="{E871C1EA-E42C-4D64-9A2C-C24CCE846A42}" presName="TwoNodes_2_text" presStyleLbl="node1" presStyleIdx="1" presStyleCnt="2">
        <dgm:presLayoutVars>
          <dgm:bulletEnabled val="1"/>
        </dgm:presLayoutVars>
      </dgm:prSet>
      <dgm:spPr/>
    </dgm:pt>
  </dgm:ptLst>
  <dgm:cxnLst>
    <dgm:cxn modelId="{E5BB1940-6096-5F48-B439-66F77ECDE125}" type="presOf" srcId="{6B6D6C84-A47B-4718-A90F-2B6C31248C51}" destId="{CCEC6639-085B-6B40-A86A-64A2C265EBDA}" srcOrd="1" destOrd="0" presId="urn:microsoft.com/office/officeart/2005/8/layout/vProcess5"/>
    <dgm:cxn modelId="{70944244-1C30-4BB1-9CE1-0AEC7F5B1E7C}" srcId="{E871C1EA-E42C-4D64-9A2C-C24CCE846A42}" destId="{6B6D6C84-A47B-4718-A90F-2B6C31248C51}" srcOrd="0" destOrd="0" parTransId="{ADCBF1DA-A59A-45FA-8028-1728E6F6D57F}" sibTransId="{BB0E5226-4872-47D9-8BCE-D8243ED39640}"/>
    <dgm:cxn modelId="{4687CA45-23C3-0B45-A332-95AC7305DFC7}" type="presOf" srcId="{E871C1EA-E42C-4D64-9A2C-C24CCE846A42}" destId="{666AB00A-F0F1-B44F-B725-6F5157AC100C}" srcOrd="0" destOrd="0" presId="urn:microsoft.com/office/officeart/2005/8/layout/vProcess5"/>
    <dgm:cxn modelId="{0B27D54D-6239-5147-93F2-3736D244632C}" type="presOf" srcId="{7841931A-9038-440B-8080-DBF537897338}" destId="{2A3C6AE0-0A28-4C4A-A769-86DFA1A20CB4}" srcOrd="1" destOrd="0" presId="urn:microsoft.com/office/officeart/2005/8/layout/vProcess5"/>
    <dgm:cxn modelId="{5FF2CF77-3395-0D4F-A3AF-749025200C0A}" type="presOf" srcId="{6B6D6C84-A47B-4718-A90F-2B6C31248C51}" destId="{49EFE60C-7117-1242-82D6-6917B426953C}" srcOrd="0" destOrd="0" presId="urn:microsoft.com/office/officeart/2005/8/layout/vProcess5"/>
    <dgm:cxn modelId="{B0C3137C-F6A5-4F7E-A3E1-C63E95A8273A}" srcId="{E871C1EA-E42C-4D64-9A2C-C24CCE846A42}" destId="{7841931A-9038-440B-8080-DBF537897338}" srcOrd="1" destOrd="0" parTransId="{D2BF0707-37E2-4E5D-810C-8D13540AD24C}" sibTransId="{2AD2AC7F-0324-4950-BE79-962D2E3A4480}"/>
    <dgm:cxn modelId="{92B05988-0090-3645-890F-7A367DC10AD9}" type="presOf" srcId="{BB0E5226-4872-47D9-8BCE-D8243ED39640}" destId="{51893CA2-A16C-0D46-A5AB-0EA8B0A535F6}" srcOrd="0" destOrd="0" presId="urn:microsoft.com/office/officeart/2005/8/layout/vProcess5"/>
    <dgm:cxn modelId="{E8AC67D9-7A81-404A-A203-4C19D364BBF8}" type="presOf" srcId="{7841931A-9038-440B-8080-DBF537897338}" destId="{5ABDB83C-8625-7849-88F1-FFC36487EFED}" srcOrd="0" destOrd="0" presId="urn:microsoft.com/office/officeart/2005/8/layout/vProcess5"/>
    <dgm:cxn modelId="{2E037792-5BBA-424F-9C00-A0416CBB7307}" type="presParOf" srcId="{666AB00A-F0F1-B44F-B725-6F5157AC100C}" destId="{169A1126-190D-904A-A250-34A4590C2138}" srcOrd="0" destOrd="0" presId="urn:microsoft.com/office/officeart/2005/8/layout/vProcess5"/>
    <dgm:cxn modelId="{0BD5EE3D-1799-1A4A-83A1-A3139A4AA80E}" type="presParOf" srcId="{666AB00A-F0F1-B44F-B725-6F5157AC100C}" destId="{49EFE60C-7117-1242-82D6-6917B426953C}" srcOrd="1" destOrd="0" presId="urn:microsoft.com/office/officeart/2005/8/layout/vProcess5"/>
    <dgm:cxn modelId="{3A1E8F64-A256-3B40-8677-803FD3CA087C}" type="presParOf" srcId="{666AB00A-F0F1-B44F-B725-6F5157AC100C}" destId="{5ABDB83C-8625-7849-88F1-FFC36487EFED}" srcOrd="2" destOrd="0" presId="urn:microsoft.com/office/officeart/2005/8/layout/vProcess5"/>
    <dgm:cxn modelId="{E487B5F3-1A46-FE4A-88BE-C1EFC8F10787}" type="presParOf" srcId="{666AB00A-F0F1-B44F-B725-6F5157AC100C}" destId="{51893CA2-A16C-0D46-A5AB-0EA8B0A535F6}" srcOrd="3" destOrd="0" presId="urn:microsoft.com/office/officeart/2005/8/layout/vProcess5"/>
    <dgm:cxn modelId="{86EA068C-8E70-F740-9FA0-33EF84A29A00}" type="presParOf" srcId="{666AB00A-F0F1-B44F-B725-6F5157AC100C}" destId="{CCEC6639-085B-6B40-A86A-64A2C265EBDA}" srcOrd="4" destOrd="0" presId="urn:microsoft.com/office/officeart/2005/8/layout/vProcess5"/>
    <dgm:cxn modelId="{95E830CF-EAA4-5C43-AE61-4719C3B46554}" type="presParOf" srcId="{666AB00A-F0F1-B44F-B725-6F5157AC100C}" destId="{2A3C6AE0-0A28-4C4A-A769-86DFA1A20CB4}" srcOrd="5"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2522D5C-0934-40B3-B6C9-DEDFB0DCF911}" type="doc">
      <dgm:prSet loTypeId="urn:microsoft.com/office/officeart/2005/8/layout/hList1" loCatId="list" qsTypeId="urn:microsoft.com/office/officeart/2005/8/quickstyle/simple1" qsCatId="simple" csTypeId="urn:microsoft.com/office/officeart/2005/8/colors/colorful1" csCatId="colorful" phldr="1"/>
      <dgm:spPr/>
      <dgm:t>
        <a:bodyPr/>
        <a:lstStyle/>
        <a:p>
          <a:endParaRPr lang="en-AU"/>
        </a:p>
      </dgm:t>
    </dgm:pt>
    <dgm:pt modelId="{E5C87BF6-59EE-4294-961F-26EFDFFCAB6E}">
      <dgm:prSet phldrT="[Text]" custT="1"/>
      <dgm:spPr/>
      <dgm:t>
        <a:bodyPr/>
        <a:lstStyle/>
        <a:p>
          <a:r>
            <a:rPr lang="en-US" sz="2400" dirty="0"/>
            <a:t>Current Account</a:t>
          </a:r>
          <a:endParaRPr lang="en-AU" sz="2400" dirty="0"/>
        </a:p>
      </dgm:t>
    </dgm:pt>
    <dgm:pt modelId="{AF233F24-B8D6-4F28-A955-79EA3A79EA44}" type="parTrans" cxnId="{AE4C500D-2D71-45C4-B8C6-D30DB11DCEA9}">
      <dgm:prSet/>
      <dgm:spPr/>
      <dgm:t>
        <a:bodyPr/>
        <a:lstStyle/>
        <a:p>
          <a:endParaRPr lang="en-AU" sz="2400"/>
        </a:p>
      </dgm:t>
    </dgm:pt>
    <dgm:pt modelId="{C8EA92AD-7A28-4645-B991-E05015B4E733}" type="sibTrans" cxnId="{AE4C500D-2D71-45C4-B8C6-D30DB11DCEA9}">
      <dgm:prSet/>
      <dgm:spPr/>
      <dgm:t>
        <a:bodyPr/>
        <a:lstStyle/>
        <a:p>
          <a:endParaRPr lang="en-AU" sz="2400"/>
        </a:p>
      </dgm:t>
    </dgm:pt>
    <dgm:pt modelId="{7EB00444-8139-4523-B779-EDC8E0F54B11}">
      <dgm:prSet custT="1"/>
      <dgm:spPr/>
      <dgm:t>
        <a:bodyPr/>
        <a:lstStyle/>
        <a:p>
          <a:r>
            <a:rPr lang="en-US" sz="2400" dirty="0"/>
            <a:t>captures the net flow of money that results from Australia engaging in international trade</a:t>
          </a:r>
        </a:p>
      </dgm:t>
    </dgm:pt>
    <dgm:pt modelId="{F7732C0F-63E3-446C-871E-8935A6573E43}" type="parTrans" cxnId="{C4F37216-5ABF-45AF-87C4-1709094821A2}">
      <dgm:prSet/>
      <dgm:spPr/>
      <dgm:t>
        <a:bodyPr/>
        <a:lstStyle/>
        <a:p>
          <a:endParaRPr lang="en-AU" sz="2400"/>
        </a:p>
      </dgm:t>
    </dgm:pt>
    <dgm:pt modelId="{EC506766-0650-494F-88EA-96145341CFE0}" type="sibTrans" cxnId="{C4F37216-5ABF-45AF-87C4-1709094821A2}">
      <dgm:prSet/>
      <dgm:spPr/>
      <dgm:t>
        <a:bodyPr/>
        <a:lstStyle/>
        <a:p>
          <a:endParaRPr lang="en-AU" sz="2400"/>
        </a:p>
      </dgm:t>
    </dgm:pt>
    <dgm:pt modelId="{7FB3EF39-F5F9-4ECC-B102-E1934E986F48}">
      <dgm:prSet custT="1"/>
      <dgm:spPr/>
      <dgm:t>
        <a:bodyPr/>
        <a:lstStyle/>
        <a:p>
          <a:r>
            <a:rPr lang="en-US" sz="2400" dirty="0"/>
            <a:t>Combined capital and financial account</a:t>
          </a:r>
        </a:p>
      </dgm:t>
    </dgm:pt>
    <dgm:pt modelId="{751A2ED4-A4ED-4542-ADED-D65D391096B3}" type="parTrans" cxnId="{CE8B1EAE-7A23-49DF-BBCB-31952F96A5C8}">
      <dgm:prSet/>
      <dgm:spPr/>
      <dgm:t>
        <a:bodyPr/>
        <a:lstStyle/>
        <a:p>
          <a:endParaRPr lang="en-AU" sz="2400"/>
        </a:p>
      </dgm:t>
    </dgm:pt>
    <dgm:pt modelId="{5E0C697F-9855-4564-94F9-C60594E99C52}" type="sibTrans" cxnId="{CE8B1EAE-7A23-49DF-BBCB-31952F96A5C8}">
      <dgm:prSet/>
      <dgm:spPr/>
      <dgm:t>
        <a:bodyPr/>
        <a:lstStyle/>
        <a:p>
          <a:endParaRPr lang="en-AU" sz="2400"/>
        </a:p>
      </dgm:t>
    </dgm:pt>
    <dgm:pt modelId="{A29BE21D-CA86-4927-833E-EC4BD89DC035}">
      <dgm:prSet custT="1"/>
      <dgm:spPr/>
      <dgm:t>
        <a:bodyPr/>
        <a:lstStyle/>
        <a:p>
          <a:r>
            <a:rPr lang="en-US" sz="2400" dirty="0"/>
            <a:t>capture Australia's net change in ownership of assets and liabilities. </a:t>
          </a:r>
        </a:p>
      </dgm:t>
    </dgm:pt>
    <dgm:pt modelId="{95556A10-EC04-4541-9752-2B469667AF43}" type="parTrans" cxnId="{886C3A78-5C53-421F-A2D0-060223BD7198}">
      <dgm:prSet/>
      <dgm:spPr/>
      <dgm:t>
        <a:bodyPr/>
        <a:lstStyle/>
        <a:p>
          <a:endParaRPr lang="en-AU" sz="2400"/>
        </a:p>
      </dgm:t>
    </dgm:pt>
    <dgm:pt modelId="{4BDB2EE6-A2CF-465E-9C57-58350208C9AA}" type="sibTrans" cxnId="{886C3A78-5C53-421F-A2D0-060223BD7198}">
      <dgm:prSet/>
      <dgm:spPr/>
      <dgm:t>
        <a:bodyPr/>
        <a:lstStyle/>
        <a:p>
          <a:endParaRPr lang="en-AU" sz="2400"/>
        </a:p>
      </dgm:t>
    </dgm:pt>
    <dgm:pt modelId="{B8FE1DDF-C2AE-435B-B06B-9619A1F6A2A6}" type="pres">
      <dgm:prSet presAssocID="{02522D5C-0934-40B3-B6C9-DEDFB0DCF911}" presName="Name0" presStyleCnt="0">
        <dgm:presLayoutVars>
          <dgm:dir/>
          <dgm:animLvl val="lvl"/>
          <dgm:resizeHandles val="exact"/>
        </dgm:presLayoutVars>
      </dgm:prSet>
      <dgm:spPr/>
    </dgm:pt>
    <dgm:pt modelId="{19B02727-0505-4E99-815A-C1C8EEFBE6D5}" type="pres">
      <dgm:prSet presAssocID="{E5C87BF6-59EE-4294-961F-26EFDFFCAB6E}" presName="composite" presStyleCnt="0"/>
      <dgm:spPr/>
    </dgm:pt>
    <dgm:pt modelId="{E0538BD9-8928-47F0-9842-F3398F091ED4}" type="pres">
      <dgm:prSet presAssocID="{E5C87BF6-59EE-4294-961F-26EFDFFCAB6E}" presName="parTx" presStyleLbl="alignNode1" presStyleIdx="0" presStyleCnt="2" custScaleY="86888">
        <dgm:presLayoutVars>
          <dgm:chMax val="0"/>
          <dgm:chPref val="0"/>
          <dgm:bulletEnabled val="1"/>
        </dgm:presLayoutVars>
      </dgm:prSet>
      <dgm:spPr/>
    </dgm:pt>
    <dgm:pt modelId="{DDECFE2A-24B1-40C8-BEA1-83D9DBA13C0F}" type="pres">
      <dgm:prSet presAssocID="{E5C87BF6-59EE-4294-961F-26EFDFFCAB6E}" presName="desTx" presStyleLbl="alignAccFollowNode1" presStyleIdx="0" presStyleCnt="2">
        <dgm:presLayoutVars>
          <dgm:bulletEnabled val="1"/>
        </dgm:presLayoutVars>
      </dgm:prSet>
      <dgm:spPr/>
    </dgm:pt>
    <dgm:pt modelId="{C7AE1584-76B9-47ED-938B-3CBF6EC5B9D1}" type="pres">
      <dgm:prSet presAssocID="{C8EA92AD-7A28-4645-B991-E05015B4E733}" presName="space" presStyleCnt="0"/>
      <dgm:spPr/>
    </dgm:pt>
    <dgm:pt modelId="{9DABE678-DDE2-43F8-939D-27080C6EE52F}" type="pres">
      <dgm:prSet presAssocID="{7FB3EF39-F5F9-4ECC-B102-E1934E986F48}" presName="composite" presStyleCnt="0"/>
      <dgm:spPr/>
    </dgm:pt>
    <dgm:pt modelId="{AB125302-13AC-482D-A48B-D5391F8FE074}" type="pres">
      <dgm:prSet presAssocID="{7FB3EF39-F5F9-4ECC-B102-E1934E986F48}" presName="parTx" presStyleLbl="alignNode1" presStyleIdx="1" presStyleCnt="2" custScaleY="88068">
        <dgm:presLayoutVars>
          <dgm:chMax val="0"/>
          <dgm:chPref val="0"/>
          <dgm:bulletEnabled val="1"/>
        </dgm:presLayoutVars>
      </dgm:prSet>
      <dgm:spPr/>
    </dgm:pt>
    <dgm:pt modelId="{5421D53B-02AE-461E-A085-A5B2B6EDAD1A}" type="pres">
      <dgm:prSet presAssocID="{7FB3EF39-F5F9-4ECC-B102-E1934E986F48}" presName="desTx" presStyleLbl="alignAccFollowNode1" presStyleIdx="1" presStyleCnt="2">
        <dgm:presLayoutVars>
          <dgm:bulletEnabled val="1"/>
        </dgm:presLayoutVars>
      </dgm:prSet>
      <dgm:spPr/>
    </dgm:pt>
  </dgm:ptLst>
  <dgm:cxnLst>
    <dgm:cxn modelId="{AE4C500D-2D71-45C4-B8C6-D30DB11DCEA9}" srcId="{02522D5C-0934-40B3-B6C9-DEDFB0DCF911}" destId="{E5C87BF6-59EE-4294-961F-26EFDFFCAB6E}" srcOrd="0" destOrd="0" parTransId="{AF233F24-B8D6-4F28-A955-79EA3A79EA44}" sibTransId="{C8EA92AD-7A28-4645-B991-E05015B4E733}"/>
    <dgm:cxn modelId="{C4F37216-5ABF-45AF-87C4-1709094821A2}" srcId="{E5C87BF6-59EE-4294-961F-26EFDFFCAB6E}" destId="{7EB00444-8139-4523-B779-EDC8E0F54B11}" srcOrd="0" destOrd="0" parTransId="{F7732C0F-63E3-446C-871E-8935A6573E43}" sibTransId="{EC506766-0650-494F-88EA-96145341CFE0}"/>
    <dgm:cxn modelId="{013C5C4F-05C5-4552-840E-1F607ACA9F8B}" type="presOf" srcId="{02522D5C-0934-40B3-B6C9-DEDFB0DCF911}" destId="{B8FE1DDF-C2AE-435B-B06B-9619A1F6A2A6}" srcOrd="0" destOrd="0" presId="urn:microsoft.com/office/officeart/2005/8/layout/hList1"/>
    <dgm:cxn modelId="{886C3A78-5C53-421F-A2D0-060223BD7198}" srcId="{7FB3EF39-F5F9-4ECC-B102-E1934E986F48}" destId="{A29BE21D-CA86-4927-833E-EC4BD89DC035}" srcOrd="0" destOrd="0" parTransId="{95556A10-EC04-4541-9752-2B469667AF43}" sibTransId="{4BDB2EE6-A2CF-465E-9C57-58350208C9AA}"/>
    <dgm:cxn modelId="{4985DE87-3F68-407C-8E5F-85F030259AE4}" type="presOf" srcId="{A29BE21D-CA86-4927-833E-EC4BD89DC035}" destId="{5421D53B-02AE-461E-A085-A5B2B6EDAD1A}" srcOrd="0" destOrd="0" presId="urn:microsoft.com/office/officeart/2005/8/layout/hList1"/>
    <dgm:cxn modelId="{2299A68B-EBE6-449A-A277-1B3CA1A7D94C}" type="presOf" srcId="{E5C87BF6-59EE-4294-961F-26EFDFFCAB6E}" destId="{E0538BD9-8928-47F0-9842-F3398F091ED4}" srcOrd="0" destOrd="0" presId="urn:microsoft.com/office/officeart/2005/8/layout/hList1"/>
    <dgm:cxn modelId="{CE8B1EAE-7A23-49DF-BBCB-31952F96A5C8}" srcId="{02522D5C-0934-40B3-B6C9-DEDFB0DCF911}" destId="{7FB3EF39-F5F9-4ECC-B102-E1934E986F48}" srcOrd="1" destOrd="0" parTransId="{751A2ED4-A4ED-4542-ADED-D65D391096B3}" sibTransId="{5E0C697F-9855-4564-94F9-C60594E99C52}"/>
    <dgm:cxn modelId="{3DB767BF-4EBD-49BE-B382-DE370436E755}" type="presOf" srcId="{7EB00444-8139-4523-B779-EDC8E0F54B11}" destId="{DDECFE2A-24B1-40C8-BEA1-83D9DBA13C0F}" srcOrd="0" destOrd="0" presId="urn:microsoft.com/office/officeart/2005/8/layout/hList1"/>
    <dgm:cxn modelId="{1BA5ADC5-1498-4C09-8A9E-E3831171699C}" type="presOf" srcId="{7FB3EF39-F5F9-4ECC-B102-E1934E986F48}" destId="{AB125302-13AC-482D-A48B-D5391F8FE074}" srcOrd="0" destOrd="0" presId="urn:microsoft.com/office/officeart/2005/8/layout/hList1"/>
    <dgm:cxn modelId="{409266F2-F183-4595-830F-382B0009E9AA}" type="presParOf" srcId="{B8FE1DDF-C2AE-435B-B06B-9619A1F6A2A6}" destId="{19B02727-0505-4E99-815A-C1C8EEFBE6D5}" srcOrd="0" destOrd="0" presId="urn:microsoft.com/office/officeart/2005/8/layout/hList1"/>
    <dgm:cxn modelId="{B64CDED1-7281-49CC-8714-3F6A29852930}" type="presParOf" srcId="{19B02727-0505-4E99-815A-C1C8EEFBE6D5}" destId="{E0538BD9-8928-47F0-9842-F3398F091ED4}" srcOrd="0" destOrd="0" presId="urn:microsoft.com/office/officeart/2005/8/layout/hList1"/>
    <dgm:cxn modelId="{DF45324E-B800-49D3-9A5D-980D69CF119F}" type="presParOf" srcId="{19B02727-0505-4E99-815A-C1C8EEFBE6D5}" destId="{DDECFE2A-24B1-40C8-BEA1-83D9DBA13C0F}" srcOrd="1" destOrd="0" presId="urn:microsoft.com/office/officeart/2005/8/layout/hList1"/>
    <dgm:cxn modelId="{094478DC-187D-4081-8EB3-288950F0D433}" type="presParOf" srcId="{B8FE1DDF-C2AE-435B-B06B-9619A1F6A2A6}" destId="{C7AE1584-76B9-47ED-938B-3CBF6EC5B9D1}" srcOrd="1" destOrd="0" presId="urn:microsoft.com/office/officeart/2005/8/layout/hList1"/>
    <dgm:cxn modelId="{4F1AA7A9-F3A7-4F25-8EF4-9B6FE0B1F69E}" type="presParOf" srcId="{B8FE1DDF-C2AE-435B-B06B-9619A1F6A2A6}" destId="{9DABE678-DDE2-43F8-939D-27080C6EE52F}" srcOrd="2" destOrd="0" presId="urn:microsoft.com/office/officeart/2005/8/layout/hList1"/>
    <dgm:cxn modelId="{3C6B5BD9-6E57-44B7-8E53-B2C8E7A62E38}" type="presParOf" srcId="{9DABE678-DDE2-43F8-939D-27080C6EE52F}" destId="{AB125302-13AC-482D-A48B-D5391F8FE074}" srcOrd="0" destOrd="0" presId="urn:microsoft.com/office/officeart/2005/8/layout/hList1"/>
    <dgm:cxn modelId="{22C7C770-7832-4BEA-A238-0846C517E3AC}" type="presParOf" srcId="{9DABE678-DDE2-43F8-939D-27080C6EE52F}" destId="{5421D53B-02AE-461E-A085-A5B2B6EDAD1A}"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40D04B-6293-4F7C-BBE5-8EF6BB1A6347}" type="doc">
      <dgm:prSet loTypeId="urn:microsoft.com/office/officeart/2005/8/layout/hierarchy1" loCatId="hierarchy" qsTypeId="urn:microsoft.com/office/officeart/2005/8/quickstyle/simple4" qsCatId="simple" csTypeId="urn:microsoft.com/office/officeart/2005/8/colors/accent0_3" csCatId="mainScheme" phldr="1"/>
      <dgm:spPr/>
      <dgm:t>
        <a:bodyPr/>
        <a:lstStyle/>
        <a:p>
          <a:endParaRPr lang="en-AU"/>
        </a:p>
      </dgm:t>
    </dgm:pt>
    <dgm:pt modelId="{612D3047-489B-48EF-A43D-E236B76E4B12}">
      <dgm:prSet phldrT="[Text]" custT="1"/>
      <dgm:spPr/>
      <dgm:t>
        <a:bodyPr/>
        <a:lstStyle/>
        <a:p>
          <a:r>
            <a:rPr lang="en-GB" sz="2200" dirty="0"/>
            <a:t>Is it a non-reversible earning?</a:t>
          </a:r>
          <a:endParaRPr lang="en-AU" sz="2200" dirty="0"/>
        </a:p>
      </dgm:t>
    </dgm:pt>
    <dgm:pt modelId="{F7496D99-845A-4AA0-97A4-8D32B3ACC470}" type="parTrans" cxnId="{19683AC3-9278-4BE7-BA83-0E9A18E08008}">
      <dgm:prSet/>
      <dgm:spPr/>
      <dgm:t>
        <a:bodyPr/>
        <a:lstStyle/>
        <a:p>
          <a:endParaRPr lang="en-AU" sz="2200"/>
        </a:p>
      </dgm:t>
    </dgm:pt>
    <dgm:pt modelId="{DDC25E33-854F-4936-AA90-6F737924FA04}" type="sibTrans" cxnId="{19683AC3-9278-4BE7-BA83-0E9A18E08008}">
      <dgm:prSet/>
      <dgm:spPr/>
      <dgm:t>
        <a:bodyPr/>
        <a:lstStyle/>
        <a:p>
          <a:endParaRPr lang="en-AU" sz="2200"/>
        </a:p>
      </dgm:t>
    </dgm:pt>
    <dgm:pt modelId="{98BF3C74-FFE3-4666-A1C7-E2E2BEAAECE2}">
      <dgm:prSet phldrT="[Text]" custT="1"/>
      <dgm:spPr/>
      <dgm:t>
        <a:bodyPr/>
        <a:lstStyle/>
        <a:p>
          <a:r>
            <a:rPr lang="en-GB" sz="2200" dirty="0"/>
            <a:t>If Yes,</a:t>
          </a:r>
        </a:p>
        <a:p>
          <a:r>
            <a:rPr lang="en-GB" sz="2200" dirty="0"/>
            <a:t>Current A/C (CAB)</a:t>
          </a:r>
        </a:p>
        <a:p>
          <a:r>
            <a:rPr lang="en-GB" sz="2200" dirty="0"/>
            <a:t>Is it related to X/M?</a:t>
          </a:r>
          <a:endParaRPr lang="en-AU" sz="2200" dirty="0"/>
        </a:p>
      </dgm:t>
    </dgm:pt>
    <dgm:pt modelId="{0316D520-3347-48C1-8EB2-1A9FC919B77C}" type="parTrans" cxnId="{EEA80B28-E573-4C5D-B547-E71F8B2A767D}">
      <dgm:prSet/>
      <dgm:spPr/>
      <dgm:t>
        <a:bodyPr/>
        <a:lstStyle/>
        <a:p>
          <a:endParaRPr lang="en-AU" sz="2200"/>
        </a:p>
      </dgm:t>
    </dgm:pt>
    <dgm:pt modelId="{1A233429-120A-4C14-993C-81224F05311B}" type="sibTrans" cxnId="{EEA80B28-E573-4C5D-B547-E71F8B2A767D}">
      <dgm:prSet/>
      <dgm:spPr/>
      <dgm:t>
        <a:bodyPr/>
        <a:lstStyle/>
        <a:p>
          <a:endParaRPr lang="en-AU" sz="2200"/>
        </a:p>
      </dgm:t>
    </dgm:pt>
    <dgm:pt modelId="{46417CE9-D62D-4E9D-AFDA-6B1379BC34F4}">
      <dgm:prSet phldrT="[Text]" custT="1"/>
      <dgm:spPr/>
      <dgm:t>
        <a:bodyPr/>
        <a:lstStyle/>
        <a:p>
          <a:r>
            <a:rPr lang="en-GB" sz="2200"/>
            <a:t>If yes,</a:t>
          </a:r>
        </a:p>
        <a:p>
          <a:r>
            <a:rPr lang="en-GB" sz="2200"/>
            <a:t>BOGS</a:t>
          </a:r>
          <a:endParaRPr lang="en-AU" sz="2200"/>
        </a:p>
      </dgm:t>
    </dgm:pt>
    <dgm:pt modelId="{22FC4C7E-663A-4FE4-A590-9C47049232A1}" type="parTrans" cxnId="{4437D7CB-4155-4AEA-B01A-DA9EA2BA3E82}">
      <dgm:prSet/>
      <dgm:spPr/>
      <dgm:t>
        <a:bodyPr/>
        <a:lstStyle/>
        <a:p>
          <a:endParaRPr lang="en-AU" sz="2200"/>
        </a:p>
      </dgm:t>
    </dgm:pt>
    <dgm:pt modelId="{52DDB79D-9ABE-421F-92C1-61303D7F8612}" type="sibTrans" cxnId="{4437D7CB-4155-4AEA-B01A-DA9EA2BA3E82}">
      <dgm:prSet/>
      <dgm:spPr/>
      <dgm:t>
        <a:bodyPr/>
        <a:lstStyle/>
        <a:p>
          <a:endParaRPr lang="en-AU" sz="2200"/>
        </a:p>
      </dgm:t>
    </dgm:pt>
    <dgm:pt modelId="{7D6D802D-BC6A-4E27-9AF2-40C9F3ACCDE0}">
      <dgm:prSet phldrT="[Text]" custT="1"/>
      <dgm:spPr/>
      <dgm:t>
        <a:bodyPr/>
        <a:lstStyle/>
        <a:p>
          <a:r>
            <a:rPr lang="en-GB" sz="2200"/>
            <a:t>If No, Is it a R.O.I.?</a:t>
          </a:r>
          <a:endParaRPr lang="en-AU" sz="2200"/>
        </a:p>
      </dgm:t>
    </dgm:pt>
    <dgm:pt modelId="{E32807FB-500C-4F54-8E30-9888ADEBBE55}" type="parTrans" cxnId="{4D5C59F6-BB9C-43AA-B80B-B2FAB1995341}">
      <dgm:prSet/>
      <dgm:spPr/>
      <dgm:t>
        <a:bodyPr/>
        <a:lstStyle/>
        <a:p>
          <a:endParaRPr lang="en-AU" sz="2200"/>
        </a:p>
      </dgm:t>
    </dgm:pt>
    <dgm:pt modelId="{EB4009B4-4021-49D6-B7A7-1C174C3F89D2}" type="sibTrans" cxnId="{4D5C59F6-BB9C-43AA-B80B-B2FAB1995341}">
      <dgm:prSet/>
      <dgm:spPr/>
      <dgm:t>
        <a:bodyPr/>
        <a:lstStyle/>
        <a:p>
          <a:endParaRPr lang="en-AU" sz="2200"/>
        </a:p>
      </dgm:t>
    </dgm:pt>
    <dgm:pt modelId="{B247E949-5AB3-4025-9EA9-8CDD62A4A2F7}">
      <dgm:prSet phldrT="[Text]" custT="1"/>
      <dgm:spPr/>
      <dgm:t>
        <a:bodyPr/>
        <a:lstStyle/>
        <a:p>
          <a:r>
            <a:rPr lang="en-GB" sz="2200" dirty="0"/>
            <a:t>If No,</a:t>
          </a:r>
        </a:p>
        <a:p>
          <a:r>
            <a:rPr lang="en-GB" sz="2200" dirty="0"/>
            <a:t>KAFA</a:t>
          </a:r>
          <a:endParaRPr lang="en-AU" sz="2200" dirty="0"/>
        </a:p>
      </dgm:t>
    </dgm:pt>
    <dgm:pt modelId="{9C136F57-98B4-46CC-9994-F20B590F44A0}" type="parTrans" cxnId="{5270521B-FADD-4DB4-89C7-C1B2C9080F98}">
      <dgm:prSet/>
      <dgm:spPr/>
      <dgm:t>
        <a:bodyPr/>
        <a:lstStyle/>
        <a:p>
          <a:endParaRPr lang="en-AU" sz="2200"/>
        </a:p>
      </dgm:t>
    </dgm:pt>
    <dgm:pt modelId="{DDF17142-EB3D-42AD-95AF-150A93E7A4DE}" type="sibTrans" cxnId="{5270521B-FADD-4DB4-89C7-C1B2C9080F98}">
      <dgm:prSet/>
      <dgm:spPr/>
      <dgm:t>
        <a:bodyPr/>
        <a:lstStyle/>
        <a:p>
          <a:endParaRPr lang="en-AU" sz="2200"/>
        </a:p>
      </dgm:t>
    </dgm:pt>
    <dgm:pt modelId="{E6168756-2593-49A0-9B12-4839FE1BAD0B}">
      <dgm:prSet phldrT="[Text]" custT="1"/>
      <dgm:spPr/>
      <dgm:t>
        <a:bodyPr/>
        <a:lstStyle/>
        <a:p>
          <a:r>
            <a:rPr lang="en-GB" sz="2200" dirty="0"/>
            <a:t>Is it a financial asset?</a:t>
          </a:r>
          <a:endParaRPr lang="en-AU" sz="2200" dirty="0"/>
        </a:p>
      </dgm:t>
    </dgm:pt>
    <dgm:pt modelId="{A3FA77DB-F0F0-4A75-A3A8-E16BFF32D8E6}" type="parTrans" cxnId="{4B19A2A8-C7C9-4E52-976B-D83903536D3B}">
      <dgm:prSet/>
      <dgm:spPr/>
      <dgm:t>
        <a:bodyPr/>
        <a:lstStyle/>
        <a:p>
          <a:endParaRPr lang="en-AU" sz="2200"/>
        </a:p>
      </dgm:t>
    </dgm:pt>
    <dgm:pt modelId="{2F0FE3B0-4AAE-4CB5-B3BB-671C59BE6DCA}" type="sibTrans" cxnId="{4B19A2A8-C7C9-4E52-976B-D83903536D3B}">
      <dgm:prSet/>
      <dgm:spPr/>
      <dgm:t>
        <a:bodyPr/>
        <a:lstStyle/>
        <a:p>
          <a:endParaRPr lang="en-AU" sz="2200"/>
        </a:p>
      </dgm:t>
    </dgm:pt>
    <dgm:pt modelId="{A1F65195-3001-401B-8909-CCB9EDF0EB40}">
      <dgm:prSet phldrT="[Text]" custT="1"/>
      <dgm:spPr/>
      <dgm:t>
        <a:bodyPr/>
        <a:lstStyle/>
        <a:p>
          <a:r>
            <a:rPr lang="en-GB" sz="2200"/>
            <a:t>If Yes, for e.g. Dividends /wages. NPY</a:t>
          </a:r>
          <a:endParaRPr lang="en-AU" sz="2200"/>
        </a:p>
      </dgm:t>
    </dgm:pt>
    <dgm:pt modelId="{F8890C50-E4C1-44F9-8EF5-B9157EED551A}" type="parTrans" cxnId="{23B5412E-FBFB-41C3-AB58-8A7DCF7DAA0F}">
      <dgm:prSet/>
      <dgm:spPr/>
      <dgm:t>
        <a:bodyPr/>
        <a:lstStyle/>
        <a:p>
          <a:endParaRPr lang="en-AU" sz="2200"/>
        </a:p>
      </dgm:t>
    </dgm:pt>
    <dgm:pt modelId="{1EC52899-5D71-4445-A6CA-CE9F482FDDD8}" type="sibTrans" cxnId="{23B5412E-FBFB-41C3-AB58-8A7DCF7DAA0F}">
      <dgm:prSet/>
      <dgm:spPr/>
      <dgm:t>
        <a:bodyPr/>
        <a:lstStyle/>
        <a:p>
          <a:endParaRPr lang="en-AU" sz="2200"/>
        </a:p>
      </dgm:t>
    </dgm:pt>
    <dgm:pt modelId="{1EE48C42-F69E-4BAA-AB95-0E0F517A6F26}">
      <dgm:prSet phldrT="[Text]" custT="1"/>
      <dgm:spPr/>
      <dgm:t>
        <a:bodyPr/>
        <a:lstStyle/>
        <a:p>
          <a:r>
            <a:rPr lang="en-GB" sz="2200"/>
            <a:t>If no, misc. Y, NSY</a:t>
          </a:r>
          <a:endParaRPr lang="en-AU" sz="2200"/>
        </a:p>
      </dgm:t>
    </dgm:pt>
    <dgm:pt modelId="{215FD2E2-2B21-480A-8A50-4800BC3285C6}" type="parTrans" cxnId="{F099A6ED-AF6A-496C-9066-E06784C80998}">
      <dgm:prSet/>
      <dgm:spPr/>
      <dgm:t>
        <a:bodyPr/>
        <a:lstStyle/>
        <a:p>
          <a:endParaRPr lang="en-AU" sz="2200"/>
        </a:p>
      </dgm:t>
    </dgm:pt>
    <dgm:pt modelId="{18FC87FB-2BAD-4901-A861-4D3DFB3815E7}" type="sibTrans" cxnId="{F099A6ED-AF6A-496C-9066-E06784C80998}">
      <dgm:prSet/>
      <dgm:spPr/>
      <dgm:t>
        <a:bodyPr/>
        <a:lstStyle/>
        <a:p>
          <a:endParaRPr lang="en-AU" sz="2200"/>
        </a:p>
      </dgm:t>
    </dgm:pt>
    <dgm:pt modelId="{2A0B3F7C-EF08-4150-AA06-B6A2DE1D0E46}">
      <dgm:prSet phldrT="[Text]" custT="1"/>
      <dgm:spPr/>
      <dgm:t>
        <a:bodyPr/>
        <a:lstStyle/>
        <a:p>
          <a:r>
            <a:rPr lang="en-GB" sz="2200"/>
            <a:t>If yes, FA</a:t>
          </a:r>
          <a:endParaRPr lang="en-AU" sz="2200"/>
        </a:p>
      </dgm:t>
    </dgm:pt>
    <dgm:pt modelId="{B88FE2C9-1CE8-42DF-A508-4E1DE77FA18D}" type="parTrans" cxnId="{63676FF7-C5FB-420B-B4D7-98430D764B33}">
      <dgm:prSet/>
      <dgm:spPr/>
      <dgm:t>
        <a:bodyPr/>
        <a:lstStyle/>
        <a:p>
          <a:endParaRPr lang="en-AU" sz="2200"/>
        </a:p>
      </dgm:t>
    </dgm:pt>
    <dgm:pt modelId="{67DEC6AC-CEC8-4771-AAFD-C0899B60F2A2}" type="sibTrans" cxnId="{63676FF7-C5FB-420B-B4D7-98430D764B33}">
      <dgm:prSet/>
      <dgm:spPr/>
      <dgm:t>
        <a:bodyPr/>
        <a:lstStyle/>
        <a:p>
          <a:endParaRPr lang="en-AU" sz="2200"/>
        </a:p>
      </dgm:t>
    </dgm:pt>
    <dgm:pt modelId="{C249F470-18C9-4691-A704-9A257145F75A}">
      <dgm:prSet phldrT="[Text]" custT="1"/>
      <dgm:spPr/>
      <dgm:t>
        <a:bodyPr/>
        <a:lstStyle/>
        <a:p>
          <a:r>
            <a:rPr lang="en-GB" sz="2200" dirty="0"/>
            <a:t>If no, (e.g. intellectual property), Capital A/C (KA)</a:t>
          </a:r>
          <a:endParaRPr lang="en-AU" sz="2200" dirty="0"/>
        </a:p>
      </dgm:t>
    </dgm:pt>
    <dgm:pt modelId="{E067B4D9-7943-4049-AF4B-238CD000A6DB}" type="parTrans" cxnId="{F989E538-9F51-4D20-8B4C-B3A58BB689B9}">
      <dgm:prSet/>
      <dgm:spPr/>
      <dgm:t>
        <a:bodyPr/>
        <a:lstStyle/>
        <a:p>
          <a:endParaRPr lang="en-AU" sz="2200"/>
        </a:p>
      </dgm:t>
    </dgm:pt>
    <dgm:pt modelId="{8301EB90-6890-40F6-A430-9670A3AE41CF}" type="sibTrans" cxnId="{F989E538-9F51-4D20-8B4C-B3A58BB689B9}">
      <dgm:prSet/>
      <dgm:spPr/>
      <dgm:t>
        <a:bodyPr/>
        <a:lstStyle/>
        <a:p>
          <a:endParaRPr lang="en-AU" sz="2200"/>
        </a:p>
      </dgm:t>
    </dgm:pt>
    <dgm:pt modelId="{FA0F9326-DCD3-4947-9723-0AB8F088AC7C}">
      <dgm:prSet phldrT="[Text]" custT="1"/>
      <dgm:spPr/>
      <dgm:t>
        <a:bodyPr/>
        <a:lstStyle/>
        <a:p>
          <a:r>
            <a:rPr lang="en-GB" sz="2200"/>
            <a:t>DI &gt; 10% , control, LT</a:t>
          </a:r>
          <a:endParaRPr lang="en-AU" sz="2200"/>
        </a:p>
      </dgm:t>
    </dgm:pt>
    <dgm:pt modelId="{056B546A-1702-494C-9C65-B380C42E2BBC}" type="parTrans" cxnId="{AC43646B-1D94-474F-A6F1-F18C944AC017}">
      <dgm:prSet/>
      <dgm:spPr/>
      <dgm:t>
        <a:bodyPr/>
        <a:lstStyle/>
        <a:p>
          <a:endParaRPr lang="en-AU" sz="2200"/>
        </a:p>
      </dgm:t>
    </dgm:pt>
    <dgm:pt modelId="{DBAA8870-EE08-4B97-A8FF-D84407767DE9}" type="sibTrans" cxnId="{AC43646B-1D94-474F-A6F1-F18C944AC017}">
      <dgm:prSet/>
      <dgm:spPr/>
      <dgm:t>
        <a:bodyPr/>
        <a:lstStyle/>
        <a:p>
          <a:endParaRPr lang="en-AU" sz="2200"/>
        </a:p>
      </dgm:t>
    </dgm:pt>
    <dgm:pt modelId="{18C44473-9636-448E-B792-7929C6CEDC28}">
      <dgm:prSet phldrT="[Text]" custT="1"/>
      <dgm:spPr/>
      <dgm:t>
        <a:bodyPr/>
        <a:lstStyle/>
        <a:p>
          <a:r>
            <a:rPr lang="en-GB" sz="2200"/>
            <a:t>Portfolio: &lt;10%, ST</a:t>
          </a:r>
          <a:endParaRPr lang="en-AU" sz="2200"/>
        </a:p>
      </dgm:t>
    </dgm:pt>
    <dgm:pt modelId="{C2432162-134C-4EB6-A098-FF737B9220AD}" type="parTrans" cxnId="{DC890858-2E56-47E4-AED5-AA199E659FF9}">
      <dgm:prSet/>
      <dgm:spPr/>
      <dgm:t>
        <a:bodyPr/>
        <a:lstStyle/>
        <a:p>
          <a:endParaRPr lang="en-AU" sz="2200"/>
        </a:p>
      </dgm:t>
    </dgm:pt>
    <dgm:pt modelId="{16CB2AC1-71C7-400A-BC62-4BBE315EE8A5}" type="sibTrans" cxnId="{DC890858-2E56-47E4-AED5-AA199E659FF9}">
      <dgm:prSet/>
      <dgm:spPr/>
      <dgm:t>
        <a:bodyPr/>
        <a:lstStyle/>
        <a:p>
          <a:endParaRPr lang="en-AU" sz="2200"/>
        </a:p>
      </dgm:t>
    </dgm:pt>
    <dgm:pt modelId="{80F83DB3-9876-47C2-BCDA-9C52E5938AF0}">
      <dgm:prSet phldrT="[Text]" custT="1"/>
      <dgm:spPr/>
      <dgm:t>
        <a:bodyPr/>
        <a:lstStyle/>
        <a:p>
          <a:r>
            <a:rPr lang="en-GB" sz="2200" dirty="0"/>
            <a:t>Derivatives</a:t>
          </a:r>
          <a:endParaRPr lang="en-AU" sz="2200" dirty="0"/>
        </a:p>
      </dgm:t>
    </dgm:pt>
    <dgm:pt modelId="{45C300FF-AB54-42B1-B89D-2A6C82F088A0}" type="parTrans" cxnId="{FE4E0BE2-8848-465D-AA7F-225A43B156C6}">
      <dgm:prSet/>
      <dgm:spPr/>
      <dgm:t>
        <a:bodyPr/>
        <a:lstStyle/>
        <a:p>
          <a:endParaRPr lang="en-AU" sz="2200"/>
        </a:p>
      </dgm:t>
    </dgm:pt>
    <dgm:pt modelId="{EA7BF72D-B02F-4C90-982A-6A7F45AF276F}" type="sibTrans" cxnId="{FE4E0BE2-8848-465D-AA7F-225A43B156C6}">
      <dgm:prSet/>
      <dgm:spPr/>
      <dgm:t>
        <a:bodyPr/>
        <a:lstStyle/>
        <a:p>
          <a:endParaRPr lang="en-AU" sz="2200"/>
        </a:p>
      </dgm:t>
    </dgm:pt>
    <dgm:pt modelId="{6E80624E-E77F-480F-9E86-F37302CAF65B}">
      <dgm:prSet phldrT="[Text]" custT="1"/>
      <dgm:spPr/>
      <dgm:t>
        <a:bodyPr/>
        <a:lstStyle/>
        <a:p>
          <a:r>
            <a:rPr lang="en-GB" sz="2200"/>
            <a:t>Reserve assets (RBA)</a:t>
          </a:r>
          <a:endParaRPr lang="en-AU" sz="2200"/>
        </a:p>
      </dgm:t>
    </dgm:pt>
    <dgm:pt modelId="{09CDB2CE-C126-424A-88C0-3775551E5C4A}" type="parTrans" cxnId="{E2743577-83A6-4CC7-A0B6-9A516AE2F29B}">
      <dgm:prSet/>
      <dgm:spPr/>
      <dgm:t>
        <a:bodyPr/>
        <a:lstStyle/>
        <a:p>
          <a:endParaRPr lang="en-AU" sz="2200"/>
        </a:p>
      </dgm:t>
    </dgm:pt>
    <dgm:pt modelId="{11D18BB1-27DB-4C2D-A7D4-7FFA99F88E40}" type="sibTrans" cxnId="{E2743577-83A6-4CC7-A0B6-9A516AE2F29B}">
      <dgm:prSet/>
      <dgm:spPr/>
      <dgm:t>
        <a:bodyPr/>
        <a:lstStyle/>
        <a:p>
          <a:endParaRPr lang="en-AU" sz="2200"/>
        </a:p>
      </dgm:t>
    </dgm:pt>
    <dgm:pt modelId="{E83D3904-E57B-4BBF-BFDA-5B910160800D}">
      <dgm:prSet phldrT="[Text]" custT="1"/>
      <dgm:spPr/>
      <dgm:t>
        <a:bodyPr/>
        <a:lstStyle/>
        <a:p>
          <a:r>
            <a:rPr lang="en-GB" sz="2200"/>
            <a:t>Other</a:t>
          </a:r>
          <a:endParaRPr lang="en-AU" sz="2200"/>
        </a:p>
      </dgm:t>
    </dgm:pt>
    <dgm:pt modelId="{DEC89CB6-6896-48B2-AE42-8CDDE25B17E4}" type="parTrans" cxnId="{8312D331-12C0-4D16-9292-A7D225260EB7}">
      <dgm:prSet/>
      <dgm:spPr/>
      <dgm:t>
        <a:bodyPr/>
        <a:lstStyle/>
        <a:p>
          <a:endParaRPr lang="en-AU" sz="2200"/>
        </a:p>
      </dgm:t>
    </dgm:pt>
    <dgm:pt modelId="{1896A2F8-CD55-4A3F-A3E2-B8F3EC1B2AE1}" type="sibTrans" cxnId="{8312D331-12C0-4D16-9292-A7D225260EB7}">
      <dgm:prSet/>
      <dgm:spPr/>
      <dgm:t>
        <a:bodyPr/>
        <a:lstStyle/>
        <a:p>
          <a:endParaRPr lang="en-AU" sz="2200"/>
        </a:p>
      </dgm:t>
    </dgm:pt>
    <dgm:pt modelId="{AD5D5724-44F1-4E9F-A50F-25FFACBF83C6}" type="pres">
      <dgm:prSet presAssocID="{5140D04B-6293-4F7C-BBE5-8EF6BB1A6347}" presName="hierChild1" presStyleCnt="0">
        <dgm:presLayoutVars>
          <dgm:chPref val="1"/>
          <dgm:dir/>
          <dgm:animOne val="branch"/>
          <dgm:animLvl val="lvl"/>
          <dgm:resizeHandles/>
        </dgm:presLayoutVars>
      </dgm:prSet>
      <dgm:spPr/>
    </dgm:pt>
    <dgm:pt modelId="{0535E618-9852-4146-98CD-020ABECEE11B}" type="pres">
      <dgm:prSet presAssocID="{612D3047-489B-48EF-A43D-E236B76E4B12}" presName="hierRoot1" presStyleCnt="0"/>
      <dgm:spPr/>
    </dgm:pt>
    <dgm:pt modelId="{28654DAB-C1AE-4F02-812F-0F95C4D709E5}" type="pres">
      <dgm:prSet presAssocID="{612D3047-489B-48EF-A43D-E236B76E4B12}" presName="composite" presStyleCnt="0"/>
      <dgm:spPr/>
    </dgm:pt>
    <dgm:pt modelId="{0C6ABE71-23F7-4AF7-8CAA-CC7518C6256F}" type="pres">
      <dgm:prSet presAssocID="{612D3047-489B-48EF-A43D-E236B76E4B12}" presName="background" presStyleLbl="node0" presStyleIdx="0" presStyleCnt="1"/>
      <dgm:spPr/>
    </dgm:pt>
    <dgm:pt modelId="{1CAFC951-A7DF-429F-9AC9-CFD2AFAC9D1B}" type="pres">
      <dgm:prSet presAssocID="{612D3047-489B-48EF-A43D-E236B76E4B12}" presName="text" presStyleLbl="fgAcc0" presStyleIdx="0" presStyleCnt="1" custScaleX="231191" custLinFactNeighborX="78857" custLinFactNeighborY="-7693">
        <dgm:presLayoutVars>
          <dgm:chPref val="3"/>
        </dgm:presLayoutVars>
      </dgm:prSet>
      <dgm:spPr/>
    </dgm:pt>
    <dgm:pt modelId="{293A765E-C252-46F4-8211-88E37B7C649E}" type="pres">
      <dgm:prSet presAssocID="{612D3047-489B-48EF-A43D-E236B76E4B12}" presName="hierChild2" presStyleCnt="0"/>
      <dgm:spPr/>
    </dgm:pt>
    <dgm:pt modelId="{836452D4-BAA4-4FD6-906C-A9856E3FA160}" type="pres">
      <dgm:prSet presAssocID="{0316D520-3347-48C1-8EB2-1A9FC919B77C}" presName="Name10" presStyleLbl="parChTrans1D2" presStyleIdx="0" presStyleCnt="2"/>
      <dgm:spPr/>
    </dgm:pt>
    <dgm:pt modelId="{F2EFE05D-E87F-4727-854B-71A254935C9B}" type="pres">
      <dgm:prSet presAssocID="{98BF3C74-FFE3-4666-A1C7-E2E2BEAAECE2}" presName="hierRoot2" presStyleCnt="0"/>
      <dgm:spPr/>
    </dgm:pt>
    <dgm:pt modelId="{72CDBAF0-12FE-457A-BA61-96F4933F0801}" type="pres">
      <dgm:prSet presAssocID="{98BF3C74-FFE3-4666-A1C7-E2E2BEAAECE2}" presName="composite2" presStyleCnt="0"/>
      <dgm:spPr/>
    </dgm:pt>
    <dgm:pt modelId="{9329B4DC-E07A-4B3E-AEB9-E94B0F865554}" type="pres">
      <dgm:prSet presAssocID="{98BF3C74-FFE3-4666-A1C7-E2E2BEAAECE2}" presName="background2" presStyleLbl="node2" presStyleIdx="0" presStyleCnt="2"/>
      <dgm:spPr/>
    </dgm:pt>
    <dgm:pt modelId="{9B8969DC-6AB0-47EF-B220-478E1B8F92F0}" type="pres">
      <dgm:prSet presAssocID="{98BF3C74-FFE3-4666-A1C7-E2E2BEAAECE2}" presName="text2" presStyleLbl="fgAcc2" presStyleIdx="0" presStyleCnt="2" custScaleX="317823" custLinFactNeighborX="-7691" custLinFactNeighborY="-7150">
        <dgm:presLayoutVars>
          <dgm:chPref val="3"/>
        </dgm:presLayoutVars>
      </dgm:prSet>
      <dgm:spPr/>
    </dgm:pt>
    <dgm:pt modelId="{12631393-C42F-4E1A-9B2B-1BEBE8F5F4FE}" type="pres">
      <dgm:prSet presAssocID="{98BF3C74-FFE3-4666-A1C7-E2E2BEAAECE2}" presName="hierChild3" presStyleCnt="0"/>
      <dgm:spPr/>
    </dgm:pt>
    <dgm:pt modelId="{2F028039-B081-4CDC-B3CE-82EDB13376E3}" type="pres">
      <dgm:prSet presAssocID="{22FC4C7E-663A-4FE4-A590-9C47049232A1}" presName="Name17" presStyleLbl="parChTrans1D3" presStyleIdx="0" presStyleCnt="3"/>
      <dgm:spPr/>
    </dgm:pt>
    <dgm:pt modelId="{E1305585-8887-43BE-BFA0-355CB04A808C}" type="pres">
      <dgm:prSet presAssocID="{46417CE9-D62D-4E9D-AFDA-6B1379BC34F4}" presName="hierRoot3" presStyleCnt="0"/>
      <dgm:spPr/>
    </dgm:pt>
    <dgm:pt modelId="{45EB1808-FEEE-40E4-92F7-E699CC09BB0C}" type="pres">
      <dgm:prSet presAssocID="{46417CE9-D62D-4E9D-AFDA-6B1379BC34F4}" presName="composite3" presStyleCnt="0"/>
      <dgm:spPr/>
    </dgm:pt>
    <dgm:pt modelId="{66A656A6-A036-4A40-BE47-ABE99F70C7AB}" type="pres">
      <dgm:prSet presAssocID="{46417CE9-D62D-4E9D-AFDA-6B1379BC34F4}" presName="background3" presStyleLbl="node3" presStyleIdx="0" presStyleCnt="3"/>
      <dgm:spPr/>
    </dgm:pt>
    <dgm:pt modelId="{E72A4DD0-BAFF-4109-857C-549BD79F9D50}" type="pres">
      <dgm:prSet presAssocID="{46417CE9-D62D-4E9D-AFDA-6B1379BC34F4}" presName="text3" presStyleLbl="fgAcc3" presStyleIdx="0" presStyleCnt="3">
        <dgm:presLayoutVars>
          <dgm:chPref val="3"/>
        </dgm:presLayoutVars>
      </dgm:prSet>
      <dgm:spPr/>
    </dgm:pt>
    <dgm:pt modelId="{31E7BF5A-81DD-45C3-A94D-6404B51EBE8D}" type="pres">
      <dgm:prSet presAssocID="{46417CE9-D62D-4E9D-AFDA-6B1379BC34F4}" presName="hierChild4" presStyleCnt="0"/>
      <dgm:spPr/>
    </dgm:pt>
    <dgm:pt modelId="{4B9C9F62-3084-4C97-A616-038592721649}" type="pres">
      <dgm:prSet presAssocID="{E32807FB-500C-4F54-8E30-9888ADEBBE55}" presName="Name17" presStyleLbl="parChTrans1D3" presStyleIdx="1" presStyleCnt="3"/>
      <dgm:spPr/>
    </dgm:pt>
    <dgm:pt modelId="{1349693E-F6B5-4C7E-8902-DFDBE3F87A74}" type="pres">
      <dgm:prSet presAssocID="{7D6D802D-BC6A-4E27-9AF2-40C9F3ACCDE0}" presName="hierRoot3" presStyleCnt="0"/>
      <dgm:spPr/>
    </dgm:pt>
    <dgm:pt modelId="{E7CE2CDE-A9AF-44CF-9342-7558BC1D7C71}" type="pres">
      <dgm:prSet presAssocID="{7D6D802D-BC6A-4E27-9AF2-40C9F3ACCDE0}" presName="composite3" presStyleCnt="0"/>
      <dgm:spPr/>
    </dgm:pt>
    <dgm:pt modelId="{7859BFE7-E481-493E-851B-08AFC60FCE36}" type="pres">
      <dgm:prSet presAssocID="{7D6D802D-BC6A-4E27-9AF2-40C9F3ACCDE0}" presName="background3" presStyleLbl="node3" presStyleIdx="1" presStyleCnt="3"/>
      <dgm:spPr/>
    </dgm:pt>
    <dgm:pt modelId="{E0979D62-120E-48D3-9709-0777E3C58684}" type="pres">
      <dgm:prSet presAssocID="{7D6D802D-BC6A-4E27-9AF2-40C9F3ACCDE0}" presName="text3" presStyleLbl="fgAcc3" presStyleIdx="1" presStyleCnt="3">
        <dgm:presLayoutVars>
          <dgm:chPref val="3"/>
        </dgm:presLayoutVars>
      </dgm:prSet>
      <dgm:spPr/>
    </dgm:pt>
    <dgm:pt modelId="{DB0E55CD-FDEA-4872-9F32-B35915594387}" type="pres">
      <dgm:prSet presAssocID="{7D6D802D-BC6A-4E27-9AF2-40C9F3ACCDE0}" presName="hierChild4" presStyleCnt="0"/>
      <dgm:spPr/>
    </dgm:pt>
    <dgm:pt modelId="{84EF5011-F81F-48F3-A35A-34230C55EEBE}" type="pres">
      <dgm:prSet presAssocID="{F8890C50-E4C1-44F9-8EF5-B9157EED551A}" presName="Name23" presStyleLbl="parChTrans1D4" presStyleIdx="0" presStyleCnt="9"/>
      <dgm:spPr/>
    </dgm:pt>
    <dgm:pt modelId="{ED00B773-7A80-4206-9B93-32940C052097}" type="pres">
      <dgm:prSet presAssocID="{A1F65195-3001-401B-8909-CCB9EDF0EB40}" presName="hierRoot4" presStyleCnt="0"/>
      <dgm:spPr/>
    </dgm:pt>
    <dgm:pt modelId="{CFFD6537-6905-4D51-88E4-AA0097B9B1D4}" type="pres">
      <dgm:prSet presAssocID="{A1F65195-3001-401B-8909-CCB9EDF0EB40}" presName="composite4" presStyleCnt="0"/>
      <dgm:spPr/>
    </dgm:pt>
    <dgm:pt modelId="{DE1E3A48-EE09-482A-ADC3-A1D59773A003}" type="pres">
      <dgm:prSet presAssocID="{A1F65195-3001-401B-8909-CCB9EDF0EB40}" presName="background4" presStyleLbl="node4" presStyleIdx="0" presStyleCnt="9"/>
      <dgm:spPr/>
    </dgm:pt>
    <dgm:pt modelId="{72906F12-63A6-4E5D-ABE9-7A5D64BC0C69}" type="pres">
      <dgm:prSet presAssocID="{A1F65195-3001-401B-8909-CCB9EDF0EB40}" presName="text4" presStyleLbl="fgAcc4" presStyleIdx="0" presStyleCnt="9" custScaleX="254583">
        <dgm:presLayoutVars>
          <dgm:chPref val="3"/>
        </dgm:presLayoutVars>
      </dgm:prSet>
      <dgm:spPr/>
    </dgm:pt>
    <dgm:pt modelId="{FE48810C-7AD9-4710-B4B7-D7E1BDF15DFE}" type="pres">
      <dgm:prSet presAssocID="{A1F65195-3001-401B-8909-CCB9EDF0EB40}" presName="hierChild5" presStyleCnt="0"/>
      <dgm:spPr/>
    </dgm:pt>
    <dgm:pt modelId="{C9A660EC-3465-4AD7-B7C0-4AFA647B82D1}" type="pres">
      <dgm:prSet presAssocID="{215FD2E2-2B21-480A-8A50-4800BC3285C6}" presName="Name23" presStyleLbl="parChTrans1D4" presStyleIdx="1" presStyleCnt="9"/>
      <dgm:spPr/>
    </dgm:pt>
    <dgm:pt modelId="{8EBB6848-75B6-4F22-B65E-2A5ADE9D0C8F}" type="pres">
      <dgm:prSet presAssocID="{1EE48C42-F69E-4BAA-AB95-0E0F517A6F26}" presName="hierRoot4" presStyleCnt="0"/>
      <dgm:spPr/>
    </dgm:pt>
    <dgm:pt modelId="{E828D043-FCCB-4627-B8F1-9B6B3B5730D9}" type="pres">
      <dgm:prSet presAssocID="{1EE48C42-F69E-4BAA-AB95-0E0F517A6F26}" presName="composite4" presStyleCnt="0"/>
      <dgm:spPr/>
    </dgm:pt>
    <dgm:pt modelId="{7C1AEFB8-798C-4AD0-ABE2-ED48389E70CB}" type="pres">
      <dgm:prSet presAssocID="{1EE48C42-F69E-4BAA-AB95-0E0F517A6F26}" presName="background4" presStyleLbl="node4" presStyleIdx="1" presStyleCnt="9"/>
      <dgm:spPr/>
    </dgm:pt>
    <dgm:pt modelId="{43717054-7CB7-4B3E-B64E-542B1FAF1794}" type="pres">
      <dgm:prSet presAssocID="{1EE48C42-F69E-4BAA-AB95-0E0F517A6F26}" presName="text4" presStyleLbl="fgAcc4" presStyleIdx="1" presStyleCnt="9">
        <dgm:presLayoutVars>
          <dgm:chPref val="3"/>
        </dgm:presLayoutVars>
      </dgm:prSet>
      <dgm:spPr/>
    </dgm:pt>
    <dgm:pt modelId="{FB4C50AA-4BD2-4C3C-8EF8-2AADD5991343}" type="pres">
      <dgm:prSet presAssocID="{1EE48C42-F69E-4BAA-AB95-0E0F517A6F26}" presName="hierChild5" presStyleCnt="0"/>
      <dgm:spPr/>
    </dgm:pt>
    <dgm:pt modelId="{51CE7CDC-D9D6-44FE-95E4-2F4A6697BC16}" type="pres">
      <dgm:prSet presAssocID="{9C136F57-98B4-46CC-9994-F20B590F44A0}" presName="Name10" presStyleLbl="parChTrans1D2" presStyleIdx="1" presStyleCnt="2"/>
      <dgm:spPr/>
    </dgm:pt>
    <dgm:pt modelId="{F3EA7FFB-5F48-4523-BE94-193CD41C2BD0}" type="pres">
      <dgm:prSet presAssocID="{B247E949-5AB3-4025-9EA9-8CDD62A4A2F7}" presName="hierRoot2" presStyleCnt="0"/>
      <dgm:spPr/>
    </dgm:pt>
    <dgm:pt modelId="{77188849-D7D3-4B84-B6B6-CAE487C4F6AD}" type="pres">
      <dgm:prSet presAssocID="{B247E949-5AB3-4025-9EA9-8CDD62A4A2F7}" presName="composite2" presStyleCnt="0"/>
      <dgm:spPr/>
    </dgm:pt>
    <dgm:pt modelId="{1778E2C1-8EB1-4378-ABD5-616E4DDCD8AB}" type="pres">
      <dgm:prSet presAssocID="{B247E949-5AB3-4025-9EA9-8CDD62A4A2F7}" presName="background2" presStyleLbl="node2" presStyleIdx="1" presStyleCnt="2"/>
      <dgm:spPr/>
    </dgm:pt>
    <dgm:pt modelId="{8EFE0267-29C8-4D87-A577-3BE186FC49B8}" type="pres">
      <dgm:prSet presAssocID="{B247E949-5AB3-4025-9EA9-8CDD62A4A2F7}" presName="text2" presStyleLbl="fgAcc2" presStyleIdx="1" presStyleCnt="2">
        <dgm:presLayoutVars>
          <dgm:chPref val="3"/>
        </dgm:presLayoutVars>
      </dgm:prSet>
      <dgm:spPr/>
    </dgm:pt>
    <dgm:pt modelId="{CFB87BE2-5BF1-49C0-A999-994B7534E0DA}" type="pres">
      <dgm:prSet presAssocID="{B247E949-5AB3-4025-9EA9-8CDD62A4A2F7}" presName="hierChild3" presStyleCnt="0"/>
      <dgm:spPr/>
    </dgm:pt>
    <dgm:pt modelId="{6ACE2544-2152-4098-A108-7371F5A7AAAD}" type="pres">
      <dgm:prSet presAssocID="{A3FA77DB-F0F0-4A75-A3A8-E16BFF32D8E6}" presName="Name17" presStyleLbl="parChTrans1D3" presStyleIdx="2" presStyleCnt="3"/>
      <dgm:spPr/>
    </dgm:pt>
    <dgm:pt modelId="{497127F5-CED2-4A64-8BEA-A02BCD746ADD}" type="pres">
      <dgm:prSet presAssocID="{E6168756-2593-49A0-9B12-4839FE1BAD0B}" presName="hierRoot3" presStyleCnt="0"/>
      <dgm:spPr/>
    </dgm:pt>
    <dgm:pt modelId="{304C513D-488A-4EBD-9EBA-4943C94CB425}" type="pres">
      <dgm:prSet presAssocID="{E6168756-2593-49A0-9B12-4839FE1BAD0B}" presName="composite3" presStyleCnt="0"/>
      <dgm:spPr/>
    </dgm:pt>
    <dgm:pt modelId="{D8891C9A-24C1-455D-97CD-9EEDA88CEC80}" type="pres">
      <dgm:prSet presAssocID="{E6168756-2593-49A0-9B12-4839FE1BAD0B}" presName="background3" presStyleLbl="node3" presStyleIdx="2" presStyleCnt="3"/>
      <dgm:spPr/>
    </dgm:pt>
    <dgm:pt modelId="{DD995C78-8F1B-49D3-995B-E3A748AEC887}" type="pres">
      <dgm:prSet presAssocID="{E6168756-2593-49A0-9B12-4839FE1BAD0B}" presName="text3" presStyleLbl="fgAcc3" presStyleIdx="2" presStyleCnt="3" custScaleX="245152">
        <dgm:presLayoutVars>
          <dgm:chPref val="3"/>
        </dgm:presLayoutVars>
      </dgm:prSet>
      <dgm:spPr/>
    </dgm:pt>
    <dgm:pt modelId="{B74ECDFA-426E-4F94-912E-5CD3574D3422}" type="pres">
      <dgm:prSet presAssocID="{E6168756-2593-49A0-9B12-4839FE1BAD0B}" presName="hierChild4" presStyleCnt="0"/>
      <dgm:spPr/>
    </dgm:pt>
    <dgm:pt modelId="{3DC1FE5C-E12F-4F4E-9125-F797445FB734}" type="pres">
      <dgm:prSet presAssocID="{B88FE2C9-1CE8-42DF-A508-4E1DE77FA18D}" presName="Name23" presStyleLbl="parChTrans1D4" presStyleIdx="2" presStyleCnt="9"/>
      <dgm:spPr/>
    </dgm:pt>
    <dgm:pt modelId="{D8639289-14B8-4ACE-9441-C756558746C6}" type="pres">
      <dgm:prSet presAssocID="{2A0B3F7C-EF08-4150-AA06-B6A2DE1D0E46}" presName="hierRoot4" presStyleCnt="0"/>
      <dgm:spPr/>
    </dgm:pt>
    <dgm:pt modelId="{20C523EC-CF9E-40BF-80FA-266C99562EBF}" type="pres">
      <dgm:prSet presAssocID="{2A0B3F7C-EF08-4150-AA06-B6A2DE1D0E46}" presName="composite4" presStyleCnt="0"/>
      <dgm:spPr/>
    </dgm:pt>
    <dgm:pt modelId="{AFEBD3C8-87DA-423E-8135-DB625ACCB100}" type="pres">
      <dgm:prSet presAssocID="{2A0B3F7C-EF08-4150-AA06-B6A2DE1D0E46}" presName="background4" presStyleLbl="node4" presStyleIdx="2" presStyleCnt="9"/>
      <dgm:spPr/>
    </dgm:pt>
    <dgm:pt modelId="{800273D0-179A-4E39-957C-C0B7B35E7828}" type="pres">
      <dgm:prSet presAssocID="{2A0B3F7C-EF08-4150-AA06-B6A2DE1D0E46}" presName="text4" presStyleLbl="fgAcc4" presStyleIdx="2" presStyleCnt="9">
        <dgm:presLayoutVars>
          <dgm:chPref val="3"/>
        </dgm:presLayoutVars>
      </dgm:prSet>
      <dgm:spPr/>
    </dgm:pt>
    <dgm:pt modelId="{2A4B0603-E5C5-4285-85BB-454D9DC87581}" type="pres">
      <dgm:prSet presAssocID="{2A0B3F7C-EF08-4150-AA06-B6A2DE1D0E46}" presName="hierChild5" presStyleCnt="0"/>
      <dgm:spPr/>
    </dgm:pt>
    <dgm:pt modelId="{D5D44DB3-55EA-4A0F-8A55-187EC56FAD63}" type="pres">
      <dgm:prSet presAssocID="{056B546A-1702-494C-9C65-B380C42E2BBC}" presName="Name23" presStyleLbl="parChTrans1D4" presStyleIdx="3" presStyleCnt="9"/>
      <dgm:spPr/>
    </dgm:pt>
    <dgm:pt modelId="{8945D5FE-DF5E-4D03-B340-75F85DB3BF91}" type="pres">
      <dgm:prSet presAssocID="{FA0F9326-DCD3-4947-9723-0AB8F088AC7C}" presName="hierRoot4" presStyleCnt="0"/>
      <dgm:spPr/>
    </dgm:pt>
    <dgm:pt modelId="{08F1F484-C898-41D8-9473-998A44C1EEDB}" type="pres">
      <dgm:prSet presAssocID="{FA0F9326-DCD3-4947-9723-0AB8F088AC7C}" presName="composite4" presStyleCnt="0"/>
      <dgm:spPr/>
    </dgm:pt>
    <dgm:pt modelId="{01E94180-E82D-4CCF-BE39-55EAD3043ECA}" type="pres">
      <dgm:prSet presAssocID="{FA0F9326-DCD3-4947-9723-0AB8F088AC7C}" presName="background4" presStyleLbl="node4" presStyleIdx="3" presStyleCnt="9"/>
      <dgm:spPr/>
    </dgm:pt>
    <dgm:pt modelId="{18EEBD24-4F15-488A-8679-6B8FE6FA8D8F}" type="pres">
      <dgm:prSet presAssocID="{FA0F9326-DCD3-4947-9723-0AB8F088AC7C}" presName="text4" presStyleLbl="fgAcc4" presStyleIdx="3" presStyleCnt="9" custScaleX="152154">
        <dgm:presLayoutVars>
          <dgm:chPref val="3"/>
        </dgm:presLayoutVars>
      </dgm:prSet>
      <dgm:spPr/>
    </dgm:pt>
    <dgm:pt modelId="{244E37E6-100E-4BA3-8F17-02E755724C7F}" type="pres">
      <dgm:prSet presAssocID="{FA0F9326-DCD3-4947-9723-0AB8F088AC7C}" presName="hierChild5" presStyleCnt="0"/>
      <dgm:spPr/>
    </dgm:pt>
    <dgm:pt modelId="{059AE78E-87BF-4F11-B498-0793BAC6064D}" type="pres">
      <dgm:prSet presAssocID="{C2432162-134C-4EB6-A098-FF737B9220AD}" presName="Name23" presStyleLbl="parChTrans1D4" presStyleIdx="4" presStyleCnt="9"/>
      <dgm:spPr/>
    </dgm:pt>
    <dgm:pt modelId="{8318AB4C-597C-4B7C-A3AF-9CDBD5C03F36}" type="pres">
      <dgm:prSet presAssocID="{18C44473-9636-448E-B792-7929C6CEDC28}" presName="hierRoot4" presStyleCnt="0"/>
      <dgm:spPr/>
    </dgm:pt>
    <dgm:pt modelId="{2600DB37-CA95-4B08-8109-72D561324B18}" type="pres">
      <dgm:prSet presAssocID="{18C44473-9636-448E-B792-7929C6CEDC28}" presName="composite4" presStyleCnt="0"/>
      <dgm:spPr/>
    </dgm:pt>
    <dgm:pt modelId="{E8804B85-B8C1-450F-9888-26D3AE22A495}" type="pres">
      <dgm:prSet presAssocID="{18C44473-9636-448E-B792-7929C6CEDC28}" presName="background4" presStyleLbl="node4" presStyleIdx="4" presStyleCnt="9"/>
      <dgm:spPr/>
    </dgm:pt>
    <dgm:pt modelId="{507A5ADC-B0AF-47A0-BEE0-487AEB10B129}" type="pres">
      <dgm:prSet presAssocID="{18C44473-9636-448E-B792-7929C6CEDC28}" presName="text4" presStyleLbl="fgAcc4" presStyleIdx="4" presStyleCnt="9">
        <dgm:presLayoutVars>
          <dgm:chPref val="3"/>
        </dgm:presLayoutVars>
      </dgm:prSet>
      <dgm:spPr/>
    </dgm:pt>
    <dgm:pt modelId="{CA787217-DF7B-4A86-9DA9-43B8A44BD12B}" type="pres">
      <dgm:prSet presAssocID="{18C44473-9636-448E-B792-7929C6CEDC28}" presName="hierChild5" presStyleCnt="0"/>
      <dgm:spPr/>
    </dgm:pt>
    <dgm:pt modelId="{DE3F14A0-338B-43D5-B84D-D05386EBB92F}" type="pres">
      <dgm:prSet presAssocID="{45C300FF-AB54-42B1-B89D-2A6C82F088A0}" presName="Name23" presStyleLbl="parChTrans1D4" presStyleIdx="5" presStyleCnt="9"/>
      <dgm:spPr/>
    </dgm:pt>
    <dgm:pt modelId="{065D3587-5A51-41E6-8566-D8029AB9BB48}" type="pres">
      <dgm:prSet presAssocID="{80F83DB3-9876-47C2-BCDA-9C52E5938AF0}" presName="hierRoot4" presStyleCnt="0"/>
      <dgm:spPr/>
    </dgm:pt>
    <dgm:pt modelId="{3B46A89E-DC96-4CDE-A312-7A49CC6A2479}" type="pres">
      <dgm:prSet presAssocID="{80F83DB3-9876-47C2-BCDA-9C52E5938AF0}" presName="composite4" presStyleCnt="0"/>
      <dgm:spPr/>
    </dgm:pt>
    <dgm:pt modelId="{797133B5-8B40-4554-839D-73631981B49F}" type="pres">
      <dgm:prSet presAssocID="{80F83DB3-9876-47C2-BCDA-9C52E5938AF0}" presName="background4" presStyleLbl="node4" presStyleIdx="5" presStyleCnt="9"/>
      <dgm:spPr/>
    </dgm:pt>
    <dgm:pt modelId="{EEE66293-462C-447B-B756-63945763E7BF}" type="pres">
      <dgm:prSet presAssocID="{80F83DB3-9876-47C2-BCDA-9C52E5938AF0}" presName="text4" presStyleLbl="fgAcc4" presStyleIdx="5" presStyleCnt="9" custScaleX="120541">
        <dgm:presLayoutVars>
          <dgm:chPref val="3"/>
        </dgm:presLayoutVars>
      </dgm:prSet>
      <dgm:spPr/>
    </dgm:pt>
    <dgm:pt modelId="{6704758F-4F93-429A-AB30-EA9B6F3DF04D}" type="pres">
      <dgm:prSet presAssocID="{80F83DB3-9876-47C2-BCDA-9C52E5938AF0}" presName="hierChild5" presStyleCnt="0"/>
      <dgm:spPr/>
    </dgm:pt>
    <dgm:pt modelId="{65C842B9-E646-4B2A-AA80-3E9129221E10}" type="pres">
      <dgm:prSet presAssocID="{09CDB2CE-C126-424A-88C0-3775551E5C4A}" presName="Name23" presStyleLbl="parChTrans1D4" presStyleIdx="6" presStyleCnt="9"/>
      <dgm:spPr/>
    </dgm:pt>
    <dgm:pt modelId="{A7613E96-0E61-495A-973A-307E553BEC74}" type="pres">
      <dgm:prSet presAssocID="{6E80624E-E77F-480F-9E86-F37302CAF65B}" presName="hierRoot4" presStyleCnt="0"/>
      <dgm:spPr/>
    </dgm:pt>
    <dgm:pt modelId="{18963F50-1EB5-4378-9FE8-0DA7474ACFC9}" type="pres">
      <dgm:prSet presAssocID="{6E80624E-E77F-480F-9E86-F37302CAF65B}" presName="composite4" presStyleCnt="0"/>
      <dgm:spPr/>
    </dgm:pt>
    <dgm:pt modelId="{3B81AD16-F7DD-4652-9FCE-F0F1B32AA462}" type="pres">
      <dgm:prSet presAssocID="{6E80624E-E77F-480F-9E86-F37302CAF65B}" presName="background4" presStyleLbl="node4" presStyleIdx="6" presStyleCnt="9"/>
      <dgm:spPr/>
    </dgm:pt>
    <dgm:pt modelId="{B4C2033E-03C1-413D-A646-73F10F2B021F}" type="pres">
      <dgm:prSet presAssocID="{6E80624E-E77F-480F-9E86-F37302CAF65B}" presName="text4" presStyleLbl="fgAcc4" presStyleIdx="6" presStyleCnt="9">
        <dgm:presLayoutVars>
          <dgm:chPref val="3"/>
        </dgm:presLayoutVars>
      </dgm:prSet>
      <dgm:spPr/>
    </dgm:pt>
    <dgm:pt modelId="{F55D826B-C50A-4746-B94E-1E432C371FE7}" type="pres">
      <dgm:prSet presAssocID="{6E80624E-E77F-480F-9E86-F37302CAF65B}" presName="hierChild5" presStyleCnt="0"/>
      <dgm:spPr/>
    </dgm:pt>
    <dgm:pt modelId="{2F6046B7-6509-42BA-9835-88E6B55FE38F}" type="pres">
      <dgm:prSet presAssocID="{DEC89CB6-6896-48B2-AE42-8CDDE25B17E4}" presName="Name23" presStyleLbl="parChTrans1D4" presStyleIdx="7" presStyleCnt="9"/>
      <dgm:spPr/>
    </dgm:pt>
    <dgm:pt modelId="{258FAF0E-4A15-4B5C-8141-4EF67EB403DF}" type="pres">
      <dgm:prSet presAssocID="{E83D3904-E57B-4BBF-BFDA-5B910160800D}" presName="hierRoot4" presStyleCnt="0"/>
      <dgm:spPr/>
    </dgm:pt>
    <dgm:pt modelId="{F03D87B1-594A-402D-8540-A5450F376CA2}" type="pres">
      <dgm:prSet presAssocID="{E83D3904-E57B-4BBF-BFDA-5B910160800D}" presName="composite4" presStyleCnt="0"/>
      <dgm:spPr/>
    </dgm:pt>
    <dgm:pt modelId="{A36D23C1-C01F-496D-BA5E-F5E70DAB24B7}" type="pres">
      <dgm:prSet presAssocID="{E83D3904-E57B-4BBF-BFDA-5B910160800D}" presName="background4" presStyleLbl="node4" presStyleIdx="7" presStyleCnt="9"/>
      <dgm:spPr/>
    </dgm:pt>
    <dgm:pt modelId="{B549A2F9-CFB1-49F0-B893-059C63F031A9}" type="pres">
      <dgm:prSet presAssocID="{E83D3904-E57B-4BBF-BFDA-5B910160800D}" presName="text4" presStyleLbl="fgAcc4" presStyleIdx="7" presStyleCnt="9">
        <dgm:presLayoutVars>
          <dgm:chPref val="3"/>
        </dgm:presLayoutVars>
      </dgm:prSet>
      <dgm:spPr/>
    </dgm:pt>
    <dgm:pt modelId="{FBDB8484-67E4-4A1E-A315-68348154C386}" type="pres">
      <dgm:prSet presAssocID="{E83D3904-E57B-4BBF-BFDA-5B910160800D}" presName="hierChild5" presStyleCnt="0"/>
      <dgm:spPr/>
    </dgm:pt>
    <dgm:pt modelId="{765EF1A2-2907-4EAD-8145-09B2E1F2F872}" type="pres">
      <dgm:prSet presAssocID="{E067B4D9-7943-4049-AF4B-238CD000A6DB}" presName="Name23" presStyleLbl="parChTrans1D4" presStyleIdx="8" presStyleCnt="9"/>
      <dgm:spPr/>
    </dgm:pt>
    <dgm:pt modelId="{9A877F30-249E-4003-BB9E-47661BCBCC4F}" type="pres">
      <dgm:prSet presAssocID="{C249F470-18C9-4691-A704-9A257145F75A}" presName="hierRoot4" presStyleCnt="0"/>
      <dgm:spPr/>
    </dgm:pt>
    <dgm:pt modelId="{BDD70CF2-CD01-497E-B877-E0B5B3AED16D}" type="pres">
      <dgm:prSet presAssocID="{C249F470-18C9-4691-A704-9A257145F75A}" presName="composite4" presStyleCnt="0"/>
      <dgm:spPr/>
    </dgm:pt>
    <dgm:pt modelId="{5A59F040-CAC6-43A4-9F9C-8C649D1967D6}" type="pres">
      <dgm:prSet presAssocID="{C249F470-18C9-4691-A704-9A257145F75A}" presName="background4" presStyleLbl="node4" presStyleIdx="8" presStyleCnt="9"/>
      <dgm:spPr/>
    </dgm:pt>
    <dgm:pt modelId="{F7B61134-0C57-4F70-97D7-9977FC3C67A2}" type="pres">
      <dgm:prSet presAssocID="{C249F470-18C9-4691-A704-9A257145F75A}" presName="text4" presStyleLbl="fgAcc4" presStyleIdx="8" presStyleCnt="9" custScaleX="252729">
        <dgm:presLayoutVars>
          <dgm:chPref val="3"/>
        </dgm:presLayoutVars>
      </dgm:prSet>
      <dgm:spPr/>
    </dgm:pt>
    <dgm:pt modelId="{2347C765-7C8C-47D5-BC94-A18F56657850}" type="pres">
      <dgm:prSet presAssocID="{C249F470-18C9-4691-A704-9A257145F75A}" presName="hierChild5" presStyleCnt="0"/>
      <dgm:spPr/>
    </dgm:pt>
  </dgm:ptLst>
  <dgm:cxnLst>
    <dgm:cxn modelId="{2774C007-8E8F-420F-8C7B-B741773A8AF7}" type="presOf" srcId="{18C44473-9636-448E-B792-7929C6CEDC28}" destId="{507A5ADC-B0AF-47A0-BEE0-487AEB10B129}" srcOrd="0" destOrd="0" presId="urn:microsoft.com/office/officeart/2005/8/layout/hierarchy1"/>
    <dgm:cxn modelId="{5270521B-FADD-4DB4-89C7-C1B2C9080F98}" srcId="{612D3047-489B-48EF-A43D-E236B76E4B12}" destId="{B247E949-5AB3-4025-9EA9-8CDD62A4A2F7}" srcOrd="1" destOrd="0" parTransId="{9C136F57-98B4-46CC-9994-F20B590F44A0}" sibTransId="{DDF17142-EB3D-42AD-95AF-150A93E7A4DE}"/>
    <dgm:cxn modelId="{C8D80D27-FCAF-425E-96E6-7A6B00015462}" type="presOf" srcId="{E6168756-2593-49A0-9B12-4839FE1BAD0B}" destId="{DD995C78-8F1B-49D3-995B-E3A748AEC887}" srcOrd="0" destOrd="0" presId="urn:microsoft.com/office/officeart/2005/8/layout/hierarchy1"/>
    <dgm:cxn modelId="{EEA80B28-E573-4C5D-B547-E71F8B2A767D}" srcId="{612D3047-489B-48EF-A43D-E236B76E4B12}" destId="{98BF3C74-FFE3-4666-A1C7-E2E2BEAAECE2}" srcOrd="0" destOrd="0" parTransId="{0316D520-3347-48C1-8EB2-1A9FC919B77C}" sibTransId="{1A233429-120A-4C14-993C-81224F05311B}"/>
    <dgm:cxn modelId="{8994D52C-0824-4AD9-9874-3F5703D17839}" type="presOf" srcId="{9C136F57-98B4-46CC-9994-F20B590F44A0}" destId="{51CE7CDC-D9D6-44FE-95E4-2F4A6697BC16}" srcOrd="0" destOrd="0" presId="urn:microsoft.com/office/officeart/2005/8/layout/hierarchy1"/>
    <dgm:cxn modelId="{66F7592D-0C0A-4B59-88B7-D669642EDB1E}" type="presOf" srcId="{056B546A-1702-494C-9C65-B380C42E2BBC}" destId="{D5D44DB3-55EA-4A0F-8A55-187EC56FAD63}" srcOrd="0" destOrd="0" presId="urn:microsoft.com/office/officeart/2005/8/layout/hierarchy1"/>
    <dgm:cxn modelId="{23B5412E-FBFB-41C3-AB58-8A7DCF7DAA0F}" srcId="{7D6D802D-BC6A-4E27-9AF2-40C9F3ACCDE0}" destId="{A1F65195-3001-401B-8909-CCB9EDF0EB40}" srcOrd="0" destOrd="0" parTransId="{F8890C50-E4C1-44F9-8EF5-B9157EED551A}" sibTransId="{1EC52899-5D71-4445-A6CA-CE9F482FDDD8}"/>
    <dgm:cxn modelId="{8312D331-12C0-4D16-9292-A7D225260EB7}" srcId="{2A0B3F7C-EF08-4150-AA06-B6A2DE1D0E46}" destId="{E83D3904-E57B-4BBF-BFDA-5B910160800D}" srcOrd="4" destOrd="0" parTransId="{DEC89CB6-6896-48B2-AE42-8CDDE25B17E4}" sibTransId="{1896A2F8-CD55-4A3F-A3E2-B8F3EC1B2AE1}"/>
    <dgm:cxn modelId="{F989E538-9F51-4D20-8B4C-B3A58BB689B9}" srcId="{E6168756-2593-49A0-9B12-4839FE1BAD0B}" destId="{C249F470-18C9-4691-A704-9A257145F75A}" srcOrd="1" destOrd="0" parTransId="{E067B4D9-7943-4049-AF4B-238CD000A6DB}" sibTransId="{8301EB90-6890-40F6-A430-9670A3AE41CF}"/>
    <dgm:cxn modelId="{49CA4439-C6E0-42B2-8001-1A74AAEE3436}" type="presOf" srcId="{F8890C50-E4C1-44F9-8EF5-B9157EED551A}" destId="{84EF5011-F81F-48F3-A35A-34230C55EEBE}" srcOrd="0" destOrd="0" presId="urn:microsoft.com/office/officeart/2005/8/layout/hierarchy1"/>
    <dgm:cxn modelId="{ABD0D93D-96C0-4392-86E2-F9E7BF1E54AF}" type="presOf" srcId="{6E80624E-E77F-480F-9E86-F37302CAF65B}" destId="{B4C2033E-03C1-413D-A646-73F10F2B021F}" srcOrd="0" destOrd="0" presId="urn:microsoft.com/office/officeart/2005/8/layout/hierarchy1"/>
    <dgm:cxn modelId="{1749774E-4523-46AE-AF20-F8BABE2A8C0D}" type="presOf" srcId="{E83D3904-E57B-4BBF-BFDA-5B910160800D}" destId="{B549A2F9-CFB1-49F0-B893-059C63F031A9}" srcOrd="0" destOrd="0" presId="urn:microsoft.com/office/officeart/2005/8/layout/hierarchy1"/>
    <dgm:cxn modelId="{DC890858-2E56-47E4-AED5-AA199E659FF9}" srcId="{2A0B3F7C-EF08-4150-AA06-B6A2DE1D0E46}" destId="{18C44473-9636-448E-B792-7929C6CEDC28}" srcOrd="1" destOrd="0" parTransId="{C2432162-134C-4EB6-A098-FF737B9220AD}" sibTransId="{16CB2AC1-71C7-400A-BC62-4BBE315EE8A5}"/>
    <dgm:cxn modelId="{319F095A-8158-4424-90CE-0B486792937D}" type="presOf" srcId="{5140D04B-6293-4F7C-BBE5-8EF6BB1A6347}" destId="{AD5D5724-44F1-4E9F-A50F-25FFACBF83C6}" srcOrd="0" destOrd="0" presId="urn:microsoft.com/office/officeart/2005/8/layout/hierarchy1"/>
    <dgm:cxn modelId="{BEDC6C68-E723-4B6E-8FB7-352B5AD3E9AE}" type="presOf" srcId="{7D6D802D-BC6A-4E27-9AF2-40C9F3ACCDE0}" destId="{E0979D62-120E-48D3-9709-0777E3C58684}" srcOrd="0" destOrd="0" presId="urn:microsoft.com/office/officeart/2005/8/layout/hierarchy1"/>
    <dgm:cxn modelId="{AC43646B-1D94-474F-A6F1-F18C944AC017}" srcId="{2A0B3F7C-EF08-4150-AA06-B6A2DE1D0E46}" destId="{FA0F9326-DCD3-4947-9723-0AB8F088AC7C}" srcOrd="0" destOrd="0" parTransId="{056B546A-1702-494C-9C65-B380C42E2BBC}" sibTransId="{DBAA8870-EE08-4B97-A8FF-D84407767DE9}"/>
    <dgm:cxn modelId="{990DA075-422E-46AA-B5F1-685ACEC1004D}" type="presOf" srcId="{C2432162-134C-4EB6-A098-FF737B9220AD}" destId="{059AE78E-87BF-4F11-B498-0793BAC6064D}" srcOrd="0" destOrd="0" presId="urn:microsoft.com/office/officeart/2005/8/layout/hierarchy1"/>
    <dgm:cxn modelId="{E2743577-83A6-4CC7-A0B6-9A516AE2F29B}" srcId="{2A0B3F7C-EF08-4150-AA06-B6A2DE1D0E46}" destId="{6E80624E-E77F-480F-9E86-F37302CAF65B}" srcOrd="3" destOrd="0" parTransId="{09CDB2CE-C126-424A-88C0-3775551E5C4A}" sibTransId="{11D18BB1-27DB-4C2D-A7D4-7FFA99F88E40}"/>
    <dgm:cxn modelId="{79C16179-2705-4B4E-A276-CACB96432F78}" type="presOf" srcId="{B247E949-5AB3-4025-9EA9-8CDD62A4A2F7}" destId="{8EFE0267-29C8-4D87-A577-3BE186FC49B8}" srcOrd="0" destOrd="0" presId="urn:microsoft.com/office/officeart/2005/8/layout/hierarchy1"/>
    <dgm:cxn modelId="{CBAC727C-9E66-490B-AA7A-B51039BCCC67}" type="presOf" srcId="{46417CE9-D62D-4E9D-AFDA-6B1379BC34F4}" destId="{E72A4DD0-BAFF-4109-857C-549BD79F9D50}" srcOrd="0" destOrd="0" presId="urn:microsoft.com/office/officeart/2005/8/layout/hierarchy1"/>
    <dgm:cxn modelId="{7833F289-6398-441B-B95B-AE084EC40A06}" type="presOf" srcId="{B88FE2C9-1CE8-42DF-A508-4E1DE77FA18D}" destId="{3DC1FE5C-E12F-4F4E-9125-F797445FB734}" srcOrd="0" destOrd="0" presId="urn:microsoft.com/office/officeart/2005/8/layout/hierarchy1"/>
    <dgm:cxn modelId="{50168C8A-836C-46DA-9D5E-39D13CCB49FF}" type="presOf" srcId="{DEC89CB6-6896-48B2-AE42-8CDDE25B17E4}" destId="{2F6046B7-6509-42BA-9835-88E6B55FE38F}" srcOrd="0" destOrd="0" presId="urn:microsoft.com/office/officeart/2005/8/layout/hierarchy1"/>
    <dgm:cxn modelId="{0A1B658B-0180-465A-87E1-47E88F54065D}" type="presOf" srcId="{1EE48C42-F69E-4BAA-AB95-0E0F517A6F26}" destId="{43717054-7CB7-4B3E-B64E-542B1FAF1794}" srcOrd="0" destOrd="0" presId="urn:microsoft.com/office/officeart/2005/8/layout/hierarchy1"/>
    <dgm:cxn modelId="{FBE27090-4B4C-4CDF-8FB8-CD51E7BBB644}" type="presOf" srcId="{0316D520-3347-48C1-8EB2-1A9FC919B77C}" destId="{836452D4-BAA4-4FD6-906C-A9856E3FA160}" srcOrd="0" destOrd="0" presId="urn:microsoft.com/office/officeart/2005/8/layout/hierarchy1"/>
    <dgm:cxn modelId="{1F73B594-515C-4D5B-BF8B-C213C1831D25}" type="presOf" srcId="{45C300FF-AB54-42B1-B89D-2A6C82F088A0}" destId="{DE3F14A0-338B-43D5-B84D-D05386EBB92F}" srcOrd="0" destOrd="0" presId="urn:microsoft.com/office/officeart/2005/8/layout/hierarchy1"/>
    <dgm:cxn modelId="{4F2457A1-0C7F-4130-B6A6-1F451EB255E6}" type="presOf" srcId="{612D3047-489B-48EF-A43D-E236B76E4B12}" destId="{1CAFC951-A7DF-429F-9AC9-CFD2AFAC9D1B}" srcOrd="0" destOrd="0" presId="urn:microsoft.com/office/officeart/2005/8/layout/hierarchy1"/>
    <dgm:cxn modelId="{19FD1AA7-BE9B-4CB6-A1EA-CBC036F5F868}" type="presOf" srcId="{98BF3C74-FFE3-4666-A1C7-E2E2BEAAECE2}" destId="{9B8969DC-6AB0-47EF-B220-478E1B8F92F0}" srcOrd="0" destOrd="0" presId="urn:microsoft.com/office/officeart/2005/8/layout/hierarchy1"/>
    <dgm:cxn modelId="{ECEDD1A7-272A-4106-A4C9-3932F1312711}" type="presOf" srcId="{C249F470-18C9-4691-A704-9A257145F75A}" destId="{F7B61134-0C57-4F70-97D7-9977FC3C67A2}" srcOrd="0" destOrd="0" presId="urn:microsoft.com/office/officeart/2005/8/layout/hierarchy1"/>
    <dgm:cxn modelId="{4B19A2A8-C7C9-4E52-976B-D83903536D3B}" srcId="{B247E949-5AB3-4025-9EA9-8CDD62A4A2F7}" destId="{E6168756-2593-49A0-9B12-4839FE1BAD0B}" srcOrd="0" destOrd="0" parTransId="{A3FA77DB-F0F0-4A75-A3A8-E16BFF32D8E6}" sibTransId="{2F0FE3B0-4AAE-4CB5-B3BB-671C59BE6DCA}"/>
    <dgm:cxn modelId="{DD2FF1B0-6A40-41EC-918C-1F0D67FDAB49}" type="presOf" srcId="{22FC4C7E-663A-4FE4-A590-9C47049232A1}" destId="{2F028039-B081-4CDC-B3CE-82EDB13376E3}" srcOrd="0" destOrd="0" presId="urn:microsoft.com/office/officeart/2005/8/layout/hierarchy1"/>
    <dgm:cxn modelId="{16D51FB7-2973-410E-9E9B-8963E94CF7A5}" type="presOf" srcId="{E32807FB-500C-4F54-8E30-9888ADEBBE55}" destId="{4B9C9F62-3084-4C97-A616-038592721649}" srcOrd="0" destOrd="0" presId="urn:microsoft.com/office/officeart/2005/8/layout/hierarchy1"/>
    <dgm:cxn modelId="{26EF22BE-72F2-47B4-9524-B0D4E4D198A9}" type="presOf" srcId="{2A0B3F7C-EF08-4150-AA06-B6A2DE1D0E46}" destId="{800273D0-179A-4E39-957C-C0B7B35E7828}" srcOrd="0" destOrd="0" presId="urn:microsoft.com/office/officeart/2005/8/layout/hierarchy1"/>
    <dgm:cxn modelId="{19683AC3-9278-4BE7-BA83-0E9A18E08008}" srcId="{5140D04B-6293-4F7C-BBE5-8EF6BB1A6347}" destId="{612D3047-489B-48EF-A43D-E236B76E4B12}" srcOrd="0" destOrd="0" parTransId="{F7496D99-845A-4AA0-97A4-8D32B3ACC470}" sibTransId="{DDC25E33-854F-4936-AA90-6F737924FA04}"/>
    <dgm:cxn modelId="{4437D7CB-4155-4AEA-B01A-DA9EA2BA3E82}" srcId="{98BF3C74-FFE3-4666-A1C7-E2E2BEAAECE2}" destId="{46417CE9-D62D-4E9D-AFDA-6B1379BC34F4}" srcOrd="0" destOrd="0" parTransId="{22FC4C7E-663A-4FE4-A590-9C47049232A1}" sibTransId="{52DDB79D-9ABE-421F-92C1-61303D7F8612}"/>
    <dgm:cxn modelId="{4CBAAACE-36DB-4EB3-A4AD-158995111198}" type="presOf" srcId="{80F83DB3-9876-47C2-BCDA-9C52E5938AF0}" destId="{EEE66293-462C-447B-B756-63945763E7BF}" srcOrd="0" destOrd="0" presId="urn:microsoft.com/office/officeart/2005/8/layout/hierarchy1"/>
    <dgm:cxn modelId="{FB5CD8DD-82C7-4BF5-843F-8FBAC76BF372}" type="presOf" srcId="{E067B4D9-7943-4049-AF4B-238CD000A6DB}" destId="{765EF1A2-2907-4EAD-8145-09B2E1F2F872}" srcOrd="0" destOrd="0" presId="urn:microsoft.com/office/officeart/2005/8/layout/hierarchy1"/>
    <dgm:cxn modelId="{9DE9ECDD-652F-4492-B838-15501DFBD5D2}" type="presOf" srcId="{A3FA77DB-F0F0-4A75-A3A8-E16BFF32D8E6}" destId="{6ACE2544-2152-4098-A108-7371F5A7AAAD}" srcOrd="0" destOrd="0" presId="urn:microsoft.com/office/officeart/2005/8/layout/hierarchy1"/>
    <dgm:cxn modelId="{FE4E0BE2-8848-465D-AA7F-225A43B156C6}" srcId="{2A0B3F7C-EF08-4150-AA06-B6A2DE1D0E46}" destId="{80F83DB3-9876-47C2-BCDA-9C52E5938AF0}" srcOrd="2" destOrd="0" parTransId="{45C300FF-AB54-42B1-B89D-2A6C82F088A0}" sibTransId="{EA7BF72D-B02F-4C90-982A-6A7F45AF276F}"/>
    <dgm:cxn modelId="{6568E0E3-8C7A-402F-AF32-4877FEFC3850}" type="presOf" srcId="{215FD2E2-2B21-480A-8A50-4800BC3285C6}" destId="{C9A660EC-3465-4AD7-B7C0-4AFA647B82D1}" srcOrd="0" destOrd="0" presId="urn:microsoft.com/office/officeart/2005/8/layout/hierarchy1"/>
    <dgm:cxn modelId="{F099A6ED-AF6A-496C-9066-E06784C80998}" srcId="{7D6D802D-BC6A-4E27-9AF2-40C9F3ACCDE0}" destId="{1EE48C42-F69E-4BAA-AB95-0E0F517A6F26}" srcOrd="1" destOrd="0" parTransId="{215FD2E2-2B21-480A-8A50-4800BC3285C6}" sibTransId="{18FC87FB-2BAD-4901-A861-4D3DFB3815E7}"/>
    <dgm:cxn modelId="{69EFF5F1-AC8D-4934-BB9B-4E5510154B1F}" type="presOf" srcId="{FA0F9326-DCD3-4947-9723-0AB8F088AC7C}" destId="{18EEBD24-4F15-488A-8679-6B8FE6FA8D8F}" srcOrd="0" destOrd="0" presId="urn:microsoft.com/office/officeart/2005/8/layout/hierarchy1"/>
    <dgm:cxn modelId="{4D5C59F6-BB9C-43AA-B80B-B2FAB1995341}" srcId="{98BF3C74-FFE3-4666-A1C7-E2E2BEAAECE2}" destId="{7D6D802D-BC6A-4E27-9AF2-40C9F3ACCDE0}" srcOrd="1" destOrd="0" parTransId="{E32807FB-500C-4F54-8E30-9888ADEBBE55}" sibTransId="{EB4009B4-4021-49D6-B7A7-1C174C3F89D2}"/>
    <dgm:cxn modelId="{63676FF7-C5FB-420B-B4D7-98430D764B33}" srcId="{E6168756-2593-49A0-9B12-4839FE1BAD0B}" destId="{2A0B3F7C-EF08-4150-AA06-B6A2DE1D0E46}" srcOrd="0" destOrd="0" parTransId="{B88FE2C9-1CE8-42DF-A508-4E1DE77FA18D}" sibTransId="{67DEC6AC-CEC8-4771-AAFD-C0899B60F2A2}"/>
    <dgm:cxn modelId="{0915BCFC-FA84-4F05-9E6F-757D6126200C}" type="presOf" srcId="{09CDB2CE-C126-424A-88C0-3775551E5C4A}" destId="{65C842B9-E646-4B2A-AA80-3E9129221E10}" srcOrd="0" destOrd="0" presId="urn:microsoft.com/office/officeart/2005/8/layout/hierarchy1"/>
    <dgm:cxn modelId="{CD4687FD-A116-4966-858A-B987C498DA0D}" type="presOf" srcId="{A1F65195-3001-401B-8909-CCB9EDF0EB40}" destId="{72906F12-63A6-4E5D-ABE9-7A5D64BC0C69}" srcOrd="0" destOrd="0" presId="urn:microsoft.com/office/officeart/2005/8/layout/hierarchy1"/>
    <dgm:cxn modelId="{C4FF7AC8-8436-4388-8665-4B9AB0FFE6A3}" type="presParOf" srcId="{AD5D5724-44F1-4E9F-A50F-25FFACBF83C6}" destId="{0535E618-9852-4146-98CD-020ABECEE11B}" srcOrd="0" destOrd="0" presId="urn:microsoft.com/office/officeart/2005/8/layout/hierarchy1"/>
    <dgm:cxn modelId="{F8D6EF18-77BB-4481-80A7-545569330627}" type="presParOf" srcId="{0535E618-9852-4146-98CD-020ABECEE11B}" destId="{28654DAB-C1AE-4F02-812F-0F95C4D709E5}" srcOrd="0" destOrd="0" presId="urn:microsoft.com/office/officeart/2005/8/layout/hierarchy1"/>
    <dgm:cxn modelId="{EE8AE7F7-D8DB-4F90-B132-A65CE6CC8CD7}" type="presParOf" srcId="{28654DAB-C1AE-4F02-812F-0F95C4D709E5}" destId="{0C6ABE71-23F7-4AF7-8CAA-CC7518C6256F}" srcOrd="0" destOrd="0" presId="urn:microsoft.com/office/officeart/2005/8/layout/hierarchy1"/>
    <dgm:cxn modelId="{F43B71B8-2FCD-4347-AEFB-676A1C0C5ED7}" type="presParOf" srcId="{28654DAB-C1AE-4F02-812F-0F95C4D709E5}" destId="{1CAFC951-A7DF-429F-9AC9-CFD2AFAC9D1B}" srcOrd="1" destOrd="0" presId="urn:microsoft.com/office/officeart/2005/8/layout/hierarchy1"/>
    <dgm:cxn modelId="{B24A24F8-9EC7-4D68-BC7B-EEF18A746946}" type="presParOf" srcId="{0535E618-9852-4146-98CD-020ABECEE11B}" destId="{293A765E-C252-46F4-8211-88E37B7C649E}" srcOrd="1" destOrd="0" presId="urn:microsoft.com/office/officeart/2005/8/layout/hierarchy1"/>
    <dgm:cxn modelId="{A5E2010E-F45E-45A6-87A7-E6CB5B5C1F6D}" type="presParOf" srcId="{293A765E-C252-46F4-8211-88E37B7C649E}" destId="{836452D4-BAA4-4FD6-906C-A9856E3FA160}" srcOrd="0" destOrd="0" presId="urn:microsoft.com/office/officeart/2005/8/layout/hierarchy1"/>
    <dgm:cxn modelId="{45F70365-A676-4EE6-9E52-0A0FC84D9EDC}" type="presParOf" srcId="{293A765E-C252-46F4-8211-88E37B7C649E}" destId="{F2EFE05D-E87F-4727-854B-71A254935C9B}" srcOrd="1" destOrd="0" presId="urn:microsoft.com/office/officeart/2005/8/layout/hierarchy1"/>
    <dgm:cxn modelId="{CFF5951B-46DF-4C71-9050-50E1BE459057}" type="presParOf" srcId="{F2EFE05D-E87F-4727-854B-71A254935C9B}" destId="{72CDBAF0-12FE-457A-BA61-96F4933F0801}" srcOrd="0" destOrd="0" presId="urn:microsoft.com/office/officeart/2005/8/layout/hierarchy1"/>
    <dgm:cxn modelId="{8E7235FB-63CE-4A8D-97A8-93DB79EC7A19}" type="presParOf" srcId="{72CDBAF0-12FE-457A-BA61-96F4933F0801}" destId="{9329B4DC-E07A-4B3E-AEB9-E94B0F865554}" srcOrd="0" destOrd="0" presId="urn:microsoft.com/office/officeart/2005/8/layout/hierarchy1"/>
    <dgm:cxn modelId="{573BE847-52E8-4AA0-B3AD-7911489DD0CE}" type="presParOf" srcId="{72CDBAF0-12FE-457A-BA61-96F4933F0801}" destId="{9B8969DC-6AB0-47EF-B220-478E1B8F92F0}" srcOrd="1" destOrd="0" presId="urn:microsoft.com/office/officeart/2005/8/layout/hierarchy1"/>
    <dgm:cxn modelId="{13631AA3-9164-46BA-8A9A-3033EE7F6D11}" type="presParOf" srcId="{F2EFE05D-E87F-4727-854B-71A254935C9B}" destId="{12631393-C42F-4E1A-9B2B-1BEBE8F5F4FE}" srcOrd="1" destOrd="0" presId="urn:microsoft.com/office/officeart/2005/8/layout/hierarchy1"/>
    <dgm:cxn modelId="{44B039F0-F20E-41F0-ADD8-615D45BD5796}" type="presParOf" srcId="{12631393-C42F-4E1A-9B2B-1BEBE8F5F4FE}" destId="{2F028039-B081-4CDC-B3CE-82EDB13376E3}" srcOrd="0" destOrd="0" presId="urn:microsoft.com/office/officeart/2005/8/layout/hierarchy1"/>
    <dgm:cxn modelId="{E986735B-C5A0-4E5C-9EDD-218D9260A0A5}" type="presParOf" srcId="{12631393-C42F-4E1A-9B2B-1BEBE8F5F4FE}" destId="{E1305585-8887-43BE-BFA0-355CB04A808C}" srcOrd="1" destOrd="0" presId="urn:microsoft.com/office/officeart/2005/8/layout/hierarchy1"/>
    <dgm:cxn modelId="{BCA75A1A-436B-434A-8B34-346CB4A027C6}" type="presParOf" srcId="{E1305585-8887-43BE-BFA0-355CB04A808C}" destId="{45EB1808-FEEE-40E4-92F7-E699CC09BB0C}" srcOrd="0" destOrd="0" presId="urn:microsoft.com/office/officeart/2005/8/layout/hierarchy1"/>
    <dgm:cxn modelId="{CEFAC2F9-E471-4978-9F56-FE4FFEEAD012}" type="presParOf" srcId="{45EB1808-FEEE-40E4-92F7-E699CC09BB0C}" destId="{66A656A6-A036-4A40-BE47-ABE99F70C7AB}" srcOrd="0" destOrd="0" presId="urn:microsoft.com/office/officeart/2005/8/layout/hierarchy1"/>
    <dgm:cxn modelId="{B76F856C-7F9A-4716-95B7-3BB88E7F29F7}" type="presParOf" srcId="{45EB1808-FEEE-40E4-92F7-E699CC09BB0C}" destId="{E72A4DD0-BAFF-4109-857C-549BD79F9D50}" srcOrd="1" destOrd="0" presId="urn:microsoft.com/office/officeart/2005/8/layout/hierarchy1"/>
    <dgm:cxn modelId="{615FD65B-099B-42CD-BFB9-7342181E75DF}" type="presParOf" srcId="{E1305585-8887-43BE-BFA0-355CB04A808C}" destId="{31E7BF5A-81DD-45C3-A94D-6404B51EBE8D}" srcOrd="1" destOrd="0" presId="urn:microsoft.com/office/officeart/2005/8/layout/hierarchy1"/>
    <dgm:cxn modelId="{435800D7-B0A0-453E-B6AC-00ADD7DA81B7}" type="presParOf" srcId="{12631393-C42F-4E1A-9B2B-1BEBE8F5F4FE}" destId="{4B9C9F62-3084-4C97-A616-038592721649}" srcOrd="2" destOrd="0" presId="urn:microsoft.com/office/officeart/2005/8/layout/hierarchy1"/>
    <dgm:cxn modelId="{6405041C-79A9-4FBB-AD19-7FB79A3285DD}" type="presParOf" srcId="{12631393-C42F-4E1A-9B2B-1BEBE8F5F4FE}" destId="{1349693E-F6B5-4C7E-8902-DFDBE3F87A74}" srcOrd="3" destOrd="0" presId="urn:microsoft.com/office/officeart/2005/8/layout/hierarchy1"/>
    <dgm:cxn modelId="{798152CB-2E9C-4C2A-A7AA-0AEC2822834D}" type="presParOf" srcId="{1349693E-F6B5-4C7E-8902-DFDBE3F87A74}" destId="{E7CE2CDE-A9AF-44CF-9342-7558BC1D7C71}" srcOrd="0" destOrd="0" presId="urn:microsoft.com/office/officeart/2005/8/layout/hierarchy1"/>
    <dgm:cxn modelId="{073722D6-3250-437D-8CBE-2D4E1B842DCF}" type="presParOf" srcId="{E7CE2CDE-A9AF-44CF-9342-7558BC1D7C71}" destId="{7859BFE7-E481-493E-851B-08AFC60FCE36}" srcOrd="0" destOrd="0" presId="urn:microsoft.com/office/officeart/2005/8/layout/hierarchy1"/>
    <dgm:cxn modelId="{88E6A98A-E278-4D26-B211-E1991A6FE03C}" type="presParOf" srcId="{E7CE2CDE-A9AF-44CF-9342-7558BC1D7C71}" destId="{E0979D62-120E-48D3-9709-0777E3C58684}" srcOrd="1" destOrd="0" presId="urn:microsoft.com/office/officeart/2005/8/layout/hierarchy1"/>
    <dgm:cxn modelId="{1212344B-A054-40A8-AA82-FF497A8DBBBF}" type="presParOf" srcId="{1349693E-F6B5-4C7E-8902-DFDBE3F87A74}" destId="{DB0E55CD-FDEA-4872-9F32-B35915594387}" srcOrd="1" destOrd="0" presId="urn:microsoft.com/office/officeart/2005/8/layout/hierarchy1"/>
    <dgm:cxn modelId="{D4CF0729-A8A8-41FA-BD0E-022E9B1BC3B5}" type="presParOf" srcId="{DB0E55CD-FDEA-4872-9F32-B35915594387}" destId="{84EF5011-F81F-48F3-A35A-34230C55EEBE}" srcOrd="0" destOrd="0" presId="urn:microsoft.com/office/officeart/2005/8/layout/hierarchy1"/>
    <dgm:cxn modelId="{A5770C2B-4C8B-4A2F-BEF7-072A2AE95008}" type="presParOf" srcId="{DB0E55CD-FDEA-4872-9F32-B35915594387}" destId="{ED00B773-7A80-4206-9B93-32940C052097}" srcOrd="1" destOrd="0" presId="urn:microsoft.com/office/officeart/2005/8/layout/hierarchy1"/>
    <dgm:cxn modelId="{E4111D9C-59B8-4F67-81D3-89E8A8D34F0A}" type="presParOf" srcId="{ED00B773-7A80-4206-9B93-32940C052097}" destId="{CFFD6537-6905-4D51-88E4-AA0097B9B1D4}" srcOrd="0" destOrd="0" presId="urn:microsoft.com/office/officeart/2005/8/layout/hierarchy1"/>
    <dgm:cxn modelId="{FDF0AFC5-D4A3-4A9F-B77A-4266F60EA203}" type="presParOf" srcId="{CFFD6537-6905-4D51-88E4-AA0097B9B1D4}" destId="{DE1E3A48-EE09-482A-ADC3-A1D59773A003}" srcOrd="0" destOrd="0" presId="urn:microsoft.com/office/officeart/2005/8/layout/hierarchy1"/>
    <dgm:cxn modelId="{E683F8B5-304B-464B-9EAF-6035DED31DC3}" type="presParOf" srcId="{CFFD6537-6905-4D51-88E4-AA0097B9B1D4}" destId="{72906F12-63A6-4E5D-ABE9-7A5D64BC0C69}" srcOrd="1" destOrd="0" presId="urn:microsoft.com/office/officeart/2005/8/layout/hierarchy1"/>
    <dgm:cxn modelId="{97102131-75CD-4B64-856C-1B05C62A55BF}" type="presParOf" srcId="{ED00B773-7A80-4206-9B93-32940C052097}" destId="{FE48810C-7AD9-4710-B4B7-D7E1BDF15DFE}" srcOrd="1" destOrd="0" presId="urn:microsoft.com/office/officeart/2005/8/layout/hierarchy1"/>
    <dgm:cxn modelId="{31DFEFC6-2856-499B-9396-FCC2400CFC1C}" type="presParOf" srcId="{DB0E55CD-FDEA-4872-9F32-B35915594387}" destId="{C9A660EC-3465-4AD7-B7C0-4AFA647B82D1}" srcOrd="2" destOrd="0" presId="urn:microsoft.com/office/officeart/2005/8/layout/hierarchy1"/>
    <dgm:cxn modelId="{AAAC73CA-1FEE-4793-BAF2-0EEA24D6A647}" type="presParOf" srcId="{DB0E55CD-FDEA-4872-9F32-B35915594387}" destId="{8EBB6848-75B6-4F22-B65E-2A5ADE9D0C8F}" srcOrd="3" destOrd="0" presId="urn:microsoft.com/office/officeart/2005/8/layout/hierarchy1"/>
    <dgm:cxn modelId="{C4CE1722-250B-4556-BCBD-FE564FF2994F}" type="presParOf" srcId="{8EBB6848-75B6-4F22-B65E-2A5ADE9D0C8F}" destId="{E828D043-FCCB-4627-B8F1-9B6B3B5730D9}" srcOrd="0" destOrd="0" presId="urn:microsoft.com/office/officeart/2005/8/layout/hierarchy1"/>
    <dgm:cxn modelId="{5DC672DF-CE7A-496F-8351-1D236007181A}" type="presParOf" srcId="{E828D043-FCCB-4627-B8F1-9B6B3B5730D9}" destId="{7C1AEFB8-798C-4AD0-ABE2-ED48389E70CB}" srcOrd="0" destOrd="0" presId="urn:microsoft.com/office/officeart/2005/8/layout/hierarchy1"/>
    <dgm:cxn modelId="{43962DE1-6418-4E47-A8E3-8C876C80F4A0}" type="presParOf" srcId="{E828D043-FCCB-4627-B8F1-9B6B3B5730D9}" destId="{43717054-7CB7-4B3E-B64E-542B1FAF1794}" srcOrd="1" destOrd="0" presId="urn:microsoft.com/office/officeart/2005/8/layout/hierarchy1"/>
    <dgm:cxn modelId="{93646A75-8E4F-4FC2-B98B-62B00F52562A}" type="presParOf" srcId="{8EBB6848-75B6-4F22-B65E-2A5ADE9D0C8F}" destId="{FB4C50AA-4BD2-4C3C-8EF8-2AADD5991343}" srcOrd="1" destOrd="0" presId="urn:microsoft.com/office/officeart/2005/8/layout/hierarchy1"/>
    <dgm:cxn modelId="{F6A1B5C5-6E77-4D27-A220-9013DB6B303E}" type="presParOf" srcId="{293A765E-C252-46F4-8211-88E37B7C649E}" destId="{51CE7CDC-D9D6-44FE-95E4-2F4A6697BC16}" srcOrd="2" destOrd="0" presId="urn:microsoft.com/office/officeart/2005/8/layout/hierarchy1"/>
    <dgm:cxn modelId="{FAB685A6-3325-45F0-A5F5-0C362E8AD5C9}" type="presParOf" srcId="{293A765E-C252-46F4-8211-88E37B7C649E}" destId="{F3EA7FFB-5F48-4523-BE94-193CD41C2BD0}" srcOrd="3" destOrd="0" presId="urn:microsoft.com/office/officeart/2005/8/layout/hierarchy1"/>
    <dgm:cxn modelId="{61852008-B494-4E74-9859-AFF47E5AB215}" type="presParOf" srcId="{F3EA7FFB-5F48-4523-BE94-193CD41C2BD0}" destId="{77188849-D7D3-4B84-B6B6-CAE487C4F6AD}" srcOrd="0" destOrd="0" presId="urn:microsoft.com/office/officeart/2005/8/layout/hierarchy1"/>
    <dgm:cxn modelId="{5646C7B2-532E-4DCC-B635-BC2876F9DD34}" type="presParOf" srcId="{77188849-D7D3-4B84-B6B6-CAE487C4F6AD}" destId="{1778E2C1-8EB1-4378-ABD5-616E4DDCD8AB}" srcOrd="0" destOrd="0" presId="urn:microsoft.com/office/officeart/2005/8/layout/hierarchy1"/>
    <dgm:cxn modelId="{6647D8A9-E7E9-4E99-B6C3-0DCCBE073A57}" type="presParOf" srcId="{77188849-D7D3-4B84-B6B6-CAE487C4F6AD}" destId="{8EFE0267-29C8-4D87-A577-3BE186FC49B8}" srcOrd="1" destOrd="0" presId="urn:microsoft.com/office/officeart/2005/8/layout/hierarchy1"/>
    <dgm:cxn modelId="{62B5E70E-96FE-49EE-93E5-1F74EEF678FF}" type="presParOf" srcId="{F3EA7FFB-5F48-4523-BE94-193CD41C2BD0}" destId="{CFB87BE2-5BF1-49C0-A999-994B7534E0DA}" srcOrd="1" destOrd="0" presId="urn:microsoft.com/office/officeart/2005/8/layout/hierarchy1"/>
    <dgm:cxn modelId="{4899C44E-C477-4CF2-8582-B0F4FEE97B20}" type="presParOf" srcId="{CFB87BE2-5BF1-49C0-A999-994B7534E0DA}" destId="{6ACE2544-2152-4098-A108-7371F5A7AAAD}" srcOrd="0" destOrd="0" presId="urn:microsoft.com/office/officeart/2005/8/layout/hierarchy1"/>
    <dgm:cxn modelId="{6462E2E9-63FC-404B-8483-33AD98E2AED7}" type="presParOf" srcId="{CFB87BE2-5BF1-49C0-A999-994B7534E0DA}" destId="{497127F5-CED2-4A64-8BEA-A02BCD746ADD}" srcOrd="1" destOrd="0" presId="urn:microsoft.com/office/officeart/2005/8/layout/hierarchy1"/>
    <dgm:cxn modelId="{40D2504B-F2A0-4401-9C4A-1456EC7F10A8}" type="presParOf" srcId="{497127F5-CED2-4A64-8BEA-A02BCD746ADD}" destId="{304C513D-488A-4EBD-9EBA-4943C94CB425}" srcOrd="0" destOrd="0" presId="urn:microsoft.com/office/officeart/2005/8/layout/hierarchy1"/>
    <dgm:cxn modelId="{69A612C7-9649-4A95-8DAB-927D409DB20D}" type="presParOf" srcId="{304C513D-488A-4EBD-9EBA-4943C94CB425}" destId="{D8891C9A-24C1-455D-97CD-9EEDA88CEC80}" srcOrd="0" destOrd="0" presId="urn:microsoft.com/office/officeart/2005/8/layout/hierarchy1"/>
    <dgm:cxn modelId="{E13BC2B6-7435-4299-B60B-79317DCC6BB5}" type="presParOf" srcId="{304C513D-488A-4EBD-9EBA-4943C94CB425}" destId="{DD995C78-8F1B-49D3-995B-E3A748AEC887}" srcOrd="1" destOrd="0" presId="urn:microsoft.com/office/officeart/2005/8/layout/hierarchy1"/>
    <dgm:cxn modelId="{5F626A9D-9444-4516-8197-2ED64D2CEDA6}" type="presParOf" srcId="{497127F5-CED2-4A64-8BEA-A02BCD746ADD}" destId="{B74ECDFA-426E-4F94-912E-5CD3574D3422}" srcOrd="1" destOrd="0" presId="urn:microsoft.com/office/officeart/2005/8/layout/hierarchy1"/>
    <dgm:cxn modelId="{81D66004-6F30-48BC-8791-F6D7BD9F9D31}" type="presParOf" srcId="{B74ECDFA-426E-4F94-912E-5CD3574D3422}" destId="{3DC1FE5C-E12F-4F4E-9125-F797445FB734}" srcOrd="0" destOrd="0" presId="urn:microsoft.com/office/officeart/2005/8/layout/hierarchy1"/>
    <dgm:cxn modelId="{BD6F9799-D8C4-4BFC-B699-71D3125D2545}" type="presParOf" srcId="{B74ECDFA-426E-4F94-912E-5CD3574D3422}" destId="{D8639289-14B8-4ACE-9441-C756558746C6}" srcOrd="1" destOrd="0" presId="urn:microsoft.com/office/officeart/2005/8/layout/hierarchy1"/>
    <dgm:cxn modelId="{4A87023C-8EFF-46D4-B1FB-139BDC7E4C49}" type="presParOf" srcId="{D8639289-14B8-4ACE-9441-C756558746C6}" destId="{20C523EC-CF9E-40BF-80FA-266C99562EBF}" srcOrd="0" destOrd="0" presId="urn:microsoft.com/office/officeart/2005/8/layout/hierarchy1"/>
    <dgm:cxn modelId="{9EE7558F-EDC6-4A88-81DE-BA0F229820DB}" type="presParOf" srcId="{20C523EC-CF9E-40BF-80FA-266C99562EBF}" destId="{AFEBD3C8-87DA-423E-8135-DB625ACCB100}" srcOrd="0" destOrd="0" presId="urn:microsoft.com/office/officeart/2005/8/layout/hierarchy1"/>
    <dgm:cxn modelId="{4FCCF8A5-68DB-4F22-856E-7DC890F881F4}" type="presParOf" srcId="{20C523EC-CF9E-40BF-80FA-266C99562EBF}" destId="{800273D0-179A-4E39-957C-C0B7B35E7828}" srcOrd="1" destOrd="0" presId="urn:microsoft.com/office/officeart/2005/8/layout/hierarchy1"/>
    <dgm:cxn modelId="{00F72A02-0FE4-4247-872D-FC0EA8F5E185}" type="presParOf" srcId="{D8639289-14B8-4ACE-9441-C756558746C6}" destId="{2A4B0603-E5C5-4285-85BB-454D9DC87581}" srcOrd="1" destOrd="0" presId="urn:microsoft.com/office/officeart/2005/8/layout/hierarchy1"/>
    <dgm:cxn modelId="{D5AC7180-FA00-46D4-9095-53A9AED3413A}" type="presParOf" srcId="{2A4B0603-E5C5-4285-85BB-454D9DC87581}" destId="{D5D44DB3-55EA-4A0F-8A55-187EC56FAD63}" srcOrd="0" destOrd="0" presId="urn:microsoft.com/office/officeart/2005/8/layout/hierarchy1"/>
    <dgm:cxn modelId="{7422A44B-D0AF-406C-8442-7E651695E4BB}" type="presParOf" srcId="{2A4B0603-E5C5-4285-85BB-454D9DC87581}" destId="{8945D5FE-DF5E-4D03-B340-75F85DB3BF91}" srcOrd="1" destOrd="0" presId="urn:microsoft.com/office/officeart/2005/8/layout/hierarchy1"/>
    <dgm:cxn modelId="{A0F7E1E9-7D6E-44EC-877B-474109811AA2}" type="presParOf" srcId="{8945D5FE-DF5E-4D03-B340-75F85DB3BF91}" destId="{08F1F484-C898-41D8-9473-998A44C1EEDB}" srcOrd="0" destOrd="0" presId="urn:microsoft.com/office/officeart/2005/8/layout/hierarchy1"/>
    <dgm:cxn modelId="{2396FB69-080B-46E6-BD13-6F188BD30CE5}" type="presParOf" srcId="{08F1F484-C898-41D8-9473-998A44C1EEDB}" destId="{01E94180-E82D-4CCF-BE39-55EAD3043ECA}" srcOrd="0" destOrd="0" presId="urn:microsoft.com/office/officeart/2005/8/layout/hierarchy1"/>
    <dgm:cxn modelId="{00648833-323F-455C-A08D-7108BBA87576}" type="presParOf" srcId="{08F1F484-C898-41D8-9473-998A44C1EEDB}" destId="{18EEBD24-4F15-488A-8679-6B8FE6FA8D8F}" srcOrd="1" destOrd="0" presId="urn:microsoft.com/office/officeart/2005/8/layout/hierarchy1"/>
    <dgm:cxn modelId="{54ECE543-66DF-48C4-A649-4489E0C665AA}" type="presParOf" srcId="{8945D5FE-DF5E-4D03-B340-75F85DB3BF91}" destId="{244E37E6-100E-4BA3-8F17-02E755724C7F}" srcOrd="1" destOrd="0" presId="urn:microsoft.com/office/officeart/2005/8/layout/hierarchy1"/>
    <dgm:cxn modelId="{D327F6E1-CB0B-46E1-9B65-FF0CD4F74738}" type="presParOf" srcId="{2A4B0603-E5C5-4285-85BB-454D9DC87581}" destId="{059AE78E-87BF-4F11-B498-0793BAC6064D}" srcOrd="2" destOrd="0" presId="urn:microsoft.com/office/officeart/2005/8/layout/hierarchy1"/>
    <dgm:cxn modelId="{5E37815D-C2A0-4FFD-8D8A-240967E96B5E}" type="presParOf" srcId="{2A4B0603-E5C5-4285-85BB-454D9DC87581}" destId="{8318AB4C-597C-4B7C-A3AF-9CDBD5C03F36}" srcOrd="3" destOrd="0" presId="urn:microsoft.com/office/officeart/2005/8/layout/hierarchy1"/>
    <dgm:cxn modelId="{B7B08E00-B885-4D09-8FEA-0B8715F4B0B4}" type="presParOf" srcId="{8318AB4C-597C-4B7C-A3AF-9CDBD5C03F36}" destId="{2600DB37-CA95-4B08-8109-72D561324B18}" srcOrd="0" destOrd="0" presId="urn:microsoft.com/office/officeart/2005/8/layout/hierarchy1"/>
    <dgm:cxn modelId="{B71BBF18-B2BA-462C-9537-F26C268C4F4C}" type="presParOf" srcId="{2600DB37-CA95-4B08-8109-72D561324B18}" destId="{E8804B85-B8C1-450F-9888-26D3AE22A495}" srcOrd="0" destOrd="0" presId="urn:microsoft.com/office/officeart/2005/8/layout/hierarchy1"/>
    <dgm:cxn modelId="{C7D568E9-9E6A-4324-B5EB-8505E49E811F}" type="presParOf" srcId="{2600DB37-CA95-4B08-8109-72D561324B18}" destId="{507A5ADC-B0AF-47A0-BEE0-487AEB10B129}" srcOrd="1" destOrd="0" presId="urn:microsoft.com/office/officeart/2005/8/layout/hierarchy1"/>
    <dgm:cxn modelId="{67F5CA2E-D5AF-44ED-B0E3-81D459372E52}" type="presParOf" srcId="{8318AB4C-597C-4B7C-A3AF-9CDBD5C03F36}" destId="{CA787217-DF7B-4A86-9DA9-43B8A44BD12B}" srcOrd="1" destOrd="0" presId="urn:microsoft.com/office/officeart/2005/8/layout/hierarchy1"/>
    <dgm:cxn modelId="{E784ECCC-B82A-4116-B75E-B5303B1FD5A9}" type="presParOf" srcId="{2A4B0603-E5C5-4285-85BB-454D9DC87581}" destId="{DE3F14A0-338B-43D5-B84D-D05386EBB92F}" srcOrd="4" destOrd="0" presId="urn:microsoft.com/office/officeart/2005/8/layout/hierarchy1"/>
    <dgm:cxn modelId="{35B68434-2D4D-490C-8BAE-6382E3B19748}" type="presParOf" srcId="{2A4B0603-E5C5-4285-85BB-454D9DC87581}" destId="{065D3587-5A51-41E6-8566-D8029AB9BB48}" srcOrd="5" destOrd="0" presId="urn:microsoft.com/office/officeart/2005/8/layout/hierarchy1"/>
    <dgm:cxn modelId="{9405DF35-ABFA-422B-98E5-4D8C19BB7D68}" type="presParOf" srcId="{065D3587-5A51-41E6-8566-D8029AB9BB48}" destId="{3B46A89E-DC96-4CDE-A312-7A49CC6A2479}" srcOrd="0" destOrd="0" presId="urn:microsoft.com/office/officeart/2005/8/layout/hierarchy1"/>
    <dgm:cxn modelId="{A8D29577-889F-43FF-A878-FC9A3EBD36C4}" type="presParOf" srcId="{3B46A89E-DC96-4CDE-A312-7A49CC6A2479}" destId="{797133B5-8B40-4554-839D-73631981B49F}" srcOrd="0" destOrd="0" presId="urn:microsoft.com/office/officeart/2005/8/layout/hierarchy1"/>
    <dgm:cxn modelId="{C56AB5DD-303E-40F2-821C-5779F8EF7983}" type="presParOf" srcId="{3B46A89E-DC96-4CDE-A312-7A49CC6A2479}" destId="{EEE66293-462C-447B-B756-63945763E7BF}" srcOrd="1" destOrd="0" presId="urn:microsoft.com/office/officeart/2005/8/layout/hierarchy1"/>
    <dgm:cxn modelId="{29392895-8F6F-4EFB-B31F-236E07E7B39A}" type="presParOf" srcId="{065D3587-5A51-41E6-8566-D8029AB9BB48}" destId="{6704758F-4F93-429A-AB30-EA9B6F3DF04D}" srcOrd="1" destOrd="0" presId="urn:microsoft.com/office/officeart/2005/8/layout/hierarchy1"/>
    <dgm:cxn modelId="{06C255BD-591B-4C58-A117-57264BBCCE9C}" type="presParOf" srcId="{2A4B0603-E5C5-4285-85BB-454D9DC87581}" destId="{65C842B9-E646-4B2A-AA80-3E9129221E10}" srcOrd="6" destOrd="0" presId="urn:microsoft.com/office/officeart/2005/8/layout/hierarchy1"/>
    <dgm:cxn modelId="{56A8E0A7-F848-45E0-9078-3A1263CA52B5}" type="presParOf" srcId="{2A4B0603-E5C5-4285-85BB-454D9DC87581}" destId="{A7613E96-0E61-495A-973A-307E553BEC74}" srcOrd="7" destOrd="0" presId="urn:microsoft.com/office/officeart/2005/8/layout/hierarchy1"/>
    <dgm:cxn modelId="{57BC1418-5E48-49AA-9906-8ABD73683CA0}" type="presParOf" srcId="{A7613E96-0E61-495A-973A-307E553BEC74}" destId="{18963F50-1EB5-4378-9FE8-0DA7474ACFC9}" srcOrd="0" destOrd="0" presId="urn:microsoft.com/office/officeart/2005/8/layout/hierarchy1"/>
    <dgm:cxn modelId="{59E1D5C2-D21A-48C3-8675-A2DBD469ECD0}" type="presParOf" srcId="{18963F50-1EB5-4378-9FE8-0DA7474ACFC9}" destId="{3B81AD16-F7DD-4652-9FCE-F0F1B32AA462}" srcOrd="0" destOrd="0" presId="urn:microsoft.com/office/officeart/2005/8/layout/hierarchy1"/>
    <dgm:cxn modelId="{8EA3BD00-17F1-4D95-A7A1-E656375943B7}" type="presParOf" srcId="{18963F50-1EB5-4378-9FE8-0DA7474ACFC9}" destId="{B4C2033E-03C1-413D-A646-73F10F2B021F}" srcOrd="1" destOrd="0" presId="urn:microsoft.com/office/officeart/2005/8/layout/hierarchy1"/>
    <dgm:cxn modelId="{612F143E-0928-4710-8F89-65217EDF1B5C}" type="presParOf" srcId="{A7613E96-0E61-495A-973A-307E553BEC74}" destId="{F55D826B-C50A-4746-B94E-1E432C371FE7}" srcOrd="1" destOrd="0" presId="urn:microsoft.com/office/officeart/2005/8/layout/hierarchy1"/>
    <dgm:cxn modelId="{391D1EBB-390B-41E6-934B-E01C949BC553}" type="presParOf" srcId="{2A4B0603-E5C5-4285-85BB-454D9DC87581}" destId="{2F6046B7-6509-42BA-9835-88E6B55FE38F}" srcOrd="8" destOrd="0" presId="urn:microsoft.com/office/officeart/2005/8/layout/hierarchy1"/>
    <dgm:cxn modelId="{7D822F37-8E21-47F5-9D9F-DE05CB520B1A}" type="presParOf" srcId="{2A4B0603-E5C5-4285-85BB-454D9DC87581}" destId="{258FAF0E-4A15-4B5C-8141-4EF67EB403DF}" srcOrd="9" destOrd="0" presId="urn:microsoft.com/office/officeart/2005/8/layout/hierarchy1"/>
    <dgm:cxn modelId="{248C2D20-17A0-4892-B2C7-60E702662C47}" type="presParOf" srcId="{258FAF0E-4A15-4B5C-8141-4EF67EB403DF}" destId="{F03D87B1-594A-402D-8540-A5450F376CA2}" srcOrd="0" destOrd="0" presId="urn:microsoft.com/office/officeart/2005/8/layout/hierarchy1"/>
    <dgm:cxn modelId="{F5094112-05E2-416D-A7D3-52CC81E342D4}" type="presParOf" srcId="{F03D87B1-594A-402D-8540-A5450F376CA2}" destId="{A36D23C1-C01F-496D-BA5E-F5E70DAB24B7}" srcOrd="0" destOrd="0" presId="urn:microsoft.com/office/officeart/2005/8/layout/hierarchy1"/>
    <dgm:cxn modelId="{9C6185A3-355C-4A1D-85E0-FDCBCCFE4984}" type="presParOf" srcId="{F03D87B1-594A-402D-8540-A5450F376CA2}" destId="{B549A2F9-CFB1-49F0-B893-059C63F031A9}" srcOrd="1" destOrd="0" presId="urn:microsoft.com/office/officeart/2005/8/layout/hierarchy1"/>
    <dgm:cxn modelId="{3386029D-B9A8-40EB-8F30-76638C807495}" type="presParOf" srcId="{258FAF0E-4A15-4B5C-8141-4EF67EB403DF}" destId="{FBDB8484-67E4-4A1E-A315-68348154C386}" srcOrd="1" destOrd="0" presId="urn:microsoft.com/office/officeart/2005/8/layout/hierarchy1"/>
    <dgm:cxn modelId="{7FDC61A5-8945-4430-A616-A14BB1599AE3}" type="presParOf" srcId="{B74ECDFA-426E-4F94-912E-5CD3574D3422}" destId="{765EF1A2-2907-4EAD-8145-09B2E1F2F872}" srcOrd="2" destOrd="0" presId="urn:microsoft.com/office/officeart/2005/8/layout/hierarchy1"/>
    <dgm:cxn modelId="{4582BA81-3A59-4ED6-9D7F-265EAE69AE62}" type="presParOf" srcId="{B74ECDFA-426E-4F94-912E-5CD3574D3422}" destId="{9A877F30-249E-4003-BB9E-47661BCBCC4F}" srcOrd="3" destOrd="0" presId="urn:microsoft.com/office/officeart/2005/8/layout/hierarchy1"/>
    <dgm:cxn modelId="{2F48FC16-7789-4680-8AEE-DBDC9D63CAB8}" type="presParOf" srcId="{9A877F30-249E-4003-BB9E-47661BCBCC4F}" destId="{BDD70CF2-CD01-497E-B877-E0B5B3AED16D}" srcOrd="0" destOrd="0" presId="urn:microsoft.com/office/officeart/2005/8/layout/hierarchy1"/>
    <dgm:cxn modelId="{171F6C08-0F30-44EF-87CA-0E7C5F1CB5D1}" type="presParOf" srcId="{BDD70CF2-CD01-497E-B877-E0B5B3AED16D}" destId="{5A59F040-CAC6-43A4-9F9C-8C649D1967D6}" srcOrd="0" destOrd="0" presId="urn:microsoft.com/office/officeart/2005/8/layout/hierarchy1"/>
    <dgm:cxn modelId="{9AA9A9BE-FBBA-4C13-B23D-3541D5B3CCC1}" type="presParOf" srcId="{BDD70CF2-CD01-497E-B877-E0B5B3AED16D}" destId="{F7B61134-0C57-4F70-97D7-9977FC3C67A2}" srcOrd="1" destOrd="0" presId="urn:microsoft.com/office/officeart/2005/8/layout/hierarchy1"/>
    <dgm:cxn modelId="{6ACFBEB4-BF00-44C6-A563-886ABEBDA072}" type="presParOf" srcId="{9A877F30-249E-4003-BB9E-47661BCBCC4F}" destId="{2347C765-7C8C-47D5-BC94-A18F56657850}"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24A7F01-07EF-4CAD-A9CC-36074F6EA157}" type="doc">
      <dgm:prSet loTypeId="urn:microsoft.com/office/officeart/2018/2/layout/IconCircle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3091078-FDC5-4D91-B2C5-F11C595061CC}">
      <dgm:prSet/>
      <dgm:spPr/>
      <dgm:t>
        <a:bodyPr/>
        <a:lstStyle/>
        <a:p>
          <a:pPr>
            <a:lnSpc>
              <a:spcPct val="100000"/>
            </a:lnSpc>
          </a:pPr>
          <a:r>
            <a:rPr lang="en-US" dirty="0">
              <a:latin typeface="Creative Thoughts" pitchFamily="2" charset="0"/>
            </a:rPr>
            <a:t>BOGS – Mostly negative</a:t>
          </a:r>
        </a:p>
      </dgm:t>
    </dgm:pt>
    <dgm:pt modelId="{2CEE465B-4843-4F41-A785-F1BAD1284633}" type="parTrans" cxnId="{9B22C3A5-E248-47CF-849A-6265D0FC4FA3}">
      <dgm:prSet/>
      <dgm:spPr/>
      <dgm:t>
        <a:bodyPr/>
        <a:lstStyle/>
        <a:p>
          <a:endParaRPr lang="en-US">
            <a:latin typeface="Creative Thoughts" pitchFamily="2" charset="0"/>
          </a:endParaRPr>
        </a:p>
      </dgm:t>
    </dgm:pt>
    <dgm:pt modelId="{FAAFDA6C-23F5-4FD1-94F4-5182BEB88847}" type="sibTrans" cxnId="{9B22C3A5-E248-47CF-849A-6265D0FC4FA3}">
      <dgm:prSet/>
      <dgm:spPr/>
      <dgm:t>
        <a:bodyPr/>
        <a:lstStyle/>
        <a:p>
          <a:pPr>
            <a:lnSpc>
              <a:spcPct val="100000"/>
            </a:lnSpc>
          </a:pPr>
          <a:endParaRPr lang="en-US">
            <a:latin typeface="Creative Thoughts" pitchFamily="2" charset="0"/>
          </a:endParaRPr>
        </a:p>
      </dgm:t>
    </dgm:pt>
    <dgm:pt modelId="{7280974D-761D-4097-AFBE-81A6C56A799B}">
      <dgm:prSet/>
      <dgm:spPr/>
      <dgm:t>
        <a:bodyPr/>
        <a:lstStyle/>
        <a:p>
          <a:pPr>
            <a:lnSpc>
              <a:spcPct val="100000"/>
            </a:lnSpc>
          </a:pPr>
          <a:r>
            <a:rPr lang="en-US" dirty="0">
              <a:latin typeface="Avenir Book" panose="02000503020000020003" pitchFamily="2" charset="0"/>
            </a:rPr>
            <a:t>NPY - Always deficit</a:t>
          </a:r>
        </a:p>
      </dgm:t>
    </dgm:pt>
    <dgm:pt modelId="{8599766E-F42A-4BDA-813B-D9030401C426}" type="parTrans" cxnId="{6BFB54AE-0C67-4CCB-B41C-D442517D8B8C}">
      <dgm:prSet/>
      <dgm:spPr/>
      <dgm:t>
        <a:bodyPr/>
        <a:lstStyle/>
        <a:p>
          <a:endParaRPr lang="en-US">
            <a:latin typeface="Creative Thoughts" pitchFamily="2" charset="0"/>
          </a:endParaRPr>
        </a:p>
      </dgm:t>
    </dgm:pt>
    <dgm:pt modelId="{263672F1-A442-47B2-802E-AF9F8882E77E}" type="sibTrans" cxnId="{6BFB54AE-0C67-4CCB-B41C-D442517D8B8C}">
      <dgm:prSet/>
      <dgm:spPr/>
      <dgm:t>
        <a:bodyPr/>
        <a:lstStyle/>
        <a:p>
          <a:pPr>
            <a:lnSpc>
              <a:spcPct val="100000"/>
            </a:lnSpc>
          </a:pPr>
          <a:endParaRPr lang="en-US">
            <a:latin typeface="Creative Thoughts" pitchFamily="2" charset="0"/>
          </a:endParaRPr>
        </a:p>
      </dgm:t>
    </dgm:pt>
    <dgm:pt modelId="{463AF83A-0AD7-4D61-A899-8A2B136E40AF}">
      <dgm:prSet/>
      <dgm:spPr/>
      <dgm:t>
        <a:bodyPr/>
        <a:lstStyle/>
        <a:p>
          <a:pPr>
            <a:lnSpc>
              <a:spcPct val="100000"/>
            </a:lnSpc>
          </a:pPr>
          <a:r>
            <a:rPr lang="en-US" dirty="0">
              <a:latin typeface="+mn-lt"/>
            </a:rPr>
            <a:t>CAB – 44 years of CAD (Current Account Deficit), changed to a CAS (Current Account Surplus) in 2019, back to CAD Sept 2023</a:t>
          </a:r>
        </a:p>
      </dgm:t>
    </dgm:pt>
    <dgm:pt modelId="{FBC55469-1FAE-4117-BB8D-F4D9CBA25B48}" type="parTrans" cxnId="{11C60804-8229-442D-A32A-B1754A89C711}">
      <dgm:prSet/>
      <dgm:spPr/>
      <dgm:t>
        <a:bodyPr/>
        <a:lstStyle/>
        <a:p>
          <a:endParaRPr lang="en-US">
            <a:latin typeface="Creative Thoughts" pitchFamily="2" charset="0"/>
          </a:endParaRPr>
        </a:p>
      </dgm:t>
    </dgm:pt>
    <dgm:pt modelId="{A0EF9BBC-31A7-4FBC-8E73-D21917F378F1}" type="sibTrans" cxnId="{11C60804-8229-442D-A32A-B1754A89C711}">
      <dgm:prSet/>
      <dgm:spPr/>
      <dgm:t>
        <a:bodyPr/>
        <a:lstStyle/>
        <a:p>
          <a:pPr>
            <a:lnSpc>
              <a:spcPct val="100000"/>
            </a:lnSpc>
          </a:pPr>
          <a:endParaRPr lang="en-US">
            <a:latin typeface="Creative Thoughts" pitchFamily="2" charset="0"/>
          </a:endParaRPr>
        </a:p>
      </dgm:t>
    </dgm:pt>
    <dgm:pt modelId="{2993F5A3-A250-40E0-B4F3-3B8C1A663BEF}">
      <dgm:prSet/>
      <dgm:spPr/>
      <dgm:t>
        <a:bodyPr/>
        <a:lstStyle/>
        <a:p>
          <a:pPr>
            <a:lnSpc>
              <a:spcPct val="100000"/>
            </a:lnSpc>
          </a:pPr>
          <a:r>
            <a:rPr lang="en-US" dirty="0">
              <a:latin typeface="+mn-lt"/>
            </a:rPr>
            <a:t>KAFA - Surplus of 44 years, changed to a deficit in 2019, back to surplus Sept 2023</a:t>
          </a:r>
        </a:p>
      </dgm:t>
    </dgm:pt>
    <dgm:pt modelId="{25FE19BA-64ED-4329-BA18-B68AE9FD9E2D}" type="parTrans" cxnId="{4C0D595A-2F18-417B-8F63-B233BA91D0E1}">
      <dgm:prSet/>
      <dgm:spPr/>
      <dgm:t>
        <a:bodyPr/>
        <a:lstStyle/>
        <a:p>
          <a:endParaRPr lang="en-US">
            <a:latin typeface="Creative Thoughts" pitchFamily="2" charset="0"/>
          </a:endParaRPr>
        </a:p>
      </dgm:t>
    </dgm:pt>
    <dgm:pt modelId="{C056C13F-E13A-4BC6-AAE3-C7850EA2E585}" type="sibTrans" cxnId="{4C0D595A-2F18-417B-8F63-B233BA91D0E1}">
      <dgm:prSet/>
      <dgm:spPr/>
      <dgm:t>
        <a:bodyPr/>
        <a:lstStyle/>
        <a:p>
          <a:endParaRPr lang="en-US">
            <a:latin typeface="Creative Thoughts" pitchFamily="2" charset="0"/>
          </a:endParaRPr>
        </a:p>
      </dgm:t>
    </dgm:pt>
    <dgm:pt modelId="{CB0648EE-0DFF-4AF2-9065-C1BD01AB039D}" type="pres">
      <dgm:prSet presAssocID="{724A7F01-07EF-4CAD-A9CC-36074F6EA157}" presName="root" presStyleCnt="0">
        <dgm:presLayoutVars>
          <dgm:dir/>
          <dgm:resizeHandles val="exact"/>
        </dgm:presLayoutVars>
      </dgm:prSet>
      <dgm:spPr/>
    </dgm:pt>
    <dgm:pt modelId="{BA3C2A73-C5C0-4C39-83F1-E3EA9653CD9E}" type="pres">
      <dgm:prSet presAssocID="{724A7F01-07EF-4CAD-A9CC-36074F6EA157}" presName="container" presStyleCnt="0">
        <dgm:presLayoutVars>
          <dgm:dir/>
          <dgm:resizeHandles val="exact"/>
        </dgm:presLayoutVars>
      </dgm:prSet>
      <dgm:spPr/>
    </dgm:pt>
    <dgm:pt modelId="{050F15D2-804E-4FA6-9765-554C3F2553B9}" type="pres">
      <dgm:prSet presAssocID="{53091078-FDC5-4D91-B2C5-F11C595061CC}" presName="compNode" presStyleCnt="0"/>
      <dgm:spPr/>
    </dgm:pt>
    <dgm:pt modelId="{897DE5BE-A0FD-415B-9E28-16FEAE04E288}" type="pres">
      <dgm:prSet presAssocID="{53091078-FDC5-4D91-B2C5-F11C595061CC}" presName="iconBgRect" presStyleLbl="bgShp" presStyleIdx="0" presStyleCnt="4"/>
      <dgm:spPr/>
    </dgm:pt>
    <dgm:pt modelId="{8E11D8F2-00D4-46D3-8569-5199AF1B051E}" type="pres">
      <dgm:prSet presAssocID="{53091078-FDC5-4D91-B2C5-F11C595061C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ad Face with No Fill"/>
        </a:ext>
      </dgm:extLst>
    </dgm:pt>
    <dgm:pt modelId="{608A2102-4E9F-4431-AF49-4BDDCCAB7353}" type="pres">
      <dgm:prSet presAssocID="{53091078-FDC5-4D91-B2C5-F11C595061CC}" presName="spaceRect" presStyleCnt="0"/>
      <dgm:spPr/>
    </dgm:pt>
    <dgm:pt modelId="{146A2799-DCD0-40F5-88C8-AB886AF79DE4}" type="pres">
      <dgm:prSet presAssocID="{53091078-FDC5-4D91-B2C5-F11C595061CC}" presName="textRect" presStyleLbl="revTx" presStyleIdx="0" presStyleCnt="4">
        <dgm:presLayoutVars>
          <dgm:chMax val="1"/>
          <dgm:chPref val="1"/>
        </dgm:presLayoutVars>
      </dgm:prSet>
      <dgm:spPr/>
    </dgm:pt>
    <dgm:pt modelId="{204E84AE-5C41-42F2-834D-11FC15E3D925}" type="pres">
      <dgm:prSet presAssocID="{FAAFDA6C-23F5-4FD1-94F4-5182BEB88847}" presName="sibTrans" presStyleLbl="sibTrans2D1" presStyleIdx="0" presStyleCnt="0"/>
      <dgm:spPr/>
    </dgm:pt>
    <dgm:pt modelId="{B44ACA8C-9EB2-4E2C-87CF-DE19F2153049}" type="pres">
      <dgm:prSet presAssocID="{7280974D-761D-4097-AFBE-81A6C56A799B}" presName="compNode" presStyleCnt="0"/>
      <dgm:spPr/>
    </dgm:pt>
    <dgm:pt modelId="{CB58C419-D20F-4D39-8224-8628740F5045}" type="pres">
      <dgm:prSet presAssocID="{7280974D-761D-4097-AFBE-81A6C56A799B}" presName="iconBgRect" presStyleLbl="bgShp" presStyleIdx="1" presStyleCnt="4"/>
      <dgm:spPr/>
    </dgm:pt>
    <dgm:pt modelId="{F3EFF1B1-1CBC-4DD8-8D27-90472D20FED2}" type="pres">
      <dgm:prSet presAssocID="{7280974D-761D-4097-AFBE-81A6C56A799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lag"/>
        </a:ext>
      </dgm:extLst>
    </dgm:pt>
    <dgm:pt modelId="{C896C7D7-355C-47D5-83D0-63E0553B10B1}" type="pres">
      <dgm:prSet presAssocID="{7280974D-761D-4097-AFBE-81A6C56A799B}" presName="spaceRect" presStyleCnt="0"/>
      <dgm:spPr/>
    </dgm:pt>
    <dgm:pt modelId="{7EC9F8F5-5290-4FC0-97A4-B67B9C0D6F2A}" type="pres">
      <dgm:prSet presAssocID="{7280974D-761D-4097-AFBE-81A6C56A799B}" presName="textRect" presStyleLbl="revTx" presStyleIdx="1" presStyleCnt="4">
        <dgm:presLayoutVars>
          <dgm:chMax val="1"/>
          <dgm:chPref val="1"/>
        </dgm:presLayoutVars>
      </dgm:prSet>
      <dgm:spPr/>
    </dgm:pt>
    <dgm:pt modelId="{B0C5B145-6471-4574-B1E3-167123018238}" type="pres">
      <dgm:prSet presAssocID="{263672F1-A442-47B2-802E-AF9F8882E77E}" presName="sibTrans" presStyleLbl="sibTrans2D1" presStyleIdx="0" presStyleCnt="0"/>
      <dgm:spPr/>
    </dgm:pt>
    <dgm:pt modelId="{4B75E4DE-B800-4B7A-848E-86F153AA3F76}" type="pres">
      <dgm:prSet presAssocID="{463AF83A-0AD7-4D61-A899-8A2B136E40AF}" presName="compNode" presStyleCnt="0"/>
      <dgm:spPr/>
    </dgm:pt>
    <dgm:pt modelId="{8B7A2455-E886-4C55-BBF7-53190F37AEBE}" type="pres">
      <dgm:prSet presAssocID="{463AF83A-0AD7-4D61-A899-8A2B136E40AF}" presName="iconBgRect" presStyleLbl="bgShp" presStyleIdx="2" presStyleCnt="4"/>
      <dgm:spPr/>
    </dgm:pt>
    <dgm:pt modelId="{A1BF4832-F5AE-4939-9A9D-B8D97DEED9D0}" type="pres">
      <dgm:prSet presAssocID="{463AF83A-0AD7-4D61-A899-8A2B136E40A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axi"/>
        </a:ext>
      </dgm:extLst>
    </dgm:pt>
    <dgm:pt modelId="{14A83956-6D3B-427C-923C-0E0C56920B9C}" type="pres">
      <dgm:prSet presAssocID="{463AF83A-0AD7-4D61-A899-8A2B136E40AF}" presName="spaceRect" presStyleCnt="0"/>
      <dgm:spPr/>
    </dgm:pt>
    <dgm:pt modelId="{EB023FFF-BB52-4860-860C-9236D354098B}" type="pres">
      <dgm:prSet presAssocID="{463AF83A-0AD7-4D61-A899-8A2B136E40AF}" presName="textRect" presStyleLbl="revTx" presStyleIdx="2" presStyleCnt="4">
        <dgm:presLayoutVars>
          <dgm:chMax val="1"/>
          <dgm:chPref val="1"/>
        </dgm:presLayoutVars>
      </dgm:prSet>
      <dgm:spPr/>
    </dgm:pt>
    <dgm:pt modelId="{1172D57F-3B37-4AE1-B2EC-15A3AB25377D}" type="pres">
      <dgm:prSet presAssocID="{A0EF9BBC-31A7-4FBC-8E73-D21917F378F1}" presName="sibTrans" presStyleLbl="sibTrans2D1" presStyleIdx="0" presStyleCnt="0"/>
      <dgm:spPr/>
    </dgm:pt>
    <dgm:pt modelId="{86988CC5-88BA-4A7F-A5C9-EF31683671E3}" type="pres">
      <dgm:prSet presAssocID="{2993F5A3-A250-40E0-B4F3-3B8C1A663BEF}" presName="compNode" presStyleCnt="0"/>
      <dgm:spPr/>
    </dgm:pt>
    <dgm:pt modelId="{8CB2AF00-D249-4799-A602-C6D70B465169}" type="pres">
      <dgm:prSet presAssocID="{2993F5A3-A250-40E0-B4F3-3B8C1A663BEF}" presName="iconBgRect" presStyleLbl="bgShp" presStyleIdx="3" presStyleCnt="4"/>
      <dgm:spPr/>
    </dgm:pt>
    <dgm:pt modelId="{65F800B7-3263-4DEC-B5AD-872A6EBD328B}" type="pres">
      <dgm:prSet presAssocID="{2993F5A3-A250-40E0-B4F3-3B8C1A663BE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Yuan"/>
        </a:ext>
      </dgm:extLst>
    </dgm:pt>
    <dgm:pt modelId="{9BC4A829-8DAF-4965-870D-0AA8E24A2B48}" type="pres">
      <dgm:prSet presAssocID="{2993F5A3-A250-40E0-B4F3-3B8C1A663BEF}" presName="spaceRect" presStyleCnt="0"/>
      <dgm:spPr/>
    </dgm:pt>
    <dgm:pt modelId="{B9E302BC-7646-4511-826B-90C7346F27C6}" type="pres">
      <dgm:prSet presAssocID="{2993F5A3-A250-40E0-B4F3-3B8C1A663BEF}" presName="textRect" presStyleLbl="revTx" presStyleIdx="3" presStyleCnt="4">
        <dgm:presLayoutVars>
          <dgm:chMax val="1"/>
          <dgm:chPref val="1"/>
        </dgm:presLayoutVars>
      </dgm:prSet>
      <dgm:spPr/>
    </dgm:pt>
  </dgm:ptLst>
  <dgm:cxnLst>
    <dgm:cxn modelId="{11C60804-8229-442D-A32A-B1754A89C711}" srcId="{724A7F01-07EF-4CAD-A9CC-36074F6EA157}" destId="{463AF83A-0AD7-4D61-A899-8A2B136E40AF}" srcOrd="2" destOrd="0" parTransId="{FBC55469-1FAE-4117-BB8D-F4D9CBA25B48}" sibTransId="{A0EF9BBC-31A7-4FBC-8E73-D21917F378F1}"/>
    <dgm:cxn modelId="{667F1907-F289-844E-8813-9EFB4AC3D5EB}" type="presOf" srcId="{FAAFDA6C-23F5-4FD1-94F4-5182BEB88847}" destId="{204E84AE-5C41-42F2-834D-11FC15E3D925}" srcOrd="0" destOrd="0" presId="urn:microsoft.com/office/officeart/2018/2/layout/IconCircleList"/>
    <dgm:cxn modelId="{561C7F10-077C-2F42-B8FB-C8EF9FEAB6D7}" type="presOf" srcId="{A0EF9BBC-31A7-4FBC-8E73-D21917F378F1}" destId="{1172D57F-3B37-4AE1-B2EC-15A3AB25377D}" srcOrd="0" destOrd="0" presId="urn:microsoft.com/office/officeart/2018/2/layout/IconCircleList"/>
    <dgm:cxn modelId="{FC8F3A1C-1C18-D248-90EF-F7E56E377E86}" type="presOf" srcId="{724A7F01-07EF-4CAD-A9CC-36074F6EA157}" destId="{CB0648EE-0DFF-4AF2-9065-C1BD01AB039D}" srcOrd="0" destOrd="0" presId="urn:microsoft.com/office/officeart/2018/2/layout/IconCircleList"/>
    <dgm:cxn modelId="{1751F441-5BBB-F94F-8C03-6A3947D48052}" type="presOf" srcId="{53091078-FDC5-4D91-B2C5-F11C595061CC}" destId="{146A2799-DCD0-40F5-88C8-AB886AF79DE4}" srcOrd="0" destOrd="0" presId="urn:microsoft.com/office/officeart/2018/2/layout/IconCircleList"/>
    <dgm:cxn modelId="{4C0D595A-2F18-417B-8F63-B233BA91D0E1}" srcId="{724A7F01-07EF-4CAD-A9CC-36074F6EA157}" destId="{2993F5A3-A250-40E0-B4F3-3B8C1A663BEF}" srcOrd="3" destOrd="0" parTransId="{25FE19BA-64ED-4329-BA18-B68AE9FD9E2D}" sibTransId="{C056C13F-E13A-4BC6-AAE3-C7850EA2E585}"/>
    <dgm:cxn modelId="{705DCC69-9399-124D-8431-BC27673F7DAF}" type="presOf" srcId="{263672F1-A442-47B2-802E-AF9F8882E77E}" destId="{B0C5B145-6471-4574-B1E3-167123018238}" srcOrd="0" destOrd="0" presId="urn:microsoft.com/office/officeart/2018/2/layout/IconCircleList"/>
    <dgm:cxn modelId="{C1CBB483-D76B-B04B-86AA-CA25EC8EC1A6}" type="presOf" srcId="{463AF83A-0AD7-4D61-A899-8A2B136E40AF}" destId="{EB023FFF-BB52-4860-860C-9236D354098B}" srcOrd="0" destOrd="0" presId="urn:microsoft.com/office/officeart/2018/2/layout/IconCircleList"/>
    <dgm:cxn modelId="{9B22C3A5-E248-47CF-849A-6265D0FC4FA3}" srcId="{724A7F01-07EF-4CAD-A9CC-36074F6EA157}" destId="{53091078-FDC5-4D91-B2C5-F11C595061CC}" srcOrd="0" destOrd="0" parTransId="{2CEE465B-4843-4F41-A785-F1BAD1284633}" sibTransId="{FAAFDA6C-23F5-4FD1-94F4-5182BEB88847}"/>
    <dgm:cxn modelId="{6BFB54AE-0C67-4CCB-B41C-D442517D8B8C}" srcId="{724A7F01-07EF-4CAD-A9CC-36074F6EA157}" destId="{7280974D-761D-4097-AFBE-81A6C56A799B}" srcOrd="1" destOrd="0" parTransId="{8599766E-F42A-4BDA-813B-D9030401C426}" sibTransId="{263672F1-A442-47B2-802E-AF9F8882E77E}"/>
    <dgm:cxn modelId="{83AF54BD-674A-9740-9CAA-ACF49CF973E1}" type="presOf" srcId="{7280974D-761D-4097-AFBE-81A6C56A799B}" destId="{7EC9F8F5-5290-4FC0-97A4-B67B9C0D6F2A}" srcOrd="0" destOrd="0" presId="urn:microsoft.com/office/officeart/2018/2/layout/IconCircleList"/>
    <dgm:cxn modelId="{8A006EDC-8BAE-EA43-ABF7-46D1B25174C2}" type="presOf" srcId="{2993F5A3-A250-40E0-B4F3-3B8C1A663BEF}" destId="{B9E302BC-7646-4511-826B-90C7346F27C6}" srcOrd="0" destOrd="0" presId="urn:microsoft.com/office/officeart/2018/2/layout/IconCircleList"/>
    <dgm:cxn modelId="{ED634C81-4918-3A4B-B4CE-E864D11ABF61}" type="presParOf" srcId="{CB0648EE-0DFF-4AF2-9065-C1BD01AB039D}" destId="{BA3C2A73-C5C0-4C39-83F1-E3EA9653CD9E}" srcOrd="0" destOrd="0" presId="urn:microsoft.com/office/officeart/2018/2/layout/IconCircleList"/>
    <dgm:cxn modelId="{4567D9B9-8F04-EC49-B9CE-CA913986B9C9}" type="presParOf" srcId="{BA3C2A73-C5C0-4C39-83F1-E3EA9653CD9E}" destId="{050F15D2-804E-4FA6-9765-554C3F2553B9}" srcOrd="0" destOrd="0" presId="urn:microsoft.com/office/officeart/2018/2/layout/IconCircleList"/>
    <dgm:cxn modelId="{BF7D78E4-F53A-7543-9F09-F0AA1DDCF118}" type="presParOf" srcId="{050F15D2-804E-4FA6-9765-554C3F2553B9}" destId="{897DE5BE-A0FD-415B-9E28-16FEAE04E288}" srcOrd="0" destOrd="0" presId="urn:microsoft.com/office/officeart/2018/2/layout/IconCircleList"/>
    <dgm:cxn modelId="{D4273027-43EB-8740-BF73-8EF806618A1E}" type="presParOf" srcId="{050F15D2-804E-4FA6-9765-554C3F2553B9}" destId="{8E11D8F2-00D4-46D3-8569-5199AF1B051E}" srcOrd="1" destOrd="0" presId="urn:microsoft.com/office/officeart/2018/2/layout/IconCircleList"/>
    <dgm:cxn modelId="{2BE454E8-183E-574A-9550-B0F00F23E3E6}" type="presParOf" srcId="{050F15D2-804E-4FA6-9765-554C3F2553B9}" destId="{608A2102-4E9F-4431-AF49-4BDDCCAB7353}" srcOrd="2" destOrd="0" presId="urn:microsoft.com/office/officeart/2018/2/layout/IconCircleList"/>
    <dgm:cxn modelId="{0B9BF54D-F739-4A42-A39F-253C57C73DCE}" type="presParOf" srcId="{050F15D2-804E-4FA6-9765-554C3F2553B9}" destId="{146A2799-DCD0-40F5-88C8-AB886AF79DE4}" srcOrd="3" destOrd="0" presId="urn:microsoft.com/office/officeart/2018/2/layout/IconCircleList"/>
    <dgm:cxn modelId="{7FFFD14D-4F43-2F47-8261-EBEFD646ED53}" type="presParOf" srcId="{BA3C2A73-C5C0-4C39-83F1-E3EA9653CD9E}" destId="{204E84AE-5C41-42F2-834D-11FC15E3D925}" srcOrd="1" destOrd="0" presId="urn:microsoft.com/office/officeart/2018/2/layout/IconCircleList"/>
    <dgm:cxn modelId="{0D213ECF-E585-6341-8DC4-09F1D3CF7129}" type="presParOf" srcId="{BA3C2A73-C5C0-4C39-83F1-E3EA9653CD9E}" destId="{B44ACA8C-9EB2-4E2C-87CF-DE19F2153049}" srcOrd="2" destOrd="0" presId="urn:microsoft.com/office/officeart/2018/2/layout/IconCircleList"/>
    <dgm:cxn modelId="{CE92FE6F-F0A3-A74C-A277-8EE387F9D4CB}" type="presParOf" srcId="{B44ACA8C-9EB2-4E2C-87CF-DE19F2153049}" destId="{CB58C419-D20F-4D39-8224-8628740F5045}" srcOrd="0" destOrd="0" presId="urn:microsoft.com/office/officeart/2018/2/layout/IconCircleList"/>
    <dgm:cxn modelId="{C7C52D91-3410-6B4E-8AEA-52498DBEC10E}" type="presParOf" srcId="{B44ACA8C-9EB2-4E2C-87CF-DE19F2153049}" destId="{F3EFF1B1-1CBC-4DD8-8D27-90472D20FED2}" srcOrd="1" destOrd="0" presId="urn:microsoft.com/office/officeart/2018/2/layout/IconCircleList"/>
    <dgm:cxn modelId="{0D7009AF-07E7-784E-B740-AC86CF9B438B}" type="presParOf" srcId="{B44ACA8C-9EB2-4E2C-87CF-DE19F2153049}" destId="{C896C7D7-355C-47D5-83D0-63E0553B10B1}" srcOrd="2" destOrd="0" presId="urn:microsoft.com/office/officeart/2018/2/layout/IconCircleList"/>
    <dgm:cxn modelId="{F6EA1BAE-BD4F-2D4F-883B-B9BDED0737BE}" type="presParOf" srcId="{B44ACA8C-9EB2-4E2C-87CF-DE19F2153049}" destId="{7EC9F8F5-5290-4FC0-97A4-B67B9C0D6F2A}" srcOrd="3" destOrd="0" presId="urn:microsoft.com/office/officeart/2018/2/layout/IconCircleList"/>
    <dgm:cxn modelId="{E00728C2-750D-F444-B7BC-B55CF6254659}" type="presParOf" srcId="{BA3C2A73-C5C0-4C39-83F1-E3EA9653CD9E}" destId="{B0C5B145-6471-4574-B1E3-167123018238}" srcOrd="3" destOrd="0" presId="urn:microsoft.com/office/officeart/2018/2/layout/IconCircleList"/>
    <dgm:cxn modelId="{23459622-1056-4145-93A3-C28F5A0E7D9F}" type="presParOf" srcId="{BA3C2A73-C5C0-4C39-83F1-E3EA9653CD9E}" destId="{4B75E4DE-B800-4B7A-848E-86F153AA3F76}" srcOrd="4" destOrd="0" presId="urn:microsoft.com/office/officeart/2018/2/layout/IconCircleList"/>
    <dgm:cxn modelId="{783580E6-D058-5B40-A68E-9A7F33F10A2E}" type="presParOf" srcId="{4B75E4DE-B800-4B7A-848E-86F153AA3F76}" destId="{8B7A2455-E886-4C55-BBF7-53190F37AEBE}" srcOrd="0" destOrd="0" presId="urn:microsoft.com/office/officeart/2018/2/layout/IconCircleList"/>
    <dgm:cxn modelId="{B653F058-CEE5-D840-A3A2-142E2DDD6EC7}" type="presParOf" srcId="{4B75E4DE-B800-4B7A-848E-86F153AA3F76}" destId="{A1BF4832-F5AE-4939-9A9D-B8D97DEED9D0}" srcOrd="1" destOrd="0" presId="urn:microsoft.com/office/officeart/2018/2/layout/IconCircleList"/>
    <dgm:cxn modelId="{6B2BEDD9-AE4C-F74B-9FA6-21F93F4354C1}" type="presParOf" srcId="{4B75E4DE-B800-4B7A-848E-86F153AA3F76}" destId="{14A83956-6D3B-427C-923C-0E0C56920B9C}" srcOrd="2" destOrd="0" presId="urn:microsoft.com/office/officeart/2018/2/layout/IconCircleList"/>
    <dgm:cxn modelId="{C54A59BC-5F56-7341-B373-176282772028}" type="presParOf" srcId="{4B75E4DE-B800-4B7A-848E-86F153AA3F76}" destId="{EB023FFF-BB52-4860-860C-9236D354098B}" srcOrd="3" destOrd="0" presId="urn:microsoft.com/office/officeart/2018/2/layout/IconCircleList"/>
    <dgm:cxn modelId="{7EEB49ED-4381-9C41-A5D5-846FECC97B9B}" type="presParOf" srcId="{BA3C2A73-C5C0-4C39-83F1-E3EA9653CD9E}" destId="{1172D57F-3B37-4AE1-B2EC-15A3AB25377D}" srcOrd="5" destOrd="0" presId="urn:microsoft.com/office/officeart/2018/2/layout/IconCircleList"/>
    <dgm:cxn modelId="{03E1E6AF-120B-2843-9FDF-EC3C23C5B178}" type="presParOf" srcId="{BA3C2A73-C5C0-4C39-83F1-E3EA9653CD9E}" destId="{86988CC5-88BA-4A7F-A5C9-EF31683671E3}" srcOrd="6" destOrd="0" presId="urn:microsoft.com/office/officeart/2018/2/layout/IconCircleList"/>
    <dgm:cxn modelId="{DE331169-1069-7445-A614-D691E80A1AF6}" type="presParOf" srcId="{86988CC5-88BA-4A7F-A5C9-EF31683671E3}" destId="{8CB2AF00-D249-4799-A602-C6D70B465169}" srcOrd="0" destOrd="0" presId="urn:microsoft.com/office/officeart/2018/2/layout/IconCircleList"/>
    <dgm:cxn modelId="{21B064A5-AB67-3148-A9AE-6817EE232D98}" type="presParOf" srcId="{86988CC5-88BA-4A7F-A5C9-EF31683671E3}" destId="{65F800B7-3263-4DEC-B5AD-872A6EBD328B}" srcOrd="1" destOrd="0" presId="urn:microsoft.com/office/officeart/2018/2/layout/IconCircleList"/>
    <dgm:cxn modelId="{F8E70FBF-9436-CC47-9AAF-F2B70A0E47C6}" type="presParOf" srcId="{86988CC5-88BA-4A7F-A5C9-EF31683671E3}" destId="{9BC4A829-8DAF-4965-870D-0AA8E24A2B48}" srcOrd="2" destOrd="0" presId="urn:microsoft.com/office/officeart/2018/2/layout/IconCircleList"/>
    <dgm:cxn modelId="{80489DF2-6DE1-BD45-B55D-E537F1132FE5}" type="presParOf" srcId="{86988CC5-88BA-4A7F-A5C9-EF31683671E3}" destId="{B9E302BC-7646-4511-826B-90C7346F27C6}"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D89D8A3-B940-4661-BFED-9569367A6E6F}"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1E391658-23EE-4A4C-80BD-E2EF9EAA818F}">
      <dgm:prSet custT="1"/>
      <dgm:spPr/>
      <dgm:t>
        <a:bodyPr/>
        <a:lstStyle/>
        <a:p>
          <a:pPr>
            <a:defRPr b="1"/>
          </a:pPr>
          <a:r>
            <a:rPr lang="en-US" sz="2400" dirty="0">
              <a:latin typeface="+mn-lt"/>
            </a:rPr>
            <a:t>Movements in the exchange rate</a:t>
          </a:r>
        </a:p>
      </dgm:t>
    </dgm:pt>
    <dgm:pt modelId="{D2901774-BBDC-4565-A407-F3DC50ACCCAB}" type="parTrans" cxnId="{61863E80-A027-4D58-A440-BAF961A8451E}">
      <dgm:prSet/>
      <dgm:spPr/>
      <dgm:t>
        <a:bodyPr/>
        <a:lstStyle/>
        <a:p>
          <a:endParaRPr lang="en-US" sz="1800">
            <a:latin typeface="Creative Thoughts" pitchFamily="2" charset="0"/>
          </a:endParaRPr>
        </a:p>
      </dgm:t>
    </dgm:pt>
    <dgm:pt modelId="{74033D48-2608-4DD0-A2BE-F3083A665CDC}" type="sibTrans" cxnId="{61863E80-A027-4D58-A440-BAF961A8451E}">
      <dgm:prSet/>
      <dgm:spPr/>
      <dgm:t>
        <a:bodyPr/>
        <a:lstStyle/>
        <a:p>
          <a:endParaRPr lang="en-US" sz="1600">
            <a:latin typeface="Creative Thoughts" pitchFamily="2" charset="0"/>
          </a:endParaRPr>
        </a:p>
      </dgm:t>
    </dgm:pt>
    <dgm:pt modelId="{0B974340-D0C6-4C49-B4B6-519611E524FA}">
      <dgm:prSet custT="1"/>
      <dgm:spPr/>
      <dgm:t>
        <a:bodyPr/>
        <a:lstStyle/>
        <a:p>
          <a:pPr>
            <a:buFont typeface="Courier New" panose="02070309020205020404" pitchFamily="49" charset="0"/>
            <a:buChar char="o"/>
          </a:pPr>
          <a:r>
            <a:rPr lang="en-US" sz="2000" dirty="0">
              <a:latin typeface="+mn-lt"/>
            </a:rPr>
            <a:t>A lower AUD makes Aus X cheaper, so Aus will sell more X</a:t>
          </a:r>
        </a:p>
      </dgm:t>
    </dgm:pt>
    <dgm:pt modelId="{3F6EE72B-B8E7-4FAB-A5CF-E373757F307E}" type="parTrans" cxnId="{F3FD9140-1823-4A44-BE6F-66CECCFAA145}">
      <dgm:prSet/>
      <dgm:spPr/>
      <dgm:t>
        <a:bodyPr/>
        <a:lstStyle/>
        <a:p>
          <a:endParaRPr lang="en-US" sz="1800">
            <a:latin typeface="Creative Thoughts" pitchFamily="2" charset="0"/>
          </a:endParaRPr>
        </a:p>
      </dgm:t>
    </dgm:pt>
    <dgm:pt modelId="{7A163FD7-0FF5-4124-87B6-77841E6D5BA3}" type="sibTrans" cxnId="{F3FD9140-1823-4A44-BE6F-66CECCFAA145}">
      <dgm:prSet/>
      <dgm:spPr/>
      <dgm:t>
        <a:bodyPr/>
        <a:lstStyle/>
        <a:p>
          <a:endParaRPr lang="en-US" sz="1600">
            <a:latin typeface="Creative Thoughts" pitchFamily="2" charset="0"/>
          </a:endParaRPr>
        </a:p>
      </dgm:t>
    </dgm:pt>
    <dgm:pt modelId="{DCA0F6D3-46E0-4A3E-BEFD-3BA3218826D6}">
      <dgm:prSet custT="1"/>
      <dgm:spPr/>
      <dgm:t>
        <a:bodyPr/>
        <a:lstStyle/>
        <a:p>
          <a:pPr>
            <a:buFont typeface="Courier New" panose="02070309020205020404" pitchFamily="49" charset="0"/>
            <a:buChar char="o"/>
          </a:pPr>
          <a:r>
            <a:rPr lang="en-US" sz="2000" dirty="0">
              <a:latin typeface="+mn-lt"/>
            </a:rPr>
            <a:t>Lower AUD also means M are more expensive, so Aus will buy fewer M</a:t>
          </a:r>
        </a:p>
      </dgm:t>
    </dgm:pt>
    <dgm:pt modelId="{8F34EFD6-5F74-4278-B3F1-42B2EB66520E}" type="parTrans" cxnId="{9DC485BA-01BB-402A-88D4-ED94226DC22A}">
      <dgm:prSet/>
      <dgm:spPr/>
      <dgm:t>
        <a:bodyPr/>
        <a:lstStyle/>
        <a:p>
          <a:endParaRPr lang="en-US" sz="1800">
            <a:latin typeface="Creative Thoughts" pitchFamily="2" charset="0"/>
          </a:endParaRPr>
        </a:p>
      </dgm:t>
    </dgm:pt>
    <dgm:pt modelId="{13C18F64-0146-4CFA-AA3B-C5F15609191E}" type="sibTrans" cxnId="{9DC485BA-01BB-402A-88D4-ED94226DC22A}">
      <dgm:prSet/>
      <dgm:spPr/>
      <dgm:t>
        <a:bodyPr/>
        <a:lstStyle/>
        <a:p>
          <a:endParaRPr lang="en-US" sz="1600">
            <a:latin typeface="Creative Thoughts" pitchFamily="2" charset="0"/>
          </a:endParaRPr>
        </a:p>
      </dgm:t>
    </dgm:pt>
    <dgm:pt modelId="{D3C5277E-5F7D-41B1-A234-1493360C22DA}">
      <dgm:prSet custT="1"/>
      <dgm:spPr/>
      <dgm:t>
        <a:bodyPr/>
        <a:lstStyle/>
        <a:p>
          <a:pPr>
            <a:buFont typeface="Courier New" panose="02070309020205020404" pitchFamily="49" charset="0"/>
            <a:buChar char="o"/>
          </a:pPr>
          <a:r>
            <a:rPr lang="en-US" sz="2000" dirty="0">
              <a:latin typeface="+mn-lt"/>
            </a:rPr>
            <a:t>This increases BOGS</a:t>
          </a:r>
        </a:p>
      </dgm:t>
    </dgm:pt>
    <dgm:pt modelId="{7A1AF992-B280-41F2-A4A4-1C2F066AFBD4}" type="parTrans" cxnId="{94E92A8B-1611-4E32-B685-351FC51AFBCF}">
      <dgm:prSet/>
      <dgm:spPr/>
      <dgm:t>
        <a:bodyPr/>
        <a:lstStyle/>
        <a:p>
          <a:endParaRPr lang="en-US" sz="1800">
            <a:latin typeface="Creative Thoughts" pitchFamily="2" charset="0"/>
          </a:endParaRPr>
        </a:p>
      </dgm:t>
    </dgm:pt>
    <dgm:pt modelId="{471B253B-40AF-4A4C-A3D9-93B22E83D696}" type="sibTrans" cxnId="{94E92A8B-1611-4E32-B685-351FC51AFBCF}">
      <dgm:prSet/>
      <dgm:spPr/>
      <dgm:t>
        <a:bodyPr/>
        <a:lstStyle/>
        <a:p>
          <a:endParaRPr lang="en-US" sz="1600">
            <a:latin typeface="Creative Thoughts" pitchFamily="2" charset="0"/>
          </a:endParaRPr>
        </a:p>
      </dgm:t>
    </dgm:pt>
    <dgm:pt modelId="{403FBFED-9377-493C-B39F-4CFD1BB31A58}">
      <dgm:prSet custT="1"/>
      <dgm:spPr/>
      <dgm:t>
        <a:bodyPr/>
        <a:lstStyle/>
        <a:p>
          <a:pPr>
            <a:defRPr b="1"/>
          </a:pPr>
          <a:r>
            <a:rPr lang="en-US" sz="2400" dirty="0">
              <a:latin typeface="+mn-lt"/>
            </a:rPr>
            <a:t>Terms of trade</a:t>
          </a:r>
        </a:p>
      </dgm:t>
    </dgm:pt>
    <dgm:pt modelId="{844B62AA-8CE7-476F-B8FF-1E8D414DAF32}" type="parTrans" cxnId="{7E95973F-6951-42D7-B752-D32E01126BD6}">
      <dgm:prSet/>
      <dgm:spPr/>
      <dgm:t>
        <a:bodyPr/>
        <a:lstStyle/>
        <a:p>
          <a:endParaRPr lang="en-US" sz="1800">
            <a:latin typeface="Creative Thoughts" pitchFamily="2" charset="0"/>
          </a:endParaRPr>
        </a:p>
      </dgm:t>
    </dgm:pt>
    <dgm:pt modelId="{563CC214-2C2F-4455-8805-6C4237198457}" type="sibTrans" cxnId="{7E95973F-6951-42D7-B752-D32E01126BD6}">
      <dgm:prSet/>
      <dgm:spPr/>
      <dgm:t>
        <a:bodyPr/>
        <a:lstStyle/>
        <a:p>
          <a:endParaRPr lang="en-US" sz="1600">
            <a:latin typeface="Creative Thoughts" pitchFamily="2" charset="0"/>
          </a:endParaRPr>
        </a:p>
      </dgm:t>
    </dgm:pt>
    <dgm:pt modelId="{4A3E970A-D39D-41FD-B416-2C0B8E8E248E}">
      <dgm:prSet custT="1"/>
      <dgm:spPr/>
      <dgm:t>
        <a:bodyPr/>
        <a:lstStyle/>
        <a:p>
          <a:pPr>
            <a:buFont typeface="Courier New" panose="02070309020205020404" pitchFamily="49" charset="0"/>
            <a:buChar char="o"/>
          </a:pPr>
          <a:r>
            <a:rPr lang="en-US" sz="2000" dirty="0">
              <a:latin typeface="Avenir Book" panose="02000503020000020003" pitchFamily="2" charset="0"/>
            </a:rPr>
            <a:t>Generally, a higher TOT means Aus is receiving higher X prices than the prices it pays for M</a:t>
          </a:r>
        </a:p>
      </dgm:t>
    </dgm:pt>
    <dgm:pt modelId="{C2380749-5913-4C29-8B03-DC3C97D4A758}" type="parTrans" cxnId="{B66F6063-64ED-4A9D-9107-CE6346C74FDE}">
      <dgm:prSet/>
      <dgm:spPr/>
      <dgm:t>
        <a:bodyPr/>
        <a:lstStyle/>
        <a:p>
          <a:endParaRPr lang="en-US" sz="1800">
            <a:latin typeface="Creative Thoughts" pitchFamily="2" charset="0"/>
          </a:endParaRPr>
        </a:p>
      </dgm:t>
    </dgm:pt>
    <dgm:pt modelId="{A478670D-3622-4912-9D42-F24D0031507E}" type="sibTrans" cxnId="{B66F6063-64ED-4A9D-9107-CE6346C74FDE}">
      <dgm:prSet/>
      <dgm:spPr/>
      <dgm:t>
        <a:bodyPr/>
        <a:lstStyle/>
        <a:p>
          <a:endParaRPr lang="en-US" sz="1600">
            <a:latin typeface="Creative Thoughts" pitchFamily="2" charset="0"/>
          </a:endParaRPr>
        </a:p>
      </dgm:t>
    </dgm:pt>
    <dgm:pt modelId="{4B9F8E9B-ED70-41A6-A75B-238B2D38CF92}">
      <dgm:prSet custT="1"/>
      <dgm:spPr/>
      <dgm:t>
        <a:bodyPr/>
        <a:lstStyle/>
        <a:p>
          <a:pPr>
            <a:buFont typeface="Courier New" panose="02070309020205020404" pitchFamily="49" charset="0"/>
            <a:buChar char="o"/>
          </a:pPr>
          <a:r>
            <a:rPr lang="en-US" sz="2000" dirty="0">
              <a:latin typeface="Avenir Book" panose="02000503020000020003" pitchFamily="2" charset="0"/>
            </a:rPr>
            <a:t>This increases X revenue and increases BOGS</a:t>
          </a:r>
        </a:p>
      </dgm:t>
    </dgm:pt>
    <dgm:pt modelId="{E4509A98-7952-4632-9704-A4FAB56504B2}" type="parTrans" cxnId="{8940DC60-B762-4D2A-8EE7-1E5614BFD1BC}">
      <dgm:prSet/>
      <dgm:spPr/>
      <dgm:t>
        <a:bodyPr/>
        <a:lstStyle/>
        <a:p>
          <a:endParaRPr lang="en-US" sz="1800">
            <a:latin typeface="Creative Thoughts" pitchFamily="2" charset="0"/>
          </a:endParaRPr>
        </a:p>
      </dgm:t>
    </dgm:pt>
    <dgm:pt modelId="{6779E11C-4FCF-4335-9984-0CF54B50540C}" type="sibTrans" cxnId="{8940DC60-B762-4D2A-8EE7-1E5614BFD1BC}">
      <dgm:prSet/>
      <dgm:spPr/>
      <dgm:t>
        <a:bodyPr/>
        <a:lstStyle/>
        <a:p>
          <a:endParaRPr lang="en-US" sz="1600">
            <a:latin typeface="Creative Thoughts" pitchFamily="2" charset="0"/>
          </a:endParaRPr>
        </a:p>
      </dgm:t>
    </dgm:pt>
    <dgm:pt modelId="{7F9D9007-CC40-4632-A5D3-AA5432D7722B}">
      <dgm:prSet custT="1"/>
      <dgm:spPr/>
      <dgm:t>
        <a:bodyPr/>
        <a:lstStyle/>
        <a:p>
          <a:pPr>
            <a:defRPr b="1"/>
          </a:pPr>
          <a:r>
            <a:rPr lang="en-US" sz="2400" dirty="0">
              <a:latin typeface="+mn-lt"/>
            </a:rPr>
            <a:t>Domestic economic growth</a:t>
          </a:r>
        </a:p>
      </dgm:t>
    </dgm:pt>
    <dgm:pt modelId="{A1660999-F2BA-4A46-B4A2-C412A6B72A21}" type="parTrans" cxnId="{257A11C4-6551-4421-AFB5-604804141D7B}">
      <dgm:prSet/>
      <dgm:spPr/>
      <dgm:t>
        <a:bodyPr/>
        <a:lstStyle/>
        <a:p>
          <a:endParaRPr lang="en-US" sz="1800">
            <a:latin typeface="Creative Thoughts" pitchFamily="2" charset="0"/>
          </a:endParaRPr>
        </a:p>
      </dgm:t>
    </dgm:pt>
    <dgm:pt modelId="{FAB17E5C-262D-4BAB-93D3-A9B2FB179814}" type="sibTrans" cxnId="{257A11C4-6551-4421-AFB5-604804141D7B}">
      <dgm:prSet/>
      <dgm:spPr/>
      <dgm:t>
        <a:bodyPr/>
        <a:lstStyle/>
        <a:p>
          <a:endParaRPr lang="en-US" sz="1600">
            <a:latin typeface="Creative Thoughts" pitchFamily="2" charset="0"/>
          </a:endParaRPr>
        </a:p>
      </dgm:t>
    </dgm:pt>
    <dgm:pt modelId="{2D4A67A0-F8EF-4EA4-8746-6FEF7D7890E6}">
      <dgm:prSet custT="1"/>
      <dgm:spPr/>
      <dgm:t>
        <a:bodyPr/>
        <a:lstStyle/>
        <a:p>
          <a:pPr>
            <a:buFont typeface="Courier New" panose="02070309020205020404" pitchFamily="49" charset="0"/>
            <a:buChar char="o"/>
          </a:pPr>
          <a:r>
            <a:rPr lang="en-US" sz="2000" dirty="0">
              <a:latin typeface="+mn-lt"/>
            </a:rPr>
            <a:t>Higher domestic economic growth results in higher consumer income</a:t>
          </a:r>
        </a:p>
      </dgm:t>
    </dgm:pt>
    <dgm:pt modelId="{33AB2BEF-A008-424A-B516-9A0E3A1701D3}" type="parTrans" cxnId="{65546E7B-5CDD-488F-91AB-49B748FD0195}">
      <dgm:prSet/>
      <dgm:spPr/>
      <dgm:t>
        <a:bodyPr/>
        <a:lstStyle/>
        <a:p>
          <a:endParaRPr lang="en-US" sz="1800">
            <a:latin typeface="Creative Thoughts" pitchFamily="2" charset="0"/>
          </a:endParaRPr>
        </a:p>
      </dgm:t>
    </dgm:pt>
    <dgm:pt modelId="{98F43584-06C7-4663-994E-C996816E1255}" type="sibTrans" cxnId="{65546E7B-5CDD-488F-91AB-49B748FD0195}">
      <dgm:prSet/>
      <dgm:spPr/>
      <dgm:t>
        <a:bodyPr/>
        <a:lstStyle/>
        <a:p>
          <a:endParaRPr lang="en-US" sz="1600">
            <a:latin typeface="Creative Thoughts" pitchFamily="2" charset="0"/>
          </a:endParaRPr>
        </a:p>
      </dgm:t>
    </dgm:pt>
    <dgm:pt modelId="{394801DC-C738-4294-BC8F-8D3F3F0B118D}">
      <dgm:prSet custT="1"/>
      <dgm:spPr/>
      <dgm:t>
        <a:bodyPr/>
        <a:lstStyle/>
        <a:p>
          <a:pPr>
            <a:buFont typeface="Courier New" panose="02070309020205020404" pitchFamily="49" charset="0"/>
            <a:buChar char="o"/>
          </a:pPr>
          <a:r>
            <a:rPr lang="en-US" sz="2000" dirty="0">
              <a:latin typeface="+mn-lt"/>
            </a:rPr>
            <a:t>Leads to increased consumption spending on M purchases</a:t>
          </a:r>
        </a:p>
      </dgm:t>
    </dgm:pt>
    <dgm:pt modelId="{863D0E47-9F2C-4A9E-826F-615907E1DCD2}" type="parTrans" cxnId="{C765CD6D-D52D-448C-88BD-C4D1DAA44EEA}">
      <dgm:prSet/>
      <dgm:spPr/>
      <dgm:t>
        <a:bodyPr/>
        <a:lstStyle/>
        <a:p>
          <a:endParaRPr lang="en-US" sz="1800">
            <a:latin typeface="Creative Thoughts" pitchFamily="2" charset="0"/>
          </a:endParaRPr>
        </a:p>
      </dgm:t>
    </dgm:pt>
    <dgm:pt modelId="{1F372F4C-BBDC-4F3D-B9D0-0752520A8CA1}" type="sibTrans" cxnId="{C765CD6D-D52D-448C-88BD-C4D1DAA44EEA}">
      <dgm:prSet/>
      <dgm:spPr/>
      <dgm:t>
        <a:bodyPr/>
        <a:lstStyle/>
        <a:p>
          <a:endParaRPr lang="en-US" sz="1600">
            <a:latin typeface="Creative Thoughts" pitchFamily="2" charset="0"/>
          </a:endParaRPr>
        </a:p>
      </dgm:t>
    </dgm:pt>
    <dgm:pt modelId="{E4A7900B-DA95-4D70-9A58-D82580CA08A5}">
      <dgm:prSet custT="1"/>
      <dgm:spPr/>
      <dgm:t>
        <a:bodyPr/>
        <a:lstStyle/>
        <a:p>
          <a:pPr>
            <a:buFont typeface="Courier New" panose="02070309020205020404" pitchFamily="49" charset="0"/>
            <a:buChar char="o"/>
          </a:pPr>
          <a:r>
            <a:rPr lang="en-US" sz="2000" dirty="0">
              <a:latin typeface="+mn-lt"/>
            </a:rPr>
            <a:t>This decreases BOGS</a:t>
          </a:r>
        </a:p>
      </dgm:t>
    </dgm:pt>
    <dgm:pt modelId="{B1C94A55-0727-42B8-BC9F-9699E48A977D}" type="parTrans" cxnId="{91007DE5-F11D-4F87-B478-4B426BEA11FD}">
      <dgm:prSet/>
      <dgm:spPr/>
      <dgm:t>
        <a:bodyPr/>
        <a:lstStyle/>
        <a:p>
          <a:endParaRPr lang="en-US" sz="1800">
            <a:latin typeface="Creative Thoughts" pitchFamily="2" charset="0"/>
          </a:endParaRPr>
        </a:p>
      </dgm:t>
    </dgm:pt>
    <dgm:pt modelId="{EFFBC0D2-8EAF-4907-8BB2-012F5973046B}" type="sibTrans" cxnId="{91007DE5-F11D-4F87-B478-4B426BEA11FD}">
      <dgm:prSet/>
      <dgm:spPr/>
      <dgm:t>
        <a:bodyPr/>
        <a:lstStyle/>
        <a:p>
          <a:endParaRPr lang="en-US" sz="1600">
            <a:latin typeface="Creative Thoughts" pitchFamily="2" charset="0"/>
          </a:endParaRPr>
        </a:p>
      </dgm:t>
    </dgm:pt>
    <dgm:pt modelId="{C3E7DCFB-4E46-3147-A6C7-51D921A8B770}">
      <dgm:prSet custT="1"/>
      <dgm:spPr/>
      <dgm:t>
        <a:bodyPr/>
        <a:lstStyle/>
        <a:p>
          <a:pPr>
            <a:buFont typeface="Courier New" panose="02070309020205020404" pitchFamily="49" charset="0"/>
            <a:buNone/>
          </a:pPr>
          <a:endParaRPr lang="en-US" sz="2000" dirty="0">
            <a:latin typeface="+mn-lt"/>
          </a:endParaRPr>
        </a:p>
      </dgm:t>
    </dgm:pt>
    <dgm:pt modelId="{08FA2AB7-2F79-4044-8B53-75B9DBE5526A}" type="parTrans" cxnId="{3973E52D-EF14-9041-A97A-A52250C780CF}">
      <dgm:prSet/>
      <dgm:spPr/>
      <dgm:t>
        <a:bodyPr/>
        <a:lstStyle/>
        <a:p>
          <a:endParaRPr lang="en-GB"/>
        </a:p>
      </dgm:t>
    </dgm:pt>
    <dgm:pt modelId="{D81B32AE-170C-3840-BDEE-E8EAA6642A91}" type="sibTrans" cxnId="{3973E52D-EF14-9041-A97A-A52250C780CF}">
      <dgm:prSet/>
      <dgm:spPr/>
      <dgm:t>
        <a:bodyPr/>
        <a:lstStyle/>
        <a:p>
          <a:endParaRPr lang="en-GB"/>
        </a:p>
      </dgm:t>
    </dgm:pt>
    <dgm:pt modelId="{0CAC7D54-FE92-D64D-BBF1-0CF72F35E3CB}">
      <dgm:prSet custT="1"/>
      <dgm:spPr/>
      <dgm:t>
        <a:bodyPr/>
        <a:lstStyle/>
        <a:p>
          <a:pPr>
            <a:buFont typeface="Courier New" panose="02070309020205020404" pitchFamily="49" charset="0"/>
            <a:buNone/>
          </a:pPr>
          <a:endParaRPr lang="en-US" sz="2000" dirty="0">
            <a:latin typeface="Avenir Book" panose="02000503020000020003" pitchFamily="2" charset="0"/>
          </a:endParaRPr>
        </a:p>
      </dgm:t>
    </dgm:pt>
    <dgm:pt modelId="{71DAEE83-C665-4643-8A15-922991ABC56D}" type="parTrans" cxnId="{BB1C20B8-50EB-AB42-8FFF-08F0B2749154}">
      <dgm:prSet/>
      <dgm:spPr/>
      <dgm:t>
        <a:bodyPr/>
        <a:lstStyle/>
        <a:p>
          <a:endParaRPr lang="en-GB"/>
        </a:p>
      </dgm:t>
    </dgm:pt>
    <dgm:pt modelId="{A54A4CB9-0360-3C48-8179-8EC533CA05B4}" type="sibTrans" cxnId="{BB1C20B8-50EB-AB42-8FFF-08F0B2749154}">
      <dgm:prSet/>
      <dgm:spPr/>
      <dgm:t>
        <a:bodyPr/>
        <a:lstStyle/>
        <a:p>
          <a:endParaRPr lang="en-GB"/>
        </a:p>
      </dgm:t>
    </dgm:pt>
    <dgm:pt modelId="{0E190CCB-800D-824A-B763-C689FAD01110}" type="pres">
      <dgm:prSet presAssocID="{4D89D8A3-B940-4661-BFED-9569367A6E6F}" presName="linear" presStyleCnt="0">
        <dgm:presLayoutVars>
          <dgm:animLvl val="lvl"/>
          <dgm:resizeHandles val="exact"/>
        </dgm:presLayoutVars>
      </dgm:prSet>
      <dgm:spPr/>
    </dgm:pt>
    <dgm:pt modelId="{A5D4BC71-E525-674C-A3E0-A575CB063963}" type="pres">
      <dgm:prSet presAssocID="{1E391658-23EE-4A4C-80BD-E2EF9EAA818F}" presName="parentText" presStyleLbl="node1" presStyleIdx="0" presStyleCnt="3" custScaleY="38794" custLinFactNeighborX="-18186">
        <dgm:presLayoutVars>
          <dgm:chMax val="0"/>
          <dgm:bulletEnabled val="1"/>
        </dgm:presLayoutVars>
      </dgm:prSet>
      <dgm:spPr/>
    </dgm:pt>
    <dgm:pt modelId="{9290643D-1D05-EF4F-A4EC-C4D05095AEDC}" type="pres">
      <dgm:prSet presAssocID="{1E391658-23EE-4A4C-80BD-E2EF9EAA818F}" presName="childText" presStyleLbl="revTx" presStyleIdx="0" presStyleCnt="3">
        <dgm:presLayoutVars>
          <dgm:bulletEnabled val="1"/>
        </dgm:presLayoutVars>
      </dgm:prSet>
      <dgm:spPr/>
    </dgm:pt>
    <dgm:pt modelId="{67E24769-C00F-2745-BB60-37197C433EFB}" type="pres">
      <dgm:prSet presAssocID="{403FBFED-9377-493C-B39F-4CFD1BB31A58}" presName="parentText" presStyleLbl="node1" presStyleIdx="1" presStyleCnt="3" custScaleY="38211">
        <dgm:presLayoutVars>
          <dgm:chMax val="0"/>
          <dgm:bulletEnabled val="1"/>
        </dgm:presLayoutVars>
      </dgm:prSet>
      <dgm:spPr/>
    </dgm:pt>
    <dgm:pt modelId="{FAFB7031-2FF9-AA47-9AEF-A383050FDC71}" type="pres">
      <dgm:prSet presAssocID="{403FBFED-9377-493C-B39F-4CFD1BB31A58}" presName="childText" presStyleLbl="revTx" presStyleIdx="1" presStyleCnt="3">
        <dgm:presLayoutVars>
          <dgm:bulletEnabled val="1"/>
        </dgm:presLayoutVars>
      </dgm:prSet>
      <dgm:spPr/>
    </dgm:pt>
    <dgm:pt modelId="{E6DB9E29-3CA1-0041-AE43-27AA49A9D55F}" type="pres">
      <dgm:prSet presAssocID="{7F9D9007-CC40-4632-A5D3-AA5432D7722B}" presName="parentText" presStyleLbl="node1" presStyleIdx="2" presStyleCnt="3" custScaleY="42848">
        <dgm:presLayoutVars>
          <dgm:chMax val="0"/>
          <dgm:bulletEnabled val="1"/>
        </dgm:presLayoutVars>
      </dgm:prSet>
      <dgm:spPr/>
    </dgm:pt>
    <dgm:pt modelId="{2C507A1F-F85B-D444-BD41-EB5E14F398CA}" type="pres">
      <dgm:prSet presAssocID="{7F9D9007-CC40-4632-A5D3-AA5432D7722B}" presName="childText" presStyleLbl="revTx" presStyleIdx="2" presStyleCnt="3">
        <dgm:presLayoutVars>
          <dgm:bulletEnabled val="1"/>
        </dgm:presLayoutVars>
      </dgm:prSet>
      <dgm:spPr/>
    </dgm:pt>
  </dgm:ptLst>
  <dgm:cxnLst>
    <dgm:cxn modelId="{2A67191F-ECC0-CA46-AED5-8FB8CF6FAF50}" type="presOf" srcId="{4B9F8E9B-ED70-41A6-A75B-238B2D38CF92}" destId="{FAFB7031-2FF9-AA47-9AEF-A383050FDC71}" srcOrd="0" destOrd="1" presId="urn:microsoft.com/office/officeart/2005/8/layout/vList2"/>
    <dgm:cxn modelId="{A549A720-044E-EA4C-82D3-67745A67F700}" type="presOf" srcId="{C3E7DCFB-4E46-3147-A6C7-51D921A8B770}" destId="{9290643D-1D05-EF4F-A4EC-C4D05095AEDC}" srcOrd="0" destOrd="3" presId="urn:microsoft.com/office/officeart/2005/8/layout/vList2"/>
    <dgm:cxn modelId="{AB791528-C9B9-C746-AB4E-003960EECF0D}" type="presOf" srcId="{E4A7900B-DA95-4D70-9A58-D82580CA08A5}" destId="{2C507A1F-F85B-D444-BD41-EB5E14F398CA}" srcOrd="0" destOrd="2" presId="urn:microsoft.com/office/officeart/2005/8/layout/vList2"/>
    <dgm:cxn modelId="{3973E52D-EF14-9041-A97A-A52250C780CF}" srcId="{1E391658-23EE-4A4C-80BD-E2EF9EAA818F}" destId="{C3E7DCFB-4E46-3147-A6C7-51D921A8B770}" srcOrd="3" destOrd="0" parTransId="{08FA2AB7-2F79-4044-8B53-75B9DBE5526A}" sibTransId="{D81B32AE-170C-3840-BDEE-E8EAA6642A91}"/>
    <dgm:cxn modelId="{F7151A38-C663-C242-87FE-7F38CA05891E}" type="presOf" srcId="{4D89D8A3-B940-4661-BFED-9569367A6E6F}" destId="{0E190CCB-800D-824A-B763-C689FAD01110}" srcOrd="0" destOrd="0" presId="urn:microsoft.com/office/officeart/2005/8/layout/vList2"/>
    <dgm:cxn modelId="{7E95973F-6951-42D7-B752-D32E01126BD6}" srcId="{4D89D8A3-B940-4661-BFED-9569367A6E6F}" destId="{403FBFED-9377-493C-B39F-4CFD1BB31A58}" srcOrd="1" destOrd="0" parTransId="{844B62AA-8CE7-476F-B8FF-1E8D414DAF32}" sibTransId="{563CC214-2C2F-4455-8805-6C4237198457}"/>
    <dgm:cxn modelId="{F3FD9140-1823-4A44-BE6F-66CECCFAA145}" srcId="{1E391658-23EE-4A4C-80BD-E2EF9EAA818F}" destId="{0B974340-D0C6-4C49-B4B6-519611E524FA}" srcOrd="0" destOrd="0" parTransId="{3F6EE72B-B8E7-4FAB-A5CF-E373757F307E}" sibTransId="{7A163FD7-0FF5-4124-87B6-77841E6D5BA3}"/>
    <dgm:cxn modelId="{D8A55F42-243F-8B47-8D96-981A92787D7D}" type="presOf" srcId="{403FBFED-9377-493C-B39F-4CFD1BB31A58}" destId="{67E24769-C00F-2745-BB60-37197C433EFB}" srcOrd="0" destOrd="0" presId="urn:microsoft.com/office/officeart/2005/8/layout/vList2"/>
    <dgm:cxn modelId="{0B827C49-0CFF-8345-B68A-D4C25D6EC00E}" type="presOf" srcId="{0B974340-D0C6-4C49-B4B6-519611E524FA}" destId="{9290643D-1D05-EF4F-A4EC-C4D05095AEDC}" srcOrd="0" destOrd="0" presId="urn:microsoft.com/office/officeart/2005/8/layout/vList2"/>
    <dgm:cxn modelId="{2619F149-1A3D-2E48-9482-69CC0BD1D8AA}" type="presOf" srcId="{2D4A67A0-F8EF-4EA4-8746-6FEF7D7890E6}" destId="{2C507A1F-F85B-D444-BD41-EB5E14F398CA}" srcOrd="0" destOrd="0" presId="urn:microsoft.com/office/officeart/2005/8/layout/vList2"/>
    <dgm:cxn modelId="{8940DC60-B762-4D2A-8EE7-1E5614BFD1BC}" srcId="{403FBFED-9377-493C-B39F-4CFD1BB31A58}" destId="{4B9F8E9B-ED70-41A6-A75B-238B2D38CF92}" srcOrd="1" destOrd="0" parTransId="{E4509A98-7952-4632-9704-A4FAB56504B2}" sibTransId="{6779E11C-4FCF-4335-9984-0CF54B50540C}"/>
    <dgm:cxn modelId="{B66F6063-64ED-4A9D-9107-CE6346C74FDE}" srcId="{403FBFED-9377-493C-B39F-4CFD1BB31A58}" destId="{4A3E970A-D39D-41FD-B416-2C0B8E8E248E}" srcOrd="0" destOrd="0" parTransId="{C2380749-5913-4C29-8B03-DC3C97D4A758}" sibTransId="{A478670D-3622-4912-9D42-F24D0031507E}"/>
    <dgm:cxn modelId="{9AB54B6B-1793-584C-978D-FC507BB75335}" type="presOf" srcId="{D3C5277E-5F7D-41B1-A234-1493360C22DA}" destId="{9290643D-1D05-EF4F-A4EC-C4D05095AEDC}" srcOrd="0" destOrd="2" presId="urn:microsoft.com/office/officeart/2005/8/layout/vList2"/>
    <dgm:cxn modelId="{C765CD6D-D52D-448C-88BD-C4D1DAA44EEA}" srcId="{7F9D9007-CC40-4632-A5D3-AA5432D7722B}" destId="{394801DC-C738-4294-BC8F-8D3F3F0B118D}" srcOrd="1" destOrd="0" parTransId="{863D0E47-9F2C-4A9E-826F-615907E1DCD2}" sibTransId="{1F372F4C-BBDC-4F3D-B9D0-0752520A8CA1}"/>
    <dgm:cxn modelId="{65546E7B-5CDD-488F-91AB-49B748FD0195}" srcId="{7F9D9007-CC40-4632-A5D3-AA5432D7722B}" destId="{2D4A67A0-F8EF-4EA4-8746-6FEF7D7890E6}" srcOrd="0" destOrd="0" parTransId="{33AB2BEF-A008-424A-B516-9A0E3A1701D3}" sibTransId="{98F43584-06C7-4663-994E-C996816E1255}"/>
    <dgm:cxn modelId="{61863E80-A027-4D58-A440-BAF961A8451E}" srcId="{4D89D8A3-B940-4661-BFED-9569367A6E6F}" destId="{1E391658-23EE-4A4C-80BD-E2EF9EAA818F}" srcOrd="0" destOrd="0" parTransId="{D2901774-BBDC-4565-A407-F3DC50ACCCAB}" sibTransId="{74033D48-2608-4DD0-A2BE-F3083A665CDC}"/>
    <dgm:cxn modelId="{E205AD84-B0D1-4042-996C-F5F84CD75D44}" type="presOf" srcId="{7F9D9007-CC40-4632-A5D3-AA5432D7722B}" destId="{E6DB9E29-3CA1-0041-AE43-27AA49A9D55F}" srcOrd="0" destOrd="0" presId="urn:microsoft.com/office/officeart/2005/8/layout/vList2"/>
    <dgm:cxn modelId="{94E92A8B-1611-4E32-B685-351FC51AFBCF}" srcId="{1E391658-23EE-4A4C-80BD-E2EF9EAA818F}" destId="{D3C5277E-5F7D-41B1-A234-1493360C22DA}" srcOrd="2" destOrd="0" parTransId="{7A1AF992-B280-41F2-A4A4-1C2F066AFBD4}" sibTransId="{471B253B-40AF-4A4C-A3D9-93B22E83D696}"/>
    <dgm:cxn modelId="{3A0E8699-43A1-DA40-8740-416507446E48}" type="presOf" srcId="{0CAC7D54-FE92-D64D-BBF1-0CF72F35E3CB}" destId="{FAFB7031-2FF9-AA47-9AEF-A383050FDC71}" srcOrd="0" destOrd="2" presId="urn:microsoft.com/office/officeart/2005/8/layout/vList2"/>
    <dgm:cxn modelId="{BB1C20B8-50EB-AB42-8FFF-08F0B2749154}" srcId="{403FBFED-9377-493C-B39F-4CFD1BB31A58}" destId="{0CAC7D54-FE92-D64D-BBF1-0CF72F35E3CB}" srcOrd="2" destOrd="0" parTransId="{71DAEE83-C665-4643-8A15-922991ABC56D}" sibTransId="{A54A4CB9-0360-3C48-8179-8EC533CA05B4}"/>
    <dgm:cxn modelId="{9DC485BA-01BB-402A-88D4-ED94226DC22A}" srcId="{1E391658-23EE-4A4C-80BD-E2EF9EAA818F}" destId="{DCA0F6D3-46E0-4A3E-BEFD-3BA3218826D6}" srcOrd="1" destOrd="0" parTransId="{8F34EFD6-5F74-4278-B3F1-42B2EB66520E}" sibTransId="{13C18F64-0146-4CFA-AA3B-C5F15609191E}"/>
    <dgm:cxn modelId="{257A11C4-6551-4421-AFB5-604804141D7B}" srcId="{4D89D8A3-B940-4661-BFED-9569367A6E6F}" destId="{7F9D9007-CC40-4632-A5D3-AA5432D7722B}" srcOrd="2" destOrd="0" parTransId="{A1660999-F2BA-4A46-B4A2-C412A6B72A21}" sibTransId="{FAB17E5C-262D-4BAB-93D3-A9B2FB179814}"/>
    <dgm:cxn modelId="{8608EEC4-0181-E34C-B609-9A129F30B7C4}" type="presOf" srcId="{1E391658-23EE-4A4C-80BD-E2EF9EAA818F}" destId="{A5D4BC71-E525-674C-A3E0-A575CB063963}" srcOrd="0" destOrd="0" presId="urn:microsoft.com/office/officeart/2005/8/layout/vList2"/>
    <dgm:cxn modelId="{66EF8FC5-2C3C-CC46-BB05-D7C1E628130D}" type="presOf" srcId="{DCA0F6D3-46E0-4A3E-BEFD-3BA3218826D6}" destId="{9290643D-1D05-EF4F-A4EC-C4D05095AEDC}" srcOrd="0" destOrd="1" presId="urn:microsoft.com/office/officeart/2005/8/layout/vList2"/>
    <dgm:cxn modelId="{3B793FCE-C20B-8D4B-9CDB-474B2FFB92B6}" type="presOf" srcId="{394801DC-C738-4294-BC8F-8D3F3F0B118D}" destId="{2C507A1F-F85B-D444-BD41-EB5E14F398CA}" srcOrd="0" destOrd="1" presId="urn:microsoft.com/office/officeart/2005/8/layout/vList2"/>
    <dgm:cxn modelId="{91007DE5-F11D-4F87-B478-4B426BEA11FD}" srcId="{7F9D9007-CC40-4632-A5D3-AA5432D7722B}" destId="{E4A7900B-DA95-4D70-9A58-D82580CA08A5}" srcOrd="2" destOrd="0" parTransId="{B1C94A55-0727-42B8-BC9F-9699E48A977D}" sibTransId="{EFFBC0D2-8EAF-4907-8BB2-012F5973046B}"/>
    <dgm:cxn modelId="{156DB0ED-B396-B449-9B7E-65B9FA78C27E}" type="presOf" srcId="{4A3E970A-D39D-41FD-B416-2C0B8E8E248E}" destId="{FAFB7031-2FF9-AA47-9AEF-A383050FDC71}" srcOrd="0" destOrd="0" presId="urn:microsoft.com/office/officeart/2005/8/layout/vList2"/>
    <dgm:cxn modelId="{9B72BAB2-739F-2A40-AC32-A43D68D90C0C}" type="presParOf" srcId="{0E190CCB-800D-824A-B763-C689FAD01110}" destId="{A5D4BC71-E525-674C-A3E0-A575CB063963}" srcOrd="0" destOrd="0" presId="urn:microsoft.com/office/officeart/2005/8/layout/vList2"/>
    <dgm:cxn modelId="{A139756A-29E6-8249-AFFD-AF991D60927B}" type="presParOf" srcId="{0E190CCB-800D-824A-B763-C689FAD01110}" destId="{9290643D-1D05-EF4F-A4EC-C4D05095AEDC}" srcOrd="1" destOrd="0" presId="urn:microsoft.com/office/officeart/2005/8/layout/vList2"/>
    <dgm:cxn modelId="{D80B6ECA-F343-E748-BA43-CED3F962557B}" type="presParOf" srcId="{0E190CCB-800D-824A-B763-C689FAD01110}" destId="{67E24769-C00F-2745-BB60-37197C433EFB}" srcOrd="2" destOrd="0" presId="urn:microsoft.com/office/officeart/2005/8/layout/vList2"/>
    <dgm:cxn modelId="{AE693200-7F36-2744-8ECB-E4B0887DF060}" type="presParOf" srcId="{0E190CCB-800D-824A-B763-C689FAD01110}" destId="{FAFB7031-2FF9-AA47-9AEF-A383050FDC71}" srcOrd="3" destOrd="0" presId="urn:microsoft.com/office/officeart/2005/8/layout/vList2"/>
    <dgm:cxn modelId="{E5BB77C5-A104-1F47-A801-A30B1E34C03B}" type="presParOf" srcId="{0E190CCB-800D-824A-B763-C689FAD01110}" destId="{E6DB9E29-3CA1-0041-AE43-27AA49A9D55F}" srcOrd="4" destOrd="0" presId="urn:microsoft.com/office/officeart/2005/8/layout/vList2"/>
    <dgm:cxn modelId="{4AD643F6-8499-B348-9180-0543850618B8}" type="presParOf" srcId="{0E190CCB-800D-824A-B763-C689FAD01110}" destId="{2C507A1F-F85B-D444-BD41-EB5E14F398CA}" srcOrd="5" destOrd="0" presId="urn:microsoft.com/office/officeart/2005/8/layout/vList2"/>
  </dgm:cxnLst>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BDC73F1-D02C-4F6D-9232-EFE71F17B192}"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7373CEE3-ECF1-49BE-8DF4-584246AF1273}">
      <dgm:prSet custT="1"/>
      <dgm:spPr/>
      <dgm:t>
        <a:bodyPr/>
        <a:lstStyle/>
        <a:p>
          <a:r>
            <a:rPr lang="en-US" sz="2400" b="1" dirty="0">
              <a:latin typeface="+mn-lt"/>
            </a:rPr>
            <a:t>Narrow X base</a:t>
          </a:r>
        </a:p>
      </dgm:t>
    </dgm:pt>
    <dgm:pt modelId="{DA128463-2E43-476A-8F07-8350F9D6ACBA}" type="parTrans" cxnId="{683AFA98-E3E9-445B-8E20-6974C42FCBF5}">
      <dgm:prSet/>
      <dgm:spPr/>
      <dgm:t>
        <a:bodyPr/>
        <a:lstStyle/>
        <a:p>
          <a:endParaRPr lang="en-US">
            <a:latin typeface="Creative Thoughts" pitchFamily="2" charset="0"/>
          </a:endParaRPr>
        </a:p>
      </dgm:t>
    </dgm:pt>
    <dgm:pt modelId="{E2B2BA8C-3B86-4600-8D46-9A555244D0A8}" type="sibTrans" cxnId="{683AFA98-E3E9-445B-8E20-6974C42FCBF5}">
      <dgm:prSet/>
      <dgm:spPr/>
      <dgm:t>
        <a:bodyPr/>
        <a:lstStyle/>
        <a:p>
          <a:endParaRPr lang="en-US">
            <a:latin typeface="Creative Thoughts" pitchFamily="2" charset="0"/>
          </a:endParaRPr>
        </a:p>
      </dgm:t>
    </dgm:pt>
    <dgm:pt modelId="{918F23DB-6B8A-442B-9895-EFEB838E97BC}">
      <dgm:prSet/>
      <dgm:spPr/>
      <dgm:t>
        <a:bodyPr/>
        <a:lstStyle/>
        <a:p>
          <a:pPr>
            <a:buFont typeface="Courier New" panose="02070309020205020404" pitchFamily="49" charset="0"/>
            <a:buChar char="o"/>
          </a:pPr>
          <a:r>
            <a:rPr lang="en-US" dirty="0">
              <a:latin typeface="+mn-lt"/>
            </a:rPr>
            <a:t>Aus’ X are mainly primary commodities</a:t>
          </a:r>
        </a:p>
      </dgm:t>
    </dgm:pt>
    <dgm:pt modelId="{8C6A54E0-2457-4BB9-9164-1A12825D4877}" type="parTrans" cxnId="{A4C1E818-E1FB-425A-9810-7D5E9250586E}">
      <dgm:prSet/>
      <dgm:spPr/>
      <dgm:t>
        <a:bodyPr/>
        <a:lstStyle/>
        <a:p>
          <a:endParaRPr lang="en-US">
            <a:latin typeface="Creative Thoughts" pitchFamily="2" charset="0"/>
          </a:endParaRPr>
        </a:p>
      </dgm:t>
    </dgm:pt>
    <dgm:pt modelId="{01119A99-B997-4827-BF04-CAE74545FEC8}" type="sibTrans" cxnId="{A4C1E818-E1FB-425A-9810-7D5E9250586E}">
      <dgm:prSet/>
      <dgm:spPr/>
      <dgm:t>
        <a:bodyPr/>
        <a:lstStyle/>
        <a:p>
          <a:endParaRPr lang="en-US">
            <a:latin typeface="Creative Thoughts" pitchFamily="2" charset="0"/>
          </a:endParaRPr>
        </a:p>
      </dgm:t>
    </dgm:pt>
    <dgm:pt modelId="{10D93FF9-957A-4A61-8554-5AF96FA8C0EC}">
      <dgm:prSet/>
      <dgm:spPr/>
      <dgm:t>
        <a:bodyPr/>
        <a:lstStyle/>
        <a:p>
          <a:pPr>
            <a:buFont typeface="Courier New" panose="02070309020205020404" pitchFamily="49" charset="0"/>
            <a:buChar char="o"/>
          </a:pPr>
          <a:r>
            <a:rPr lang="en-US" dirty="0">
              <a:latin typeface="+mn-lt"/>
            </a:rPr>
            <a:t>Aus’ M are mainly expensive, high value manufactured goods (consumer and capital goods)</a:t>
          </a:r>
        </a:p>
      </dgm:t>
    </dgm:pt>
    <dgm:pt modelId="{BD50F373-3996-4535-88DB-CEC06791D6C8}" type="parTrans" cxnId="{3D8C6063-7629-48BE-9C63-BBB56310B30A}">
      <dgm:prSet/>
      <dgm:spPr/>
      <dgm:t>
        <a:bodyPr/>
        <a:lstStyle/>
        <a:p>
          <a:endParaRPr lang="en-US">
            <a:latin typeface="Creative Thoughts" pitchFamily="2" charset="0"/>
          </a:endParaRPr>
        </a:p>
      </dgm:t>
    </dgm:pt>
    <dgm:pt modelId="{B2D69949-D55E-404E-B9C5-0E9328F96F8D}" type="sibTrans" cxnId="{3D8C6063-7629-48BE-9C63-BBB56310B30A}">
      <dgm:prSet/>
      <dgm:spPr/>
      <dgm:t>
        <a:bodyPr/>
        <a:lstStyle/>
        <a:p>
          <a:endParaRPr lang="en-US">
            <a:latin typeface="Creative Thoughts" pitchFamily="2" charset="0"/>
          </a:endParaRPr>
        </a:p>
      </dgm:t>
    </dgm:pt>
    <dgm:pt modelId="{0ED0E3A9-D210-4E38-90B2-4596C46ED6B3}">
      <dgm:prSet/>
      <dgm:spPr/>
      <dgm:t>
        <a:bodyPr/>
        <a:lstStyle/>
        <a:p>
          <a:pPr>
            <a:buFont typeface="Courier New" panose="02070309020205020404" pitchFamily="49" charset="0"/>
            <a:buChar char="o"/>
          </a:pPr>
          <a:r>
            <a:rPr lang="en-US" dirty="0">
              <a:latin typeface="+mn-lt"/>
            </a:rPr>
            <a:t>As a result, M payments (debit) are often greater than X revenues (credit)</a:t>
          </a:r>
        </a:p>
      </dgm:t>
    </dgm:pt>
    <dgm:pt modelId="{A2E7C17A-0FE7-465A-B76E-BEDEACA22CC8}" type="parTrans" cxnId="{2BAC88BA-4890-42B3-86C3-865045E09D40}">
      <dgm:prSet/>
      <dgm:spPr/>
      <dgm:t>
        <a:bodyPr/>
        <a:lstStyle/>
        <a:p>
          <a:endParaRPr lang="en-US">
            <a:latin typeface="Creative Thoughts" pitchFamily="2" charset="0"/>
          </a:endParaRPr>
        </a:p>
      </dgm:t>
    </dgm:pt>
    <dgm:pt modelId="{606AB84D-63C1-4992-A1C0-DB8F7454EA91}" type="sibTrans" cxnId="{2BAC88BA-4890-42B3-86C3-865045E09D40}">
      <dgm:prSet/>
      <dgm:spPr/>
      <dgm:t>
        <a:bodyPr/>
        <a:lstStyle/>
        <a:p>
          <a:endParaRPr lang="en-US">
            <a:latin typeface="Creative Thoughts" pitchFamily="2" charset="0"/>
          </a:endParaRPr>
        </a:p>
      </dgm:t>
    </dgm:pt>
    <dgm:pt modelId="{F9780196-C05A-45D3-B800-666EE2F9AE49}">
      <dgm:prSet/>
      <dgm:spPr/>
      <dgm:t>
        <a:bodyPr/>
        <a:lstStyle/>
        <a:p>
          <a:pPr>
            <a:buFont typeface="Courier New" panose="02070309020205020404" pitchFamily="49" charset="0"/>
            <a:buChar char="o"/>
          </a:pPr>
          <a:r>
            <a:rPr lang="en-US" dirty="0">
              <a:latin typeface="+mn-lt"/>
            </a:rPr>
            <a:t>This decreases the BOGS, which can decrease the CAB</a:t>
          </a:r>
        </a:p>
      </dgm:t>
    </dgm:pt>
    <dgm:pt modelId="{13B6F0D8-6A8E-469C-952F-1977A7A00925}" type="parTrans" cxnId="{E8F15113-F020-476B-98A0-61D0B8AC6D4B}">
      <dgm:prSet/>
      <dgm:spPr/>
      <dgm:t>
        <a:bodyPr/>
        <a:lstStyle/>
        <a:p>
          <a:endParaRPr lang="en-US">
            <a:latin typeface="Creative Thoughts" pitchFamily="2" charset="0"/>
          </a:endParaRPr>
        </a:p>
      </dgm:t>
    </dgm:pt>
    <dgm:pt modelId="{3988DEB5-C530-4674-84DE-594CF9BA9079}" type="sibTrans" cxnId="{E8F15113-F020-476B-98A0-61D0B8AC6D4B}">
      <dgm:prSet/>
      <dgm:spPr/>
      <dgm:t>
        <a:bodyPr/>
        <a:lstStyle/>
        <a:p>
          <a:endParaRPr lang="en-US">
            <a:latin typeface="Creative Thoughts" pitchFamily="2" charset="0"/>
          </a:endParaRPr>
        </a:p>
      </dgm:t>
    </dgm:pt>
    <dgm:pt modelId="{C29EA331-1DC5-40E1-9681-28EB3773343A}">
      <dgm:prSet custT="1"/>
      <dgm:spPr/>
      <dgm:t>
        <a:bodyPr/>
        <a:lstStyle/>
        <a:p>
          <a:r>
            <a:rPr lang="en-US" sz="2400" b="1" dirty="0">
              <a:latin typeface="+mn-lt"/>
            </a:rPr>
            <a:t>Lack of international competitiveness</a:t>
          </a:r>
        </a:p>
      </dgm:t>
    </dgm:pt>
    <dgm:pt modelId="{69F8FCE2-D9E9-41C4-BDE2-33C6E096C975}" type="parTrans" cxnId="{6E6C7CE0-DF49-4F23-942D-73B99820A87A}">
      <dgm:prSet/>
      <dgm:spPr/>
      <dgm:t>
        <a:bodyPr/>
        <a:lstStyle/>
        <a:p>
          <a:endParaRPr lang="en-US">
            <a:latin typeface="Creative Thoughts" pitchFamily="2" charset="0"/>
          </a:endParaRPr>
        </a:p>
      </dgm:t>
    </dgm:pt>
    <dgm:pt modelId="{EECEA356-BB19-4B61-A5AD-8DB46748FD2F}" type="sibTrans" cxnId="{6E6C7CE0-DF49-4F23-942D-73B99820A87A}">
      <dgm:prSet/>
      <dgm:spPr/>
      <dgm:t>
        <a:bodyPr/>
        <a:lstStyle/>
        <a:p>
          <a:endParaRPr lang="en-US">
            <a:latin typeface="Creative Thoughts" pitchFamily="2" charset="0"/>
          </a:endParaRPr>
        </a:p>
      </dgm:t>
    </dgm:pt>
    <dgm:pt modelId="{7314FD99-814F-4148-A0EF-C8B62A0D2BA3}">
      <dgm:prSet/>
      <dgm:spPr/>
      <dgm:t>
        <a:bodyPr/>
        <a:lstStyle/>
        <a:p>
          <a:pPr>
            <a:buFont typeface="Courier New" panose="02070309020205020404" pitchFamily="49" charset="0"/>
            <a:buChar char="o"/>
          </a:pPr>
          <a:r>
            <a:rPr lang="en-US" dirty="0">
              <a:latin typeface="Avenir Book" panose="02000503020000020003" pitchFamily="2" charset="0"/>
            </a:rPr>
            <a:t>This is the ability of a country’s X to compete in global markets</a:t>
          </a:r>
        </a:p>
      </dgm:t>
    </dgm:pt>
    <dgm:pt modelId="{0C9C4C41-EE65-48B8-9F5F-C234F5B8E99D}" type="parTrans" cxnId="{A80C64CF-950C-43EB-A2E9-0D4E15431426}">
      <dgm:prSet/>
      <dgm:spPr/>
      <dgm:t>
        <a:bodyPr/>
        <a:lstStyle/>
        <a:p>
          <a:endParaRPr lang="en-US">
            <a:latin typeface="Creative Thoughts" pitchFamily="2" charset="0"/>
          </a:endParaRPr>
        </a:p>
      </dgm:t>
    </dgm:pt>
    <dgm:pt modelId="{FACC0CA8-5D9F-42C5-93F8-B20A91611673}" type="sibTrans" cxnId="{A80C64CF-950C-43EB-A2E9-0D4E15431426}">
      <dgm:prSet/>
      <dgm:spPr/>
      <dgm:t>
        <a:bodyPr/>
        <a:lstStyle/>
        <a:p>
          <a:endParaRPr lang="en-US">
            <a:latin typeface="Creative Thoughts" pitchFamily="2" charset="0"/>
          </a:endParaRPr>
        </a:p>
      </dgm:t>
    </dgm:pt>
    <dgm:pt modelId="{0C6FD832-5FCE-4475-88F2-9797BC2EE1EB}">
      <dgm:prSet/>
      <dgm:spPr/>
      <dgm:t>
        <a:bodyPr/>
        <a:lstStyle/>
        <a:p>
          <a:pPr>
            <a:buFont typeface="Courier New" panose="02070309020205020404" pitchFamily="49" charset="0"/>
            <a:buChar char="o"/>
          </a:pPr>
          <a:r>
            <a:rPr lang="en-US" dirty="0">
              <a:latin typeface="Avenir Book" panose="02000503020000020003" pitchFamily="2" charset="0"/>
            </a:rPr>
            <a:t>Australia's commodity X can compete well, but they do not always command high prices</a:t>
          </a:r>
        </a:p>
      </dgm:t>
    </dgm:pt>
    <dgm:pt modelId="{D5455BC4-AF84-4442-9712-D8877D55F4A6}" type="parTrans" cxnId="{6CC3BDD5-9D1A-4017-BF64-2A8B5997D6DB}">
      <dgm:prSet/>
      <dgm:spPr/>
      <dgm:t>
        <a:bodyPr/>
        <a:lstStyle/>
        <a:p>
          <a:endParaRPr lang="en-US">
            <a:latin typeface="Creative Thoughts" pitchFamily="2" charset="0"/>
          </a:endParaRPr>
        </a:p>
      </dgm:t>
    </dgm:pt>
    <dgm:pt modelId="{BBA119DF-A50F-4431-BA4B-68709CA460F9}" type="sibTrans" cxnId="{6CC3BDD5-9D1A-4017-BF64-2A8B5997D6DB}">
      <dgm:prSet/>
      <dgm:spPr/>
      <dgm:t>
        <a:bodyPr/>
        <a:lstStyle/>
        <a:p>
          <a:endParaRPr lang="en-US">
            <a:latin typeface="Creative Thoughts" pitchFamily="2" charset="0"/>
          </a:endParaRPr>
        </a:p>
      </dgm:t>
    </dgm:pt>
    <dgm:pt modelId="{9C1671F1-872E-4842-B997-D753B5E13207}">
      <dgm:prSet/>
      <dgm:spPr/>
      <dgm:t>
        <a:bodyPr/>
        <a:lstStyle/>
        <a:p>
          <a:pPr>
            <a:buFont typeface="Courier New" panose="02070309020205020404" pitchFamily="49" charset="0"/>
            <a:buChar char="o"/>
          </a:pPr>
          <a:r>
            <a:rPr lang="en-US" dirty="0">
              <a:latin typeface="Avenir Book" panose="02000503020000020003" pitchFamily="2" charset="0"/>
            </a:rPr>
            <a:t>Australia lacks international competitiveness in producing manufactured goods as we cannot make them at low prices like nations such as China</a:t>
          </a:r>
        </a:p>
      </dgm:t>
    </dgm:pt>
    <dgm:pt modelId="{13559158-C6D9-48E1-BFD9-2C7EFDB948E4}" type="parTrans" cxnId="{04F5D502-9992-4041-B5BB-B48BC44F06E0}">
      <dgm:prSet/>
      <dgm:spPr/>
      <dgm:t>
        <a:bodyPr/>
        <a:lstStyle/>
        <a:p>
          <a:endParaRPr lang="en-US">
            <a:latin typeface="Creative Thoughts" pitchFamily="2" charset="0"/>
          </a:endParaRPr>
        </a:p>
      </dgm:t>
    </dgm:pt>
    <dgm:pt modelId="{05365668-C71B-494A-ABCF-987241162AEE}" type="sibTrans" cxnId="{04F5D502-9992-4041-B5BB-B48BC44F06E0}">
      <dgm:prSet/>
      <dgm:spPr/>
      <dgm:t>
        <a:bodyPr/>
        <a:lstStyle/>
        <a:p>
          <a:endParaRPr lang="en-US">
            <a:latin typeface="Creative Thoughts" pitchFamily="2" charset="0"/>
          </a:endParaRPr>
        </a:p>
      </dgm:t>
    </dgm:pt>
    <dgm:pt modelId="{2F61D6D2-D823-40BE-A639-A9B7CECBC1EF}">
      <dgm:prSet/>
      <dgm:spPr/>
      <dgm:t>
        <a:bodyPr/>
        <a:lstStyle/>
        <a:p>
          <a:pPr>
            <a:buFont typeface="Courier New" panose="02070309020205020404" pitchFamily="49" charset="0"/>
            <a:buChar char="o"/>
          </a:pPr>
          <a:r>
            <a:rPr lang="en-US" dirty="0">
              <a:latin typeface="Avenir Book" panose="02000503020000020003" pitchFamily="2" charset="0"/>
            </a:rPr>
            <a:t>This decreases the BOGS, which can decrease the CAB</a:t>
          </a:r>
        </a:p>
      </dgm:t>
    </dgm:pt>
    <dgm:pt modelId="{A1CA1C22-315F-444A-863E-D3F0A5912A09}" type="parTrans" cxnId="{686FE226-EAC2-48BB-A3E5-FD00BA23D264}">
      <dgm:prSet/>
      <dgm:spPr/>
      <dgm:t>
        <a:bodyPr/>
        <a:lstStyle/>
        <a:p>
          <a:endParaRPr lang="en-US">
            <a:latin typeface="Creative Thoughts" pitchFamily="2" charset="0"/>
          </a:endParaRPr>
        </a:p>
      </dgm:t>
    </dgm:pt>
    <dgm:pt modelId="{D82C8AE4-AEFE-486C-98A3-DD01D9A54294}" type="sibTrans" cxnId="{686FE226-EAC2-48BB-A3E5-FD00BA23D264}">
      <dgm:prSet/>
      <dgm:spPr/>
      <dgm:t>
        <a:bodyPr/>
        <a:lstStyle/>
        <a:p>
          <a:endParaRPr lang="en-US">
            <a:latin typeface="Creative Thoughts" pitchFamily="2" charset="0"/>
          </a:endParaRPr>
        </a:p>
      </dgm:t>
    </dgm:pt>
    <dgm:pt modelId="{8594C14B-95D8-4BD4-9F15-AEED1A426056}">
      <dgm:prSet custT="1"/>
      <dgm:spPr/>
      <dgm:t>
        <a:bodyPr/>
        <a:lstStyle/>
        <a:p>
          <a:r>
            <a:rPr lang="en-US" sz="2400" b="1" dirty="0">
              <a:latin typeface="+mn-lt"/>
            </a:rPr>
            <a:t>Volatile commodity X</a:t>
          </a:r>
        </a:p>
      </dgm:t>
    </dgm:pt>
    <dgm:pt modelId="{BDD33E9D-2547-4621-920E-4CB7692AF3D5}" type="parTrans" cxnId="{4D203F49-691B-49ED-90EA-94EC24CD2507}">
      <dgm:prSet/>
      <dgm:spPr/>
      <dgm:t>
        <a:bodyPr/>
        <a:lstStyle/>
        <a:p>
          <a:endParaRPr lang="en-US">
            <a:latin typeface="Creative Thoughts" pitchFamily="2" charset="0"/>
          </a:endParaRPr>
        </a:p>
      </dgm:t>
    </dgm:pt>
    <dgm:pt modelId="{881FB1A5-A7D1-447A-AA60-609EDE529021}" type="sibTrans" cxnId="{4D203F49-691B-49ED-90EA-94EC24CD2507}">
      <dgm:prSet/>
      <dgm:spPr/>
      <dgm:t>
        <a:bodyPr/>
        <a:lstStyle/>
        <a:p>
          <a:endParaRPr lang="en-US">
            <a:latin typeface="Creative Thoughts" pitchFamily="2" charset="0"/>
          </a:endParaRPr>
        </a:p>
      </dgm:t>
    </dgm:pt>
    <dgm:pt modelId="{E9A8EF13-7BB5-4F0E-8CD1-F0D22F9F48A1}">
      <dgm:prSet/>
      <dgm:spPr/>
      <dgm:t>
        <a:bodyPr/>
        <a:lstStyle/>
        <a:p>
          <a:pPr>
            <a:buFont typeface="Courier New" panose="02070309020205020404" pitchFamily="49" charset="0"/>
            <a:buChar char="o"/>
          </a:pPr>
          <a:r>
            <a:rPr lang="en-US">
              <a:latin typeface="Avenir Book" panose="02000503020000020003" pitchFamily="2" charset="0"/>
            </a:rPr>
            <a:t>Australia’s commodity X suffer from large fluctuations in prices</a:t>
          </a:r>
        </a:p>
      </dgm:t>
    </dgm:pt>
    <dgm:pt modelId="{CCC34CFC-7083-4FB0-9BB0-D9BD8E3656E1}" type="parTrans" cxnId="{A5CE4B72-DBA5-4313-BC7B-DCE9C6EF3593}">
      <dgm:prSet/>
      <dgm:spPr/>
      <dgm:t>
        <a:bodyPr/>
        <a:lstStyle/>
        <a:p>
          <a:endParaRPr lang="en-US">
            <a:latin typeface="Creative Thoughts" pitchFamily="2" charset="0"/>
          </a:endParaRPr>
        </a:p>
      </dgm:t>
    </dgm:pt>
    <dgm:pt modelId="{790C4E38-73D7-4961-9F19-8774D15E035B}" type="sibTrans" cxnId="{A5CE4B72-DBA5-4313-BC7B-DCE9C6EF3593}">
      <dgm:prSet/>
      <dgm:spPr/>
      <dgm:t>
        <a:bodyPr/>
        <a:lstStyle/>
        <a:p>
          <a:endParaRPr lang="en-US">
            <a:latin typeface="Creative Thoughts" pitchFamily="2" charset="0"/>
          </a:endParaRPr>
        </a:p>
      </dgm:t>
    </dgm:pt>
    <dgm:pt modelId="{A9156689-53FB-4582-9D68-535A1133B409}">
      <dgm:prSet/>
      <dgm:spPr/>
      <dgm:t>
        <a:bodyPr/>
        <a:lstStyle/>
        <a:p>
          <a:pPr>
            <a:buFont typeface="Courier New" panose="02070309020205020404" pitchFamily="49" charset="0"/>
            <a:buChar char="o"/>
          </a:pPr>
          <a:r>
            <a:rPr lang="en-US" dirty="0">
              <a:latin typeface="Avenir Book" panose="02000503020000020003" pitchFamily="2" charset="0"/>
            </a:rPr>
            <a:t>During resource booms prices rise, but when growth slows, prices fall</a:t>
          </a:r>
        </a:p>
      </dgm:t>
    </dgm:pt>
    <dgm:pt modelId="{572C1B8A-16B8-4263-9FE8-EF62462C5CFA}" type="parTrans" cxnId="{E16AC4E7-16DA-4639-8C48-EE99B1C3B5FD}">
      <dgm:prSet/>
      <dgm:spPr/>
      <dgm:t>
        <a:bodyPr/>
        <a:lstStyle/>
        <a:p>
          <a:endParaRPr lang="en-US">
            <a:latin typeface="Creative Thoughts" pitchFamily="2" charset="0"/>
          </a:endParaRPr>
        </a:p>
      </dgm:t>
    </dgm:pt>
    <dgm:pt modelId="{7EA5084D-8795-4795-A253-90093E654B23}" type="sibTrans" cxnId="{E16AC4E7-16DA-4639-8C48-EE99B1C3B5FD}">
      <dgm:prSet/>
      <dgm:spPr/>
      <dgm:t>
        <a:bodyPr/>
        <a:lstStyle/>
        <a:p>
          <a:endParaRPr lang="en-US">
            <a:latin typeface="Creative Thoughts" pitchFamily="2" charset="0"/>
          </a:endParaRPr>
        </a:p>
      </dgm:t>
    </dgm:pt>
    <dgm:pt modelId="{CF0E4164-B394-43CF-A528-369EA5D46BF8}">
      <dgm:prSet/>
      <dgm:spPr/>
      <dgm:t>
        <a:bodyPr/>
        <a:lstStyle/>
        <a:p>
          <a:pPr>
            <a:buFont typeface="Courier New" panose="02070309020205020404" pitchFamily="49" charset="0"/>
            <a:buChar char="o"/>
          </a:pPr>
          <a:r>
            <a:rPr lang="en-US" dirty="0">
              <a:latin typeface="Avenir Book" panose="02000503020000020003" pitchFamily="2" charset="0"/>
            </a:rPr>
            <a:t>This means that X revenues are volatile and often fall below M payments, decreasing BOGS</a:t>
          </a:r>
        </a:p>
      </dgm:t>
    </dgm:pt>
    <dgm:pt modelId="{B8FE6335-DA9A-4FFD-8B6C-58B79B668BD5}" type="parTrans" cxnId="{5475480D-A67B-4320-88AB-BE0681FD5725}">
      <dgm:prSet/>
      <dgm:spPr/>
      <dgm:t>
        <a:bodyPr/>
        <a:lstStyle/>
        <a:p>
          <a:endParaRPr lang="en-US">
            <a:latin typeface="Creative Thoughts" pitchFamily="2" charset="0"/>
          </a:endParaRPr>
        </a:p>
      </dgm:t>
    </dgm:pt>
    <dgm:pt modelId="{050C8C36-5418-4581-AB2B-DD98BD7B3401}" type="sibTrans" cxnId="{5475480D-A67B-4320-88AB-BE0681FD5725}">
      <dgm:prSet/>
      <dgm:spPr/>
      <dgm:t>
        <a:bodyPr/>
        <a:lstStyle/>
        <a:p>
          <a:endParaRPr lang="en-US">
            <a:latin typeface="Creative Thoughts" pitchFamily="2" charset="0"/>
          </a:endParaRPr>
        </a:p>
      </dgm:t>
    </dgm:pt>
    <dgm:pt modelId="{47192101-7A6A-3E40-AD2A-0D08A114277D}" type="pres">
      <dgm:prSet presAssocID="{8BDC73F1-D02C-4F6D-9232-EFE71F17B192}" presName="linear" presStyleCnt="0">
        <dgm:presLayoutVars>
          <dgm:dir/>
          <dgm:animLvl val="lvl"/>
          <dgm:resizeHandles val="exact"/>
        </dgm:presLayoutVars>
      </dgm:prSet>
      <dgm:spPr/>
    </dgm:pt>
    <dgm:pt modelId="{2A6D37DF-E172-704F-B5B4-399E63E636A3}" type="pres">
      <dgm:prSet presAssocID="{7373CEE3-ECF1-49BE-8DF4-584246AF1273}" presName="parentLin" presStyleCnt="0"/>
      <dgm:spPr/>
    </dgm:pt>
    <dgm:pt modelId="{B7ADE933-7B16-3B40-B30F-FD5E17462000}" type="pres">
      <dgm:prSet presAssocID="{7373CEE3-ECF1-49BE-8DF4-584246AF1273}" presName="parentLeftMargin" presStyleLbl="node1" presStyleIdx="0" presStyleCnt="3"/>
      <dgm:spPr/>
    </dgm:pt>
    <dgm:pt modelId="{B336C70F-1139-E840-9F54-22540FB743E9}" type="pres">
      <dgm:prSet presAssocID="{7373CEE3-ECF1-49BE-8DF4-584246AF1273}" presName="parentText" presStyleLbl="node1" presStyleIdx="0" presStyleCnt="3">
        <dgm:presLayoutVars>
          <dgm:chMax val="0"/>
          <dgm:bulletEnabled val="1"/>
        </dgm:presLayoutVars>
      </dgm:prSet>
      <dgm:spPr/>
    </dgm:pt>
    <dgm:pt modelId="{9A04F979-B03D-C443-91BF-74FFBF3934B4}" type="pres">
      <dgm:prSet presAssocID="{7373CEE3-ECF1-49BE-8DF4-584246AF1273}" presName="negativeSpace" presStyleCnt="0"/>
      <dgm:spPr/>
    </dgm:pt>
    <dgm:pt modelId="{618F77B9-0455-154F-B831-2E0E981FCFC8}" type="pres">
      <dgm:prSet presAssocID="{7373CEE3-ECF1-49BE-8DF4-584246AF1273}" presName="childText" presStyleLbl="conFgAcc1" presStyleIdx="0" presStyleCnt="3">
        <dgm:presLayoutVars>
          <dgm:bulletEnabled val="1"/>
        </dgm:presLayoutVars>
      </dgm:prSet>
      <dgm:spPr/>
    </dgm:pt>
    <dgm:pt modelId="{F0AB971F-897B-2A42-9BD0-F013332766D4}" type="pres">
      <dgm:prSet presAssocID="{E2B2BA8C-3B86-4600-8D46-9A555244D0A8}" presName="spaceBetweenRectangles" presStyleCnt="0"/>
      <dgm:spPr/>
    </dgm:pt>
    <dgm:pt modelId="{0DA17458-AB34-8E43-AA8C-9DC0FD14BFE0}" type="pres">
      <dgm:prSet presAssocID="{C29EA331-1DC5-40E1-9681-28EB3773343A}" presName="parentLin" presStyleCnt="0"/>
      <dgm:spPr/>
    </dgm:pt>
    <dgm:pt modelId="{101A7A06-8229-EF47-9D9E-A1E385E97C03}" type="pres">
      <dgm:prSet presAssocID="{C29EA331-1DC5-40E1-9681-28EB3773343A}" presName="parentLeftMargin" presStyleLbl="node1" presStyleIdx="0" presStyleCnt="3"/>
      <dgm:spPr/>
    </dgm:pt>
    <dgm:pt modelId="{C3B31080-2376-AC4A-BFD1-D41A8895C716}" type="pres">
      <dgm:prSet presAssocID="{C29EA331-1DC5-40E1-9681-28EB3773343A}" presName="parentText" presStyleLbl="node1" presStyleIdx="1" presStyleCnt="3">
        <dgm:presLayoutVars>
          <dgm:chMax val="0"/>
          <dgm:bulletEnabled val="1"/>
        </dgm:presLayoutVars>
      </dgm:prSet>
      <dgm:spPr/>
    </dgm:pt>
    <dgm:pt modelId="{D8AE07F4-3388-C740-A58E-C1423F9FB921}" type="pres">
      <dgm:prSet presAssocID="{C29EA331-1DC5-40E1-9681-28EB3773343A}" presName="negativeSpace" presStyleCnt="0"/>
      <dgm:spPr/>
    </dgm:pt>
    <dgm:pt modelId="{37A26387-1F9C-384D-9031-F5DF2AA59B85}" type="pres">
      <dgm:prSet presAssocID="{C29EA331-1DC5-40E1-9681-28EB3773343A}" presName="childText" presStyleLbl="conFgAcc1" presStyleIdx="1" presStyleCnt="3">
        <dgm:presLayoutVars>
          <dgm:bulletEnabled val="1"/>
        </dgm:presLayoutVars>
      </dgm:prSet>
      <dgm:spPr/>
    </dgm:pt>
    <dgm:pt modelId="{CB1C0E88-3E18-9246-89D2-07C3107CC8F4}" type="pres">
      <dgm:prSet presAssocID="{EECEA356-BB19-4B61-A5AD-8DB46748FD2F}" presName="spaceBetweenRectangles" presStyleCnt="0"/>
      <dgm:spPr/>
    </dgm:pt>
    <dgm:pt modelId="{8461F91E-28FD-AA4E-B8C8-850E506ECC1C}" type="pres">
      <dgm:prSet presAssocID="{8594C14B-95D8-4BD4-9F15-AEED1A426056}" presName="parentLin" presStyleCnt="0"/>
      <dgm:spPr/>
    </dgm:pt>
    <dgm:pt modelId="{6DF04F40-622F-D843-99AC-FA996C8AD618}" type="pres">
      <dgm:prSet presAssocID="{8594C14B-95D8-4BD4-9F15-AEED1A426056}" presName="parentLeftMargin" presStyleLbl="node1" presStyleIdx="1" presStyleCnt="3"/>
      <dgm:spPr/>
    </dgm:pt>
    <dgm:pt modelId="{D7A00AA3-17F3-864F-897F-90BB3929A569}" type="pres">
      <dgm:prSet presAssocID="{8594C14B-95D8-4BD4-9F15-AEED1A426056}" presName="parentText" presStyleLbl="node1" presStyleIdx="2" presStyleCnt="3">
        <dgm:presLayoutVars>
          <dgm:chMax val="0"/>
          <dgm:bulletEnabled val="1"/>
        </dgm:presLayoutVars>
      </dgm:prSet>
      <dgm:spPr/>
    </dgm:pt>
    <dgm:pt modelId="{F9D46C02-8F22-AD4D-9F4B-9AD86113B358}" type="pres">
      <dgm:prSet presAssocID="{8594C14B-95D8-4BD4-9F15-AEED1A426056}" presName="negativeSpace" presStyleCnt="0"/>
      <dgm:spPr/>
    </dgm:pt>
    <dgm:pt modelId="{80D9309A-CD32-0445-A066-0061630282BA}" type="pres">
      <dgm:prSet presAssocID="{8594C14B-95D8-4BD4-9F15-AEED1A426056}" presName="childText" presStyleLbl="conFgAcc1" presStyleIdx="2" presStyleCnt="3">
        <dgm:presLayoutVars>
          <dgm:bulletEnabled val="1"/>
        </dgm:presLayoutVars>
      </dgm:prSet>
      <dgm:spPr/>
    </dgm:pt>
  </dgm:ptLst>
  <dgm:cxnLst>
    <dgm:cxn modelId="{04F5D502-9992-4041-B5BB-B48BC44F06E0}" srcId="{C29EA331-1DC5-40E1-9681-28EB3773343A}" destId="{9C1671F1-872E-4842-B997-D753B5E13207}" srcOrd="2" destOrd="0" parTransId="{13559158-C6D9-48E1-BFD9-2C7EFDB948E4}" sibTransId="{05365668-C71B-494A-ABCF-987241162AEE}"/>
    <dgm:cxn modelId="{0377A004-C305-8F4B-B43A-8DBA20EB5439}" type="presOf" srcId="{8594C14B-95D8-4BD4-9F15-AEED1A426056}" destId="{D7A00AA3-17F3-864F-897F-90BB3929A569}" srcOrd="1" destOrd="0" presId="urn:microsoft.com/office/officeart/2005/8/layout/list1"/>
    <dgm:cxn modelId="{5475480D-A67B-4320-88AB-BE0681FD5725}" srcId="{8594C14B-95D8-4BD4-9F15-AEED1A426056}" destId="{CF0E4164-B394-43CF-A528-369EA5D46BF8}" srcOrd="2" destOrd="0" parTransId="{B8FE6335-DA9A-4FFD-8B6C-58B79B668BD5}" sibTransId="{050C8C36-5418-4581-AB2B-DD98BD7B3401}"/>
    <dgm:cxn modelId="{B0BBE80E-08F9-8540-A66C-E0F09D735382}" type="presOf" srcId="{0C6FD832-5FCE-4475-88F2-9797BC2EE1EB}" destId="{37A26387-1F9C-384D-9031-F5DF2AA59B85}" srcOrd="0" destOrd="1" presId="urn:microsoft.com/office/officeart/2005/8/layout/list1"/>
    <dgm:cxn modelId="{E8F15113-F020-476B-98A0-61D0B8AC6D4B}" srcId="{7373CEE3-ECF1-49BE-8DF4-584246AF1273}" destId="{F9780196-C05A-45D3-B800-666EE2F9AE49}" srcOrd="3" destOrd="0" parTransId="{13B6F0D8-6A8E-469C-952F-1977A7A00925}" sibTransId="{3988DEB5-C530-4674-84DE-594CF9BA9079}"/>
    <dgm:cxn modelId="{A4C1E818-E1FB-425A-9810-7D5E9250586E}" srcId="{7373CEE3-ECF1-49BE-8DF4-584246AF1273}" destId="{918F23DB-6B8A-442B-9895-EFEB838E97BC}" srcOrd="0" destOrd="0" parTransId="{8C6A54E0-2457-4BB9-9164-1A12825D4877}" sibTransId="{01119A99-B997-4827-BF04-CAE74545FEC8}"/>
    <dgm:cxn modelId="{DA299E1F-3717-0141-923B-663327AB38DB}" type="presOf" srcId="{7373CEE3-ECF1-49BE-8DF4-584246AF1273}" destId="{B7ADE933-7B16-3B40-B30F-FD5E17462000}" srcOrd="0" destOrd="0" presId="urn:microsoft.com/office/officeart/2005/8/layout/list1"/>
    <dgm:cxn modelId="{22C5A926-2B6F-D249-B90C-B486F7E6F075}" type="presOf" srcId="{2F61D6D2-D823-40BE-A639-A9B7CECBC1EF}" destId="{37A26387-1F9C-384D-9031-F5DF2AA59B85}" srcOrd="0" destOrd="3" presId="urn:microsoft.com/office/officeart/2005/8/layout/list1"/>
    <dgm:cxn modelId="{686FE226-EAC2-48BB-A3E5-FD00BA23D264}" srcId="{C29EA331-1DC5-40E1-9681-28EB3773343A}" destId="{2F61D6D2-D823-40BE-A639-A9B7CECBC1EF}" srcOrd="3" destOrd="0" parTransId="{A1CA1C22-315F-444A-863E-D3F0A5912A09}" sibTransId="{D82C8AE4-AEFE-486C-98A3-DD01D9A54294}"/>
    <dgm:cxn modelId="{5FD7BA2D-8AA7-1B4B-A435-329A8E9FA1D2}" type="presOf" srcId="{0ED0E3A9-D210-4E38-90B2-4596C46ED6B3}" destId="{618F77B9-0455-154F-B831-2E0E981FCFC8}" srcOrd="0" destOrd="2" presId="urn:microsoft.com/office/officeart/2005/8/layout/list1"/>
    <dgm:cxn modelId="{D24C1637-EA40-0E47-A803-41845C8D76B3}" type="presOf" srcId="{9C1671F1-872E-4842-B997-D753B5E13207}" destId="{37A26387-1F9C-384D-9031-F5DF2AA59B85}" srcOrd="0" destOrd="2" presId="urn:microsoft.com/office/officeart/2005/8/layout/list1"/>
    <dgm:cxn modelId="{F2F2E744-798A-4A4C-B8B8-D9D30A094DA4}" type="presOf" srcId="{C29EA331-1DC5-40E1-9681-28EB3773343A}" destId="{101A7A06-8229-EF47-9D9E-A1E385E97C03}" srcOrd="0" destOrd="0" presId="urn:microsoft.com/office/officeart/2005/8/layout/list1"/>
    <dgm:cxn modelId="{4D203F49-691B-49ED-90EA-94EC24CD2507}" srcId="{8BDC73F1-D02C-4F6D-9232-EFE71F17B192}" destId="{8594C14B-95D8-4BD4-9F15-AEED1A426056}" srcOrd="2" destOrd="0" parTransId="{BDD33E9D-2547-4621-920E-4CB7692AF3D5}" sibTransId="{881FB1A5-A7D1-447A-AA60-609EDE529021}"/>
    <dgm:cxn modelId="{0D222B4F-65A4-4543-ADB5-6E4AA46A801B}" type="presOf" srcId="{918F23DB-6B8A-442B-9895-EFEB838E97BC}" destId="{618F77B9-0455-154F-B831-2E0E981FCFC8}" srcOrd="0" destOrd="0" presId="urn:microsoft.com/office/officeart/2005/8/layout/list1"/>
    <dgm:cxn modelId="{3D8C6063-7629-48BE-9C63-BBB56310B30A}" srcId="{7373CEE3-ECF1-49BE-8DF4-584246AF1273}" destId="{10D93FF9-957A-4A61-8554-5AF96FA8C0EC}" srcOrd="1" destOrd="0" parTransId="{BD50F373-3996-4535-88DB-CEC06791D6C8}" sibTransId="{B2D69949-D55E-404E-B9C5-0E9328F96F8D}"/>
    <dgm:cxn modelId="{A5CE4B72-DBA5-4313-BC7B-DCE9C6EF3593}" srcId="{8594C14B-95D8-4BD4-9F15-AEED1A426056}" destId="{E9A8EF13-7BB5-4F0E-8CD1-F0D22F9F48A1}" srcOrd="0" destOrd="0" parTransId="{CCC34CFC-7083-4FB0-9BB0-D9BD8E3656E1}" sibTransId="{790C4E38-73D7-4961-9F19-8774D15E035B}"/>
    <dgm:cxn modelId="{683AFA98-E3E9-445B-8E20-6974C42FCBF5}" srcId="{8BDC73F1-D02C-4F6D-9232-EFE71F17B192}" destId="{7373CEE3-ECF1-49BE-8DF4-584246AF1273}" srcOrd="0" destOrd="0" parTransId="{DA128463-2E43-476A-8F07-8350F9D6ACBA}" sibTransId="{E2B2BA8C-3B86-4600-8D46-9A555244D0A8}"/>
    <dgm:cxn modelId="{0A470A9E-851C-EB4B-9A14-5E15F384551D}" type="presOf" srcId="{10D93FF9-957A-4A61-8554-5AF96FA8C0EC}" destId="{618F77B9-0455-154F-B831-2E0E981FCFC8}" srcOrd="0" destOrd="1" presId="urn:microsoft.com/office/officeart/2005/8/layout/list1"/>
    <dgm:cxn modelId="{282980A0-A3A5-1B44-B977-8E4E861DD93E}" type="presOf" srcId="{8BDC73F1-D02C-4F6D-9232-EFE71F17B192}" destId="{47192101-7A6A-3E40-AD2A-0D08A114277D}" srcOrd="0" destOrd="0" presId="urn:microsoft.com/office/officeart/2005/8/layout/list1"/>
    <dgm:cxn modelId="{84A67CA7-0065-904E-88C6-C8D4582691A2}" type="presOf" srcId="{A9156689-53FB-4582-9D68-535A1133B409}" destId="{80D9309A-CD32-0445-A066-0061630282BA}" srcOrd="0" destOrd="1" presId="urn:microsoft.com/office/officeart/2005/8/layout/list1"/>
    <dgm:cxn modelId="{6C14B0AF-B242-7E4A-B1EB-B6E60946E4D3}" type="presOf" srcId="{8594C14B-95D8-4BD4-9F15-AEED1A426056}" destId="{6DF04F40-622F-D843-99AC-FA996C8AD618}" srcOrd="0" destOrd="0" presId="urn:microsoft.com/office/officeart/2005/8/layout/list1"/>
    <dgm:cxn modelId="{2BAC88BA-4890-42B3-86C3-865045E09D40}" srcId="{7373CEE3-ECF1-49BE-8DF4-584246AF1273}" destId="{0ED0E3A9-D210-4E38-90B2-4596C46ED6B3}" srcOrd="2" destOrd="0" parTransId="{A2E7C17A-0FE7-465A-B76E-BEDEACA22CC8}" sibTransId="{606AB84D-63C1-4992-A1C0-DB8F7454EA91}"/>
    <dgm:cxn modelId="{1C5FF3BB-6805-7C41-B409-594F7C95FE16}" type="presOf" srcId="{C29EA331-1DC5-40E1-9681-28EB3773343A}" destId="{C3B31080-2376-AC4A-BFD1-D41A8895C716}" srcOrd="1" destOrd="0" presId="urn:microsoft.com/office/officeart/2005/8/layout/list1"/>
    <dgm:cxn modelId="{92081CC5-C97A-0948-A9F6-8DE3050068D1}" type="presOf" srcId="{CF0E4164-B394-43CF-A528-369EA5D46BF8}" destId="{80D9309A-CD32-0445-A066-0061630282BA}" srcOrd="0" destOrd="2" presId="urn:microsoft.com/office/officeart/2005/8/layout/list1"/>
    <dgm:cxn modelId="{FA56ECC7-9FB9-D445-8E4C-3CF4DFA42503}" type="presOf" srcId="{F9780196-C05A-45D3-B800-666EE2F9AE49}" destId="{618F77B9-0455-154F-B831-2E0E981FCFC8}" srcOrd="0" destOrd="3" presId="urn:microsoft.com/office/officeart/2005/8/layout/list1"/>
    <dgm:cxn modelId="{EA906DCA-8C6B-9B45-953E-591611426E90}" type="presOf" srcId="{E9A8EF13-7BB5-4F0E-8CD1-F0D22F9F48A1}" destId="{80D9309A-CD32-0445-A066-0061630282BA}" srcOrd="0" destOrd="0" presId="urn:microsoft.com/office/officeart/2005/8/layout/list1"/>
    <dgm:cxn modelId="{A80C64CF-950C-43EB-A2E9-0D4E15431426}" srcId="{C29EA331-1DC5-40E1-9681-28EB3773343A}" destId="{7314FD99-814F-4148-A0EF-C8B62A0D2BA3}" srcOrd="0" destOrd="0" parTransId="{0C9C4C41-EE65-48B8-9F5F-C234F5B8E99D}" sibTransId="{FACC0CA8-5D9F-42C5-93F8-B20A91611673}"/>
    <dgm:cxn modelId="{6CC3BDD5-9D1A-4017-BF64-2A8B5997D6DB}" srcId="{C29EA331-1DC5-40E1-9681-28EB3773343A}" destId="{0C6FD832-5FCE-4475-88F2-9797BC2EE1EB}" srcOrd="1" destOrd="0" parTransId="{D5455BC4-AF84-4442-9712-D8877D55F4A6}" sibTransId="{BBA119DF-A50F-4431-BA4B-68709CA460F9}"/>
    <dgm:cxn modelId="{0BFD2DDC-EDB8-054C-BDFA-F332040B8B4C}" type="presOf" srcId="{7373CEE3-ECF1-49BE-8DF4-584246AF1273}" destId="{B336C70F-1139-E840-9F54-22540FB743E9}" srcOrd="1" destOrd="0" presId="urn:microsoft.com/office/officeart/2005/8/layout/list1"/>
    <dgm:cxn modelId="{7EED0CDD-5367-9E4B-ACFF-B945A039795E}" type="presOf" srcId="{7314FD99-814F-4148-A0EF-C8B62A0D2BA3}" destId="{37A26387-1F9C-384D-9031-F5DF2AA59B85}" srcOrd="0" destOrd="0" presId="urn:microsoft.com/office/officeart/2005/8/layout/list1"/>
    <dgm:cxn modelId="{6E6C7CE0-DF49-4F23-942D-73B99820A87A}" srcId="{8BDC73F1-D02C-4F6D-9232-EFE71F17B192}" destId="{C29EA331-1DC5-40E1-9681-28EB3773343A}" srcOrd="1" destOrd="0" parTransId="{69F8FCE2-D9E9-41C4-BDE2-33C6E096C975}" sibTransId="{EECEA356-BB19-4B61-A5AD-8DB46748FD2F}"/>
    <dgm:cxn modelId="{E16AC4E7-16DA-4639-8C48-EE99B1C3B5FD}" srcId="{8594C14B-95D8-4BD4-9F15-AEED1A426056}" destId="{A9156689-53FB-4582-9D68-535A1133B409}" srcOrd="1" destOrd="0" parTransId="{572C1B8A-16B8-4263-9FE8-EF62462C5CFA}" sibTransId="{7EA5084D-8795-4795-A253-90093E654B23}"/>
    <dgm:cxn modelId="{A87BE0D6-AFEC-C441-AAFB-FF895B043817}" type="presParOf" srcId="{47192101-7A6A-3E40-AD2A-0D08A114277D}" destId="{2A6D37DF-E172-704F-B5B4-399E63E636A3}" srcOrd="0" destOrd="0" presId="urn:microsoft.com/office/officeart/2005/8/layout/list1"/>
    <dgm:cxn modelId="{C726EB77-695A-E540-B21F-6990C4A8D2F9}" type="presParOf" srcId="{2A6D37DF-E172-704F-B5B4-399E63E636A3}" destId="{B7ADE933-7B16-3B40-B30F-FD5E17462000}" srcOrd="0" destOrd="0" presId="urn:microsoft.com/office/officeart/2005/8/layout/list1"/>
    <dgm:cxn modelId="{5FAB595B-A953-C543-83E2-BE32F6A5CDE2}" type="presParOf" srcId="{2A6D37DF-E172-704F-B5B4-399E63E636A3}" destId="{B336C70F-1139-E840-9F54-22540FB743E9}" srcOrd="1" destOrd="0" presId="urn:microsoft.com/office/officeart/2005/8/layout/list1"/>
    <dgm:cxn modelId="{55E0DC42-93D3-C342-8897-2E08DED07B63}" type="presParOf" srcId="{47192101-7A6A-3E40-AD2A-0D08A114277D}" destId="{9A04F979-B03D-C443-91BF-74FFBF3934B4}" srcOrd="1" destOrd="0" presId="urn:microsoft.com/office/officeart/2005/8/layout/list1"/>
    <dgm:cxn modelId="{E03ECFF6-3284-8B43-8900-2DA1B843BDD9}" type="presParOf" srcId="{47192101-7A6A-3E40-AD2A-0D08A114277D}" destId="{618F77B9-0455-154F-B831-2E0E981FCFC8}" srcOrd="2" destOrd="0" presId="urn:microsoft.com/office/officeart/2005/8/layout/list1"/>
    <dgm:cxn modelId="{52D6598C-3E9C-4542-B82B-DC39D2D127A8}" type="presParOf" srcId="{47192101-7A6A-3E40-AD2A-0D08A114277D}" destId="{F0AB971F-897B-2A42-9BD0-F013332766D4}" srcOrd="3" destOrd="0" presId="urn:microsoft.com/office/officeart/2005/8/layout/list1"/>
    <dgm:cxn modelId="{E2466BF5-0422-D142-B9E4-61EBC221D94C}" type="presParOf" srcId="{47192101-7A6A-3E40-AD2A-0D08A114277D}" destId="{0DA17458-AB34-8E43-AA8C-9DC0FD14BFE0}" srcOrd="4" destOrd="0" presId="urn:microsoft.com/office/officeart/2005/8/layout/list1"/>
    <dgm:cxn modelId="{20F42F7C-FBF2-C645-8D94-CB65A475EA79}" type="presParOf" srcId="{0DA17458-AB34-8E43-AA8C-9DC0FD14BFE0}" destId="{101A7A06-8229-EF47-9D9E-A1E385E97C03}" srcOrd="0" destOrd="0" presId="urn:microsoft.com/office/officeart/2005/8/layout/list1"/>
    <dgm:cxn modelId="{6FC37911-FC07-054F-BAEC-29E5639FC99E}" type="presParOf" srcId="{0DA17458-AB34-8E43-AA8C-9DC0FD14BFE0}" destId="{C3B31080-2376-AC4A-BFD1-D41A8895C716}" srcOrd="1" destOrd="0" presId="urn:microsoft.com/office/officeart/2005/8/layout/list1"/>
    <dgm:cxn modelId="{C6127201-390F-B246-9CA7-AAE94FC19496}" type="presParOf" srcId="{47192101-7A6A-3E40-AD2A-0D08A114277D}" destId="{D8AE07F4-3388-C740-A58E-C1423F9FB921}" srcOrd="5" destOrd="0" presId="urn:microsoft.com/office/officeart/2005/8/layout/list1"/>
    <dgm:cxn modelId="{79082184-6E34-D746-AA92-5CA6F802634B}" type="presParOf" srcId="{47192101-7A6A-3E40-AD2A-0D08A114277D}" destId="{37A26387-1F9C-384D-9031-F5DF2AA59B85}" srcOrd="6" destOrd="0" presId="urn:microsoft.com/office/officeart/2005/8/layout/list1"/>
    <dgm:cxn modelId="{5287E168-D32E-494B-903E-F7837EDF0056}" type="presParOf" srcId="{47192101-7A6A-3E40-AD2A-0D08A114277D}" destId="{CB1C0E88-3E18-9246-89D2-07C3107CC8F4}" srcOrd="7" destOrd="0" presId="urn:microsoft.com/office/officeart/2005/8/layout/list1"/>
    <dgm:cxn modelId="{470BC6D0-619C-5849-9958-D3AD58F294C4}" type="presParOf" srcId="{47192101-7A6A-3E40-AD2A-0D08A114277D}" destId="{8461F91E-28FD-AA4E-B8C8-850E506ECC1C}" srcOrd="8" destOrd="0" presId="urn:microsoft.com/office/officeart/2005/8/layout/list1"/>
    <dgm:cxn modelId="{9BFB78DC-586C-0D40-AD2C-C7F5C2499E68}" type="presParOf" srcId="{8461F91E-28FD-AA4E-B8C8-850E506ECC1C}" destId="{6DF04F40-622F-D843-99AC-FA996C8AD618}" srcOrd="0" destOrd="0" presId="urn:microsoft.com/office/officeart/2005/8/layout/list1"/>
    <dgm:cxn modelId="{C10EA962-5BF0-2F48-AD90-DBC8108BAFAC}" type="presParOf" srcId="{8461F91E-28FD-AA4E-B8C8-850E506ECC1C}" destId="{D7A00AA3-17F3-864F-897F-90BB3929A569}" srcOrd="1" destOrd="0" presId="urn:microsoft.com/office/officeart/2005/8/layout/list1"/>
    <dgm:cxn modelId="{FE005DB9-6CDF-FF4E-8017-89F5E6BAA20C}" type="presParOf" srcId="{47192101-7A6A-3E40-AD2A-0D08A114277D}" destId="{F9D46C02-8F22-AD4D-9F4B-9AD86113B358}" srcOrd="9" destOrd="0" presId="urn:microsoft.com/office/officeart/2005/8/layout/list1"/>
    <dgm:cxn modelId="{36AE30F6-54E7-D34A-B51A-F4DAC09ABDF5}" type="presParOf" srcId="{47192101-7A6A-3E40-AD2A-0D08A114277D}" destId="{80D9309A-CD32-0445-A066-0061630282BA}"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24A7F01-07EF-4CAD-A9CC-36074F6EA157}" type="doc">
      <dgm:prSet loTypeId="urn:microsoft.com/office/officeart/2018/2/layout/IconCircle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3091078-FDC5-4D91-B2C5-F11C595061CC}">
      <dgm:prSet/>
      <dgm:spPr/>
      <dgm:t>
        <a:bodyPr/>
        <a:lstStyle/>
        <a:p>
          <a:pPr>
            <a:lnSpc>
              <a:spcPct val="100000"/>
            </a:lnSpc>
          </a:pPr>
          <a:r>
            <a:rPr lang="en-US" dirty="0">
              <a:latin typeface="Creative Thoughts" pitchFamily="2" charset="0"/>
            </a:rPr>
            <a:t>BOGS – Mostly negative</a:t>
          </a:r>
        </a:p>
      </dgm:t>
    </dgm:pt>
    <dgm:pt modelId="{2CEE465B-4843-4F41-A785-F1BAD1284633}" type="parTrans" cxnId="{9B22C3A5-E248-47CF-849A-6265D0FC4FA3}">
      <dgm:prSet/>
      <dgm:spPr/>
      <dgm:t>
        <a:bodyPr/>
        <a:lstStyle/>
        <a:p>
          <a:endParaRPr lang="en-US">
            <a:latin typeface="Creative Thoughts" pitchFamily="2" charset="0"/>
          </a:endParaRPr>
        </a:p>
      </dgm:t>
    </dgm:pt>
    <dgm:pt modelId="{FAAFDA6C-23F5-4FD1-94F4-5182BEB88847}" type="sibTrans" cxnId="{9B22C3A5-E248-47CF-849A-6265D0FC4FA3}">
      <dgm:prSet/>
      <dgm:spPr/>
      <dgm:t>
        <a:bodyPr/>
        <a:lstStyle/>
        <a:p>
          <a:pPr>
            <a:lnSpc>
              <a:spcPct val="100000"/>
            </a:lnSpc>
          </a:pPr>
          <a:endParaRPr lang="en-US">
            <a:latin typeface="Creative Thoughts" pitchFamily="2" charset="0"/>
          </a:endParaRPr>
        </a:p>
      </dgm:t>
    </dgm:pt>
    <dgm:pt modelId="{7280974D-761D-4097-AFBE-81A6C56A799B}">
      <dgm:prSet/>
      <dgm:spPr/>
      <dgm:t>
        <a:bodyPr/>
        <a:lstStyle/>
        <a:p>
          <a:pPr>
            <a:lnSpc>
              <a:spcPct val="100000"/>
            </a:lnSpc>
          </a:pPr>
          <a:r>
            <a:rPr lang="en-US" dirty="0">
              <a:latin typeface="Avenir Book" panose="02000503020000020003" pitchFamily="2" charset="0"/>
            </a:rPr>
            <a:t>NPY - Always deficit</a:t>
          </a:r>
        </a:p>
      </dgm:t>
    </dgm:pt>
    <dgm:pt modelId="{8599766E-F42A-4BDA-813B-D9030401C426}" type="parTrans" cxnId="{6BFB54AE-0C67-4CCB-B41C-D442517D8B8C}">
      <dgm:prSet/>
      <dgm:spPr/>
      <dgm:t>
        <a:bodyPr/>
        <a:lstStyle/>
        <a:p>
          <a:endParaRPr lang="en-US">
            <a:latin typeface="Creative Thoughts" pitchFamily="2" charset="0"/>
          </a:endParaRPr>
        </a:p>
      </dgm:t>
    </dgm:pt>
    <dgm:pt modelId="{263672F1-A442-47B2-802E-AF9F8882E77E}" type="sibTrans" cxnId="{6BFB54AE-0C67-4CCB-B41C-D442517D8B8C}">
      <dgm:prSet/>
      <dgm:spPr/>
      <dgm:t>
        <a:bodyPr/>
        <a:lstStyle/>
        <a:p>
          <a:pPr>
            <a:lnSpc>
              <a:spcPct val="100000"/>
            </a:lnSpc>
          </a:pPr>
          <a:endParaRPr lang="en-US">
            <a:latin typeface="Creative Thoughts" pitchFamily="2" charset="0"/>
          </a:endParaRPr>
        </a:p>
      </dgm:t>
    </dgm:pt>
    <dgm:pt modelId="{463AF83A-0AD7-4D61-A899-8A2B136E40AF}">
      <dgm:prSet/>
      <dgm:spPr/>
      <dgm:t>
        <a:bodyPr/>
        <a:lstStyle/>
        <a:p>
          <a:pPr>
            <a:lnSpc>
              <a:spcPct val="100000"/>
            </a:lnSpc>
          </a:pPr>
          <a:r>
            <a:rPr lang="en-US" dirty="0">
              <a:latin typeface="+mn-lt"/>
            </a:rPr>
            <a:t>CAB – 44 years of CAD (Current Account Deficit), changed to a CAS (Current Account Surplus) in 2019, back to CAD Sept 2023</a:t>
          </a:r>
        </a:p>
      </dgm:t>
    </dgm:pt>
    <dgm:pt modelId="{FBC55469-1FAE-4117-BB8D-F4D9CBA25B48}" type="parTrans" cxnId="{11C60804-8229-442D-A32A-B1754A89C711}">
      <dgm:prSet/>
      <dgm:spPr/>
      <dgm:t>
        <a:bodyPr/>
        <a:lstStyle/>
        <a:p>
          <a:endParaRPr lang="en-US">
            <a:latin typeface="Creative Thoughts" pitchFamily="2" charset="0"/>
          </a:endParaRPr>
        </a:p>
      </dgm:t>
    </dgm:pt>
    <dgm:pt modelId="{A0EF9BBC-31A7-4FBC-8E73-D21917F378F1}" type="sibTrans" cxnId="{11C60804-8229-442D-A32A-B1754A89C711}">
      <dgm:prSet/>
      <dgm:spPr/>
      <dgm:t>
        <a:bodyPr/>
        <a:lstStyle/>
        <a:p>
          <a:pPr>
            <a:lnSpc>
              <a:spcPct val="100000"/>
            </a:lnSpc>
          </a:pPr>
          <a:endParaRPr lang="en-US">
            <a:latin typeface="Creative Thoughts" pitchFamily="2" charset="0"/>
          </a:endParaRPr>
        </a:p>
      </dgm:t>
    </dgm:pt>
    <dgm:pt modelId="{2993F5A3-A250-40E0-B4F3-3B8C1A663BEF}">
      <dgm:prSet/>
      <dgm:spPr/>
      <dgm:t>
        <a:bodyPr/>
        <a:lstStyle/>
        <a:p>
          <a:pPr>
            <a:lnSpc>
              <a:spcPct val="100000"/>
            </a:lnSpc>
          </a:pPr>
          <a:r>
            <a:rPr lang="en-US" dirty="0">
              <a:latin typeface="+mn-lt"/>
            </a:rPr>
            <a:t>KAFA - Surplus of 44 years, changed to a deficit in 2019, back to surplus Sept 2023</a:t>
          </a:r>
        </a:p>
      </dgm:t>
    </dgm:pt>
    <dgm:pt modelId="{25FE19BA-64ED-4329-BA18-B68AE9FD9E2D}" type="parTrans" cxnId="{4C0D595A-2F18-417B-8F63-B233BA91D0E1}">
      <dgm:prSet/>
      <dgm:spPr/>
      <dgm:t>
        <a:bodyPr/>
        <a:lstStyle/>
        <a:p>
          <a:endParaRPr lang="en-US">
            <a:latin typeface="Creative Thoughts" pitchFamily="2" charset="0"/>
          </a:endParaRPr>
        </a:p>
      </dgm:t>
    </dgm:pt>
    <dgm:pt modelId="{C056C13F-E13A-4BC6-AAE3-C7850EA2E585}" type="sibTrans" cxnId="{4C0D595A-2F18-417B-8F63-B233BA91D0E1}">
      <dgm:prSet/>
      <dgm:spPr/>
      <dgm:t>
        <a:bodyPr/>
        <a:lstStyle/>
        <a:p>
          <a:endParaRPr lang="en-US">
            <a:latin typeface="Creative Thoughts" pitchFamily="2" charset="0"/>
          </a:endParaRPr>
        </a:p>
      </dgm:t>
    </dgm:pt>
    <dgm:pt modelId="{CB0648EE-0DFF-4AF2-9065-C1BD01AB039D}" type="pres">
      <dgm:prSet presAssocID="{724A7F01-07EF-4CAD-A9CC-36074F6EA157}" presName="root" presStyleCnt="0">
        <dgm:presLayoutVars>
          <dgm:dir/>
          <dgm:resizeHandles val="exact"/>
        </dgm:presLayoutVars>
      </dgm:prSet>
      <dgm:spPr/>
    </dgm:pt>
    <dgm:pt modelId="{BA3C2A73-C5C0-4C39-83F1-E3EA9653CD9E}" type="pres">
      <dgm:prSet presAssocID="{724A7F01-07EF-4CAD-A9CC-36074F6EA157}" presName="container" presStyleCnt="0">
        <dgm:presLayoutVars>
          <dgm:dir/>
          <dgm:resizeHandles val="exact"/>
        </dgm:presLayoutVars>
      </dgm:prSet>
      <dgm:spPr/>
    </dgm:pt>
    <dgm:pt modelId="{050F15D2-804E-4FA6-9765-554C3F2553B9}" type="pres">
      <dgm:prSet presAssocID="{53091078-FDC5-4D91-B2C5-F11C595061CC}" presName="compNode" presStyleCnt="0"/>
      <dgm:spPr/>
    </dgm:pt>
    <dgm:pt modelId="{897DE5BE-A0FD-415B-9E28-16FEAE04E288}" type="pres">
      <dgm:prSet presAssocID="{53091078-FDC5-4D91-B2C5-F11C595061CC}" presName="iconBgRect" presStyleLbl="bgShp" presStyleIdx="0" presStyleCnt="4"/>
      <dgm:spPr/>
    </dgm:pt>
    <dgm:pt modelId="{8E11D8F2-00D4-46D3-8569-5199AF1B051E}" type="pres">
      <dgm:prSet presAssocID="{53091078-FDC5-4D91-B2C5-F11C595061C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ad Face with No Fill"/>
        </a:ext>
      </dgm:extLst>
    </dgm:pt>
    <dgm:pt modelId="{608A2102-4E9F-4431-AF49-4BDDCCAB7353}" type="pres">
      <dgm:prSet presAssocID="{53091078-FDC5-4D91-B2C5-F11C595061CC}" presName="spaceRect" presStyleCnt="0"/>
      <dgm:spPr/>
    </dgm:pt>
    <dgm:pt modelId="{146A2799-DCD0-40F5-88C8-AB886AF79DE4}" type="pres">
      <dgm:prSet presAssocID="{53091078-FDC5-4D91-B2C5-F11C595061CC}" presName="textRect" presStyleLbl="revTx" presStyleIdx="0" presStyleCnt="4">
        <dgm:presLayoutVars>
          <dgm:chMax val="1"/>
          <dgm:chPref val="1"/>
        </dgm:presLayoutVars>
      </dgm:prSet>
      <dgm:spPr/>
    </dgm:pt>
    <dgm:pt modelId="{204E84AE-5C41-42F2-834D-11FC15E3D925}" type="pres">
      <dgm:prSet presAssocID="{FAAFDA6C-23F5-4FD1-94F4-5182BEB88847}" presName="sibTrans" presStyleLbl="sibTrans2D1" presStyleIdx="0" presStyleCnt="0"/>
      <dgm:spPr/>
    </dgm:pt>
    <dgm:pt modelId="{B44ACA8C-9EB2-4E2C-87CF-DE19F2153049}" type="pres">
      <dgm:prSet presAssocID="{7280974D-761D-4097-AFBE-81A6C56A799B}" presName="compNode" presStyleCnt="0"/>
      <dgm:spPr/>
    </dgm:pt>
    <dgm:pt modelId="{CB58C419-D20F-4D39-8224-8628740F5045}" type="pres">
      <dgm:prSet presAssocID="{7280974D-761D-4097-AFBE-81A6C56A799B}" presName="iconBgRect" presStyleLbl="bgShp" presStyleIdx="1" presStyleCnt="4"/>
      <dgm:spPr/>
    </dgm:pt>
    <dgm:pt modelId="{F3EFF1B1-1CBC-4DD8-8D27-90472D20FED2}" type="pres">
      <dgm:prSet presAssocID="{7280974D-761D-4097-AFBE-81A6C56A799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lag"/>
        </a:ext>
      </dgm:extLst>
    </dgm:pt>
    <dgm:pt modelId="{C896C7D7-355C-47D5-83D0-63E0553B10B1}" type="pres">
      <dgm:prSet presAssocID="{7280974D-761D-4097-AFBE-81A6C56A799B}" presName="spaceRect" presStyleCnt="0"/>
      <dgm:spPr/>
    </dgm:pt>
    <dgm:pt modelId="{7EC9F8F5-5290-4FC0-97A4-B67B9C0D6F2A}" type="pres">
      <dgm:prSet presAssocID="{7280974D-761D-4097-AFBE-81A6C56A799B}" presName="textRect" presStyleLbl="revTx" presStyleIdx="1" presStyleCnt="4">
        <dgm:presLayoutVars>
          <dgm:chMax val="1"/>
          <dgm:chPref val="1"/>
        </dgm:presLayoutVars>
      </dgm:prSet>
      <dgm:spPr/>
    </dgm:pt>
    <dgm:pt modelId="{B0C5B145-6471-4574-B1E3-167123018238}" type="pres">
      <dgm:prSet presAssocID="{263672F1-A442-47B2-802E-AF9F8882E77E}" presName="sibTrans" presStyleLbl="sibTrans2D1" presStyleIdx="0" presStyleCnt="0"/>
      <dgm:spPr/>
    </dgm:pt>
    <dgm:pt modelId="{4B75E4DE-B800-4B7A-848E-86F153AA3F76}" type="pres">
      <dgm:prSet presAssocID="{463AF83A-0AD7-4D61-A899-8A2B136E40AF}" presName="compNode" presStyleCnt="0"/>
      <dgm:spPr/>
    </dgm:pt>
    <dgm:pt modelId="{8B7A2455-E886-4C55-BBF7-53190F37AEBE}" type="pres">
      <dgm:prSet presAssocID="{463AF83A-0AD7-4D61-A899-8A2B136E40AF}" presName="iconBgRect" presStyleLbl="bgShp" presStyleIdx="2" presStyleCnt="4"/>
      <dgm:spPr/>
    </dgm:pt>
    <dgm:pt modelId="{A1BF4832-F5AE-4939-9A9D-B8D97DEED9D0}" type="pres">
      <dgm:prSet presAssocID="{463AF83A-0AD7-4D61-A899-8A2B136E40A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axi"/>
        </a:ext>
      </dgm:extLst>
    </dgm:pt>
    <dgm:pt modelId="{14A83956-6D3B-427C-923C-0E0C56920B9C}" type="pres">
      <dgm:prSet presAssocID="{463AF83A-0AD7-4D61-A899-8A2B136E40AF}" presName="spaceRect" presStyleCnt="0"/>
      <dgm:spPr/>
    </dgm:pt>
    <dgm:pt modelId="{EB023FFF-BB52-4860-860C-9236D354098B}" type="pres">
      <dgm:prSet presAssocID="{463AF83A-0AD7-4D61-A899-8A2B136E40AF}" presName="textRect" presStyleLbl="revTx" presStyleIdx="2" presStyleCnt="4">
        <dgm:presLayoutVars>
          <dgm:chMax val="1"/>
          <dgm:chPref val="1"/>
        </dgm:presLayoutVars>
      </dgm:prSet>
      <dgm:spPr/>
    </dgm:pt>
    <dgm:pt modelId="{1172D57F-3B37-4AE1-B2EC-15A3AB25377D}" type="pres">
      <dgm:prSet presAssocID="{A0EF9BBC-31A7-4FBC-8E73-D21917F378F1}" presName="sibTrans" presStyleLbl="sibTrans2D1" presStyleIdx="0" presStyleCnt="0"/>
      <dgm:spPr/>
    </dgm:pt>
    <dgm:pt modelId="{86988CC5-88BA-4A7F-A5C9-EF31683671E3}" type="pres">
      <dgm:prSet presAssocID="{2993F5A3-A250-40E0-B4F3-3B8C1A663BEF}" presName="compNode" presStyleCnt="0"/>
      <dgm:spPr/>
    </dgm:pt>
    <dgm:pt modelId="{8CB2AF00-D249-4799-A602-C6D70B465169}" type="pres">
      <dgm:prSet presAssocID="{2993F5A3-A250-40E0-B4F3-3B8C1A663BEF}" presName="iconBgRect" presStyleLbl="bgShp" presStyleIdx="3" presStyleCnt="4"/>
      <dgm:spPr/>
    </dgm:pt>
    <dgm:pt modelId="{65F800B7-3263-4DEC-B5AD-872A6EBD328B}" type="pres">
      <dgm:prSet presAssocID="{2993F5A3-A250-40E0-B4F3-3B8C1A663BE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Yuan"/>
        </a:ext>
      </dgm:extLst>
    </dgm:pt>
    <dgm:pt modelId="{9BC4A829-8DAF-4965-870D-0AA8E24A2B48}" type="pres">
      <dgm:prSet presAssocID="{2993F5A3-A250-40E0-B4F3-3B8C1A663BEF}" presName="spaceRect" presStyleCnt="0"/>
      <dgm:spPr/>
    </dgm:pt>
    <dgm:pt modelId="{B9E302BC-7646-4511-826B-90C7346F27C6}" type="pres">
      <dgm:prSet presAssocID="{2993F5A3-A250-40E0-B4F3-3B8C1A663BEF}" presName="textRect" presStyleLbl="revTx" presStyleIdx="3" presStyleCnt="4">
        <dgm:presLayoutVars>
          <dgm:chMax val="1"/>
          <dgm:chPref val="1"/>
        </dgm:presLayoutVars>
      </dgm:prSet>
      <dgm:spPr/>
    </dgm:pt>
  </dgm:ptLst>
  <dgm:cxnLst>
    <dgm:cxn modelId="{11C60804-8229-442D-A32A-B1754A89C711}" srcId="{724A7F01-07EF-4CAD-A9CC-36074F6EA157}" destId="{463AF83A-0AD7-4D61-A899-8A2B136E40AF}" srcOrd="2" destOrd="0" parTransId="{FBC55469-1FAE-4117-BB8D-F4D9CBA25B48}" sibTransId="{A0EF9BBC-31A7-4FBC-8E73-D21917F378F1}"/>
    <dgm:cxn modelId="{667F1907-F289-844E-8813-9EFB4AC3D5EB}" type="presOf" srcId="{FAAFDA6C-23F5-4FD1-94F4-5182BEB88847}" destId="{204E84AE-5C41-42F2-834D-11FC15E3D925}" srcOrd="0" destOrd="0" presId="urn:microsoft.com/office/officeart/2018/2/layout/IconCircleList"/>
    <dgm:cxn modelId="{561C7F10-077C-2F42-B8FB-C8EF9FEAB6D7}" type="presOf" srcId="{A0EF9BBC-31A7-4FBC-8E73-D21917F378F1}" destId="{1172D57F-3B37-4AE1-B2EC-15A3AB25377D}" srcOrd="0" destOrd="0" presId="urn:microsoft.com/office/officeart/2018/2/layout/IconCircleList"/>
    <dgm:cxn modelId="{FC8F3A1C-1C18-D248-90EF-F7E56E377E86}" type="presOf" srcId="{724A7F01-07EF-4CAD-A9CC-36074F6EA157}" destId="{CB0648EE-0DFF-4AF2-9065-C1BD01AB039D}" srcOrd="0" destOrd="0" presId="urn:microsoft.com/office/officeart/2018/2/layout/IconCircleList"/>
    <dgm:cxn modelId="{1751F441-5BBB-F94F-8C03-6A3947D48052}" type="presOf" srcId="{53091078-FDC5-4D91-B2C5-F11C595061CC}" destId="{146A2799-DCD0-40F5-88C8-AB886AF79DE4}" srcOrd="0" destOrd="0" presId="urn:microsoft.com/office/officeart/2018/2/layout/IconCircleList"/>
    <dgm:cxn modelId="{4C0D595A-2F18-417B-8F63-B233BA91D0E1}" srcId="{724A7F01-07EF-4CAD-A9CC-36074F6EA157}" destId="{2993F5A3-A250-40E0-B4F3-3B8C1A663BEF}" srcOrd="3" destOrd="0" parTransId="{25FE19BA-64ED-4329-BA18-B68AE9FD9E2D}" sibTransId="{C056C13F-E13A-4BC6-AAE3-C7850EA2E585}"/>
    <dgm:cxn modelId="{705DCC69-9399-124D-8431-BC27673F7DAF}" type="presOf" srcId="{263672F1-A442-47B2-802E-AF9F8882E77E}" destId="{B0C5B145-6471-4574-B1E3-167123018238}" srcOrd="0" destOrd="0" presId="urn:microsoft.com/office/officeart/2018/2/layout/IconCircleList"/>
    <dgm:cxn modelId="{C1CBB483-D76B-B04B-86AA-CA25EC8EC1A6}" type="presOf" srcId="{463AF83A-0AD7-4D61-A899-8A2B136E40AF}" destId="{EB023FFF-BB52-4860-860C-9236D354098B}" srcOrd="0" destOrd="0" presId="urn:microsoft.com/office/officeart/2018/2/layout/IconCircleList"/>
    <dgm:cxn modelId="{9B22C3A5-E248-47CF-849A-6265D0FC4FA3}" srcId="{724A7F01-07EF-4CAD-A9CC-36074F6EA157}" destId="{53091078-FDC5-4D91-B2C5-F11C595061CC}" srcOrd="0" destOrd="0" parTransId="{2CEE465B-4843-4F41-A785-F1BAD1284633}" sibTransId="{FAAFDA6C-23F5-4FD1-94F4-5182BEB88847}"/>
    <dgm:cxn modelId="{6BFB54AE-0C67-4CCB-B41C-D442517D8B8C}" srcId="{724A7F01-07EF-4CAD-A9CC-36074F6EA157}" destId="{7280974D-761D-4097-AFBE-81A6C56A799B}" srcOrd="1" destOrd="0" parTransId="{8599766E-F42A-4BDA-813B-D9030401C426}" sibTransId="{263672F1-A442-47B2-802E-AF9F8882E77E}"/>
    <dgm:cxn modelId="{83AF54BD-674A-9740-9CAA-ACF49CF973E1}" type="presOf" srcId="{7280974D-761D-4097-AFBE-81A6C56A799B}" destId="{7EC9F8F5-5290-4FC0-97A4-B67B9C0D6F2A}" srcOrd="0" destOrd="0" presId="urn:microsoft.com/office/officeart/2018/2/layout/IconCircleList"/>
    <dgm:cxn modelId="{8A006EDC-8BAE-EA43-ABF7-46D1B25174C2}" type="presOf" srcId="{2993F5A3-A250-40E0-B4F3-3B8C1A663BEF}" destId="{B9E302BC-7646-4511-826B-90C7346F27C6}" srcOrd="0" destOrd="0" presId="urn:microsoft.com/office/officeart/2018/2/layout/IconCircleList"/>
    <dgm:cxn modelId="{ED634C81-4918-3A4B-B4CE-E864D11ABF61}" type="presParOf" srcId="{CB0648EE-0DFF-4AF2-9065-C1BD01AB039D}" destId="{BA3C2A73-C5C0-4C39-83F1-E3EA9653CD9E}" srcOrd="0" destOrd="0" presId="urn:microsoft.com/office/officeart/2018/2/layout/IconCircleList"/>
    <dgm:cxn modelId="{4567D9B9-8F04-EC49-B9CE-CA913986B9C9}" type="presParOf" srcId="{BA3C2A73-C5C0-4C39-83F1-E3EA9653CD9E}" destId="{050F15D2-804E-4FA6-9765-554C3F2553B9}" srcOrd="0" destOrd="0" presId="urn:microsoft.com/office/officeart/2018/2/layout/IconCircleList"/>
    <dgm:cxn modelId="{BF7D78E4-F53A-7543-9F09-F0AA1DDCF118}" type="presParOf" srcId="{050F15D2-804E-4FA6-9765-554C3F2553B9}" destId="{897DE5BE-A0FD-415B-9E28-16FEAE04E288}" srcOrd="0" destOrd="0" presId="urn:microsoft.com/office/officeart/2018/2/layout/IconCircleList"/>
    <dgm:cxn modelId="{D4273027-43EB-8740-BF73-8EF806618A1E}" type="presParOf" srcId="{050F15D2-804E-4FA6-9765-554C3F2553B9}" destId="{8E11D8F2-00D4-46D3-8569-5199AF1B051E}" srcOrd="1" destOrd="0" presId="urn:microsoft.com/office/officeart/2018/2/layout/IconCircleList"/>
    <dgm:cxn modelId="{2BE454E8-183E-574A-9550-B0F00F23E3E6}" type="presParOf" srcId="{050F15D2-804E-4FA6-9765-554C3F2553B9}" destId="{608A2102-4E9F-4431-AF49-4BDDCCAB7353}" srcOrd="2" destOrd="0" presId="urn:microsoft.com/office/officeart/2018/2/layout/IconCircleList"/>
    <dgm:cxn modelId="{0B9BF54D-F739-4A42-A39F-253C57C73DCE}" type="presParOf" srcId="{050F15D2-804E-4FA6-9765-554C3F2553B9}" destId="{146A2799-DCD0-40F5-88C8-AB886AF79DE4}" srcOrd="3" destOrd="0" presId="urn:microsoft.com/office/officeart/2018/2/layout/IconCircleList"/>
    <dgm:cxn modelId="{7FFFD14D-4F43-2F47-8261-EBEFD646ED53}" type="presParOf" srcId="{BA3C2A73-C5C0-4C39-83F1-E3EA9653CD9E}" destId="{204E84AE-5C41-42F2-834D-11FC15E3D925}" srcOrd="1" destOrd="0" presId="urn:microsoft.com/office/officeart/2018/2/layout/IconCircleList"/>
    <dgm:cxn modelId="{0D213ECF-E585-6341-8DC4-09F1D3CF7129}" type="presParOf" srcId="{BA3C2A73-C5C0-4C39-83F1-E3EA9653CD9E}" destId="{B44ACA8C-9EB2-4E2C-87CF-DE19F2153049}" srcOrd="2" destOrd="0" presId="urn:microsoft.com/office/officeart/2018/2/layout/IconCircleList"/>
    <dgm:cxn modelId="{CE92FE6F-F0A3-A74C-A277-8EE387F9D4CB}" type="presParOf" srcId="{B44ACA8C-9EB2-4E2C-87CF-DE19F2153049}" destId="{CB58C419-D20F-4D39-8224-8628740F5045}" srcOrd="0" destOrd="0" presId="urn:microsoft.com/office/officeart/2018/2/layout/IconCircleList"/>
    <dgm:cxn modelId="{C7C52D91-3410-6B4E-8AEA-52498DBEC10E}" type="presParOf" srcId="{B44ACA8C-9EB2-4E2C-87CF-DE19F2153049}" destId="{F3EFF1B1-1CBC-4DD8-8D27-90472D20FED2}" srcOrd="1" destOrd="0" presId="urn:microsoft.com/office/officeart/2018/2/layout/IconCircleList"/>
    <dgm:cxn modelId="{0D7009AF-07E7-784E-B740-AC86CF9B438B}" type="presParOf" srcId="{B44ACA8C-9EB2-4E2C-87CF-DE19F2153049}" destId="{C896C7D7-355C-47D5-83D0-63E0553B10B1}" srcOrd="2" destOrd="0" presId="urn:microsoft.com/office/officeart/2018/2/layout/IconCircleList"/>
    <dgm:cxn modelId="{F6EA1BAE-BD4F-2D4F-883B-B9BDED0737BE}" type="presParOf" srcId="{B44ACA8C-9EB2-4E2C-87CF-DE19F2153049}" destId="{7EC9F8F5-5290-4FC0-97A4-B67B9C0D6F2A}" srcOrd="3" destOrd="0" presId="urn:microsoft.com/office/officeart/2018/2/layout/IconCircleList"/>
    <dgm:cxn modelId="{E00728C2-750D-F444-B7BC-B55CF6254659}" type="presParOf" srcId="{BA3C2A73-C5C0-4C39-83F1-E3EA9653CD9E}" destId="{B0C5B145-6471-4574-B1E3-167123018238}" srcOrd="3" destOrd="0" presId="urn:microsoft.com/office/officeart/2018/2/layout/IconCircleList"/>
    <dgm:cxn modelId="{23459622-1056-4145-93A3-C28F5A0E7D9F}" type="presParOf" srcId="{BA3C2A73-C5C0-4C39-83F1-E3EA9653CD9E}" destId="{4B75E4DE-B800-4B7A-848E-86F153AA3F76}" srcOrd="4" destOrd="0" presId="urn:microsoft.com/office/officeart/2018/2/layout/IconCircleList"/>
    <dgm:cxn modelId="{783580E6-D058-5B40-A68E-9A7F33F10A2E}" type="presParOf" srcId="{4B75E4DE-B800-4B7A-848E-86F153AA3F76}" destId="{8B7A2455-E886-4C55-BBF7-53190F37AEBE}" srcOrd="0" destOrd="0" presId="urn:microsoft.com/office/officeart/2018/2/layout/IconCircleList"/>
    <dgm:cxn modelId="{B653F058-CEE5-D840-A3A2-142E2DDD6EC7}" type="presParOf" srcId="{4B75E4DE-B800-4B7A-848E-86F153AA3F76}" destId="{A1BF4832-F5AE-4939-9A9D-B8D97DEED9D0}" srcOrd="1" destOrd="0" presId="urn:microsoft.com/office/officeart/2018/2/layout/IconCircleList"/>
    <dgm:cxn modelId="{6B2BEDD9-AE4C-F74B-9FA6-21F93F4354C1}" type="presParOf" srcId="{4B75E4DE-B800-4B7A-848E-86F153AA3F76}" destId="{14A83956-6D3B-427C-923C-0E0C56920B9C}" srcOrd="2" destOrd="0" presId="urn:microsoft.com/office/officeart/2018/2/layout/IconCircleList"/>
    <dgm:cxn modelId="{C54A59BC-5F56-7341-B373-176282772028}" type="presParOf" srcId="{4B75E4DE-B800-4B7A-848E-86F153AA3F76}" destId="{EB023FFF-BB52-4860-860C-9236D354098B}" srcOrd="3" destOrd="0" presId="urn:microsoft.com/office/officeart/2018/2/layout/IconCircleList"/>
    <dgm:cxn modelId="{7EEB49ED-4381-9C41-A5D5-846FECC97B9B}" type="presParOf" srcId="{BA3C2A73-C5C0-4C39-83F1-E3EA9653CD9E}" destId="{1172D57F-3B37-4AE1-B2EC-15A3AB25377D}" srcOrd="5" destOrd="0" presId="urn:microsoft.com/office/officeart/2018/2/layout/IconCircleList"/>
    <dgm:cxn modelId="{03E1E6AF-120B-2843-9FDF-EC3C23C5B178}" type="presParOf" srcId="{BA3C2A73-C5C0-4C39-83F1-E3EA9653CD9E}" destId="{86988CC5-88BA-4A7F-A5C9-EF31683671E3}" srcOrd="6" destOrd="0" presId="urn:microsoft.com/office/officeart/2018/2/layout/IconCircleList"/>
    <dgm:cxn modelId="{DE331169-1069-7445-A614-D691E80A1AF6}" type="presParOf" srcId="{86988CC5-88BA-4A7F-A5C9-EF31683671E3}" destId="{8CB2AF00-D249-4799-A602-C6D70B465169}" srcOrd="0" destOrd="0" presId="urn:microsoft.com/office/officeart/2018/2/layout/IconCircleList"/>
    <dgm:cxn modelId="{21B064A5-AB67-3148-A9AE-6817EE232D98}" type="presParOf" srcId="{86988CC5-88BA-4A7F-A5C9-EF31683671E3}" destId="{65F800B7-3263-4DEC-B5AD-872A6EBD328B}" srcOrd="1" destOrd="0" presId="urn:microsoft.com/office/officeart/2018/2/layout/IconCircleList"/>
    <dgm:cxn modelId="{F8E70FBF-9436-CC47-9AAF-F2B70A0E47C6}" type="presParOf" srcId="{86988CC5-88BA-4A7F-A5C9-EF31683671E3}" destId="{9BC4A829-8DAF-4965-870D-0AA8E24A2B48}" srcOrd="2" destOrd="0" presId="urn:microsoft.com/office/officeart/2018/2/layout/IconCircleList"/>
    <dgm:cxn modelId="{80489DF2-6DE1-BD45-B55D-E537F1132FE5}" type="presParOf" srcId="{86988CC5-88BA-4A7F-A5C9-EF31683671E3}" destId="{B9E302BC-7646-4511-826B-90C7346F27C6}"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DD67813-E576-47B6-A568-398E1FCF97DD}" type="doc">
      <dgm:prSet loTypeId="urn:microsoft.com/office/officeart/2005/8/layout/hList1" loCatId="list" qsTypeId="urn:microsoft.com/office/officeart/2005/8/quickstyle/simple5" qsCatId="simple" csTypeId="urn:microsoft.com/office/officeart/2005/8/colors/accent2_2" csCatId="accent2" phldr="1"/>
      <dgm:spPr/>
      <dgm:t>
        <a:bodyPr/>
        <a:lstStyle/>
        <a:p>
          <a:endParaRPr lang="en-US"/>
        </a:p>
      </dgm:t>
    </dgm:pt>
    <dgm:pt modelId="{57639F47-E2DE-4063-93F0-AB6E762C1C22}">
      <dgm:prSet/>
      <dgm:spPr/>
      <dgm:t>
        <a:bodyPr/>
        <a:lstStyle/>
        <a:p>
          <a:r>
            <a:rPr lang="en-US" dirty="0">
              <a:latin typeface="+mn-lt"/>
            </a:rPr>
            <a:t>Value of the AUD: </a:t>
          </a:r>
        </a:p>
      </dgm:t>
    </dgm:pt>
    <dgm:pt modelId="{4C877350-63E3-47F8-BC1A-660BCA3C7B01}" type="parTrans" cxnId="{EDECC81E-1130-4E98-9D87-2DE54676ED10}">
      <dgm:prSet/>
      <dgm:spPr/>
      <dgm:t>
        <a:bodyPr/>
        <a:lstStyle/>
        <a:p>
          <a:endParaRPr lang="en-US">
            <a:latin typeface="Creative Thoughts" pitchFamily="2" charset="0"/>
          </a:endParaRPr>
        </a:p>
      </dgm:t>
    </dgm:pt>
    <dgm:pt modelId="{CB3EEDDD-2C76-4C61-A3B6-1AF663C9245E}" type="sibTrans" cxnId="{EDECC81E-1130-4E98-9D87-2DE54676ED10}">
      <dgm:prSet/>
      <dgm:spPr/>
      <dgm:t>
        <a:bodyPr/>
        <a:lstStyle/>
        <a:p>
          <a:endParaRPr lang="en-US">
            <a:latin typeface="Creative Thoughts" pitchFamily="2" charset="0"/>
          </a:endParaRPr>
        </a:p>
      </dgm:t>
    </dgm:pt>
    <dgm:pt modelId="{1EE295A7-3A96-4D74-8FC8-E0FDE1EAF104}">
      <dgm:prSet/>
      <dgm:spPr/>
      <dgm:t>
        <a:bodyPr/>
        <a:lstStyle/>
        <a:p>
          <a:r>
            <a:rPr lang="en-US">
              <a:latin typeface="+mn-lt"/>
            </a:rPr>
            <a:t>The value of the AUD will affect the value of foreign debt in AUD terms</a:t>
          </a:r>
        </a:p>
      </dgm:t>
    </dgm:pt>
    <dgm:pt modelId="{DA223BBB-5306-4FE2-A167-C928C67C9D06}" type="parTrans" cxnId="{74899D48-F897-47A6-96FE-6FEE81E1EC29}">
      <dgm:prSet/>
      <dgm:spPr/>
      <dgm:t>
        <a:bodyPr/>
        <a:lstStyle/>
        <a:p>
          <a:endParaRPr lang="en-US">
            <a:latin typeface="Creative Thoughts" pitchFamily="2" charset="0"/>
          </a:endParaRPr>
        </a:p>
      </dgm:t>
    </dgm:pt>
    <dgm:pt modelId="{CC1B7B08-0F93-4B5B-A1B3-E697DDFA30EA}" type="sibTrans" cxnId="{74899D48-F897-47A6-96FE-6FEE81E1EC29}">
      <dgm:prSet/>
      <dgm:spPr/>
      <dgm:t>
        <a:bodyPr/>
        <a:lstStyle/>
        <a:p>
          <a:endParaRPr lang="en-US">
            <a:latin typeface="Creative Thoughts" pitchFamily="2" charset="0"/>
          </a:endParaRPr>
        </a:p>
      </dgm:t>
    </dgm:pt>
    <dgm:pt modelId="{846E3D0C-F45F-4643-BA60-349444C9C878}">
      <dgm:prSet/>
      <dgm:spPr/>
      <dgm:t>
        <a:bodyPr/>
        <a:lstStyle/>
        <a:p>
          <a:r>
            <a:rPr lang="en-US" dirty="0">
              <a:latin typeface="+mn-lt"/>
            </a:rPr>
            <a:t>For example: a stronger AUD will decrease the value of FD (in foreign currency terms)</a:t>
          </a:r>
        </a:p>
      </dgm:t>
    </dgm:pt>
    <dgm:pt modelId="{7F34BF11-18D6-46FC-9B22-C90222AF9671}" type="parTrans" cxnId="{F674D52D-5674-4248-A785-1BDEE03BF63F}">
      <dgm:prSet/>
      <dgm:spPr/>
      <dgm:t>
        <a:bodyPr/>
        <a:lstStyle/>
        <a:p>
          <a:endParaRPr lang="en-US">
            <a:latin typeface="Creative Thoughts" pitchFamily="2" charset="0"/>
          </a:endParaRPr>
        </a:p>
      </dgm:t>
    </dgm:pt>
    <dgm:pt modelId="{DA1116B1-965D-4B4F-9454-525E3DEB487A}" type="sibTrans" cxnId="{F674D52D-5674-4248-A785-1BDEE03BF63F}">
      <dgm:prSet/>
      <dgm:spPr/>
      <dgm:t>
        <a:bodyPr/>
        <a:lstStyle/>
        <a:p>
          <a:endParaRPr lang="en-US">
            <a:latin typeface="Creative Thoughts" pitchFamily="2" charset="0"/>
          </a:endParaRPr>
        </a:p>
      </dgm:t>
    </dgm:pt>
    <dgm:pt modelId="{7D80757B-7B37-4EA4-8844-7B7ABB76B6E9}">
      <dgm:prSet/>
      <dgm:spPr/>
      <dgm:t>
        <a:bodyPr/>
        <a:lstStyle/>
        <a:p>
          <a:r>
            <a:rPr lang="en-US">
              <a:latin typeface="+mn-lt"/>
            </a:rPr>
            <a:t>This will reduce the value of NPY debits (interest payments) and reduce the NPY deficit and increase the CAB</a:t>
          </a:r>
        </a:p>
      </dgm:t>
    </dgm:pt>
    <dgm:pt modelId="{4D6CBECB-71F1-43FF-83C6-B8F290A9CD56}" type="parTrans" cxnId="{75FB5591-ABC4-440C-8811-82E6D16B0D40}">
      <dgm:prSet/>
      <dgm:spPr/>
      <dgm:t>
        <a:bodyPr/>
        <a:lstStyle/>
        <a:p>
          <a:endParaRPr lang="en-US">
            <a:latin typeface="Creative Thoughts" pitchFamily="2" charset="0"/>
          </a:endParaRPr>
        </a:p>
      </dgm:t>
    </dgm:pt>
    <dgm:pt modelId="{85306020-1D57-48A7-BB84-06AF5CD703A5}" type="sibTrans" cxnId="{75FB5591-ABC4-440C-8811-82E6D16B0D40}">
      <dgm:prSet/>
      <dgm:spPr/>
      <dgm:t>
        <a:bodyPr/>
        <a:lstStyle/>
        <a:p>
          <a:endParaRPr lang="en-US">
            <a:latin typeface="Creative Thoughts" pitchFamily="2" charset="0"/>
          </a:endParaRPr>
        </a:p>
      </dgm:t>
    </dgm:pt>
    <dgm:pt modelId="{33287432-C591-4583-A854-ED3AC289CF5A}">
      <dgm:prSet/>
      <dgm:spPr/>
      <dgm:t>
        <a:bodyPr/>
        <a:lstStyle/>
        <a:p>
          <a:r>
            <a:rPr lang="en-US" dirty="0">
              <a:latin typeface="+mn-lt"/>
            </a:rPr>
            <a:t>This is the valuation effect – where changes in the value of the AUD will alter the value of the foreign debt in foreign currency terms</a:t>
          </a:r>
        </a:p>
      </dgm:t>
    </dgm:pt>
    <dgm:pt modelId="{21836F95-5B87-4A1C-AAA3-B3E5F77C9210}" type="parTrans" cxnId="{B3B4B2C8-1049-47F7-B803-0648D08E415E}">
      <dgm:prSet/>
      <dgm:spPr/>
      <dgm:t>
        <a:bodyPr/>
        <a:lstStyle/>
        <a:p>
          <a:endParaRPr lang="en-US">
            <a:latin typeface="Creative Thoughts" pitchFamily="2" charset="0"/>
          </a:endParaRPr>
        </a:p>
      </dgm:t>
    </dgm:pt>
    <dgm:pt modelId="{5A9738C5-CA82-48CF-9F10-98256BC515FA}" type="sibTrans" cxnId="{B3B4B2C8-1049-47F7-B803-0648D08E415E}">
      <dgm:prSet/>
      <dgm:spPr/>
      <dgm:t>
        <a:bodyPr/>
        <a:lstStyle/>
        <a:p>
          <a:endParaRPr lang="en-US">
            <a:latin typeface="Creative Thoughts" pitchFamily="2" charset="0"/>
          </a:endParaRPr>
        </a:p>
      </dgm:t>
    </dgm:pt>
    <dgm:pt modelId="{6F4CFCBA-F97C-4698-9808-368E4484680D}">
      <dgm:prSet/>
      <dgm:spPr/>
      <dgm:t>
        <a:bodyPr/>
        <a:lstStyle/>
        <a:p>
          <a:r>
            <a:rPr lang="en-US">
              <a:latin typeface="+mn-lt"/>
            </a:rPr>
            <a:t>Changes in the domestic business cycle: </a:t>
          </a:r>
        </a:p>
      </dgm:t>
    </dgm:pt>
    <dgm:pt modelId="{E4CDE12D-1A28-4E19-9C87-F0D6A2E4AF09}" type="parTrans" cxnId="{227CB93D-B717-44CA-844B-052410C21800}">
      <dgm:prSet/>
      <dgm:spPr/>
      <dgm:t>
        <a:bodyPr/>
        <a:lstStyle/>
        <a:p>
          <a:endParaRPr lang="en-US">
            <a:latin typeface="Creative Thoughts" pitchFamily="2" charset="0"/>
          </a:endParaRPr>
        </a:p>
      </dgm:t>
    </dgm:pt>
    <dgm:pt modelId="{4884C647-9D9F-4565-B5E5-246881AE0B0C}" type="sibTrans" cxnId="{227CB93D-B717-44CA-844B-052410C21800}">
      <dgm:prSet/>
      <dgm:spPr/>
      <dgm:t>
        <a:bodyPr/>
        <a:lstStyle/>
        <a:p>
          <a:endParaRPr lang="en-US">
            <a:latin typeface="Creative Thoughts" pitchFamily="2" charset="0"/>
          </a:endParaRPr>
        </a:p>
      </dgm:t>
    </dgm:pt>
    <dgm:pt modelId="{B040F259-0914-4058-AB5C-2EA74C59F698}">
      <dgm:prSet/>
      <dgm:spPr/>
      <dgm:t>
        <a:bodyPr/>
        <a:lstStyle/>
        <a:p>
          <a:r>
            <a:rPr lang="en-US">
              <a:latin typeface="+mn-lt"/>
            </a:rPr>
            <a:t>In Australia, approximately 40 per cent of the share market is foreign owned</a:t>
          </a:r>
        </a:p>
      </dgm:t>
    </dgm:pt>
    <dgm:pt modelId="{CA574DFE-A40F-4425-8929-09D134A069CC}" type="parTrans" cxnId="{F80B11F3-97F4-4E7B-8FDF-4A9939DFD8D0}">
      <dgm:prSet/>
      <dgm:spPr/>
      <dgm:t>
        <a:bodyPr/>
        <a:lstStyle/>
        <a:p>
          <a:endParaRPr lang="en-US">
            <a:latin typeface="Creative Thoughts" pitchFamily="2" charset="0"/>
          </a:endParaRPr>
        </a:p>
      </dgm:t>
    </dgm:pt>
    <dgm:pt modelId="{A85A444F-57A3-4FD7-9201-3D4D65F0E519}" type="sibTrans" cxnId="{F80B11F3-97F4-4E7B-8FDF-4A9939DFD8D0}">
      <dgm:prSet/>
      <dgm:spPr/>
      <dgm:t>
        <a:bodyPr/>
        <a:lstStyle/>
        <a:p>
          <a:endParaRPr lang="en-US">
            <a:latin typeface="Creative Thoughts" pitchFamily="2" charset="0"/>
          </a:endParaRPr>
        </a:p>
      </dgm:t>
    </dgm:pt>
    <dgm:pt modelId="{A6F2089E-6FD0-42AC-AB9C-674A6B503690}">
      <dgm:prSet/>
      <dgm:spPr/>
      <dgm:t>
        <a:bodyPr/>
        <a:lstStyle/>
        <a:p>
          <a:r>
            <a:rPr lang="en-US" dirty="0">
              <a:latin typeface="+mn-lt"/>
            </a:rPr>
            <a:t>If the Australian economy improves and companies record higher profits, they will have to then pay higher dividends to all shareholders, including OS SH</a:t>
          </a:r>
        </a:p>
      </dgm:t>
    </dgm:pt>
    <dgm:pt modelId="{391B5B1A-2D1F-4181-AFB6-D94D1AE642B4}" type="parTrans" cxnId="{61959DD0-844A-492D-BD19-3F90CD3D785D}">
      <dgm:prSet/>
      <dgm:spPr/>
      <dgm:t>
        <a:bodyPr/>
        <a:lstStyle/>
        <a:p>
          <a:endParaRPr lang="en-US">
            <a:latin typeface="Creative Thoughts" pitchFamily="2" charset="0"/>
          </a:endParaRPr>
        </a:p>
      </dgm:t>
    </dgm:pt>
    <dgm:pt modelId="{9CBFAA61-C157-47DA-B509-1349EB19B7FC}" type="sibTrans" cxnId="{61959DD0-844A-492D-BD19-3F90CD3D785D}">
      <dgm:prSet/>
      <dgm:spPr/>
      <dgm:t>
        <a:bodyPr/>
        <a:lstStyle/>
        <a:p>
          <a:endParaRPr lang="en-US">
            <a:latin typeface="Creative Thoughts" pitchFamily="2" charset="0"/>
          </a:endParaRPr>
        </a:p>
      </dgm:t>
    </dgm:pt>
    <dgm:pt modelId="{E111F427-82A3-42AB-A662-6569916A2E4D}">
      <dgm:prSet/>
      <dgm:spPr/>
      <dgm:t>
        <a:bodyPr/>
        <a:lstStyle/>
        <a:p>
          <a:r>
            <a:rPr lang="en-US">
              <a:latin typeface="+mn-lt"/>
            </a:rPr>
            <a:t>Higher domestic company profits means higher dividend outflows, which increases NPY deficit and decreases the CAB</a:t>
          </a:r>
        </a:p>
      </dgm:t>
    </dgm:pt>
    <dgm:pt modelId="{7A0B37CF-DD02-46E1-A5BE-CFF53077BCEA}" type="parTrans" cxnId="{3AB7930D-9ADD-431D-BB0F-DF5FAAE31DB8}">
      <dgm:prSet/>
      <dgm:spPr/>
      <dgm:t>
        <a:bodyPr/>
        <a:lstStyle/>
        <a:p>
          <a:endParaRPr lang="en-US">
            <a:latin typeface="Creative Thoughts" pitchFamily="2" charset="0"/>
          </a:endParaRPr>
        </a:p>
      </dgm:t>
    </dgm:pt>
    <dgm:pt modelId="{AAC03F9B-904A-4CA1-BE63-2A0A80624A7D}" type="sibTrans" cxnId="{3AB7930D-9ADD-431D-BB0F-DF5FAAE31DB8}">
      <dgm:prSet/>
      <dgm:spPr/>
      <dgm:t>
        <a:bodyPr/>
        <a:lstStyle/>
        <a:p>
          <a:endParaRPr lang="en-US">
            <a:latin typeface="Creative Thoughts" pitchFamily="2" charset="0"/>
          </a:endParaRPr>
        </a:p>
      </dgm:t>
    </dgm:pt>
    <dgm:pt modelId="{48E7FF62-7878-43AF-9602-D00396A88BF7}">
      <dgm:prSet/>
      <dgm:spPr/>
      <dgm:t>
        <a:bodyPr/>
        <a:lstStyle/>
        <a:p>
          <a:r>
            <a:rPr lang="en-US">
              <a:latin typeface="+mn-lt"/>
            </a:rPr>
            <a:t>Changes in domestic and global interest rates</a:t>
          </a:r>
        </a:p>
      </dgm:t>
    </dgm:pt>
    <dgm:pt modelId="{280EF3F3-B581-4163-BC21-62B7AA589EA3}" type="parTrans" cxnId="{35DC39E8-7200-4EBB-AE5C-32B023182D8B}">
      <dgm:prSet/>
      <dgm:spPr/>
      <dgm:t>
        <a:bodyPr/>
        <a:lstStyle/>
        <a:p>
          <a:endParaRPr lang="en-US">
            <a:latin typeface="Creative Thoughts" pitchFamily="2" charset="0"/>
          </a:endParaRPr>
        </a:p>
      </dgm:t>
    </dgm:pt>
    <dgm:pt modelId="{C94B52C1-0063-4DAC-93A4-138C21C97EBA}" type="sibTrans" cxnId="{35DC39E8-7200-4EBB-AE5C-32B023182D8B}">
      <dgm:prSet/>
      <dgm:spPr/>
      <dgm:t>
        <a:bodyPr/>
        <a:lstStyle/>
        <a:p>
          <a:endParaRPr lang="en-US">
            <a:latin typeface="Creative Thoughts" pitchFamily="2" charset="0"/>
          </a:endParaRPr>
        </a:p>
      </dgm:t>
    </dgm:pt>
    <dgm:pt modelId="{071BF29B-DFFF-4155-BD48-FF1B0AC5EE6A}">
      <dgm:prSet/>
      <dgm:spPr/>
      <dgm:t>
        <a:bodyPr/>
        <a:lstStyle/>
        <a:p>
          <a:r>
            <a:rPr lang="en-US">
              <a:latin typeface="+mn-lt"/>
            </a:rPr>
            <a:t>The servicing costs (interest payments) are set by an interest rate – either an OS IR or the AIR</a:t>
          </a:r>
        </a:p>
      </dgm:t>
    </dgm:pt>
    <dgm:pt modelId="{47962737-E592-49EA-9EC8-99953E64C2B4}" type="parTrans" cxnId="{29FB9D8F-74BD-481C-B87C-3D755B029730}">
      <dgm:prSet/>
      <dgm:spPr/>
      <dgm:t>
        <a:bodyPr/>
        <a:lstStyle/>
        <a:p>
          <a:endParaRPr lang="en-US">
            <a:latin typeface="Creative Thoughts" pitchFamily="2" charset="0"/>
          </a:endParaRPr>
        </a:p>
      </dgm:t>
    </dgm:pt>
    <dgm:pt modelId="{BEB3622B-1321-42EE-AEF3-1DDC367DB622}" type="sibTrans" cxnId="{29FB9D8F-74BD-481C-B87C-3D755B029730}">
      <dgm:prSet/>
      <dgm:spPr/>
      <dgm:t>
        <a:bodyPr/>
        <a:lstStyle/>
        <a:p>
          <a:endParaRPr lang="en-US">
            <a:latin typeface="Creative Thoughts" pitchFamily="2" charset="0"/>
          </a:endParaRPr>
        </a:p>
      </dgm:t>
    </dgm:pt>
    <dgm:pt modelId="{7D98B03F-17DE-42DB-BA42-ABBFB78F2D39}">
      <dgm:prSet/>
      <dgm:spPr/>
      <dgm:t>
        <a:bodyPr/>
        <a:lstStyle/>
        <a:p>
          <a:r>
            <a:rPr lang="en-US" dirty="0">
              <a:latin typeface="+mn-lt"/>
            </a:rPr>
            <a:t>If global interest rates reduce, this will decrease the value of interest payments required on Australia’s foreign debt, in turn, this will shrink NPY outflow, decrease the NPY deficit and increase the CAB</a:t>
          </a:r>
        </a:p>
      </dgm:t>
    </dgm:pt>
    <dgm:pt modelId="{AA79C0A7-4F5C-4F1B-B1C4-EE6B178C661F}" type="parTrans" cxnId="{6BC86F62-F077-4925-9F23-2C828DE2D3AF}">
      <dgm:prSet/>
      <dgm:spPr/>
      <dgm:t>
        <a:bodyPr/>
        <a:lstStyle/>
        <a:p>
          <a:endParaRPr lang="en-US">
            <a:latin typeface="Creative Thoughts" pitchFamily="2" charset="0"/>
          </a:endParaRPr>
        </a:p>
      </dgm:t>
    </dgm:pt>
    <dgm:pt modelId="{39F13C40-FCA2-40E6-8914-21ABF5552593}" type="sibTrans" cxnId="{6BC86F62-F077-4925-9F23-2C828DE2D3AF}">
      <dgm:prSet/>
      <dgm:spPr/>
      <dgm:t>
        <a:bodyPr/>
        <a:lstStyle/>
        <a:p>
          <a:endParaRPr lang="en-US">
            <a:latin typeface="Creative Thoughts" pitchFamily="2" charset="0"/>
          </a:endParaRPr>
        </a:p>
      </dgm:t>
    </dgm:pt>
    <dgm:pt modelId="{4B9CB9AB-23F7-C546-858C-F99D14AB06BF}" type="pres">
      <dgm:prSet presAssocID="{3DD67813-E576-47B6-A568-398E1FCF97DD}" presName="Name0" presStyleCnt="0">
        <dgm:presLayoutVars>
          <dgm:dir/>
          <dgm:animLvl val="lvl"/>
          <dgm:resizeHandles val="exact"/>
        </dgm:presLayoutVars>
      </dgm:prSet>
      <dgm:spPr/>
    </dgm:pt>
    <dgm:pt modelId="{9FF86714-F64A-034E-B428-79F523F87C3D}" type="pres">
      <dgm:prSet presAssocID="{57639F47-E2DE-4063-93F0-AB6E762C1C22}" presName="composite" presStyleCnt="0"/>
      <dgm:spPr/>
    </dgm:pt>
    <dgm:pt modelId="{4ADD7A8A-F42F-9544-A245-8953109C3650}" type="pres">
      <dgm:prSet presAssocID="{57639F47-E2DE-4063-93F0-AB6E762C1C22}" presName="parTx" presStyleLbl="alignNode1" presStyleIdx="0" presStyleCnt="3">
        <dgm:presLayoutVars>
          <dgm:chMax val="0"/>
          <dgm:chPref val="0"/>
          <dgm:bulletEnabled val="1"/>
        </dgm:presLayoutVars>
      </dgm:prSet>
      <dgm:spPr/>
    </dgm:pt>
    <dgm:pt modelId="{3CEE49F6-D53B-F140-A47B-B8E92362A082}" type="pres">
      <dgm:prSet presAssocID="{57639F47-E2DE-4063-93F0-AB6E762C1C22}" presName="desTx" presStyleLbl="alignAccFollowNode1" presStyleIdx="0" presStyleCnt="3">
        <dgm:presLayoutVars>
          <dgm:bulletEnabled val="1"/>
        </dgm:presLayoutVars>
      </dgm:prSet>
      <dgm:spPr/>
    </dgm:pt>
    <dgm:pt modelId="{6CA4D000-D976-804F-9B05-D495916CCC29}" type="pres">
      <dgm:prSet presAssocID="{CB3EEDDD-2C76-4C61-A3B6-1AF663C9245E}" presName="space" presStyleCnt="0"/>
      <dgm:spPr/>
    </dgm:pt>
    <dgm:pt modelId="{A9910EED-8278-5C4D-B876-ED037EDDBD8F}" type="pres">
      <dgm:prSet presAssocID="{6F4CFCBA-F97C-4698-9808-368E4484680D}" presName="composite" presStyleCnt="0"/>
      <dgm:spPr/>
    </dgm:pt>
    <dgm:pt modelId="{5F1EAC4E-C522-4B46-AB36-15F1B6694C68}" type="pres">
      <dgm:prSet presAssocID="{6F4CFCBA-F97C-4698-9808-368E4484680D}" presName="parTx" presStyleLbl="alignNode1" presStyleIdx="1" presStyleCnt="3">
        <dgm:presLayoutVars>
          <dgm:chMax val="0"/>
          <dgm:chPref val="0"/>
          <dgm:bulletEnabled val="1"/>
        </dgm:presLayoutVars>
      </dgm:prSet>
      <dgm:spPr/>
    </dgm:pt>
    <dgm:pt modelId="{58691CCD-A696-8A42-A566-A02B88220D84}" type="pres">
      <dgm:prSet presAssocID="{6F4CFCBA-F97C-4698-9808-368E4484680D}" presName="desTx" presStyleLbl="alignAccFollowNode1" presStyleIdx="1" presStyleCnt="3">
        <dgm:presLayoutVars>
          <dgm:bulletEnabled val="1"/>
        </dgm:presLayoutVars>
      </dgm:prSet>
      <dgm:spPr/>
    </dgm:pt>
    <dgm:pt modelId="{37D2EDB3-25F7-A04F-B144-08C4E216DA35}" type="pres">
      <dgm:prSet presAssocID="{4884C647-9D9F-4565-B5E5-246881AE0B0C}" presName="space" presStyleCnt="0"/>
      <dgm:spPr/>
    </dgm:pt>
    <dgm:pt modelId="{B92388BB-D85E-514E-B49E-789EA931FC71}" type="pres">
      <dgm:prSet presAssocID="{48E7FF62-7878-43AF-9602-D00396A88BF7}" presName="composite" presStyleCnt="0"/>
      <dgm:spPr/>
    </dgm:pt>
    <dgm:pt modelId="{EA99766E-85FB-8248-A92B-925A55DF99C3}" type="pres">
      <dgm:prSet presAssocID="{48E7FF62-7878-43AF-9602-D00396A88BF7}" presName="parTx" presStyleLbl="alignNode1" presStyleIdx="2" presStyleCnt="3">
        <dgm:presLayoutVars>
          <dgm:chMax val="0"/>
          <dgm:chPref val="0"/>
          <dgm:bulletEnabled val="1"/>
        </dgm:presLayoutVars>
      </dgm:prSet>
      <dgm:spPr/>
    </dgm:pt>
    <dgm:pt modelId="{93A323A9-03D8-F143-96B4-0FB14197865F}" type="pres">
      <dgm:prSet presAssocID="{48E7FF62-7878-43AF-9602-D00396A88BF7}" presName="desTx" presStyleLbl="alignAccFollowNode1" presStyleIdx="2" presStyleCnt="3">
        <dgm:presLayoutVars>
          <dgm:bulletEnabled val="1"/>
        </dgm:presLayoutVars>
      </dgm:prSet>
      <dgm:spPr/>
    </dgm:pt>
  </dgm:ptLst>
  <dgm:cxnLst>
    <dgm:cxn modelId="{3AB7930D-9ADD-431D-BB0F-DF5FAAE31DB8}" srcId="{6F4CFCBA-F97C-4698-9808-368E4484680D}" destId="{E111F427-82A3-42AB-A662-6569916A2E4D}" srcOrd="2" destOrd="0" parTransId="{7A0B37CF-DD02-46E1-A5BE-CFF53077BCEA}" sibTransId="{AAC03F9B-904A-4CA1-BE63-2A0A80624A7D}"/>
    <dgm:cxn modelId="{EDECC81E-1130-4E98-9D87-2DE54676ED10}" srcId="{3DD67813-E576-47B6-A568-398E1FCF97DD}" destId="{57639F47-E2DE-4063-93F0-AB6E762C1C22}" srcOrd="0" destOrd="0" parTransId="{4C877350-63E3-47F8-BC1A-660BCA3C7B01}" sibTransId="{CB3EEDDD-2C76-4C61-A3B6-1AF663C9245E}"/>
    <dgm:cxn modelId="{04A36121-FDB5-1445-BC2A-377BE3853C5E}" type="presOf" srcId="{846E3D0C-F45F-4643-BA60-349444C9C878}" destId="{3CEE49F6-D53B-F140-A47B-B8E92362A082}" srcOrd="0" destOrd="1" presId="urn:microsoft.com/office/officeart/2005/8/layout/hList1"/>
    <dgm:cxn modelId="{F674D52D-5674-4248-A785-1BDEE03BF63F}" srcId="{57639F47-E2DE-4063-93F0-AB6E762C1C22}" destId="{846E3D0C-F45F-4643-BA60-349444C9C878}" srcOrd="1" destOrd="0" parTransId="{7F34BF11-18D6-46FC-9B22-C90222AF9671}" sibTransId="{DA1116B1-965D-4B4F-9454-525E3DEB487A}"/>
    <dgm:cxn modelId="{C755D23A-E84A-8C47-A9BB-1AAC8131BDAD}" type="presOf" srcId="{A6F2089E-6FD0-42AC-AB9C-674A6B503690}" destId="{58691CCD-A696-8A42-A566-A02B88220D84}" srcOrd="0" destOrd="1" presId="urn:microsoft.com/office/officeart/2005/8/layout/hList1"/>
    <dgm:cxn modelId="{227CB93D-B717-44CA-844B-052410C21800}" srcId="{3DD67813-E576-47B6-A568-398E1FCF97DD}" destId="{6F4CFCBA-F97C-4698-9808-368E4484680D}" srcOrd="1" destOrd="0" parTransId="{E4CDE12D-1A28-4E19-9C87-F0D6A2E4AF09}" sibTransId="{4884C647-9D9F-4565-B5E5-246881AE0B0C}"/>
    <dgm:cxn modelId="{74899D48-F897-47A6-96FE-6FEE81E1EC29}" srcId="{57639F47-E2DE-4063-93F0-AB6E762C1C22}" destId="{1EE295A7-3A96-4D74-8FC8-E0FDE1EAF104}" srcOrd="0" destOrd="0" parTransId="{DA223BBB-5306-4FE2-A167-C928C67C9D06}" sibTransId="{CC1B7B08-0F93-4B5B-A1B3-E697DDFA30EA}"/>
    <dgm:cxn modelId="{72FBA550-CFCE-6C41-9C70-550D11C8F120}" type="presOf" srcId="{071BF29B-DFFF-4155-BD48-FF1B0AC5EE6A}" destId="{93A323A9-03D8-F143-96B4-0FB14197865F}" srcOrd="0" destOrd="0" presId="urn:microsoft.com/office/officeart/2005/8/layout/hList1"/>
    <dgm:cxn modelId="{6BC86F62-F077-4925-9F23-2C828DE2D3AF}" srcId="{48E7FF62-7878-43AF-9602-D00396A88BF7}" destId="{7D98B03F-17DE-42DB-BA42-ABBFB78F2D39}" srcOrd="1" destOrd="0" parTransId="{AA79C0A7-4F5C-4F1B-B1C4-EE6B178C661F}" sibTransId="{39F13C40-FCA2-40E6-8914-21ABF5552593}"/>
    <dgm:cxn modelId="{95CCED70-6B38-E84D-A7D8-9DED6A96CF82}" type="presOf" srcId="{48E7FF62-7878-43AF-9602-D00396A88BF7}" destId="{EA99766E-85FB-8248-A92B-925A55DF99C3}" srcOrd="0" destOrd="0" presId="urn:microsoft.com/office/officeart/2005/8/layout/hList1"/>
    <dgm:cxn modelId="{8C6DB974-662B-FE47-AC64-D32D192800FE}" type="presOf" srcId="{7D80757B-7B37-4EA4-8844-7B7ABB76B6E9}" destId="{3CEE49F6-D53B-F140-A47B-B8E92362A082}" srcOrd="0" destOrd="2" presId="urn:microsoft.com/office/officeart/2005/8/layout/hList1"/>
    <dgm:cxn modelId="{74228379-F144-384C-893A-E6C45E984FE7}" type="presOf" srcId="{B040F259-0914-4058-AB5C-2EA74C59F698}" destId="{58691CCD-A696-8A42-A566-A02B88220D84}" srcOrd="0" destOrd="0" presId="urn:microsoft.com/office/officeart/2005/8/layout/hList1"/>
    <dgm:cxn modelId="{29FB9D8F-74BD-481C-B87C-3D755B029730}" srcId="{48E7FF62-7878-43AF-9602-D00396A88BF7}" destId="{071BF29B-DFFF-4155-BD48-FF1B0AC5EE6A}" srcOrd="0" destOrd="0" parTransId="{47962737-E592-49EA-9EC8-99953E64C2B4}" sibTransId="{BEB3622B-1321-42EE-AEF3-1DDC367DB622}"/>
    <dgm:cxn modelId="{75FB5591-ABC4-440C-8811-82E6D16B0D40}" srcId="{57639F47-E2DE-4063-93F0-AB6E762C1C22}" destId="{7D80757B-7B37-4EA4-8844-7B7ABB76B6E9}" srcOrd="2" destOrd="0" parTransId="{4D6CBECB-71F1-43FF-83C6-B8F290A9CD56}" sibTransId="{85306020-1D57-48A7-BB84-06AF5CD703A5}"/>
    <dgm:cxn modelId="{648AE993-6280-9947-B9A6-2870C2F010F4}" type="presOf" srcId="{E111F427-82A3-42AB-A662-6569916A2E4D}" destId="{58691CCD-A696-8A42-A566-A02B88220D84}" srcOrd="0" destOrd="2" presId="urn:microsoft.com/office/officeart/2005/8/layout/hList1"/>
    <dgm:cxn modelId="{65B23BA3-86CF-4145-8AEF-FD27CA86D36D}" type="presOf" srcId="{33287432-C591-4583-A854-ED3AC289CF5A}" destId="{3CEE49F6-D53B-F140-A47B-B8E92362A082}" srcOrd="0" destOrd="3" presId="urn:microsoft.com/office/officeart/2005/8/layout/hList1"/>
    <dgm:cxn modelId="{4EF87AAA-5696-1A4F-8FB6-5E99EB06F525}" type="presOf" srcId="{3DD67813-E576-47B6-A568-398E1FCF97DD}" destId="{4B9CB9AB-23F7-C546-858C-F99D14AB06BF}" srcOrd="0" destOrd="0" presId="urn:microsoft.com/office/officeart/2005/8/layout/hList1"/>
    <dgm:cxn modelId="{D44FF4AC-A2F7-EB4F-8FFD-CE15BCF946D2}" type="presOf" srcId="{1EE295A7-3A96-4D74-8FC8-E0FDE1EAF104}" destId="{3CEE49F6-D53B-F140-A47B-B8E92362A082}" srcOrd="0" destOrd="0" presId="urn:microsoft.com/office/officeart/2005/8/layout/hList1"/>
    <dgm:cxn modelId="{B3B4B2C8-1049-47F7-B803-0648D08E415E}" srcId="{57639F47-E2DE-4063-93F0-AB6E762C1C22}" destId="{33287432-C591-4583-A854-ED3AC289CF5A}" srcOrd="3" destOrd="0" parTransId="{21836F95-5B87-4A1C-AAA3-B3E5F77C9210}" sibTransId="{5A9738C5-CA82-48CF-9F10-98256BC515FA}"/>
    <dgm:cxn modelId="{61959DD0-844A-492D-BD19-3F90CD3D785D}" srcId="{6F4CFCBA-F97C-4698-9808-368E4484680D}" destId="{A6F2089E-6FD0-42AC-AB9C-674A6B503690}" srcOrd="1" destOrd="0" parTransId="{391B5B1A-2D1F-4181-AFB6-D94D1AE642B4}" sibTransId="{9CBFAA61-C157-47DA-B509-1349EB19B7FC}"/>
    <dgm:cxn modelId="{DC44C1DA-61EC-7140-B9E3-B2D7BC037E5C}" type="presOf" srcId="{7D98B03F-17DE-42DB-BA42-ABBFB78F2D39}" destId="{93A323A9-03D8-F143-96B4-0FB14197865F}" srcOrd="0" destOrd="1" presId="urn:microsoft.com/office/officeart/2005/8/layout/hList1"/>
    <dgm:cxn modelId="{5F593AE5-7B86-B846-B288-7278E2146F98}" type="presOf" srcId="{6F4CFCBA-F97C-4698-9808-368E4484680D}" destId="{5F1EAC4E-C522-4B46-AB36-15F1B6694C68}" srcOrd="0" destOrd="0" presId="urn:microsoft.com/office/officeart/2005/8/layout/hList1"/>
    <dgm:cxn modelId="{35DC39E8-7200-4EBB-AE5C-32B023182D8B}" srcId="{3DD67813-E576-47B6-A568-398E1FCF97DD}" destId="{48E7FF62-7878-43AF-9602-D00396A88BF7}" srcOrd="2" destOrd="0" parTransId="{280EF3F3-B581-4163-BC21-62B7AA589EA3}" sibTransId="{C94B52C1-0063-4DAC-93A4-138C21C97EBA}"/>
    <dgm:cxn modelId="{70E335EF-CBEE-7F4F-9AD3-EB749951F16F}" type="presOf" srcId="{57639F47-E2DE-4063-93F0-AB6E762C1C22}" destId="{4ADD7A8A-F42F-9544-A245-8953109C3650}" srcOrd="0" destOrd="0" presId="urn:microsoft.com/office/officeart/2005/8/layout/hList1"/>
    <dgm:cxn modelId="{F80B11F3-97F4-4E7B-8FDF-4A9939DFD8D0}" srcId="{6F4CFCBA-F97C-4698-9808-368E4484680D}" destId="{B040F259-0914-4058-AB5C-2EA74C59F698}" srcOrd="0" destOrd="0" parTransId="{CA574DFE-A40F-4425-8929-09D134A069CC}" sibTransId="{A85A444F-57A3-4FD7-9201-3D4D65F0E519}"/>
    <dgm:cxn modelId="{6238F776-90AE-8442-B831-380F9A233C7B}" type="presParOf" srcId="{4B9CB9AB-23F7-C546-858C-F99D14AB06BF}" destId="{9FF86714-F64A-034E-B428-79F523F87C3D}" srcOrd="0" destOrd="0" presId="urn:microsoft.com/office/officeart/2005/8/layout/hList1"/>
    <dgm:cxn modelId="{7159089F-1FCD-3246-8FE4-A4CD18E521E8}" type="presParOf" srcId="{9FF86714-F64A-034E-B428-79F523F87C3D}" destId="{4ADD7A8A-F42F-9544-A245-8953109C3650}" srcOrd="0" destOrd="0" presId="urn:microsoft.com/office/officeart/2005/8/layout/hList1"/>
    <dgm:cxn modelId="{5B6CF3AB-C08A-EE43-8D05-3D0960F455A3}" type="presParOf" srcId="{9FF86714-F64A-034E-B428-79F523F87C3D}" destId="{3CEE49F6-D53B-F140-A47B-B8E92362A082}" srcOrd="1" destOrd="0" presId="urn:microsoft.com/office/officeart/2005/8/layout/hList1"/>
    <dgm:cxn modelId="{3A7A3143-D1B7-9B4E-B537-81C6FF7F9635}" type="presParOf" srcId="{4B9CB9AB-23F7-C546-858C-F99D14AB06BF}" destId="{6CA4D000-D976-804F-9B05-D495916CCC29}" srcOrd="1" destOrd="0" presId="urn:microsoft.com/office/officeart/2005/8/layout/hList1"/>
    <dgm:cxn modelId="{5EDD3059-5179-FA46-9E4D-02F93E0EC57C}" type="presParOf" srcId="{4B9CB9AB-23F7-C546-858C-F99D14AB06BF}" destId="{A9910EED-8278-5C4D-B876-ED037EDDBD8F}" srcOrd="2" destOrd="0" presId="urn:microsoft.com/office/officeart/2005/8/layout/hList1"/>
    <dgm:cxn modelId="{AFC8C2F8-C43A-EA49-9058-81151EC3B98D}" type="presParOf" srcId="{A9910EED-8278-5C4D-B876-ED037EDDBD8F}" destId="{5F1EAC4E-C522-4B46-AB36-15F1B6694C68}" srcOrd="0" destOrd="0" presId="urn:microsoft.com/office/officeart/2005/8/layout/hList1"/>
    <dgm:cxn modelId="{89E91318-92E2-9C49-B211-217F80839891}" type="presParOf" srcId="{A9910EED-8278-5C4D-B876-ED037EDDBD8F}" destId="{58691CCD-A696-8A42-A566-A02B88220D84}" srcOrd="1" destOrd="0" presId="urn:microsoft.com/office/officeart/2005/8/layout/hList1"/>
    <dgm:cxn modelId="{C0672B5B-DD5E-914A-BA91-8CF6F3BE729B}" type="presParOf" srcId="{4B9CB9AB-23F7-C546-858C-F99D14AB06BF}" destId="{37D2EDB3-25F7-A04F-B144-08C4E216DA35}" srcOrd="3" destOrd="0" presId="urn:microsoft.com/office/officeart/2005/8/layout/hList1"/>
    <dgm:cxn modelId="{AE5B8EAA-F7B0-2A4D-99DD-5871787B036C}" type="presParOf" srcId="{4B9CB9AB-23F7-C546-858C-F99D14AB06BF}" destId="{B92388BB-D85E-514E-B49E-789EA931FC71}" srcOrd="4" destOrd="0" presId="urn:microsoft.com/office/officeart/2005/8/layout/hList1"/>
    <dgm:cxn modelId="{C5220524-D3FC-314E-AFF6-206684599090}" type="presParOf" srcId="{B92388BB-D85E-514E-B49E-789EA931FC71}" destId="{EA99766E-85FB-8248-A92B-925A55DF99C3}" srcOrd="0" destOrd="0" presId="urn:microsoft.com/office/officeart/2005/8/layout/hList1"/>
    <dgm:cxn modelId="{8D45438C-A7BF-8248-82BC-963A73F92EDD}" type="presParOf" srcId="{B92388BB-D85E-514E-B49E-789EA931FC71}" destId="{93A323A9-03D8-F143-96B4-0FB14197865F}"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EFE60C-7117-1242-82D6-6917B426953C}">
      <dsp:nvSpPr>
        <dsp:cNvPr id="0" name=""/>
        <dsp:cNvSpPr/>
      </dsp:nvSpPr>
      <dsp:spPr>
        <a:xfrm>
          <a:off x="0" y="0"/>
          <a:ext cx="7031593" cy="165520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AU" sz="4300" b="1" kern="1200">
              <a:latin typeface="Creative Thoughts" pitchFamily="2" charset="0"/>
              <a:cs typeface="TH SarabunPSK" panose="020B0500040200020003" pitchFamily="34" charset="-34"/>
            </a:rPr>
            <a:t>Balance = two sides equal</a:t>
          </a:r>
          <a:endParaRPr lang="en-US" sz="4300" kern="1200">
            <a:latin typeface="Creative Thoughts" pitchFamily="2" charset="0"/>
            <a:cs typeface="TH SarabunPSK" panose="020B0500040200020003" pitchFamily="34" charset="-34"/>
          </a:endParaRPr>
        </a:p>
      </dsp:txBody>
      <dsp:txXfrm>
        <a:off x="48479" y="48479"/>
        <a:ext cx="5320808" cy="1558249"/>
      </dsp:txXfrm>
    </dsp:sp>
    <dsp:sp modelId="{5ABDB83C-8625-7849-88F1-FFC36487EFED}">
      <dsp:nvSpPr>
        <dsp:cNvPr id="0" name=""/>
        <dsp:cNvSpPr/>
      </dsp:nvSpPr>
      <dsp:spPr>
        <a:xfrm>
          <a:off x="1240869" y="2023030"/>
          <a:ext cx="7031593" cy="1655207"/>
        </a:xfrm>
        <a:prstGeom prst="roundRect">
          <a:avLst>
            <a:gd name="adj" fmla="val 10000"/>
          </a:avLst>
        </a:prstGeom>
        <a:solidFill>
          <a:schemeClr val="accent2">
            <a:hueOff val="-5936795"/>
            <a:satOff val="0"/>
            <a:lumOff val="-2411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AU" sz="4300" b="1" kern="1200">
              <a:latin typeface="Creative Thoughts" pitchFamily="2" charset="0"/>
              <a:cs typeface="TH SarabunPSK" panose="020B0500040200020003" pitchFamily="34" charset="-34"/>
            </a:rPr>
            <a:t>Payments = money in and out</a:t>
          </a:r>
          <a:endParaRPr lang="en-US" sz="4300" kern="1200">
            <a:latin typeface="Creative Thoughts" pitchFamily="2" charset="0"/>
            <a:cs typeface="TH SarabunPSK" panose="020B0500040200020003" pitchFamily="34" charset="-34"/>
          </a:endParaRPr>
        </a:p>
      </dsp:txBody>
      <dsp:txXfrm>
        <a:off x="1289348" y="2071509"/>
        <a:ext cx="4617881" cy="1558249"/>
      </dsp:txXfrm>
    </dsp:sp>
    <dsp:sp modelId="{51893CA2-A16C-0D46-A5AB-0EA8B0A535F6}">
      <dsp:nvSpPr>
        <dsp:cNvPr id="0" name=""/>
        <dsp:cNvSpPr/>
      </dsp:nvSpPr>
      <dsp:spPr>
        <a:xfrm>
          <a:off x="5955708" y="1301176"/>
          <a:ext cx="1075884" cy="1075884"/>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latin typeface="Creative Thoughts" pitchFamily="2" charset="0"/>
            <a:cs typeface="TH SarabunPSK" panose="020B0500040200020003" pitchFamily="34" charset="-34"/>
          </a:endParaRPr>
        </a:p>
      </dsp:txBody>
      <dsp:txXfrm>
        <a:off x="6197782" y="1301176"/>
        <a:ext cx="591736" cy="8096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538BD9-8928-47F0-9842-F3398F091ED4}">
      <dsp:nvSpPr>
        <dsp:cNvPr id="0" name=""/>
        <dsp:cNvSpPr/>
      </dsp:nvSpPr>
      <dsp:spPr>
        <a:xfrm>
          <a:off x="45" y="102454"/>
          <a:ext cx="4372555" cy="1000949"/>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kern="1200" dirty="0"/>
            <a:t>Current Account</a:t>
          </a:r>
          <a:endParaRPr lang="en-AU" sz="2400" kern="1200" dirty="0"/>
        </a:p>
      </dsp:txBody>
      <dsp:txXfrm>
        <a:off x="45" y="102454"/>
        <a:ext cx="4372555" cy="1000949"/>
      </dsp:txXfrm>
    </dsp:sp>
    <dsp:sp modelId="{DDECFE2A-24B1-40C8-BEA1-83D9DBA13C0F}">
      <dsp:nvSpPr>
        <dsp:cNvPr id="0" name=""/>
        <dsp:cNvSpPr/>
      </dsp:nvSpPr>
      <dsp:spPr>
        <a:xfrm>
          <a:off x="45" y="1027878"/>
          <a:ext cx="4372555" cy="175680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captures the net flow of money that results from Australia engaging in international trade</a:t>
          </a:r>
        </a:p>
      </dsp:txBody>
      <dsp:txXfrm>
        <a:off x="45" y="1027878"/>
        <a:ext cx="4372555" cy="1756800"/>
      </dsp:txXfrm>
    </dsp:sp>
    <dsp:sp modelId="{AB125302-13AC-482D-A48B-D5391F8FE074}">
      <dsp:nvSpPr>
        <dsp:cNvPr id="0" name=""/>
        <dsp:cNvSpPr/>
      </dsp:nvSpPr>
      <dsp:spPr>
        <a:xfrm>
          <a:off x="4984758" y="92258"/>
          <a:ext cx="4372555" cy="1014543"/>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kern="1200" dirty="0"/>
            <a:t>Combined capital and financial account</a:t>
          </a:r>
        </a:p>
      </dsp:txBody>
      <dsp:txXfrm>
        <a:off x="4984758" y="92258"/>
        <a:ext cx="4372555" cy="1014543"/>
      </dsp:txXfrm>
    </dsp:sp>
    <dsp:sp modelId="{5421D53B-02AE-461E-A085-A5B2B6EDAD1A}">
      <dsp:nvSpPr>
        <dsp:cNvPr id="0" name=""/>
        <dsp:cNvSpPr/>
      </dsp:nvSpPr>
      <dsp:spPr>
        <a:xfrm>
          <a:off x="4984758" y="1038074"/>
          <a:ext cx="4372555" cy="1756800"/>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capture Australia's net change in ownership of assets and liabilities. </a:t>
          </a:r>
        </a:p>
      </dsp:txBody>
      <dsp:txXfrm>
        <a:off x="4984758" y="1038074"/>
        <a:ext cx="4372555" cy="17568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5EF1A2-2907-4EAD-8145-09B2E1F2F872}">
      <dsp:nvSpPr>
        <dsp:cNvPr id="0" name=""/>
        <dsp:cNvSpPr/>
      </dsp:nvSpPr>
      <dsp:spPr>
        <a:xfrm>
          <a:off x="9262453" y="3622411"/>
          <a:ext cx="889721" cy="423426"/>
        </a:xfrm>
        <a:custGeom>
          <a:avLst/>
          <a:gdLst/>
          <a:ahLst/>
          <a:cxnLst/>
          <a:rect l="0" t="0" r="0" b="0"/>
          <a:pathLst>
            <a:path>
              <a:moveTo>
                <a:pt x="0" y="0"/>
              </a:moveTo>
              <a:lnTo>
                <a:pt x="0" y="288552"/>
              </a:lnTo>
              <a:lnTo>
                <a:pt x="889721" y="288552"/>
              </a:lnTo>
              <a:lnTo>
                <a:pt x="889721" y="423426"/>
              </a:lnTo>
            </a:path>
          </a:pathLst>
        </a:custGeom>
        <a:noFill/>
        <a:ln w="6350" cap="flat" cmpd="sng" algn="ctr">
          <a:solidFill>
            <a:schemeClr val="dk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2F6046B7-6509-42BA-9835-88E6B55FE38F}">
      <dsp:nvSpPr>
        <dsp:cNvPr id="0" name=""/>
        <dsp:cNvSpPr/>
      </dsp:nvSpPr>
      <dsp:spPr>
        <a:xfrm>
          <a:off x="7260935" y="4970339"/>
          <a:ext cx="4088071" cy="423426"/>
        </a:xfrm>
        <a:custGeom>
          <a:avLst/>
          <a:gdLst/>
          <a:ahLst/>
          <a:cxnLst/>
          <a:rect l="0" t="0" r="0" b="0"/>
          <a:pathLst>
            <a:path>
              <a:moveTo>
                <a:pt x="0" y="0"/>
              </a:moveTo>
              <a:lnTo>
                <a:pt x="0" y="288552"/>
              </a:lnTo>
              <a:lnTo>
                <a:pt x="4088071" y="288552"/>
              </a:lnTo>
              <a:lnTo>
                <a:pt x="4088071" y="423426"/>
              </a:lnTo>
            </a:path>
          </a:pathLst>
        </a:custGeom>
        <a:noFill/>
        <a:ln w="6350" cap="flat" cmpd="sng" algn="ctr">
          <a:solidFill>
            <a:schemeClr val="dk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65C842B9-E646-4B2A-AA80-3E9129221E10}">
      <dsp:nvSpPr>
        <dsp:cNvPr id="0" name=""/>
        <dsp:cNvSpPr/>
      </dsp:nvSpPr>
      <dsp:spPr>
        <a:xfrm>
          <a:off x="7260935" y="4970339"/>
          <a:ext cx="2308628" cy="423426"/>
        </a:xfrm>
        <a:custGeom>
          <a:avLst/>
          <a:gdLst/>
          <a:ahLst/>
          <a:cxnLst/>
          <a:rect l="0" t="0" r="0" b="0"/>
          <a:pathLst>
            <a:path>
              <a:moveTo>
                <a:pt x="0" y="0"/>
              </a:moveTo>
              <a:lnTo>
                <a:pt x="0" y="288552"/>
              </a:lnTo>
              <a:lnTo>
                <a:pt x="2308628" y="288552"/>
              </a:lnTo>
              <a:lnTo>
                <a:pt x="2308628" y="423426"/>
              </a:lnTo>
            </a:path>
          </a:pathLst>
        </a:custGeom>
        <a:noFill/>
        <a:ln w="6350" cap="flat" cmpd="sng" algn="ctr">
          <a:solidFill>
            <a:schemeClr val="dk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E3F14A0-338B-43D5-B84D-D05386EBB92F}">
      <dsp:nvSpPr>
        <dsp:cNvPr id="0" name=""/>
        <dsp:cNvSpPr/>
      </dsp:nvSpPr>
      <dsp:spPr>
        <a:xfrm>
          <a:off x="7260935" y="4970339"/>
          <a:ext cx="379657" cy="423426"/>
        </a:xfrm>
        <a:custGeom>
          <a:avLst/>
          <a:gdLst/>
          <a:ahLst/>
          <a:cxnLst/>
          <a:rect l="0" t="0" r="0" b="0"/>
          <a:pathLst>
            <a:path>
              <a:moveTo>
                <a:pt x="0" y="0"/>
              </a:moveTo>
              <a:lnTo>
                <a:pt x="0" y="288552"/>
              </a:lnTo>
              <a:lnTo>
                <a:pt x="379657" y="288552"/>
              </a:lnTo>
              <a:lnTo>
                <a:pt x="379657" y="423426"/>
              </a:lnTo>
            </a:path>
          </a:pathLst>
        </a:custGeom>
        <a:noFill/>
        <a:ln w="6350" cap="flat" cmpd="sng" algn="ctr">
          <a:solidFill>
            <a:schemeClr val="dk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59AE78E-87BF-4F11-B498-0793BAC6064D}">
      <dsp:nvSpPr>
        <dsp:cNvPr id="0" name=""/>
        <dsp:cNvSpPr/>
      </dsp:nvSpPr>
      <dsp:spPr>
        <a:xfrm>
          <a:off x="5711620" y="4970339"/>
          <a:ext cx="1549314" cy="423426"/>
        </a:xfrm>
        <a:custGeom>
          <a:avLst/>
          <a:gdLst/>
          <a:ahLst/>
          <a:cxnLst/>
          <a:rect l="0" t="0" r="0" b="0"/>
          <a:pathLst>
            <a:path>
              <a:moveTo>
                <a:pt x="1549314" y="0"/>
              </a:moveTo>
              <a:lnTo>
                <a:pt x="1549314" y="288552"/>
              </a:lnTo>
              <a:lnTo>
                <a:pt x="0" y="288552"/>
              </a:lnTo>
              <a:lnTo>
                <a:pt x="0" y="423426"/>
              </a:lnTo>
            </a:path>
          </a:pathLst>
        </a:custGeom>
        <a:noFill/>
        <a:ln w="6350" cap="flat" cmpd="sng" algn="ctr">
          <a:solidFill>
            <a:schemeClr val="dk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5D44DB3-55EA-4A0F-8A55-187EC56FAD63}">
      <dsp:nvSpPr>
        <dsp:cNvPr id="0" name=""/>
        <dsp:cNvSpPr/>
      </dsp:nvSpPr>
      <dsp:spPr>
        <a:xfrm>
          <a:off x="3552521" y="4970339"/>
          <a:ext cx="3708414" cy="423426"/>
        </a:xfrm>
        <a:custGeom>
          <a:avLst/>
          <a:gdLst/>
          <a:ahLst/>
          <a:cxnLst/>
          <a:rect l="0" t="0" r="0" b="0"/>
          <a:pathLst>
            <a:path>
              <a:moveTo>
                <a:pt x="3708414" y="0"/>
              </a:moveTo>
              <a:lnTo>
                <a:pt x="3708414" y="288552"/>
              </a:lnTo>
              <a:lnTo>
                <a:pt x="0" y="288552"/>
              </a:lnTo>
              <a:lnTo>
                <a:pt x="0" y="423426"/>
              </a:lnTo>
            </a:path>
          </a:pathLst>
        </a:custGeom>
        <a:noFill/>
        <a:ln w="6350" cap="flat" cmpd="sng" algn="ctr">
          <a:solidFill>
            <a:schemeClr val="dk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3DC1FE5C-E12F-4F4E-9125-F797445FB734}">
      <dsp:nvSpPr>
        <dsp:cNvPr id="0" name=""/>
        <dsp:cNvSpPr/>
      </dsp:nvSpPr>
      <dsp:spPr>
        <a:xfrm>
          <a:off x="7260935" y="3622411"/>
          <a:ext cx="2001517" cy="423426"/>
        </a:xfrm>
        <a:custGeom>
          <a:avLst/>
          <a:gdLst/>
          <a:ahLst/>
          <a:cxnLst/>
          <a:rect l="0" t="0" r="0" b="0"/>
          <a:pathLst>
            <a:path>
              <a:moveTo>
                <a:pt x="2001517" y="0"/>
              </a:moveTo>
              <a:lnTo>
                <a:pt x="2001517" y="288552"/>
              </a:lnTo>
              <a:lnTo>
                <a:pt x="0" y="288552"/>
              </a:lnTo>
              <a:lnTo>
                <a:pt x="0" y="423426"/>
              </a:lnTo>
            </a:path>
          </a:pathLst>
        </a:custGeom>
        <a:noFill/>
        <a:ln w="6350" cap="flat" cmpd="sng" algn="ctr">
          <a:solidFill>
            <a:schemeClr val="dk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6ACE2544-2152-4098-A108-7371F5A7AAAD}">
      <dsp:nvSpPr>
        <dsp:cNvPr id="0" name=""/>
        <dsp:cNvSpPr/>
      </dsp:nvSpPr>
      <dsp:spPr>
        <a:xfrm>
          <a:off x="9216733" y="2274483"/>
          <a:ext cx="91440" cy="423426"/>
        </a:xfrm>
        <a:custGeom>
          <a:avLst/>
          <a:gdLst/>
          <a:ahLst/>
          <a:cxnLst/>
          <a:rect l="0" t="0" r="0" b="0"/>
          <a:pathLst>
            <a:path>
              <a:moveTo>
                <a:pt x="45720" y="0"/>
              </a:moveTo>
              <a:lnTo>
                <a:pt x="45720" y="423426"/>
              </a:lnTo>
            </a:path>
          </a:pathLst>
        </a:custGeom>
        <a:noFill/>
        <a:ln w="6350" cap="flat" cmpd="sng" algn="ctr">
          <a:solidFill>
            <a:schemeClr val="dk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1CE7CDC-D9D6-44FE-95E4-2F4A6697BC16}">
      <dsp:nvSpPr>
        <dsp:cNvPr id="0" name=""/>
        <dsp:cNvSpPr/>
      </dsp:nvSpPr>
      <dsp:spPr>
        <a:xfrm>
          <a:off x="6274865" y="855434"/>
          <a:ext cx="2987588" cy="494548"/>
        </a:xfrm>
        <a:custGeom>
          <a:avLst/>
          <a:gdLst/>
          <a:ahLst/>
          <a:cxnLst/>
          <a:rect l="0" t="0" r="0" b="0"/>
          <a:pathLst>
            <a:path>
              <a:moveTo>
                <a:pt x="0" y="0"/>
              </a:moveTo>
              <a:lnTo>
                <a:pt x="0" y="359674"/>
              </a:lnTo>
              <a:lnTo>
                <a:pt x="2987588" y="359674"/>
              </a:lnTo>
              <a:lnTo>
                <a:pt x="2987588" y="494548"/>
              </a:lnTo>
            </a:path>
          </a:pathLst>
        </a:custGeom>
        <a:noFill/>
        <a:ln w="6350" cap="flat" cmpd="sng" algn="ctr">
          <a:solidFill>
            <a:schemeClr val="dk2">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C9A660EC-3465-4AD7-B7C0-4AFA647B82D1}">
      <dsp:nvSpPr>
        <dsp:cNvPr id="0" name=""/>
        <dsp:cNvSpPr/>
      </dsp:nvSpPr>
      <dsp:spPr>
        <a:xfrm>
          <a:off x="3466478" y="3622411"/>
          <a:ext cx="2015014" cy="423426"/>
        </a:xfrm>
        <a:custGeom>
          <a:avLst/>
          <a:gdLst/>
          <a:ahLst/>
          <a:cxnLst/>
          <a:rect l="0" t="0" r="0" b="0"/>
          <a:pathLst>
            <a:path>
              <a:moveTo>
                <a:pt x="0" y="0"/>
              </a:moveTo>
              <a:lnTo>
                <a:pt x="0" y="288552"/>
              </a:lnTo>
              <a:lnTo>
                <a:pt x="2015014" y="288552"/>
              </a:lnTo>
              <a:lnTo>
                <a:pt x="2015014" y="423426"/>
              </a:lnTo>
            </a:path>
          </a:pathLst>
        </a:custGeom>
        <a:noFill/>
        <a:ln w="6350" cap="flat" cmpd="sng" algn="ctr">
          <a:solidFill>
            <a:schemeClr val="dk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4EF5011-F81F-48F3-A35A-34230C55EEBE}">
      <dsp:nvSpPr>
        <dsp:cNvPr id="0" name=""/>
        <dsp:cNvSpPr/>
      </dsp:nvSpPr>
      <dsp:spPr>
        <a:xfrm>
          <a:off x="2576757" y="3622411"/>
          <a:ext cx="889721" cy="423426"/>
        </a:xfrm>
        <a:custGeom>
          <a:avLst/>
          <a:gdLst/>
          <a:ahLst/>
          <a:cxnLst/>
          <a:rect l="0" t="0" r="0" b="0"/>
          <a:pathLst>
            <a:path>
              <a:moveTo>
                <a:pt x="889721" y="0"/>
              </a:moveTo>
              <a:lnTo>
                <a:pt x="889721" y="288552"/>
              </a:lnTo>
              <a:lnTo>
                <a:pt x="0" y="288552"/>
              </a:lnTo>
              <a:lnTo>
                <a:pt x="0" y="423426"/>
              </a:lnTo>
            </a:path>
          </a:pathLst>
        </a:custGeom>
        <a:noFill/>
        <a:ln w="6350" cap="flat" cmpd="sng" algn="ctr">
          <a:solidFill>
            <a:schemeClr val="dk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4B9C9F62-3084-4C97-A616-038592721649}">
      <dsp:nvSpPr>
        <dsp:cNvPr id="0" name=""/>
        <dsp:cNvSpPr/>
      </dsp:nvSpPr>
      <dsp:spPr>
        <a:xfrm>
          <a:off x="2464783" y="2208382"/>
          <a:ext cx="1001695" cy="489528"/>
        </a:xfrm>
        <a:custGeom>
          <a:avLst/>
          <a:gdLst/>
          <a:ahLst/>
          <a:cxnLst/>
          <a:rect l="0" t="0" r="0" b="0"/>
          <a:pathLst>
            <a:path>
              <a:moveTo>
                <a:pt x="0" y="0"/>
              </a:moveTo>
              <a:lnTo>
                <a:pt x="0" y="354654"/>
              </a:lnTo>
              <a:lnTo>
                <a:pt x="1001695" y="354654"/>
              </a:lnTo>
              <a:lnTo>
                <a:pt x="1001695" y="489528"/>
              </a:lnTo>
            </a:path>
          </a:pathLst>
        </a:custGeom>
        <a:noFill/>
        <a:ln w="6350" cap="flat" cmpd="sng" algn="ctr">
          <a:solidFill>
            <a:schemeClr val="dk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2F028039-B081-4CDC-B3CE-82EDB13376E3}">
      <dsp:nvSpPr>
        <dsp:cNvPr id="0" name=""/>
        <dsp:cNvSpPr/>
      </dsp:nvSpPr>
      <dsp:spPr>
        <a:xfrm>
          <a:off x="1687036" y="2208382"/>
          <a:ext cx="777747" cy="489528"/>
        </a:xfrm>
        <a:custGeom>
          <a:avLst/>
          <a:gdLst/>
          <a:ahLst/>
          <a:cxnLst/>
          <a:rect l="0" t="0" r="0" b="0"/>
          <a:pathLst>
            <a:path>
              <a:moveTo>
                <a:pt x="777747" y="0"/>
              </a:moveTo>
              <a:lnTo>
                <a:pt x="777747" y="354654"/>
              </a:lnTo>
              <a:lnTo>
                <a:pt x="0" y="354654"/>
              </a:lnTo>
              <a:lnTo>
                <a:pt x="0" y="489528"/>
              </a:lnTo>
            </a:path>
          </a:pathLst>
        </a:custGeom>
        <a:noFill/>
        <a:ln w="6350" cap="flat" cmpd="sng" algn="ctr">
          <a:solidFill>
            <a:schemeClr val="dk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36452D4-BAA4-4FD6-906C-A9856E3FA160}">
      <dsp:nvSpPr>
        <dsp:cNvPr id="0" name=""/>
        <dsp:cNvSpPr/>
      </dsp:nvSpPr>
      <dsp:spPr>
        <a:xfrm>
          <a:off x="2464783" y="855434"/>
          <a:ext cx="3810081" cy="428446"/>
        </a:xfrm>
        <a:custGeom>
          <a:avLst/>
          <a:gdLst/>
          <a:ahLst/>
          <a:cxnLst/>
          <a:rect l="0" t="0" r="0" b="0"/>
          <a:pathLst>
            <a:path>
              <a:moveTo>
                <a:pt x="3810081" y="0"/>
              </a:moveTo>
              <a:lnTo>
                <a:pt x="3810081" y="293572"/>
              </a:lnTo>
              <a:lnTo>
                <a:pt x="0" y="293572"/>
              </a:lnTo>
              <a:lnTo>
                <a:pt x="0" y="428446"/>
              </a:lnTo>
            </a:path>
          </a:pathLst>
        </a:custGeom>
        <a:noFill/>
        <a:ln w="6350" cap="flat" cmpd="sng" algn="ctr">
          <a:solidFill>
            <a:schemeClr val="dk2">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C6ABE71-23F7-4AF7-8CAA-CC7518C6256F}">
      <dsp:nvSpPr>
        <dsp:cNvPr id="0" name=""/>
        <dsp:cNvSpPr/>
      </dsp:nvSpPr>
      <dsp:spPr>
        <a:xfrm>
          <a:off x="4591901" y="-69067"/>
          <a:ext cx="3365927" cy="924501"/>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1CAFC951-A7DF-429F-9AC9-CFD2AFAC9D1B}">
      <dsp:nvSpPr>
        <dsp:cNvPr id="0" name=""/>
        <dsp:cNvSpPr/>
      </dsp:nvSpPr>
      <dsp:spPr>
        <a:xfrm>
          <a:off x="4753669" y="84612"/>
          <a:ext cx="3365927" cy="924501"/>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dirty="0"/>
            <a:t>Is it a non-reversible earning?</a:t>
          </a:r>
          <a:endParaRPr lang="en-AU" sz="2200" kern="1200" dirty="0"/>
        </a:p>
      </dsp:txBody>
      <dsp:txXfrm>
        <a:off x="4780747" y="111690"/>
        <a:ext cx="3311771" cy="870345"/>
      </dsp:txXfrm>
    </dsp:sp>
    <dsp:sp modelId="{9329B4DC-E07A-4B3E-AEB9-E94B0F865554}">
      <dsp:nvSpPr>
        <dsp:cNvPr id="0" name=""/>
        <dsp:cNvSpPr/>
      </dsp:nvSpPr>
      <dsp:spPr>
        <a:xfrm>
          <a:off x="151179" y="1283880"/>
          <a:ext cx="4627208" cy="924501"/>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9B8969DC-6AB0-47EF-B220-478E1B8F92F0}">
      <dsp:nvSpPr>
        <dsp:cNvPr id="0" name=""/>
        <dsp:cNvSpPr/>
      </dsp:nvSpPr>
      <dsp:spPr>
        <a:xfrm>
          <a:off x="312946" y="1437559"/>
          <a:ext cx="4627208" cy="924501"/>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dirty="0"/>
            <a:t>If Yes,</a:t>
          </a:r>
        </a:p>
        <a:p>
          <a:pPr marL="0" lvl="0" indent="0" algn="ctr" defTabSz="977900">
            <a:lnSpc>
              <a:spcPct val="90000"/>
            </a:lnSpc>
            <a:spcBef>
              <a:spcPct val="0"/>
            </a:spcBef>
            <a:spcAft>
              <a:spcPct val="35000"/>
            </a:spcAft>
            <a:buNone/>
          </a:pPr>
          <a:r>
            <a:rPr lang="en-GB" sz="2200" kern="1200" dirty="0"/>
            <a:t>Current A/C (CAB)</a:t>
          </a:r>
        </a:p>
        <a:p>
          <a:pPr marL="0" lvl="0" indent="0" algn="ctr" defTabSz="977900">
            <a:lnSpc>
              <a:spcPct val="90000"/>
            </a:lnSpc>
            <a:spcBef>
              <a:spcPct val="0"/>
            </a:spcBef>
            <a:spcAft>
              <a:spcPct val="35000"/>
            </a:spcAft>
            <a:buNone/>
          </a:pPr>
          <a:r>
            <a:rPr lang="en-GB" sz="2200" kern="1200" dirty="0"/>
            <a:t>Is it related to X/M?</a:t>
          </a:r>
          <a:endParaRPr lang="en-AU" sz="2200" kern="1200" dirty="0"/>
        </a:p>
      </dsp:txBody>
      <dsp:txXfrm>
        <a:off x="340024" y="1464637"/>
        <a:ext cx="4573052" cy="870345"/>
      </dsp:txXfrm>
    </dsp:sp>
    <dsp:sp modelId="{66A656A6-A036-4A40-BE47-ABE99F70C7AB}">
      <dsp:nvSpPr>
        <dsp:cNvPr id="0" name=""/>
        <dsp:cNvSpPr/>
      </dsp:nvSpPr>
      <dsp:spPr>
        <a:xfrm>
          <a:off x="959082" y="2697910"/>
          <a:ext cx="1455907" cy="924501"/>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E72A4DD0-BAFF-4109-857C-549BD79F9D50}">
      <dsp:nvSpPr>
        <dsp:cNvPr id="0" name=""/>
        <dsp:cNvSpPr/>
      </dsp:nvSpPr>
      <dsp:spPr>
        <a:xfrm>
          <a:off x="1120850" y="2851589"/>
          <a:ext cx="1455907" cy="924501"/>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a:t>If yes,</a:t>
          </a:r>
        </a:p>
        <a:p>
          <a:pPr marL="0" lvl="0" indent="0" algn="ctr" defTabSz="977900">
            <a:lnSpc>
              <a:spcPct val="90000"/>
            </a:lnSpc>
            <a:spcBef>
              <a:spcPct val="0"/>
            </a:spcBef>
            <a:spcAft>
              <a:spcPct val="35000"/>
            </a:spcAft>
            <a:buNone/>
          </a:pPr>
          <a:r>
            <a:rPr lang="en-GB" sz="2200" kern="1200"/>
            <a:t>BOGS</a:t>
          </a:r>
          <a:endParaRPr lang="en-AU" sz="2200" kern="1200"/>
        </a:p>
      </dsp:txBody>
      <dsp:txXfrm>
        <a:off x="1147928" y="2878667"/>
        <a:ext cx="1401751" cy="870345"/>
      </dsp:txXfrm>
    </dsp:sp>
    <dsp:sp modelId="{7859BFE7-E481-493E-851B-08AFC60FCE36}">
      <dsp:nvSpPr>
        <dsp:cNvPr id="0" name=""/>
        <dsp:cNvSpPr/>
      </dsp:nvSpPr>
      <dsp:spPr>
        <a:xfrm>
          <a:off x="2738525" y="2697910"/>
          <a:ext cx="1455907" cy="924501"/>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E0979D62-120E-48D3-9709-0777E3C58684}">
      <dsp:nvSpPr>
        <dsp:cNvPr id="0" name=""/>
        <dsp:cNvSpPr/>
      </dsp:nvSpPr>
      <dsp:spPr>
        <a:xfrm>
          <a:off x="2900292" y="2851589"/>
          <a:ext cx="1455907" cy="924501"/>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a:t>If No, Is it a R.O.I.?</a:t>
          </a:r>
          <a:endParaRPr lang="en-AU" sz="2200" kern="1200"/>
        </a:p>
      </dsp:txBody>
      <dsp:txXfrm>
        <a:off x="2927370" y="2878667"/>
        <a:ext cx="1401751" cy="870345"/>
      </dsp:txXfrm>
    </dsp:sp>
    <dsp:sp modelId="{DE1E3A48-EE09-482A-ADC3-A1D59773A003}">
      <dsp:nvSpPr>
        <dsp:cNvPr id="0" name=""/>
        <dsp:cNvSpPr/>
      </dsp:nvSpPr>
      <dsp:spPr>
        <a:xfrm>
          <a:off x="723511" y="4045838"/>
          <a:ext cx="3706493" cy="924501"/>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72906F12-63A6-4E5D-ABE9-7A5D64BC0C69}">
      <dsp:nvSpPr>
        <dsp:cNvPr id="0" name=""/>
        <dsp:cNvSpPr/>
      </dsp:nvSpPr>
      <dsp:spPr>
        <a:xfrm>
          <a:off x="885278" y="4199517"/>
          <a:ext cx="3706493" cy="924501"/>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a:t>If Yes, for e.g. Dividends /wages. NPY</a:t>
          </a:r>
          <a:endParaRPr lang="en-AU" sz="2200" kern="1200"/>
        </a:p>
      </dsp:txBody>
      <dsp:txXfrm>
        <a:off x="912356" y="4226595"/>
        <a:ext cx="3652337" cy="870345"/>
      </dsp:txXfrm>
    </dsp:sp>
    <dsp:sp modelId="{7C1AEFB8-798C-4AD0-ABE2-ED48389E70CB}">
      <dsp:nvSpPr>
        <dsp:cNvPr id="0" name=""/>
        <dsp:cNvSpPr/>
      </dsp:nvSpPr>
      <dsp:spPr>
        <a:xfrm>
          <a:off x="4753539" y="4045838"/>
          <a:ext cx="1455907" cy="924501"/>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43717054-7CB7-4B3E-B64E-542B1FAF1794}">
      <dsp:nvSpPr>
        <dsp:cNvPr id="0" name=""/>
        <dsp:cNvSpPr/>
      </dsp:nvSpPr>
      <dsp:spPr>
        <a:xfrm>
          <a:off x="4915306" y="4199517"/>
          <a:ext cx="1455907" cy="924501"/>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a:t>If no, misc. Y, NSY</a:t>
          </a:r>
          <a:endParaRPr lang="en-AU" sz="2200" kern="1200"/>
        </a:p>
      </dsp:txBody>
      <dsp:txXfrm>
        <a:off x="4942384" y="4226595"/>
        <a:ext cx="1401751" cy="870345"/>
      </dsp:txXfrm>
    </dsp:sp>
    <dsp:sp modelId="{1778E2C1-8EB1-4378-ABD5-616E4DDCD8AB}">
      <dsp:nvSpPr>
        <dsp:cNvPr id="0" name=""/>
        <dsp:cNvSpPr/>
      </dsp:nvSpPr>
      <dsp:spPr>
        <a:xfrm>
          <a:off x="8534499" y="1349982"/>
          <a:ext cx="1455907" cy="924501"/>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8EFE0267-29C8-4D87-A577-3BE186FC49B8}">
      <dsp:nvSpPr>
        <dsp:cNvPr id="0" name=""/>
        <dsp:cNvSpPr/>
      </dsp:nvSpPr>
      <dsp:spPr>
        <a:xfrm>
          <a:off x="8696267" y="1503661"/>
          <a:ext cx="1455907" cy="924501"/>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dirty="0"/>
            <a:t>If No,</a:t>
          </a:r>
        </a:p>
        <a:p>
          <a:pPr marL="0" lvl="0" indent="0" algn="ctr" defTabSz="977900">
            <a:lnSpc>
              <a:spcPct val="90000"/>
            </a:lnSpc>
            <a:spcBef>
              <a:spcPct val="0"/>
            </a:spcBef>
            <a:spcAft>
              <a:spcPct val="35000"/>
            </a:spcAft>
            <a:buNone/>
          </a:pPr>
          <a:r>
            <a:rPr lang="en-GB" sz="2200" kern="1200" dirty="0"/>
            <a:t>KAFA</a:t>
          </a:r>
          <a:endParaRPr lang="en-AU" sz="2200" kern="1200" dirty="0"/>
        </a:p>
      </dsp:txBody>
      <dsp:txXfrm>
        <a:off x="8723345" y="1530739"/>
        <a:ext cx="1401751" cy="870345"/>
      </dsp:txXfrm>
    </dsp:sp>
    <dsp:sp modelId="{D8891C9A-24C1-455D-97CD-9EEDA88CEC80}">
      <dsp:nvSpPr>
        <dsp:cNvPr id="0" name=""/>
        <dsp:cNvSpPr/>
      </dsp:nvSpPr>
      <dsp:spPr>
        <a:xfrm>
          <a:off x="7477860" y="2697910"/>
          <a:ext cx="3569186" cy="924501"/>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DD995C78-8F1B-49D3-995B-E3A748AEC887}">
      <dsp:nvSpPr>
        <dsp:cNvPr id="0" name=""/>
        <dsp:cNvSpPr/>
      </dsp:nvSpPr>
      <dsp:spPr>
        <a:xfrm>
          <a:off x="7639627" y="2851589"/>
          <a:ext cx="3569186" cy="924501"/>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dirty="0"/>
            <a:t>Is it a financial asset?</a:t>
          </a:r>
          <a:endParaRPr lang="en-AU" sz="2200" kern="1200" dirty="0"/>
        </a:p>
      </dsp:txBody>
      <dsp:txXfrm>
        <a:off x="7666705" y="2878667"/>
        <a:ext cx="3515030" cy="870345"/>
      </dsp:txXfrm>
    </dsp:sp>
    <dsp:sp modelId="{AFEBD3C8-87DA-423E-8135-DB625ACCB100}">
      <dsp:nvSpPr>
        <dsp:cNvPr id="0" name=""/>
        <dsp:cNvSpPr/>
      </dsp:nvSpPr>
      <dsp:spPr>
        <a:xfrm>
          <a:off x="6532981" y="4045838"/>
          <a:ext cx="1455907" cy="924501"/>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800273D0-179A-4E39-957C-C0B7B35E7828}">
      <dsp:nvSpPr>
        <dsp:cNvPr id="0" name=""/>
        <dsp:cNvSpPr/>
      </dsp:nvSpPr>
      <dsp:spPr>
        <a:xfrm>
          <a:off x="6694749" y="4199517"/>
          <a:ext cx="1455907" cy="924501"/>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a:t>If yes, FA</a:t>
          </a:r>
          <a:endParaRPr lang="en-AU" sz="2200" kern="1200"/>
        </a:p>
      </dsp:txBody>
      <dsp:txXfrm>
        <a:off x="6721827" y="4226595"/>
        <a:ext cx="1401751" cy="870345"/>
      </dsp:txXfrm>
    </dsp:sp>
    <dsp:sp modelId="{01E94180-E82D-4CCF-BE39-55EAD3043ECA}">
      <dsp:nvSpPr>
        <dsp:cNvPr id="0" name=""/>
        <dsp:cNvSpPr/>
      </dsp:nvSpPr>
      <dsp:spPr>
        <a:xfrm>
          <a:off x="2444910" y="5393765"/>
          <a:ext cx="2215221" cy="924501"/>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18EEBD24-4F15-488A-8679-6B8FE6FA8D8F}">
      <dsp:nvSpPr>
        <dsp:cNvPr id="0" name=""/>
        <dsp:cNvSpPr/>
      </dsp:nvSpPr>
      <dsp:spPr>
        <a:xfrm>
          <a:off x="2606678" y="5547444"/>
          <a:ext cx="2215221" cy="924501"/>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a:t>DI &gt; 10% , control, LT</a:t>
          </a:r>
          <a:endParaRPr lang="en-AU" sz="2200" kern="1200"/>
        </a:p>
      </dsp:txBody>
      <dsp:txXfrm>
        <a:off x="2633756" y="5574522"/>
        <a:ext cx="2161065" cy="870345"/>
      </dsp:txXfrm>
    </dsp:sp>
    <dsp:sp modelId="{E8804B85-B8C1-450F-9888-26D3AE22A495}">
      <dsp:nvSpPr>
        <dsp:cNvPr id="0" name=""/>
        <dsp:cNvSpPr/>
      </dsp:nvSpPr>
      <dsp:spPr>
        <a:xfrm>
          <a:off x="4983667" y="5393765"/>
          <a:ext cx="1455907" cy="924501"/>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507A5ADC-B0AF-47A0-BEE0-487AEB10B129}">
      <dsp:nvSpPr>
        <dsp:cNvPr id="0" name=""/>
        <dsp:cNvSpPr/>
      </dsp:nvSpPr>
      <dsp:spPr>
        <a:xfrm>
          <a:off x="5145434" y="5547444"/>
          <a:ext cx="1455907" cy="924501"/>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a:t>Portfolio: &lt;10%, ST</a:t>
          </a:r>
          <a:endParaRPr lang="en-AU" sz="2200" kern="1200"/>
        </a:p>
      </dsp:txBody>
      <dsp:txXfrm>
        <a:off x="5172512" y="5574522"/>
        <a:ext cx="1401751" cy="870345"/>
      </dsp:txXfrm>
    </dsp:sp>
    <dsp:sp modelId="{797133B5-8B40-4554-839D-73631981B49F}">
      <dsp:nvSpPr>
        <dsp:cNvPr id="0" name=""/>
        <dsp:cNvSpPr/>
      </dsp:nvSpPr>
      <dsp:spPr>
        <a:xfrm>
          <a:off x="6763109" y="5393765"/>
          <a:ext cx="1754965" cy="924501"/>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EEE66293-462C-447B-B756-63945763E7BF}">
      <dsp:nvSpPr>
        <dsp:cNvPr id="0" name=""/>
        <dsp:cNvSpPr/>
      </dsp:nvSpPr>
      <dsp:spPr>
        <a:xfrm>
          <a:off x="6924877" y="5547444"/>
          <a:ext cx="1754965" cy="924501"/>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dirty="0"/>
            <a:t>Derivatives</a:t>
          </a:r>
          <a:endParaRPr lang="en-AU" sz="2200" kern="1200" dirty="0"/>
        </a:p>
      </dsp:txBody>
      <dsp:txXfrm>
        <a:off x="6951955" y="5574522"/>
        <a:ext cx="1700809" cy="870345"/>
      </dsp:txXfrm>
    </dsp:sp>
    <dsp:sp modelId="{3B81AD16-F7DD-4652-9FCE-F0F1B32AA462}">
      <dsp:nvSpPr>
        <dsp:cNvPr id="0" name=""/>
        <dsp:cNvSpPr/>
      </dsp:nvSpPr>
      <dsp:spPr>
        <a:xfrm>
          <a:off x="8841610" y="5393765"/>
          <a:ext cx="1455907" cy="924501"/>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B4C2033E-03C1-413D-A646-73F10F2B021F}">
      <dsp:nvSpPr>
        <dsp:cNvPr id="0" name=""/>
        <dsp:cNvSpPr/>
      </dsp:nvSpPr>
      <dsp:spPr>
        <a:xfrm>
          <a:off x="9003377" y="5547444"/>
          <a:ext cx="1455907" cy="924501"/>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a:t>Reserve assets (RBA)</a:t>
          </a:r>
          <a:endParaRPr lang="en-AU" sz="2200" kern="1200"/>
        </a:p>
      </dsp:txBody>
      <dsp:txXfrm>
        <a:off x="9030455" y="5574522"/>
        <a:ext cx="1401751" cy="870345"/>
      </dsp:txXfrm>
    </dsp:sp>
    <dsp:sp modelId="{A36D23C1-C01F-496D-BA5E-F5E70DAB24B7}">
      <dsp:nvSpPr>
        <dsp:cNvPr id="0" name=""/>
        <dsp:cNvSpPr/>
      </dsp:nvSpPr>
      <dsp:spPr>
        <a:xfrm>
          <a:off x="10621052" y="5393765"/>
          <a:ext cx="1455907" cy="924501"/>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B549A2F9-CFB1-49F0-B893-059C63F031A9}">
      <dsp:nvSpPr>
        <dsp:cNvPr id="0" name=""/>
        <dsp:cNvSpPr/>
      </dsp:nvSpPr>
      <dsp:spPr>
        <a:xfrm>
          <a:off x="10782820" y="5547444"/>
          <a:ext cx="1455907" cy="924501"/>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a:t>Other</a:t>
          </a:r>
          <a:endParaRPr lang="en-AU" sz="2200" kern="1200"/>
        </a:p>
      </dsp:txBody>
      <dsp:txXfrm>
        <a:off x="10809898" y="5574522"/>
        <a:ext cx="1401751" cy="870345"/>
      </dsp:txXfrm>
    </dsp:sp>
    <dsp:sp modelId="{5A59F040-CAC6-43A4-9F9C-8C649D1967D6}">
      <dsp:nvSpPr>
        <dsp:cNvPr id="0" name=""/>
        <dsp:cNvSpPr/>
      </dsp:nvSpPr>
      <dsp:spPr>
        <a:xfrm>
          <a:off x="8312424" y="4045838"/>
          <a:ext cx="3679500" cy="924501"/>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F7B61134-0C57-4F70-97D7-9977FC3C67A2}">
      <dsp:nvSpPr>
        <dsp:cNvPr id="0" name=""/>
        <dsp:cNvSpPr/>
      </dsp:nvSpPr>
      <dsp:spPr>
        <a:xfrm>
          <a:off x="8474191" y="4199517"/>
          <a:ext cx="3679500" cy="924501"/>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dirty="0"/>
            <a:t>If no, (e.g. intellectual property), Capital A/C (KA)</a:t>
          </a:r>
          <a:endParaRPr lang="en-AU" sz="2200" kern="1200" dirty="0"/>
        </a:p>
      </dsp:txBody>
      <dsp:txXfrm>
        <a:off x="8501269" y="4226595"/>
        <a:ext cx="3625344" cy="87034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7DE5BE-A0FD-415B-9E28-16FEAE04E288}">
      <dsp:nvSpPr>
        <dsp:cNvPr id="0" name=""/>
        <dsp:cNvSpPr/>
      </dsp:nvSpPr>
      <dsp:spPr>
        <a:xfrm>
          <a:off x="9009" y="158813"/>
          <a:ext cx="1460366" cy="146036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11D8F2-00D4-46D3-8569-5199AF1B051E}">
      <dsp:nvSpPr>
        <dsp:cNvPr id="0" name=""/>
        <dsp:cNvSpPr/>
      </dsp:nvSpPr>
      <dsp:spPr>
        <a:xfrm>
          <a:off x="315686" y="465490"/>
          <a:ext cx="847012" cy="8470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6A2799-DCD0-40F5-88C8-AB886AF79DE4}">
      <dsp:nvSpPr>
        <dsp:cNvPr id="0" name=""/>
        <dsp:cNvSpPr/>
      </dsp:nvSpPr>
      <dsp:spPr>
        <a:xfrm>
          <a:off x="1782311" y="158813"/>
          <a:ext cx="3442291" cy="146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dirty="0">
              <a:latin typeface="Creative Thoughts" pitchFamily="2" charset="0"/>
            </a:rPr>
            <a:t>BOGS – Mostly negative</a:t>
          </a:r>
        </a:p>
      </dsp:txBody>
      <dsp:txXfrm>
        <a:off x="1782311" y="158813"/>
        <a:ext cx="3442291" cy="1460366"/>
      </dsp:txXfrm>
    </dsp:sp>
    <dsp:sp modelId="{CB58C419-D20F-4D39-8224-8628740F5045}">
      <dsp:nvSpPr>
        <dsp:cNvPr id="0" name=""/>
        <dsp:cNvSpPr/>
      </dsp:nvSpPr>
      <dsp:spPr>
        <a:xfrm>
          <a:off x="5824396" y="158813"/>
          <a:ext cx="1460366" cy="146036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EFF1B1-1CBC-4DD8-8D27-90472D20FED2}">
      <dsp:nvSpPr>
        <dsp:cNvPr id="0" name=""/>
        <dsp:cNvSpPr/>
      </dsp:nvSpPr>
      <dsp:spPr>
        <a:xfrm>
          <a:off x="6131073" y="465490"/>
          <a:ext cx="847012" cy="8470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C9F8F5-5290-4FC0-97A4-B67B9C0D6F2A}">
      <dsp:nvSpPr>
        <dsp:cNvPr id="0" name=""/>
        <dsp:cNvSpPr/>
      </dsp:nvSpPr>
      <dsp:spPr>
        <a:xfrm>
          <a:off x="7597698" y="158813"/>
          <a:ext cx="3442291" cy="146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dirty="0">
              <a:latin typeface="Avenir Book" panose="02000503020000020003" pitchFamily="2" charset="0"/>
            </a:rPr>
            <a:t>NPY - Always deficit</a:t>
          </a:r>
        </a:p>
      </dsp:txBody>
      <dsp:txXfrm>
        <a:off x="7597698" y="158813"/>
        <a:ext cx="3442291" cy="1460366"/>
      </dsp:txXfrm>
    </dsp:sp>
    <dsp:sp modelId="{8B7A2455-E886-4C55-BBF7-53190F37AEBE}">
      <dsp:nvSpPr>
        <dsp:cNvPr id="0" name=""/>
        <dsp:cNvSpPr/>
      </dsp:nvSpPr>
      <dsp:spPr>
        <a:xfrm>
          <a:off x="9009" y="2282458"/>
          <a:ext cx="1460366" cy="146036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BF4832-F5AE-4939-9A9D-B8D97DEED9D0}">
      <dsp:nvSpPr>
        <dsp:cNvPr id="0" name=""/>
        <dsp:cNvSpPr/>
      </dsp:nvSpPr>
      <dsp:spPr>
        <a:xfrm>
          <a:off x="315686" y="2589135"/>
          <a:ext cx="847012" cy="8470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023FFF-BB52-4860-860C-9236D354098B}">
      <dsp:nvSpPr>
        <dsp:cNvPr id="0" name=""/>
        <dsp:cNvSpPr/>
      </dsp:nvSpPr>
      <dsp:spPr>
        <a:xfrm>
          <a:off x="1782311" y="2282458"/>
          <a:ext cx="3442291" cy="146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dirty="0">
              <a:latin typeface="+mn-lt"/>
            </a:rPr>
            <a:t>CAB – 44 years of CAD (Current Account Deficit), changed to a CAS (Current Account Surplus) in 2019, back to CAD Sept 2023</a:t>
          </a:r>
        </a:p>
      </dsp:txBody>
      <dsp:txXfrm>
        <a:off x="1782311" y="2282458"/>
        <a:ext cx="3442291" cy="1460366"/>
      </dsp:txXfrm>
    </dsp:sp>
    <dsp:sp modelId="{8CB2AF00-D249-4799-A602-C6D70B465169}">
      <dsp:nvSpPr>
        <dsp:cNvPr id="0" name=""/>
        <dsp:cNvSpPr/>
      </dsp:nvSpPr>
      <dsp:spPr>
        <a:xfrm>
          <a:off x="5824396" y="2282458"/>
          <a:ext cx="1460366" cy="146036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F800B7-3263-4DEC-B5AD-872A6EBD328B}">
      <dsp:nvSpPr>
        <dsp:cNvPr id="0" name=""/>
        <dsp:cNvSpPr/>
      </dsp:nvSpPr>
      <dsp:spPr>
        <a:xfrm>
          <a:off x="6131073" y="2589135"/>
          <a:ext cx="847012" cy="84701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E302BC-7646-4511-826B-90C7346F27C6}">
      <dsp:nvSpPr>
        <dsp:cNvPr id="0" name=""/>
        <dsp:cNvSpPr/>
      </dsp:nvSpPr>
      <dsp:spPr>
        <a:xfrm>
          <a:off x="7597698" y="2282458"/>
          <a:ext cx="3442291" cy="146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dirty="0">
              <a:latin typeface="+mn-lt"/>
            </a:rPr>
            <a:t>KAFA - Surplus of 44 years, changed to a deficit in 2019, back to surplus Sept 2023</a:t>
          </a:r>
        </a:p>
      </dsp:txBody>
      <dsp:txXfrm>
        <a:off x="7597698" y="2282458"/>
        <a:ext cx="3442291" cy="146036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D4BC71-E525-674C-A3E0-A575CB063963}">
      <dsp:nvSpPr>
        <dsp:cNvPr id="0" name=""/>
        <dsp:cNvSpPr/>
      </dsp:nvSpPr>
      <dsp:spPr>
        <a:xfrm>
          <a:off x="0" y="65223"/>
          <a:ext cx="8196903" cy="46478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defRPr b="1"/>
          </a:pPr>
          <a:r>
            <a:rPr lang="en-US" sz="2400" kern="1200" dirty="0">
              <a:latin typeface="+mn-lt"/>
            </a:rPr>
            <a:t>Movements in the exchange rate</a:t>
          </a:r>
        </a:p>
      </dsp:txBody>
      <dsp:txXfrm>
        <a:off x="22689" y="87912"/>
        <a:ext cx="8151525" cy="419405"/>
      </dsp:txXfrm>
    </dsp:sp>
    <dsp:sp modelId="{9290643D-1D05-EF4F-A4EC-C4D05095AEDC}">
      <dsp:nvSpPr>
        <dsp:cNvPr id="0" name=""/>
        <dsp:cNvSpPr/>
      </dsp:nvSpPr>
      <dsp:spPr>
        <a:xfrm>
          <a:off x="0" y="530006"/>
          <a:ext cx="8196903" cy="1622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0252" tIns="25400" rIns="142240" bIns="25400" numCol="1" spcCol="1270" anchor="t" anchorCtr="0">
          <a:noAutofit/>
        </a:bodyPr>
        <a:lstStyle/>
        <a:p>
          <a:pPr marL="228600" lvl="1" indent="-228600" algn="l" defTabSz="889000">
            <a:lnSpc>
              <a:spcPct val="90000"/>
            </a:lnSpc>
            <a:spcBef>
              <a:spcPct val="0"/>
            </a:spcBef>
            <a:spcAft>
              <a:spcPct val="20000"/>
            </a:spcAft>
            <a:buFont typeface="Courier New" panose="02070309020205020404" pitchFamily="49" charset="0"/>
            <a:buChar char="o"/>
          </a:pPr>
          <a:r>
            <a:rPr lang="en-US" sz="2000" kern="1200" dirty="0">
              <a:latin typeface="+mn-lt"/>
            </a:rPr>
            <a:t>A lower AUD makes Aus X cheaper, so Aus will sell more X</a:t>
          </a:r>
        </a:p>
        <a:p>
          <a:pPr marL="228600" lvl="1" indent="-228600" algn="l" defTabSz="889000">
            <a:lnSpc>
              <a:spcPct val="90000"/>
            </a:lnSpc>
            <a:spcBef>
              <a:spcPct val="0"/>
            </a:spcBef>
            <a:spcAft>
              <a:spcPct val="20000"/>
            </a:spcAft>
            <a:buFont typeface="Courier New" panose="02070309020205020404" pitchFamily="49" charset="0"/>
            <a:buChar char="o"/>
          </a:pPr>
          <a:r>
            <a:rPr lang="en-US" sz="2000" kern="1200" dirty="0">
              <a:latin typeface="+mn-lt"/>
            </a:rPr>
            <a:t>Lower AUD also means M are more expensive, so Aus will buy fewer M</a:t>
          </a:r>
        </a:p>
        <a:p>
          <a:pPr marL="228600" lvl="1" indent="-228600" algn="l" defTabSz="889000">
            <a:lnSpc>
              <a:spcPct val="90000"/>
            </a:lnSpc>
            <a:spcBef>
              <a:spcPct val="0"/>
            </a:spcBef>
            <a:spcAft>
              <a:spcPct val="20000"/>
            </a:spcAft>
            <a:buFont typeface="Courier New" panose="02070309020205020404" pitchFamily="49" charset="0"/>
            <a:buChar char="o"/>
          </a:pPr>
          <a:r>
            <a:rPr lang="en-US" sz="2000" kern="1200" dirty="0">
              <a:latin typeface="+mn-lt"/>
            </a:rPr>
            <a:t>This increases BOGS</a:t>
          </a:r>
        </a:p>
        <a:p>
          <a:pPr marL="228600" lvl="1" indent="-228600" algn="l" defTabSz="889000">
            <a:lnSpc>
              <a:spcPct val="90000"/>
            </a:lnSpc>
            <a:spcBef>
              <a:spcPct val="0"/>
            </a:spcBef>
            <a:spcAft>
              <a:spcPct val="20000"/>
            </a:spcAft>
            <a:buFont typeface="Courier New" panose="02070309020205020404" pitchFamily="49" charset="0"/>
            <a:buNone/>
          </a:pPr>
          <a:endParaRPr lang="en-US" sz="2000" kern="1200" dirty="0">
            <a:latin typeface="+mn-lt"/>
          </a:endParaRPr>
        </a:p>
      </dsp:txBody>
      <dsp:txXfrm>
        <a:off x="0" y="530006"/>
        <a:ext cx="8196903" cy="1622880"/>
      </dsp:txXfrm>
    </dsp:sp>
    <dsp:sp modelId="{67E24769-C00F-2745-BB60-37197C433EFB}">
      <dsp:nvSpPr>
        <dsp:cNvPr id="0" name=""/>
        <dsp:cNvSpPr/>
      </dsp:nvSpPr>
      <dsp:spPr>
        <a:xfrm>
          <a:off x="0" y="2152886"/>
          <a:ext cx="8196903" cy="45779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defRPr b="1"/>
          </a:pPr>
          <a:r>
            <a:rPr lang="en-US" sz="2400" kern="1200" dirty="0">
              <a:latin typeface="+mn-lt"/>
            </a:rPr>
            <a:t>Terms of trade</a:t>
          </a:r>
        </a:p>
      </dsp:txBody>
      <dsp:txXfrm>
        <a:off x="22348" y="2175234"/>
        <a:ext cx="8152207" cy="413102"/>
      </dsp:txXfrm>
    </dsp:sp>
    <dsp:sp modelId="{FAFB7031-2FF9-AA47-9AEF-A383050FDC71}">
      <dsp:nvSpPr>
        <dsp:cNvPr id="0" name=""/>
        <dsp:cNvSpPr/>
      </dsp:nvSpPr>
      <dsp:spPr>
        <a:xfrm>
          <a:off x="0" y="2610684"/>
          <a:ext cx="8196903" cy="1457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0252" tIns="25400" rIns="142240" bIns="25400" numCol="1" spcCol="1270" anchor="t" anchorCtr="0">
          <a:noAutofit/>
        </a:bodyPr>
        <a:lstStyle/>
        <a:p>
          <a:pPr marL="228600" lvl="1" indent="-228600" algn="l" defTabSz="889000">
            <a:lnSpc>
              <a:spcPct val="90000"/>
            </a:lnSpc>
            <a:spcBef>
              <a:spcPct val="0"/>
            </a:spcBef>
            <a:spcAft>
              <a:spcPct val="20000"/>
            </a:spcAft>
            <a:buFont typeface="Courier New" panose="02070309020205020404" pitchFamily="49" charset="0"/>
            <a:buChar char="o"/>
          </a:pPr>
          <a:r>
            <a:rPr lang="en-US" sz="2000" kern="1200" dirty="0">
              <a:latin typeface="Avenir Book" panose="02000503020000020003" pitchFamily="2" charset="0"/>
            </a:rPr>
            <a:t>Generally, a higher TOT means Aus is receiving higher X prices than the prices it pays for M</a:t>
          </a:r>
        </a:p>
        <a:p>
          <a:pPr marL="228600" lvl="1" indent="-228600" algn="l" defTabSz="889000">
            <a:lnSpc>
              <a:spcPct val="90000"/>
            </a:lnSpc>
            <a:spcBef>
              <a:spcPct val="0"/>
            </a:spcBef>
            <a:spcAft>
              <a:spcPct val="20000"/>
            </a:spcAft>
            <a:buFont typeface="Courier New" panose="02070309020205020404" pitchFamily="49" charset="0"/>
            <a:buChar char="o"/>
          </a:pPr>
          <a:r>
            <a:rPr lang="en-US" sz="2000" kern="1200" dirty="0">
              <a:latin typeface="Avenir Book" panose="02000503020000020003" pitchFamily="2" charset="0"/>
            </a:rPr>
            <a:t>This increases X revenue and increases BOGS</a:t>
          </a:r>
        </a:p>
        <a:p>
          <a:pPr marL="228600" lvl="1" indent="-228600" algn="l" defTabSz="889000">
            <a:lnSpc>
              <a:spcPct val="90000"/>
            </a:lnSpc>
            <a:spcBef>
              <a:spcPct val="0"/>
            </a:spcBef>
            <a:spcAft>
              <a:spcPct val="20000"/>
            </a:spcAft>
            <a:buFont typeface="Courier New" panose="02070309020205020404" pitchFamily="49" charset="0"/>
            <a:buNone/>
          </a:pPr>
          <a:endParaRPr lang="en-US" sz="2000" kern="1200" dirty="0">
            <a:latin typeface="Avenir Book" panose="02000503020000020003" pitchFamily="2" charset="0"/>
          </a:endParaRPr>
        </a:p>
      </dsp:txBody>
      <dsp:txXfrm>
        <a:off x="0" y="2610684"/>
        <a:ext cx="8196903" cy="1457280"/>
      </dsp:txXfrm>
    </dsp:sp>
    <dsp:sp modelId="{E6DB9E29-3CA1-0041-AE43-27AA49A9D55F}">
      <dsp:nvSpPr>
        <dsp:cNvPr id="0" name=""/>
        <dsp:cNvSpPr/>
      </dsp:nvSpPr>
      <dsp:spPr>
        <a:xfrm>
          <a:off x="0" y="4067964"/>
          <a:ext cx="8196903" cy="513353"/>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defRPr b="1"/>
          </a:pPr>
          <a:r>
            <a:rPr lang="en-US" sz="2400" kern="1200" dirty="0">
              <a:latin typeface="+mn-lt"/>
            </a:rPr>
            <a:t>Domestic economic growth</a:t>
          </a:r>
        </a:p>
      </dsp:txBody>
      <dsp:txXfrm>
        <a:off x="25060" y="4093024"/>
        <a:ext cx="8146783" cy="463233"/>
      </dsp:txXfrm>
    </dsp:sp>
    <dsp:sp modelId="{2C507A1F-F85B-D444-BD41-EB5E14F398CA}">
      <dsp:nvSpPr>
        <dsp:cNvPr id="0" name=""/>
        <dsp:cNvSpPr/>
      </dsp:nvSpPr>
      <dsp:spPr>
        <a:xfrm>
          <a:off x="0" y="4581317"/>
          <a:ext cx="8196903" cy="1291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0252" tIns="25400" rIns="142240" bIns="25400" numCol="1" spcCol="1270" anchor="t" anchorCtr="0">
          <a:noAutofit/>
        </a:bodyPr>
        <a:lstStyle/>
        <a:p>
          <a:pPr marL="228600" lvl="1" indent="-228600" algn="l" defTabSz="889000">
            <a:lnSpc>
              <a:spcPct val="90000"/>
            </a:lnSpc>
            <a:spcBef>
              <a:spcPct val="0"/>
            </a:spcBef>
            <a:spcAft>
              <a:spcPct val="20000"/>
            </a:spcAft>
            <a:buFont typeface="Courier New" panose="02070309020205020404" pitchFamily="49" charset="0"/>
            <a:buChar char="o"/>
          </a:pPr>
          <a:r>
            <a:rPr lang="en-US" sz="2000" kern="1200" dirty="0">
              <a:latin typeface="+mn-lt"/>
            </a:rPr>
            <a:t>Higher domestic economic growth results in higher consumer income</a:t>
          </a:r>
        </a:p>
        <a:p>
          <a:pPr marL="228600" lvl="1" indent="-228600" algn="l" defTabSz="889000">
            <a:lnSpc>
              <a:spcPct val="90000"/>
            </a:lnSpc>
            <a:spcBef>
              <a:spcPct val="0"/>
            </a:spcBef>
            <a:spcAft>
              <a:spcPct val="20000"/>
            </a:spcAft>
            <a:buFont typeface="Courier New" panose="02070309020205020404" pitchFamily="49" charset="0"/>
            <a:buChar char="o"/>
          </a:pPr>
          <a:r>
            <a:rPr lang="en-US" sz="2000" kern="1200" dirty="0">
              <a:latin typeface="+mn-lt"/>
            </a:rPr>
            <a:t>Leads to increased consumption spending on M purchases</a:t>
          </a:r>
        </a:p>
        <a:p>
          <a:pPr marL="228600" lvl="1" indent="-228600" algn="l" defTabSz="889000">
            <a:lnSpc>
              <a:spcPct val="90000"/>
            </a:lnSpc>
            <a:spcBef>
              <a:spcPct val="0"/>
            </a:spcBef>
            <a:spcAft>
              <a:spcPct val="20000"/>
            </a:spcAft>
            <a:buFont typeface="Courier New" panose="02070309020205020404" pitchFamily="49" charset="0"/>
            <a:buChar char="o"/>
          </a:pPr>
          <a:r>
            <a:rPr lang="en-US" sz="2000" kern="1200" dirty="0">
              <a:latin typeface="+mn-lt"/>
            </a:rPr>
            <a:t>This decreases BOGS</a:t>
          </a:r>
        </a:p>
      </dsp:txBody>
      <dsp:txXfrm>
        <a:off x="0" y="4581317"/>
        <a:ext cx="8196903" cy="12916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8F77B9-0455-154F-B831-2E0E981FCFC8}">
      <dsp:nvSpPr>
        <dsp:cNvPr id="0" name=""/>
        <dsp:cNvSpPr/>
      </dsp:nvSpPr>
      <dsp:spPr>
        <a:xfrm>
          <a:off x="0" y="401197"/>
          <a:ext cx="8744262" cy="16065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78652" tIns="312420" rIns="678652" bIns="106680" numCol="1" spcCol="1270" anchor="t" anchorCtr="0">
          <a:noAutofit/>
        </a:bodyPr>
        <a:lstStyle/>
        <a:p>
          <a:pPr marL="114300" lvl="1" indent="-114300" algn="l" defTabSz="666750">
            <a:lnSpc>
              <a:spcPct val="90000"/>
            </a:lnSpc>
            <a:spcBef>
              <a:spcPct val="0"/>
            </a:spcBef>
            <a:spcAft>
              <a:spcPct val="15000"/>
            </a:spcAft>
            <a:buFont typeface="Courier New" panose="02070309020205020404" pitchFamily="49" charset="0"/>
            <a:buChar char="o"/>
          </a:pPr>
          <a:r>
            <a:rPr lang="en-US" sz="1500" kern="1200" dirty="0">
              <a:latin typeface="+mn-lt"/>
            </a:rPr>
            <a:t>Aus’ X are mainly primary commodities</a:t>
          </a:r>
        </a:p>
        <a:p>
          <a:pPr marL="114300" lvl="1" indent="-114300" algn="l" defTabSz="666750">
            <a:lnSpc>
              <a:spcPct val="90000"/>
            </a:lnSpc>
            <a:spcBef>
              <a:spcPct val="0"/>
            </a:spcBef>
            <a:spcAft>
              <a:spcPct val="15000"/>
            </a:spcAft>
            <a:buFont typeface="Courier New" panose="02070309020205020404" pitchFamily="49" charset="0"/>
            <a:buChar char="o"/>
          </a:pPr>
          <a:r>
            <a:rPr lang="en-US" sz="1500" kern="1200" dirty="0">
              <a:latin typeface="+mn-lt"/>
            </a:rPr>
            <a:t>Aus’ M are mainly expensive, high value manufactured goods (consumer and capital goods)</a:t>
          </a:r>
        </a:p>
        <a:p>
          <a:pPr marL="114300" lvl="1" indent="-114300" algn="l" defTabSz="666750">
            <a:lnSpc>
              <a:spcPct val="90000"/>
            </a:lnSpc>
            <a:spcBef>
              <a:spcPct val="0"/>
            </a:spcBef>
            <a:spcAft>
              <a:spcPct val="15000"/>
            </a:spcAft>
            <a:buFont typeface="Courier New" panose="02070309020205020404" pitchFamily="49" charset="0"/>
            <a:buChar char="o"/>
          </a:pPr>
          <a:r>
            <a:rPr lang="en-US" sz="1500" kern="1200" dirty="0">
              <a:latin typeface="+mn-lt"/>
            </a:rPr>
            <a:t>As a result, M payments (debit) are often greater than X revenues (credit)</a:t>
          </a:r>
        </a:p>
        <a:p>
          <a:pPr marL="114300" lvl="1" indent="-114300" algn="l" defTabSz="666750">
            <a:lnSpc>
              <a:spcPct val="90000"/>
            </a:lnSpc>
            <a:spcBef>
              <a:spcPct val="0"/>
            </a:spcBef>
            <a:spcAft>
              <a:spcPct val="15000"/>
            </a:spcAft>
            <a:buFont typeface="Courier New" panose="02070309020205020404" pitchFamily="49" charset="0"/>
            <a:buChar char="o"/>
          </a:pPr>
          <a:r>
            <a:rPr lang="en-US" sz="1500" kern="1200" dirty="0">
              <a:latin typeface="+mn-lt"/>
            </a:rPr>
            <a:t>This decreases the BOGS, which can decrease the CAB</a:t>
          </a:r>
        </a:p>
      </dsp:txBody>
      <dsp:txXfrm>
        <a:off x="0" y="401197"/>
        <a:ext cx="8744262" cy="1606500"/>
      </dsp:txXfrm>
    </dsp:sp>
    <dsp:sp modelId="{B336C70F-1139-E840-9F54-22540FB743E9}">
      <dsp:nvSpPr>
        <dsp:cNvPr id="0" name=""/>
        <dsp:cNvSpPr/>
      </dsp:nvSpPr>
      <dsp:spPr>
        <a:xfrm>
          <a:off x="437213" y="179797"/>
          <a:ext cx="6120983" cy="4428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1359" tIns="0" rIns="231359" bIns="0" numCol="1" spcCol="1270" anchor="ctr" anchorCtr="0">
          <a:noAutofit/>
        </a:bodyPr>
        <a:lstStyle/>
        <a:p>
          <a:pPr marL="0" lvl="0" indent="0" algn="l" defTabSz="1066800">
            <a:lnSpc>
              <a:spcPct val="90000"/>
            </a:lnSpc>
            <a:spcBef>
              <a:spcPct val="0"/>
            </a:spcBef>
            <a:spcAft>
              <a:spcPct val="35000"/>
            </a:spcAft>
            <a:buNone/>
          </a:pPr>
          <a:r>
            <a:rPr lang="en-US" sz="2400" b="1" kern="1200" dirty="0">
              <a:latin typeface="+mn-lt"/>
            </a:rPr>
            <a:t>Narrow X base</a:t>
          </a:r>
        </a:p>
      </dsp:txBody>
      <dsp:txXfrm>
        <a:off x="458829" y="201413"/>
        <a:ext cx="6077751" cy="399568"/>
      </dsp:txXfrm>
    </dsp:sp>
    <dsp:sp modelId="{37A26387-1F9C-384D-9031-F5DF2AA59B85}">
      <dsp:nvSpPr>
        <dsp:cNvPr id="0" name=""/>
        <dsp:cNvSpPr/>
      </dsp:nvSpPr>
      <dsp:spPr>
        <a:xfrm>
          <a:off x="0" y="2310097"/>
          <a:ext cx="8744262" cy="1984500"/>
        </a:xfrm>
        <a:prstGeom prst="rect">
          <a:avLst/>
        </a:prstGeom>
        <a:solidFill>
          <a:schemeClr val="lt1">
            <a:alpha val="90000"/>
            <a:hueOff val="0"/>
            <a:satOff val="0"/>
            <a:lumOff val="0"/>
            <a:alphaOff val="0"/>
          </a:schemeClr>
        </a:solidFill>
        <a:ln w="12700" cap="flat" cmpd="sng" algn="ctr">
          <a:solidFill>
            <a:schemeClr val="accent2">
              <a:hueOff val="-2968397"/>
              <a:satOff val="0"/>
              <a:lumOff val="-1205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78652" tIns="312420" rIns="678652" bIns="106680" numCol="1" spcCol="1270" anchor="t" anchorCtr="0">
          <a:noAutofit/>
        </a:bodyPr>
        <a:lstStyle/>
        <a:p>
          <a:pPr marL="114300" lvl="1" indent="-114300" algn="l" defTabSz="666750">
            <a:lnSpc>
              <a:spcPct val="90000"/>
            </a:lnSpc>
            <a:spcBef>
              <a:spcPct val="0"/>
            </a:spcBef>
            <a:spcAft>
              <a:spcPct val="15000"/>
            </a:spcAft>
            <a:buFont typeface="Courier New" panose="02070309020205020404" pitchFamily="49" charset="0"/>
            <a:buChar char="o"/>
          </a:pPr>
          <a:r>
            <a:rPr lang="en-US" sz="1500" kern="1200" dirty="0">
              <a:latin typeface="Avenir Book" panose="02000503020000020003" pitchFamily="2" charset="0"/>
            </a:rPr>
            <a:t>This is the ability of a country’s X to compete in global markets</a:t>
          </a:r>
        </a:p>
        <a:p>
          <a:pPr marL="114300" lvl="1" indent="-114300" algn="l" defTabSz="666750">
            <a:lnSpc>
              <a:spcPct val="90000"/>
            </a:lnSpc>
            <a:spcBef>
              <a:spcPct val="0"/>
            </a:spcBef>
            <a:spcAft>
              <a:spcPct val="15000"/>
            </a:spcAft>
            <a:buFont typeface="Courier New" panose="02070309020205020404" pitchFamily="49" charset="0"/>
            <a:buChar char="o"/>
          </a:pPr>
          <a:r>
            <a:rPr lang="en-US" sz="1500" kern="1200" dirty="0">
              <a:latin typeface="Avenir Book" panose="02000503020000020003" pitchFamily="2" charset="0"/>
            </a:rPr>
            <a:t>Australia's commodity X can compete well, but they do not always command high prices</a:t>
          </a:r>
        </a:p>
        <a:p>
          <a:pPr marL="114300" lvl="1" indent="-114300" algn="l" defTabSz="666750">
            <a:lnSpc>
              <a:spcPct val="90000"/>
            </a:lnSpc>
            <a:spcBef>
              <a:spcPct val="0"/>
            </a:spcBef>
            <a:spcAft>
              <a:spcPct val="15000"/>
            </a:spcAft>
            <a:buFont typeface="Courier New" panose="02070309020205020404" pitchFamily="49" charset="0"/>
            <a:buChar char="o"/>
          </a:pPr>
          <a:r>
            <a:rPr lang="en-US" sz="1500" kern="1200" dirty="0">
              <a:latin typeface="Avenir Book" panose="02000503020000020003" pitchFamily="2" charset="0"/>
            </a:rPr>
            <a:t>Australia lacks international competitiveness in producing manufactured goods as we cannot make them at low prices like nations such as China</a:t>
          </a:r>
        </a:p>
        <a:p>
          <a:pPr marL="114300" lvl="1" indent="-114300" algn="l" defTabSz="666750">
            <a:lnSpc>
              <a:spcPct val="90000"/>
            </a:lnSpc>
            <a:spcBef>
              <a:spcPct val="0"/>
            </a:spcBef>
            <a:spcAft>
              <a:spcPct val="15000"/>
            </a:spcAft>
            <a:buFont typeface="Courier New" panose="02070309020205020404" pitchFamily="49" charset="0"/>
            <a:buChar char="o"/>
          </a:pPr>
          <a:r>
            <a:rPr lang="en-US" sz="1500" kern="1200" dirty="0">
              <a:latin typeface="Avenir Book" panose="02000503020000020003" pitchFamily="2" charset="0"/>
            </a:rPr>
            <a:t>This decreases the BOGS, which can decrease the CAB</a:t>
          </a:r>
        </a:p>
      </dsp:txBody>
      <dsp:txXfrm>
        <a:off x="0" y="2310097"/>
        <a:ext cx="8744262" cy="1984500"/>
      </dsp:txXfrm>
    </dsp:sp>
    <dsp:sp modelId="{C3B31080-2376-AC4A-BFD1-D41A8895C716}">
      <dsp:nvSpPr>
        <dsp:cNvPr id="0" name=""/>
        <dsp:cNvSpPr/>
      </dsp:nvSpPr>
      <dsp:spPr>
        <a:xfrm>
          <a:off x="437213" y="2088697"/>
          <a:ext cx="6120983" cy="442800"/>
        </a:xfrm>
        <a:prstGeom prst="roundRect">
          <a:avLst/>
        </a:prstGeom>
        <a:solidFill>
          <a:schemeClr val="accent2">
            <a:hueOff val="-2968397"/>
            <a:satOff val="0"/>
            <a:lumOff val="-120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1359" tIns="0" rIns="231359" bIns="0" numCol="1" spcCol="1270" anchor="ctr" anchorCtr="0">
          <a:noAutofit/>
        </a:bodyPr>
        <a:lstStyle/>
        <a:p>
          <a:pPr marL="0" lvl="0" indent="0" algn="l" defTabSz="1066800">
            <a:lnSpc>
              <a:spcPct val="90000"/>
            </a:lnSpc>
            <a:spcBef>
              <a:spcPct val="0"/>
            </a:spcBef>
            <a:spcAft>
              <a:spcPct val="35000"/>
            </a:spcAft>
            <a:buNone/>
          </a:pPr>
          <a:r>
            <a:rPr lang="en-US" sz="2400" b="1" kern="1200" dirty="0">
              <a:latin typeface="+mn-lt"/>
            </a:rPr>
            <a:t>Lack of international competitiveness</a:t>
          </a:r>
        </a:p>
      </dsp:txBody>
      <dsp:txXfrm>
        <a:off x="458829" y="2110313"/>
        <a:ext cx="6077751" cy="399568"/>
      </dsp:txXfrm>
    </dsp:sp>
    <dsp:sp modelId="{80D9309A-CD32-0445-A066-0061630282BA}">
      <dsp:nvSpPr>
        <dsp:cNvPr id="0" name=""/>
        <dsp:cNvSpPr/>
      </dsp:nvSpPr>
      <dsp:spPr>
        <a:xfrm>
          <a:off x="0" y="4596997"/>
          <a:ext cx="8744262" cy="1441125"/>
        </a:xfrm>
        <a:prstGeom prst="rect">
          <a:avLst/>
        </a:prstGeom>
        <a:solidFill>
          <a:schemeClr val="lt1">
            <a:alpha val="90000"/>
            <a:hueOff val="0"/>
            <a:satOff val="0"/>
            <a:lumOff val="0"/>
            <a:alphaOff val="0"/>
          </a:schemeClr>
        </a:solidFill>
        <a:ln w="12700" cap="flat" cmpd="sng" algn="ctr">
          <a:solidFill>
            <a:schemeClr val="accent2">
              <a:hueOff val="-5936795"/>
              <a:satOff val="0"/>
              <a:lumOff val="-2411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78652" tIns="312420" rIns="678652" bIns="106680" numCol="1" spcCol="1270" anchor="t" anchorCtr="0">
          <a:noAutofit/>
        </a:bodyPr>
        <a:lstStyle/>
        <a:p>
          <a:pPr marL="114300" lvl="1" indent="-114300" algn="l" defTabSz="666750">
            <a:lnSpc>
              <a:spcPct val="90000"/>
            </a:lnSpc>
            <a:spcBef>
              <a:spcPct val="0"/>
            </a:spcBef>
            <a:spcAft>
              <a:spcPct val="15000"/>
            </a:spcAft>
            <a:buFont typeface="Courier New" panose="02070309020205020404" pitchFamily="49" charset="0"/>
            <a:buChar char="o"/>
          </a:pPr>
          <a:r>
            <a:rPr lang="en-US" sz="1500" kern="1200">
              <a:latin typeface="Avenir Book" panose="02000503020000020003" pitchFamily="2" charset="0"/>
            </a:rPr>
            <a:t>Australia’s commodity X suffer from large fluctuations in prices</a:t>
          </a:r>
        </a:p>
        <a:p>
          <a:pPr marL="114300" lvl="1" indent="-114300" algn="l" defTabSz="666750">
            <a:lnSpc>
              <a:spcPct val="90000"/>
            </a:lnSpc>
            <a:spcBef>
              <a:spcPct val="0"/>
            </a:spcBef>
            <a:spcAft>
              <a:spcPct val="15000"/>
            </a:spcAft>
            <a:buFont typeface="Courier New" panose="02070309020205020404" pitchFamily="49" charset="0"/>
            <a:buChar char="o"/>
          </a:pPr>
          <a:r>
            <a:rPr lang="en-US" sz="1500" kern="1200" dirty="0">
              <a:latin typeface="Avenir Book" panose="02000503020000020003" pitchFamily="2" charset="0"/>
            </a:rPr>
            <a:t>During resource booms prices rise, but when growth slows, prices fall</a:t>
          </a:r>
        </a:p>
        <a:p>
          <a:pPr marL="114300" lvl="1" indent="-114300" algn="l" defTabSz="666750">
            <a:lnSpc>
              <a:spcPct val="90000"/>
            </a:lnSpc>
            <a:spcBef>
              <a:spcPct val="0"/>
            </a:spcBef>
            <a:spcAft>
              <a:spcPct val="15000"/>
            </a:spcAft>
            <a:buFont typeface="Courier New" panose="02070309020205020404" pitchFamily="49" charset="0"/>
            <a:buChar char="o"/>
          </a:pPr>
          <a:r>
            <a:rPr lang="en-US" sz="1500" kern="1200" dirty="0">
              <a:latin typeface="Avenir Book" panose="02000503020000020003" pitchFamily="2" charset="0"/>
            </a:rPr>
            <a:t>This means that X revenues are volatile and often fall below M payments, decreasing BOGS</a:t>
          </a:r>
        </a:p>
      </dsp:txBody>
      <dsp:txXfrm>
        <a:off x="0" y="4596997"/>
        <a:ext cx="8744262" cy="1441125"/>
      </dsp:txXfrm>
    </dsp:sp>
    <dsp:sp modelId="{D7A00AA3-17F3-864F-897F-90BB3929A569}">
      <dsp:nvSpPr>
        <dsp:cNvPr id="0" name=""/>
        <dsp:cNvSpPr/>
      </dsp:nvSpPr>
      <dsp:spPr>
        <a:xfrm>
          <a:off x="437213" y="4375597"/>
          <a:ext cx="6120983" cy="442800"/>
        </a:xfrm>
        <a:prstGeom prst="roundRect">
          <a:avLst/>
        </a:prstGeom>
        <a:solidFill>
          <a:schemeClr val="accent2">
            <a:hueOff val="-5936795"/>
            <a:satOff val="0"/>
            <a:lumOff val="-2411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1359" tIns="0" rIns="231359" bIns="0" numCol="1" spcCol="1270" anchor="ctr" anchorCtr="0">
          <a:noAutofit/>
        </a:bodyPr>
        <a:lstStyle/>
        <a:p>
          <a:pPr marL="0" lvl="0" indent="0" algn="l" defTabSz="1066800">
            <a:lnSpc>
              <a:spcPct val="90000"/>
            </a:lnSpc>
            <a:spcBef>
              <a:spcPct val="0"/>
            </a:spcBef>
            <a:spcAft>
              <a:spcPct val="35000"/>
            </a:spcAft>
            <a:buNone/>
          </a:pPr>
          <a:r>
            <a:rPr lang="en-US" sz="2400" b="1" kern="1200" dirty="0">
              <a:latin typeface="+mn-lt"/>
            </a:rPr>
            <a:t>Volatile commodity X</a:t>
          </a:r>
        </a:p>
      </dsp:txBody>
      <dsp:txXfrm>
        <a:off x="458829" y="4397213"/>
        <a:ext cx="6077751" cy="39956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7DE5BE-A0FD-415B-9E28-16FEAE04E288}">
      <dsp:nvSpPr>
        <dsp:cNvPr id="0" name=""/>
        <dsp:cNvSpPr/>
      </dsp:nvSpPr>
      <dsp:spPr>
        <a:xfrm>
          <a:off x="9009" y="158813"/>
          <a:ext cx="1460366" cy="146036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11D8F2-00D4-46D3-8569-5199AF1B051E}">
      <dsp:nvSpPr>
        <dsp:cNvPr id="0" name=""/>
        <dsp:cNvSpPr/>
      </dsp:nvSpPr>
      <dsp:spPr>
        <a:xfrm>
          <a:off x="315686" y="465490"/>
          <a:ext cx="847012" cy="8470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6A2799-DCD0-40F5-88C8-AB886AF79DE4}">
      <dsp:nvSpPr>
        <dsp:cNvPr id="0" name=""/>
        <dsp:cNvSpPr/>
      </dsp:nvSpPr>
      <dsp:spPr>
        <a:xfrm>
          <a:off x="1782311" y="158813"/>
          <a:ext cx="3442291" cy="146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dirty="0">
              <a:latin typeface="Creative Thoughts" pitchFamily="2" charset="0"/>
            </a:rPr>
            <a:t>BOGS – Mostly negative</a:t>
          </a:r>
        </a:p>
      </dsp:txBody>
      <dsp:txXfrm>
        <a:off x="1782311" y="158813"/>
        <a:ext cx="3442291" cy="1460366"/>
      </dsp:txXfrm>
    </dsp:sp>
    <dsp:sp modelId="{CB58C419-D20F-4D39-8224-8628740F5045}">
      <dsp:nvSpPr>
        <dsp:cNvPr id="0" name=""/>
        <dsp:cNvSpPr/>
      </dsp:nvSpPr>
      <dsp:spPr>
        <a:xfrm>
          <a:off x="5824396" y="158813"/>
          <a:ext cx="1460366" cy="146036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EFF1B1-1CBC-4DD8-8D27-90472D20FED2}">
      <dsp:nvSpPr>
        <dsp:cNvPr id="0" name=""/>
        <dsp:cNvSpPr/>
      </dsp:nvSpPr>
      <dsp:spPr>
        <a:xfrm>
          <a:off x="6131073" y="465490"/>
          <a:ext cx="847012" cy="8470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C9F8F5-5290-4FC0-97A4-B67B9C0D6F2A}">
      <dsp:nvSpPr>
        <dsp:cNvPr id="0" name=""/>
        <dsp:cNvSpPr/>
      </dsp:nvSpPr>
      <dsp:spPr>
        <a:xfrm>
          <a:off x="7597698" y="158813"/>
          <a:ext cx="3442291" cy="146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dirty="0">
              <a:latin typeface="Avenir Book" panose="02000503020000020003" pitchFamily="2" charset="0"/>
            </a:rPr>
            <a:t>NPY - Always deficit</a:t>
          </a:r>
        </a:p>
      </dsp:txBody>
      <dsp:txXfrm>
        <a:off x="7597698" y="158813"/>
        <a:ext cx="3442291" cy="1460366"/>
      </dsp:txXfrm>
    </dsp:sp>
    <dsp:sp modelId="{8B7A2455-E886-4C55-BBF7-53190F37AEBE}">
      <dsp:nvSpPr>
        <dsp:cNvPr id="0" name=""/>
        <dsp:cNvSpPr/>
      </dsp:nvSpPr>
      <dsp:spPr>
        <a:xfrm>
          <a:off x="9009" y="2282458"/>
          <a:ext cx="1460366" cy="146036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BF4832-F5AE-4939-9A9D-B8D97DEED9D0}">
      <dsp:nvSpPr>
        <dsp:cNvPr id="0" name=""/>
        <dsp:cNvSpPr/>
      </dsp:nvSpPr>
      <dsp:spPr>
        <a:xfrm>
          <a:off x="315686" y="2589135"/>
          <a:ext cx="847012" cy="8470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023FFF-BB52-4860-860C-9236D354098B}">
      <dsp:nvSpPr>
        <dsp:cNvPr id="0" name=""/>
        <dsp:cNvSpPr/>
      </dsp:nvSpPr>
      <dsp:spPr>
        <a:xfrm>
          <a:off x="1782311" y="2282458"/>
          <a:ext cx="3442291" cy="146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dirty="0">
              <a:latin typeface="+mn-lt"/>
            </a:rPr>
            <a:t>CAB – 44 years of CAD (Current Account Deficit), changed to a CAS (Current Account Surplus) in 2019, back to CAD Sept 2023</a:t>
          </a:r>
        </a:p>
      </dsp:txBody>
      <dsp:txXfrm>
        <a:off x="1782311" y="2282458"/>
        <a:ext cx="3442291" cy="1460366"/>
      </dsp:txXfrm>
    </dsp:sp>
    <dsp:sp modelId="{8CB2AF00-D249-4799-A602-C6D70B465169}">
      <dsp:nvSpPr>
        <dsp:cNvPr id="0" name=""/>
        <dsp:cNvSpPr/>
      </dsp:nvSpPr>
      <dsp:spPr>
        <a:xfrm>
          <a:off x="5824396" y="2282458"/>
          <a:ext cx="1460366" cy="146036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F800B7-3263-4DEC-B5AD-872A6EBD328B}">
      <dsp:nvSpPr>
        <dsp:cNvPr id="0" name=""/>
        <dsp:cNvSpPr/>
      </dsp:nvSpPr>
      <dsp:spPr>
        <a:xfrm>
          <a:off x="6131073" y="2589135"/>
          <a:ext cx="847012" cy="84701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E302BC-7646-4511-826B-90C7346F27C6}">
      <dsp:nvSpPr>
        <dsp:cNvPr id="0" name=""/>
        <dsp:cNvSpPr/>
      </dsp:nvSpPr>
      <dsp:spPr>
        <a:xfrm>
          <a:off x="7597698" y="2282458"/>
          <a:ext cx="3442291" cy="146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dirty="0">
              <a:latin typeface="+mn-lt"/>
            </a:rPr>
            <a:t>KAFA - Surplus of 44 years, changed to a deficit in 2019, back to surplus Sept 2023</a:t>
          </a:r>
        </a:p>
      </dsp:txBody>
      <dsp:txXfrm>
        <a:off x="7597698" y="2282458"/>
        <a:ext cx="3442291" cy="146036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DD7A8A-F42F-9544-A245-8953109C3650}">
      <dsp:nvSpPr>
        <dsp:cNvPr id="0" name=""/>
        <dsp:cNvSpPr/>
      </dsp:nvSpPr>
      <dsp:spPr>
        <a:xfrm>
          <a:off x="3518" y="48595"/>
          <a:ext cx="3430339" cy="651796"/>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n-lt"/>
            </a:rPr>
            <a:t>Value of the AUD: </a:t>
          </a:r>
        </a:p>
      </dsp:txBody>
      <dsp:txXfrm>
        <a:off x="3518" y="48595"/>
        <a:ext cx="3430339" cy="651796"/>
      </dsp:txXfrm>
    </dsp:sp>
    <dsp:sp modelId="{3CEE49F6-D53B-F140-A47B-B8E92362A082}">
      <dsp:nvSpPr>
        <dsp:cNvPr id="0" name=""/>
        <dsp:cNvSpPr/>
      </dsp:nvSpPr>
      <dsp:spPr>
        <a:xfrm>
          <a:off x="3518" y="700392"/>
          <a:ext cx="3430339" cy="4446899"/>
        </a:xfrm>
        <a:prstGeom prst="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a:latin typeface="+mn-lt"/>
            </a:rPr>
            <a:t>The value of the AUD will affect the value of foreign debt in AUD terms</a:t>
          </a:r>
        </a:p>
        <a:p>
          <a:pPr marL="171450" lvl="1" indent="-171450" algn="l" defTabSz="800100">
            <a:lnSpc>
              <a:spcPct val="90000"/>
            </a:lnSpc>
            <a:spcBef>
              <a:spcPct val="0"/>
            </a:spcBef>
            <a:spcAft>
              <a:spcPct val="15000"/>
            </a:spcAft>
            <a:buChar char="•"/>
          </a:pPr>
          <a:r>
            <a:rPr lang="en-US" sz="1800" kern="1200" dirty="0">
              <a:latin typeface="+mn-lt"/>
            </a:rPr>
            <a:t>For example: a stronger AUD will decrease the value of FD (in foreign currency terms)</a:t>
          </a:r>
        </a:p>
        <a:p>
          <a:pPr marL="171450" lvl="1" indent="-171450" algn="l" defTabSz="800100">
            <a:lnSpc>
              <a:spcPct val="90000"/>
            </a:lnSpc>
            <a:spcBef>
              <a:spcPct val="0"/>
            </a:spcBef>
            <a:spcAft>
              <a:spcPct val="15000"/>
            </a:spcAft>
            <a:buChar char="•"/>
          </a:pPr>
          <a:r>
            <a:rPr lang="en-US" sz="1800" kern="1200">
              <a:latin typeface="+mn-lt"/>
            </a:rPr>
            <a:t>This will reduce the value of NPY debits (interest payments) and reduce the NPY deficit and increase the CAB</a:t>
          </a:r>
        </a:p>
        <a:p>
          <a:pPr marL="171450" lvl="1" indent="-171450" algn="l" defTabSz="800100">
            <a:lnSpc>
              <a:spcPct val="90000"/>
            </a:lnSpc>
            <a:spcBef>
              <a:spcPct val="0"/>
            </a:spcBef>
            <a:spcAft>
              <a:spcPct val="15000"/>
            </a:spcAft>
            <a:buChar char="•"/>
          </a:pPr>
          <a:r>
            <a:rPr lang="en-US" sz="1800" kern="1200" dirty="0">
              <a:latin typeface="+mn-lt"/>
            </a:rPr>
            <a:t>This is the valuation effect – where changes in the value of the AUD will alter the value of the foreign debt in foreign currency terms</a:t>
          </a:r>
        </a:p>
      </dsp:txBody>
      <dsp:txXfrm>
        <a:off x="3518" y="700392"/>
        <a:ext cx="3430339" cy="4446899"/>
      </dsp:txXfrm>
    </dsp:sp>
    <dsp:sp modelId="{5F1EAC4E-C522-4B46-AB36-15F1B6694C68}">
      <dsp:nvSpPr>
        <dsp:cNvPr id="0" name=""/>
        <dsp:cNvSpPr/>
      </dsp:nvSpPr>
      <dsp:spPr>
        <a:xfrm>
          <a:off x="3914105" y="48595"/>
          <a:ext cx="3430339" cy="651796"/>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a:latin typeface="+mn-lt"/>
            </a:rPr>
            <a:t>Changes in the domestic business cycle: </a:t>
          </a:r>
        </a:p>
      </dsp:txBody>
      <dsp:txXfrm>
        <a:off x="3914105" y="48595"/>
        <a:ext cx="3430339" cy="651796"/>
      </dsp:txXfrm>
    </dsp:sp>
    <dsp:sp modelId="{58691CCD-A696-8A42-A566-A02B88220D84}">
      <dsp:nvSpPr>
        <dsp:cNvPr id="0" name=""/>
        <dsp:cNvSpPr/>
      </dsp:nvSpPr>
      <dsp:spPr>
        <a:xfrm>
          <a:off x="3914105" y="700392"/>
          <a:ext cx="3430339" cy="4446899"/>
        </a:xfrm>
        <a:prstGeom prst="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a:latin typeface="+mn-lt"/>
            </a:rPr>
            <a:t>In Australia, approximately 40 per cent of the share market is foreign owned</a:t>
          </a:r>
        </a:p>
        <a:p>
          <a:pPr marL="171450" lvl="1" indent="-171450" algn="l" defTabSz="800100">
            <a:lnSpc>
              <a:spcPct val="90000"/>
            </a:lnSpc>
            <a:spcBef>
              <a:spcPct val="0"/>
            </a:spcBef>
            <a:spcAft>
              <a:spcPct val="15000"/>
            </a:spcAft>
            <a:buChar char="•"/>
          </a:pPr>
          <a:r>
            <a:rPr lang="en-US" sz="1800" kern="1200" dirty="0">
              <a:latin typeface="+mn-lt"/>
            </a:rPr>
            <a:t>If the Australian economy improves and companies record higher profits, they will have to then pay higher dividends to all shareholders, including OS SH</a:t>
          </a:r>
        </a:p>
        <a:p>
          <a:pPr marL="171450" lvl="1" indent="-171450" algn="l" defTabSz="800100">
            <a:lnSpc>
              <a:spcPct val="90000"/>
            </a:lnSpc>
            <a:spcBef>
              <a:spcPct val="0"/>
            </a:spcBef>
            <a:spcAft>
              <a:spcPct val="15000"/>
            </a:spcAft>
            <a:buChar char="•"/>
          </a:pPr>
          <a:r>
            <a:rPr lang="en-US" sz="1800" kern="1200">
              <a:latin typeface="+mn-lt"/>
            </a:rPr>
            <a:t>Higher domestic company profits means higher dividend outflows, which increases NPY deficit and decreases the CAB</a:t>
          </a:r>
        </a:p>
      </dsp:txBody>
      <dsp:txXfrm>
        <a:off x="3914105" y="700392"/>
        <a:ext cx="3430339" cy="4446899"/>
      </dsp:txXfrm>
    </dsp:sp>
    <dsp:sp modelId="{EA99766E-85FB-8248-A92B-925A55DF99C3}">
      <dsp:nvSpPr>
        <dsp:cNvPr id="0" name=""/>
        <dsp:cNvSpPr/>
      </dsp:nvSpPr>
      <dsp:spPr>
        <a:xfrm>
          <a:off x="7824692" y="48595"/>
          <a:ext cx="3430339" cy="651796"/>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a:latin typeface="+mn-lt"/>
            </a:rPr>
            <a:t>Changes in domestic and global interest rates</a:t>
          </a:r>
        </a:p>
      </dsp:txBody>
      <dsp:txXfrm>
        <a:off x="7824692" y="48595"/>
        <a:ext cx="3430339" cy="651796"/>
      </dsp:txXfrm>
    </dsp:sp>
    <dsp:sp modelId="{93A323A9-03D8-F143-96B4-0FB14197865F}">
      <dsp:nvSpPr>
        <dsp:cNvPr id="0" name=""/>
        <dsp:cNvSpPr/>
      </dsp:nvSpPr>
      <dsp:spPr>
        <a:xfrm>
          <a:off x="7824692" y="700392"/>
          <a:ext cx="3430339" cy="4446899"/>
        </a:xfrm>
        <a:prstGeom prst="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a:latin typeface="+mn-lt"/>
            </a:rPr>
            <a:t>The servicing costs (interest payments) are set by an interest rate – either an OS IR or the AIR</a:t>
          </a:r>
        </a:p>
        <a:p>
          <a:pPr marL="171450" lvl="1" indent="-171450" algn="l" defTabSz="800100">
            <a:lnSpc>
              <a:spcPct val="90000"/>
            </a:lnSpc>
            <a:spcBef>
              <a:spcPct val="0"/>
            </a:spcBef>
            <a:spcAft>
              <a:spcPct val="15000"/>
            </a:spcAft>
            <a:buChar char="•"/>
          </a:pPr>
          <a:r>
            <a:rPr lang="en-US" sz="1800" kern="1200" dirty="0">
              <a:latin typeface="+mn-lt"/>
            </a:rPr>
            <a:t>If global interest rates reduce, this will decrease the value of interest payments required on Australia’s foreign debt, in turn, this will shrink NPY outflow, decrease the NPY deficit and increase the CAB</a:t>
          </a:r>
        </a:p>
      </dsp:txBody>
      <dsp:txXfrm>
        <a:off x="7824692" y="700392"/>
        <a:ext cx="3430339" cy="4446899"/>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9D58CA-C5B5-AE44-BF54-F5DF613ECAC1}" type="datetimeFigureOut">
              <a:rPr lang="en-US" smtClean="0"/>
              <a:t>8/8/25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0C984B-717E-B94D-82BF-99B99AE95A10}" type="slidenum">
              <a:rPr lang="en-US" smtClean="0"/>
              <a:t>‹#›</a:t>
            </a:fld>
            <a:endParaRPr lang="en-US"/>
          </a:p>
        </p:txBody>
      </p:sp>
    </p:spTree>
    <p:extLst>
      <p:ext uri="{BB962C8B-B14F-4D97-AF65-F5344CB8AC3E}">
        <p14:creationId xmlns:p14="http://schemas.microsoft.com/office/powerpoint/2010/main" val="2620611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0C984B-717E-B94D-82BF-99B99AE95A10}" type="slidenum">
              <a:rPr lang="en-US" smtClean="0"/>
              <a:t>1</a:t>
            </a:fld>
            <a:endParaRPr lang="en-US"/>
          </a:p>
        </p:txBody>
      </p:sp>
    </p:spTree>
    <p:extLst>
      <p:ext uri="{BB962C8B-B14F-4D97-AF65-F5344CB8AC3E}">
        <p14:creationId xmlns:p14="http://schemas.microsoft.com/office/powerpoint/2010/main" val="39371923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0C984B-717E-B94D-82BF-99B99AE95A10}" type="slidenum">
              <a:rPr lang="en-US" smtClean="0"/>
              <a:t>14</a:t>
            </a:fld>
            <a:endParaRPr lang="en-US"/>
          </a:p>
        </p:txBody>
      </p:sp>
    </p:spTree>
    <p:extLst>
      <p:ext uri="{BB962C8B-B14F-4D97-AF65-F5344CB8AC3E}">
        <p14:creationId xmlns:p14="http://schemas.microsoft.com/office/powerpoint/2010/main" val="4496318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1E7FE-5A7E-F70D-829E-FA194E55EB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D9F7ED-11E4-8AD4-D35A-A366E66AC4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EEDE99-38C0-A639-CF32-4329E96E2383}"/>
              </a:ext>
            </a:extLst>
          </p:cNvPr>
          <p:cNvSpPr>
            <a:spLocks noGrp="1"/>
          </p:cNvSpPr>
          <p:nvPr>
            <p:ph type="body" idx="1"/>
          </p:nvPr>
        </p:nvSpPr>
        <p:spPr/>
        <p:txBody>
          <a:bodyPr/>
          <a:lstStyle/>
          <a:p>
            <a:r>
              <a:rPr lang="en-AU" dirty="0"/>
              <a:t>An Australian bank makes a deal with a US bank:</a:t>
            </a:r>
            <a:br>
              <a:rPr lang="en-AU" dirty="0"/>
            </a:br>
            <a:r>
              <a:rPr lang="en-AU" i="1" dirty="0"/>
              <a:t>“If the Australian dollar falls, you pay me. If it rises, I pay you.”</a:t>
            </a:r>
          </a:p>
          <a:p>
            <a:br>
              <a:rPr lang="en-AU" dirty="0"/>
            </a:br>
            <a:r>
              <a:rPr lang="en-AU" dirty="0"/>
              <a:t>This is a </a:t>
            </a:r>
            <a:r>
              <a:rPr lang="en-AU" b="1" dirty="0"/>
              <a:t>derivative contract</a:t>
            </a:r>
            <a:r>
              <a:rPr lang="en-AU" dirty="0"/>
              <a:t>. They’re not swapping money now, but they’re taking on </a:t>
            </a:r>
            <a:r>
              <a:rPr lang="en-AU" b="1" dirty="0"/>
              <a:t>risk</a:t>
            </a:r>
            <a:r>
              <a:rPr lang="en-AU" dirty="0"/>
              <a:t> based on currency movement.</a:t>
            </a:r>
            <a:endParaRPr lang="en-US" dirty="0"/>
          </a:p>
        </p:txBody>
      </p:sp>
      <p:sp>
        <p:nvSpPr>
          <p:cNvPr id="4" name="Slide Number Placeholder 3">
            <a:extLst>
              <a:ext uri="{FF2B5EF4-FFF2-40B4-BE49-F238E27FC236}">
                <a16:creationId xmlns:a16="http://schemas.microsoft.com/office/drawing/2014/main" id="{4B5D635A-210B-A3D5-8648-7934230E17A8}"/>
              </a:ext>
            </a:extLst>
          </p:cNvPr>
          <p:cNvSpPr>
            <a:spLocks noGrp="1"/>
          </p:cNvSpPr>
          <p:nvPr>
            <p:ph type="sldNum" sz="quarter" idx="5"/>
          </p:nvPr>
        </p:nvSpPr>
        <p:spPr/>
        <p:txBody>
          <a:bodyPr/>
          <a:lstStyle/>
          <a:p>
            <a:fld id="{550C984B-717E-B94D-82BF-99B99AE95A10}" type="slidenum">
              <a:rPr lang="en-US" smtClean="0"/>
              <a:t>15</a:t>
            </a:fld>
            <a:endParaRPr lang="en-US"/>
          </a:p>
        </p:txBody>
      </p:sp>
    </p:spTree>
    <p:extLst>
      <p:ext uri="{BB962C8B-B14F-4D97-AF65-F5344CB8AC3E}">
        <p14:creationId xmlns:p14="http://schemas.microsoft.com/office/powerpoint/2010/main" val="9034214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transactions to sort</a:t>
            </a:r>
          </a:p>
          <a:p>
            <a:r>
              <a:rPr lang="en-US" dirty="0"/>
              <a:t>-First Aus purchasing a foreign company – Financial assess therefore in financial account (direct investment - controlling share)</a:t>
            </a:r>
          </a:p>
          <a:p>
            <a:r>
              <a:rPr lang="en-US" dirty="0"/>
              <a:t>-Debit as AUD being sent over seas</a:t>
            </a:r>
          </a:p>
          <a:p>
            <a:r>
              <a:rPr lang="en-US" dirty="0"/>
              <a:t>-Second transaction – share holders receive dividend – current account- primary income</a:t>
            </a:r>
          </a:p>
        </p:txBody>
      </p:sp>
      <p:sp>
        <p:nvSpPr>
          <p:cNvPr id="4" name="Slide Number Placeholder 3"/>
          <p:cNvSpPr>
            <a:spLocks noGrp="1"/>
          </p:cNvSpPr>
          <p:nvPr>
            <p:ph type="sldNum" sz="quarter" idx="5"/>
          </p:nvPr>
        </p:nvSpPr>
        <p:spPr/>
        <p:txBody>
          <a:bodyPr/>
          <a:lstStyle/>
          <a:p>
            <a:fld id="{550C984B-717E-B94D-82BF-99B99AE95A10}" type="slidenum">
              <a:rPr lang="en-US" smtClean="0"/>
              <a:t>17</a:t>
            </a:fld>
            <a:endParaRPr lang="en-US"/>
          </a:p>
        </p:txBody>
      </p:sp>
    </p:spTree>
    <p:extLst>
      <p:ext uri="{BB962C8B-B14F-4D97-AF65-F5344CB8AC3E}">
        <p14:creationId xmlns:p14="http://schemas.microsoft.com/office/powerpoint/2010/main" val="30527427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0C984B-717E-B94D-82BF-99B99AE95A10}" type="slidenum">
              <a:rPr lang="en-US" smtClean="0"/>
              <a:t>25</a:t>
            </a:fld>
            <a:endParaRPr lang="en-US"/>
          </a:p>
        </p:txBody>
      </p:sp>
    </p:spTree>
    <p:extLst>
      <p:ext uri="{BB962C8B-B14F-4D97-AF65-F5344CB8AC3E}">
        <p14:creationId xmlns:p14="http://schemas.microsoft.com/office/powerpoint/2010/main" val="26226425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26225" cy="3727450"/>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414AAEFA-78F4-43AE-8185-AB8D6CC16CB8}" type="slidenum">
              <a:rPr lang="en-AU" smtClean="0">
                <a:solidFill>
                  <a:prstClr val="black"/>
                </a:solidFill>
              </a:rPr>
              <a:pPr/>
              <a:t>26</a:t>
            </a:fld>
            <a:endParaRPr lang="en-AU">
              <a:solidFill>
                <a:prstClr val="black"/>
              </a:solidFill>
            </a:endParaRPr>
          </a:p>
        </p:txBody>
      </p:sp>
    </p:spTree>
    <p:extLst>
      <p:ext uri="{BB962C8B-B14F-4D97-AF65-F5344CB8AC3E}">
        <p14:creationId xmlns:p14="http://schemas.microsoft.com/office/powerpoint/2010/main" val="36738546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85433-9DEE-CF8C-66CA-1F964733E3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C3CBB0-0AC5-B867-EBC9-C8B765A6C0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DADC25-8F54-F011-1922-CB1388665947}"/>
              </a:ext>
            </a:extLst>
          </p:cNvPr>
          <p:cNvSpPr>
            <a:spLocks noGrp="1"/>
          </p:cNvSpPr>
          <p:nvPr>
            <p:ph type="body" idx="1"/>
          </p:nvPr>
        </p:nvSpPr>
        <p:spPr/>
        <p:txBody>
          <a:bodyPr/>
          <a:lstStyle/>
          <a:p>
            <a:pPr algn="l"/>
            <a:endParaRPr lang="en-AU" b="0" i="0" dirty="0">
              <a:solidFill>
                <a:srgbClr val="0D0D0D"/>
              </a:solidFill>
              <a:effectLst/>
              <a:latin typeface="Söhne"/>
            </a:endParaRPr>
          </a:p>
        </p:txBody>
      </p:sp>
      <p:sp>
        <p:nvSpPr>
          <p:cNvPr id="4" name="Slide Number Placeholder 3">
            <a:extLst>
              <a:ext uri="{FF2B5EF4-FFF2-40B4-BE49-F238E27FC236}">
                <a16:creationId xmlns:a16="http://schemas.microsoft.com/office/drawing/2014/main" id="{04726E02-A3F2-E919-DCAD-3205D83FF46B}"/>
              </a:ext>
            </a:extLst>
          </p:cNvPr>
          <p:cNvSpPr>
            <a:spLocks noGrp="1"/>
          </p:cNvSpPr>
          <p:nvPr>
            <p:ph type="sldNum" sz="quarter" idx="5"/>
          </p:nvPr>
        </p:nvSpPr>
        <p:spPr/>
        <p:txBody>
          <a:bodyPr/>
          <a:lstStyle/>
          <a:p>
            <a:fld id="{695999E5-59C6-E948-A261-940476C15AF5}" type="slidenum">
              <a:rPr lang="en-US" smtClean="0"/>
              <a:t>27</a:t>
            </a:fld>
            <a:endParaRPr lang="en-US"/>
          </a:p>
        </p:txBody>
      </p:sp>
    </p:spTree>
    <p:extLst>
      <p:ext uri="{BB962C8B-B14F-4D97-AF65-F5344CB8AC3E}">
        <p14:creationId xmlns:p14="http://schemas.microsoft.com/office/powerpoint/2010/main" val="31167406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0C984B-717E-B94D-82BF-99B99AE95A10}" type="slidenum">
              <a:rPr lang="en-US" smtClean="0"/>
              <a:t>28</a:t>
            </a:fld>
            <a:endParaRPr lang="en-US"/>
          </a:p>
        </p:txBody>
      </p:sp>
    </p:spTree>
    <p:extLst>
      <p:ext uri="{BB962C8B-B14F-4D97-AF65-F5344CB8AC3E}">
        <p14:creationId xmlns:p14="http://schemas.microsoft.com/office/powerpoint/2010/main" val="3989952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0C984B-717E-B94D-82BF-99B99AE95A10}" type="slidenum">
              <a:rPr lang="en-US" smtClean="0"/>
              <a:t>30</a:t>
            </a:fld>
            <a:endParaRPr lang="en-US"/>
          </a:p>
        </p:txBody>
      </p:sp>
    </p:spTree>
    <p:extLst>
      <p:ext uri="{BB962C8B-B14F-4D97-AF65-F5344CB8AC3E}">
        <p14:creationId xmlns:p14="http://schemas.microsoft.com/office/powerpoint/2010/main" val="18138387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0C984B-717E-B94D-82BF-99B99AE95A10}" type="slidenum">
              <a:rPr lang="en-US" smtClean="0"/>
              <a:t>31</a:t>
            </a:fld>
            <a:endParaRPr lang="en-US"/>
          </a:p>
        </p:txBody>
      </p:sp>
    </p:spTree>
    <p:extLst>
      <p:ext uri="{BB962C8B-B14F-4D97-AF65-F5344CB8AC3E}">
        <p14:creationId xmlns:p14="http://schemas.microsoft.com/office/powerpoint/2010/main" val="7307078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0C984B-717E-B94D-82BF-99B99AE95A10}" type="slidenum">
              <a:rPr lang="en-US" smtClean="0"/>
              <a:t>32</a:t>
            </a:fld>
            <a:endParaRPr lang="en-US"/>
          </a:p>
        </p:txBody>
      </p:sp>
    </p:spTree>
    <p:extLst>
      <p:ext uri="{BB962C8B-B14F-4D97-AF65-F5344CB8AC3E}">
        <p14:creationId xmlns:p14="http://schemas.microsoft.com/office/powerpoint/2010/main" val="2885432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0C984B-717E-B94D-82BF-99B99AE95A10}" type="slidenum">
              <a:rPr lang="en-US" smtClean="0"/>
              <a:t>33</a:t>
            </a:fld>
            <a:endParaRPr lang="en-US"/>
          </a:p>
        </p:txBody>
      </p:sp>
    </p:spTree>
    <p:extLst>
      <p:ext uri="{BB962C8B-B14F-4D97-AF65-F5344CB8AC3E}">
        <p14:creationId xmlns:p14="http://schemas.microsoft.com/office/powerpoint/2010/main" val="27238944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0092D-F3BD-72E2-D297-D73F0B8AF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FD0EB3-5BD6-A289-559B-2DDD41E163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591FAE-8990-D799-59E4-9D516A34CB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639FC0-D8B1-DE2F-272B-07E09B88CEA4}"/>
              </a:ext>
            </a:extLst>
          </p:cNvPr>
          <p:cNvSpPr>
            <a:spLocks noGrp="1"/>
          </p:cNvSpPr>
          <p:nvPr>
            <p:ph type="sldNum" sz="quarter" idx="5"/>
          </p:nvPr>
        </p:nvSpPr>
        <p:spPr/>
        <p:txBody>
          <a:bodyPr/>
          <a:lstStyle/>
          <a:p>
            <a:fld id="{550C984B-717E-B94D-82BF-99B99AE95A10}" type="slidenum">
              <a:rPr lang="en-US" smtClean="0"/>
              <a:t>34</a:t>
            </a:fld>
            <a:endParaRPr lang="en-US"/>
          </a:p>
        </p:txBody>
      </p:sp>
    </p:spTree>
    <p:extLst>
      <p:ext uri="{BB962C8B-B14F-4D97-AF65-F5344CB8AC3E}">
        <p14:creationId xmlns:p14="http://schemas.microsoft.com/office/powerpoint/2010/main" val="28263712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08C23-10F5-5217-5C55-CB1E2E5C0C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131253-8B42-A0D7-82D5-37E678CD90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E7AA45-80AE-B7B1-F02A-6DEE91A5BF2E}"/>
              </a:ext>
            </a:extLst>
          </p:cNvPr>
          <p:cNvSpPr>
            <a:spLocks noGrp="1"/>
          </p:cNvSpPr>
          <p:nvPr>
            <p:ph type="body" idx="1"/>
          </p:nvPr>
        </p:nvSpPr>
        <p:spPr/>
        <p:txBody>
          <a:bodyPr/>
          <a:lstStyle/>
          <a:p>
            <a:r>
              <a:rPr lang="en-AU" b="0" dirty="0"/>
              <a:t>The idea that credits = increases in liabilities or decreases in assets, and debits = increases in assets or decreases in liabilities is true for the KAFA.</a:t>
            </a:r>
          </a:p>
          <a:p>
            <a:endParaRPr lang="en-AU" b="0" dirty="0"/>
          </a:p>
          <a:p>
            <a:r>
              <a:rPr lang="en-AU" b="0" dirty="0"/>
              <a:t>In the Current Account, credits and debits represent exports and imports of goods and services, not asset ownership changes.</a:t>
            </a:r>
          </a:p>
          <a:p>
            <a:endParaRPr lang="en-US" b="0" dirty="0"/>
          </a:p>
        </p:txBody>
      </p:sp>
      <p:sp>
        <p:nvSpPr>
          <p:cNvPr id="4" name="Slide Number Placeholder 3">
            <a:extLst>
              <a:ext uri="{FF2B5EF4-FFF2-40B4-BE49-F238E27FC236}">
                <a16:creationId xmlns:a16="http://schemas.microsoft.com/office/drawing/2014/main" id="{0B238C3C-2748-2C5A-89DC-46CECFF1D4E7}"/>
              </a:ext>
            </a:extLst>
          </p:cNvPr>
          <p:cNvSpPr>
            <a:spLocks noGrp="1"/>
          </p:cNvSpPr>
          <p:nvPr>
            <p:ph type="sldNum" sz="quarter" idx="5"/>
          </p:nvPr>
        </p:nvSpPr>
        <p:spPr/>
        <p:txBody>
          <a:bodyPr/>
          <a:lstStyle/>
          <a:p>
            <a:fld id="{550C984B-717E-B94D-82BF-99B99AE95A10}" type="slidenum">
              <a:rPr lang="en-US" smtClean="0"/>
              <a:t>37</a:t>
            </a:fld>
            <a:endParaRPr lang="en-US"/>
          </a:p>
        </p:txBody>
      </p:sp>
    </p:spTree>
    <p:extLst>
      <p:ext uri="{BB962C8B-B14F-4D97-AF65-F5344CB8AC3E}">
        <p14:creationId xmlns:p14="http://schemas.microsoft.com/office/powerpoint/2010/main" val="21452964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The idea that credits = increases in liabilities or decreases in assets, and debits = increases in assets or decreases in liabilities is true for the KAFA.</a:t>
            </a:r>
          </a:p>
          <a:p>
            <a:endParaRPr lang="en-AU" b="0" dirty="0"/>
          </a:p>
          <a:p>
            <a:r>
              <a:rPr lang="en-AU" b="0" dirty="0"/>
              <a:t>In the Current Account, credits and debits represent exports and imports of goods and services, not asset ownership changes.</a:t>
            </a:r>
          </a:p>
          <a:p>
            <a:endParaRPr lang="en-US" b="0" dirty="0"/>
          </a:p>
        </p:txBody>
      </p:sp>
      <p:sp>
        <p:nvSpPr>
          <p:cNvPr id="4" name="Slide Number Placeholder 3"/>
          <p:cNvSpPr>
            <a:spLocks noGrp="1"/>
          </p:cNvSpPr>
          <p:nvPr>
            <p:ph type="sldNum" sz="quarter" idx="5"/>
          </p:nvPr>
        </p:nvSpPr>
        <p:spPr/>
        <p:txBody>
          <a:bodyPr/>
          <a:lstStyle/>
          <a:p>
            <a:fld id="{550C984B-717E-B94D-82BF-99B99AE95A10}" type="slidenum">
              <a:rPr lang="en-US" smtClean="0"/>
              <a:t>40</a:t>
            </a:fld>
            <a:endParaRPr lang="en-US"/>
          </a:p>
        </p:txBody>
      </p:sp>
    </p:spTree>
    <p:extLst>
      <p:ext uri="{BB962C8B-B14F-4D97-AF65-F5344CB8AC3E}">
        <p14:creationId xmlns:p14="http://schemas.microsoft.com/office/powerpoint/2010/main" val="21123669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0BF44-6E18-DDDF-B1FD-28ECADD184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D77F17-4248-43A4-86EF-0F60A487B4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2AFC31-D1A3-6C0C-F567-0D49C2692C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06AA6B-59A4-55D6-C19A-D4D3C9526730}"/>
              </a:ext>
            </a:extLst>
          </p:cNvPr>
          <p:cNvSpPr>
            <a:spLocks noGrp="1"/>
          </p:cNvSpPr>
          <p:nvPr>
            <p:ph type="sldNum" sz="quarter" idx="5"/>
          </p:nvPr>
        </p:nvSpPr>
        <p:spPr/>
        <p:txBody>
          <a:bodyPr/>
          <a:lstStyle/>
          <a:p>
            <a:fld id="{550C984B-717E-B94D-82BF-99B99AE95A10}" type="slidenum">
              <a:rPr lang="en-US" smtClean="0"/>
              <a:t>41</a:t>
            </a:fld>
            <a:endParaRPr lang="en-US"/>
          </a:p>
        </p:txBody>
      </p:sp>
    </p:spTree>
    <p:extLst>
      <p:ext uri="{BB962C8B-B14F-4D97-AF65-F5344CB8AC3E}">
        <p14:creationId xmlns:p14="http://schemas.microsoft.com/office/powerpoint/2010/main" val="19988291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85891-479B-407C-2DEE-75E4D4DAB7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9552B6-CA57-6560-D965-0A22BFA1A8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6A984C-C72C-1D23-8BDD-1FE6C6BC31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97F31A-CAA5-C238-0848-C1D991A29B6D}"/>
              </a:ext>
            </a:extLst>
          </p:cNvPr>
          <p:cNvSpPr>
            <a:spLocks noGrp="1"/>
          </p:cNvSpPr>
          <p:nvPr>
            <p:ph type="sldNum" sz="quarter" idx="5"/>
          </p:nvPr>
        </p:nvSpPr>
        <p:spPr/>
        <p:txBody>
          <a:bodyPr/>
          <a:lstStyle/>
          <a:p>
            <a:fld id="{550C984B-717E-B94D-82BF-99B99AE95A10}" type="slidenum">
              <a:rPr lang="en-US" smtClean="0"/>
              <a:t>42</a:t>
            </a:fld>
            <a:endParaRPr lang="en-US"/>
          </a:p>
        </p:txBody>
      </p:sp>
    </p:spTree>
    <p:extLst>
      <p:ext uri="{BB962C8B-B14F-4D97-AF65-F5344CB8AC3E}">
        <p14:creationId xmlns:p14="http://schemas.microsoft.com/office/powerpoint/2010/main" val="42019880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06836-7660-39F0-4332-72F37E8573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3B6C1A-00EC-5199-6C0F-67B8502B3D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2A7C16-DDEC-5B36-87BA-314B1FA43BC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47E134C9-D10F-90A2-B70E-465927908FC0}"/>
              </a:ext>
            </a:extLst>
          </p:cNvPr>
          <p:cNvSpPr>
            <a:spLocks noGrp="1"/>
          </p:cNvSpPr>
          <p:nvPr>
            <p:ph type="sldNum" sz="quarter" idx="5"/>
          </p:nvPr>
        </p:nvSpPr>
        <p:spPr/>
        <p:txBody>
          <a:bodyPr/>
          <a:lstStyle/>
          <a:p>
            <a:fld id="{695999E5-59C6-E948-A261-940476C15AF5}" type="slidenum">
              <a:rPr lang="en-US" smtClean="0"/>
              <a:t>43</a:t>
            </a:fld>
            <a:endParaRPr lang="en-US"/>
          </a:p>
        </p:txBody>
      </p:sp>
    </p:spTree>
    <p:extLst>
      <p:ext uri="{BB962C8B-B14F-4D97-AF65-F5344CB8AC3E}">
        <p14:creationId xmlns:p14="http://schemas.microsoft.com/office/powerpoint/2010/main" val="15850546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export of wheat from Australia is recorded as a </a:t>
            </a:r>
            <a:r>
              <a:rPr lang="en-AU" b="1" dirty="0"/>
              <a:t>credit entry</a:t>
            </a:r>
            <a:r>
              <a:rPr lang="en-AU" dirty="0"/>
              <a:t> in the </a:t>
            </a:r>
            <a:r>
              <a:rPr lang="en-AU" b="1" dirty="0"/>
              <a:t>Current Account</a:t>
            </a:r>
            <a:r>
              <a:rPr lang="en-AU" dirty="0"/>
              <a:t>, under the category </a:t>
            </a:r>
            <a:r>
              <a:rPr lang="en-AU" b="1" dirty="0"/>
              <a:t>“Exports of Goods.”</a:t>
            </a:r>
            <a:br>
              <a:rPr lang="en-AU" dirty="0"/>
            </a:br>
            <a:r>
              <a:rPr lang="en-AU" dirty="0"/>
              <a:t>This credit reflects money flowing into Australia - Australia has earned foreign income by selling goods overseas.</a:t>
            </a:r>
          </a:p>
          <a:p>
            <a:r>
              <a:rPr lang="en-AU" dirty="0"/>
              <a:t>But every transaction in the </a:t>
            </a:r>
            <a:r>
              <a:rPr lang="en-AU" b="1" dirty="0"/>
              <a:t>Balance of Payments</a:t>
            </a:r>
            <a:r>
              <a:rPr lang="en-AU" dirty="0"/>
              <a:t> must also have a matching </a:t>
            </a:r>
            <a:r>
              <a:rPr lang="en-AU" b="1" dirty="0"/>
              <a:t>debit entry</a:t>
            </a:r>
            <a:r>
              <a:rPr lang="en-AU" dirty="0"/>
              <a:t>.</a:t>
            </a:r>
          </a:p>
          <a:p>
            <a:r>
              <a:rPr lang="en-AU" dirty="0"/>
              <a:t>That debit is not recorded in the current account. Instead, it typically appears in the </a:t>
            </a:r>
            <a:r>
              <a:rPr lang="en-AU" b="1" dirty="0"/>
              <a:t>Financial Account</a:t>
            </a:r>
            <a:r>
              <a:rPr lang="en-AU" dirty="0"/>
              <a:t>.</a:t>
            </a:r>
          </a:p>
          <a:p>
            <a:r>
              <a:rPr lang="en-AU" dirty="0"/>
              <a:t>Here’s why:</a:t>
            </a:r>
            <a:br>
              <a:rPr lang="en-AU" dirty="0"/>
            </a:br>
            <a:r>
              <a:rPr lang="en-AU" dirty="0"/>
              <a:t>To pay for the wheat, the overseas buyer needs to obtain </a:t>
            </a:r>
            <a:r>
              <a:rPr lang="en-AU" b="1" dirty="0"/>
              <a:t>Australian dollars (AUD)</a:t>
            </a:r>
            <a:r>
              <a:rPr lang="en-AU" dirty="0"/>
              <a:t>. To do this, they might:</a:t>
            </a:r>
          </a:p>
          <a:p>
            <a:r>
              <a:rPr lang="en-AU" dirty="0"/>
              <a:t>Use AUD they already hold, or</a:t>
            </a:r>
          </a:p>
          <a:p>
            <a:r>
              <a:rPr lang="en-AU" dirty="0"/>
              <a:t>Buy AUD on the </a:t>
            </a:r>
            <a:r>
              <a:rPr lang="en-AU" b="1" dirty="0"/>
              <a:t>foreign exchange market</a:t>
            </a:r>
            <a:r>
              <a:rPr lang="en-AU" dirty="0"/>
              <a:t> by exchanging their own currency.</a:t>
            </a:r>
          </a:p>
          <a:p>
            <a:r>
              <a:rPr lang="en-AU" dirty="0"/>
              <a:t>In either case, this results in a </a:t>
            </a:r>
            <a:r>
              <a:rPr lang="en-AU" b="1" dirty="0"/>
              <a:t>debit entry</a:t>
            </a:r>
            <a:r>
              <a:rPr lang="en-AU" dirty="0"/>
              <a:t> in the Financial Account - possibly under categories like:</a:t>
            </a:r>
          </a:p>
          <a:p>
            <a:r>
              <a:rPr lang="en-AU" b="1" dirty="0"/>
              <a:t>Increase in foreign assets</a:t>
            </a:r>
            <a:r>
              <a:rPr lang="en-AU" dirty="0"/>
              <a:t>, or</a:t>
            </a:r>
          </a:p>
          <a:p>
            <a:r>
              <a:rPr lang="en-AU" b="1" dirty="0"/>
              <a:t>Capital outflow</a:t>
            </a:r>
            <a:r>
              <a:rPr lang="en-AU" dirty="0"/>
              <a:t>.</a:t>
            </a:r>
          </a:p>
          <a:p>
            <a:r>
              <a:rPr lang="en-AU" dirty="0"/>
              <a:t>This reflects that while Australia is receiving AUD, it is also </a:t>
            </a:r>
            <a:r>
              <a:rPr lang="en-AU" b="1" dirty="0"/>
              <a:t>giving up foreign currency</a:t>
            </a:r>
            <a:r>
              <a:rPr lang="en-AU" dirty="0"/>
              <a:t> or gaining claims on foreign financial assets.</a:t>
            </a:r>
          </a:p>
        </p:txBody>
      </p:sp>
      <p:sp>
        <p:nvSpPr>
          <p:cNvPr id="4" name="Slide Number Placeholder 3"/>
          <p:cNvSpPr>
            <a:spLocks noGrp="1"/>
          </p:cNvSpPr>
          <p:nvPr>
            <p:ph type="sldNum" sz="quarter" idx="5"/>
          </p:nvPr>
        </p:nvSpPr>
        <p:spPr/>
        <p:txBody>
          <a:bodyPr/>
          <a:lstStyle/>
          <a:p>
            <a:fld id="{695999E5-59C6-E948-A261-940476C15AF5}" type="slidenum">
              <a:rPr lang="en-US" smtClean="0"/>
              <a:t>44</a:t>
            </a:fld>
            <a:endParaRPr lang="en-US"/>
          </a:p>
        </p:txBody>
      </p:sp>
    </p:spTree>
    <p:extLst>
      <p:ext uri="{BB962C8B-B14F-4D97-AF65-F5344CB8AC3E}">
        <p14:creationId xmlns:p14="http://schemas.microsoft.com/office/powerpoint/2010/main" val="24491567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ED8C8-0CD0-C732-546E-656AC4397C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8D083F-5BD0-CD96-6576-7BB0AEF360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E632EA-2DF0-C20A-9A3A-3C353D7F3C4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A5A7FDE-5A9E-6F1D-15F0-5E8DDFF896F5}"/>
              </a:ext>
            </a:extLst>
          </p:cNvPr>
          <p:cNvSpPr>
            <a:spLocks noGrp="1"/>
          </p:cNvSpPr>
          <p:nvPr>
            <p:ph type="sldNum" sz="quarter" idx="5"/>
          </p:nvPr>
        </p:nvSpPr>
        <p:spPr/>
        <p:txBody>
          <a:bodyPr/>
          <a:lstStyle/>
          <a:p>
            <a:fld id="{695999E5-59C6-E948-A261-940476C15AF5}" type="slidenum">
              <a:rPr lang="en-US" smtClean="0"/>
              <a:t>45</a:t>
            </a:fld>
            <a:endParaRPr lang="en-US"/>
          </a:p>
        </p:txBody>
      </p:sp>
    </p:spTree>
    <p:extLst>
      <p:ext uri="{BB962C8B-B14F-4D97-AF65-F5344CB8AC3E}">
        <p14:creationId xmlns:p14="http://schemas.microsoft.com/office/powerpoint/2010/main" val="38201355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449CD-5C01-783D-513A-EEA27F142E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06B0-2BC2-B683-6DC4-5932C45D82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BB08B6-483E-9E12-802B-F6E2EF08121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978324F-A3FF-70DA-CA00-8D6F771D07BF}"/>
              </a:ext>
            </a:extLst>
          </p:cNvPr>
          <p:cNvSpPr>
            <a:spLocks noGrp="1"/>
          </p:cNvSpPr>
          <p:nvPr>
            <p:ph type="sldNum" sz="quarter" idx="5"/>
          </p:nvPr>
        </p:nvSpPr>
        <p:spPr/>
        <p:txBody>
          <a:bodyPr/>
          <a:lstStyle/>
          <a:p>
            <a:fld id="{695999E5-59C6-E948-A261-940476C15AF5}" type="slidenum">
              <a:rPr lang="en-US" smtClean="0"/>
              <a:t>46</a:t>
            </a:fld>
            <a:endParaRPr lang="en-US"/>
          </a:p>
        </p:txBody>
      </p:sp>
    </p:spTree>
    <p:extLst>
      <p:ext uri="{BB962C8B-B14F-4D97-AF65-F5344CB8AC3E}">
        <p14:creationId xmlns:p14="http://schemas.microsoft.com/office/powerpoint/2010/main" val="33314146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99814-BB36-2CE9-F312-29330AEC44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1A328F-9EA9-85A2-2B8E-F7C9FC37AB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392AF5-F836-7149-8B69-D5A11C44D45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30186E7-C306-B6D4-525D-0B8829898061}"/>
              </a:ext>
            </a:extLst>
          </p:cNvPr>
          <p:cNvSpPr>
            <a:spLocks noGrp="1"/>
          </p:cNvSpPr>
          <p:nvPr>
            <p:ph type="sldNum" sz="quarter" idx="5"/>
          </p:nvPr>
        </p:nvSpPr>
        <p:spPr/>
        <p:txBody>
          <a:bodyPr/>
          <a:lstStyle/>
          <a:p>
            <a:fld id="{695999E5-59C6-E948-A261-940476C15AF5}" type="slidenum">
              <a:rPr lang="en-US" smtClean="0"/>
              <a:t>48</a:t>
            </a:fld>
            <a:endParaRPr lang="en-US"/>
          </a:p>
        </p:txBody>
      </p:sp>
    </p:spTree>
    <p:extLst>
      <p:ext uri="{BB962C8B-B14F-4D97-AF65-F5344CB8AC3E}">
        <p14:creationId xmlns:p14="http://schemas.microsoft.com/office/powerpoint/2010/main" val="25932748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26C39-C806-C91E-FCD4-1A09DACCD4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1B4C2F-69A9-24F7-A47D-420EACEE80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4C0560-7EEC-7E2B-E610-803ABEEF662D}"/>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E3E47BA8-DA01-F811-835D-D0AFC799CDF9}"/>
              </a:ext>
            </a:extLst>
          </p:cNvPr>
          <p:cNvSpPr>
            <a:spLocks noGrp="1"/>
          </p:cNvSpPr>
          <p:nvPr>
            <p:ph type="sldNum" sz="quarter" idx="5"/>
          </p:nvPr>
        </p:nvSpPr>
        <p:spPr/>
        <p:txBody>
          <a:bodyPr/>
          <a:lstStyle/>
          <a:p>
            <a:fld id="{695999E5-59C6-E948-A261-940476C15AF5}" type="slidenum">
              <a:rPr lang="en-US" smtClean="0"/>
              <a:t>49</a:t>
            </a:fld>
            <a:endParaRPr lang="en-US"/>
          </a:p>
        </p:txBody>
      </p:sp>
    </p:spTree>
    <p:extLst>
      <p:ext uri="{BB962C8B-B14F-4D97-AF65-F5344CB8AC3E}">
        <p14:creationId xmlns:p14="http://schemas.microsoft.com/office/powerpoint/2010/main" val="1980504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000000"/>
                </a:solidFill>
                <a:effectLst/>
                <a:latin typeface="Tahoma" panose="020B0604030504040204" pitchFamily="34" charset="0"/>
              </a:rPr>
              <a:t>The $5000Australian residents spent on overseas travel is an import and is recorded as a ‘service debit’ in the trade balance (specifically ‘import – tourism’). The payments made to overseas households and businesses (for the accommodation, food, sightseeing, etc.) by the Australian residents from their domestic bank accounts are recorded in the financial accounts as a credit under ‘other investment – currency and deposits’.</a:t>
            </a:r>
            <a:endParaRPr lang="en-US" i="0" dirty="0"/>
          </a:p>
        </p:txBody>
      </p:sp>
      <p:sp>
        <p:nvSpPr>
          <p:cNvPr id="4" name="Slide Number Placeholder 3"/>
          <p:cNvSpPr>
            <a:spLocks noGrp="1"/>
          </p:cNvSpPr>
          <p:nvPr>
            <p:ph type="sldNum" sz="quarter" idx="5"/>
          </p:nvPr>
        </p:nvSpPr>
        <p:spPr/>
        <p:txBody>
          <a:bodyPr/>
          <a:lstStyle/>
          <a:p>
            <a:fld id="{695999E5-59C6-E948-A261-940476C15AF5}" type="slidenum">
              <a:rPr lang="en-US" smtClean="0"/>
              <a:t>51</a:t>
            </a:fld>
            <a:endParaRPr lang="en-US"/>
          </a:p>
        </p:txBody>
      </p:sp>
    </p:spTree>
    <p:extLst>
      <p:ext uri="{BB962C8B-B14F-4D97-AF65-F5344CB8AC3E}">
        <p14:creationId xmlns:p14="http://schemas.microsoft.com/office/powerpoint/2010/main" val="18126104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0750E-0A49-3CDB-08F7-02EA03E346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95B05B-A05E-4A26-4ECE-62E6F5EA38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F6DD77-660D-75A0-2A69-87A7A9FB7AF7}"/>
              </a:ext>
            </a:extLst>
          </p:cNvPr>
          <p:cNvSpPr>
            <a:spLocks noGrp="1"/>
          </p:cNvSpPr>
          <p:nvPr>
            <p:ph type="body" idx="1"/>
          </p:nvPr>
        </p:nvSpPr>
        <p:spPr/>
        <p:txBody>
          <a:bodyPr/>
          <a:lstStyle/>
          <a:p>
            <a:r>
              <a:rPr lang="en-AU" b="0" i="0" dirty="0">
                <a:solidFill>
                  <a:srgbClr val="000000"/>
                </a:solidFill>
                <a:effectLst/>
                <a:latin typeface="Tahoma" panose="020B0604030504040204" pitchFamily="34" charset="0"/>
              </a:rPr>
              <a:t>The $5000Australian residents spent on overseas travel is an import and is recorded as a ‘service debit’ in the trade balance (specifically ‘import – tourism’). The payments made to overseas households and businesses (for the accommodation, food, sightseeing, etc.) by the Australian residents from their domestic bank accounts are recorded in the financial accounts as a credit under ‘other investment – currency and deposits’.</a:t>
            </a:r>
            <a:endParaRPr lang="en-US" i="0" dirty="0"/>
          </a:p>
        </p:txBody>
      </p:sp>
      <p:sp>
        <p:nvSpPr>
          <p:cNvPr id="4" name="Slide Number Placeholder 3">
            <a:extLst>
              <a:ext uri="{FF2B5EF4-FFF2-40B4-BE49-F238E27FC236}">
                <a16:creationId xmlns:a16="http://schemas.microsoft.com/office/drawing/2014/main" id="{B1DF5C9C-3805-9789-5C20-977D219EAE68}"/>
              </a:ext>
            </a:extLst>
          </p:cNvPr>
          <p:cNvSpPr>
            <a:spLocks noGrp="1"/>
          </p:cNvSpPr>
          <p:nvPr>
            <p:ph type="sldNum" sz="quarter" idx="5"/>
          </p:nvPr>
        </p:nvSpPr>
        <p:spPr/>
        <p:txBody>
          <a:bodyPr/>
          <a:lstStyle/>
          <a:p>
            <a:fld id="{695999E5-59C6-E948-A261-940476C15AF5}" type="slidenum">
              <a:rPr lang="en-US" smtClean="0"/>
              <a:t>52</a:t>
            </a:fld>
            <a:endParaRPr lang="en-US"/>
          </a:p>
        </p:txBody>
      </p:sp>
    </p:spTree>
    <p:extLst>
      <p:ext uri="{BB962C8B-B14F-4D97-AF65-F5344CB8AC3E}">
        <p14:creationId xmlns:p14="http://schemas.microsoft.com/office/powerpoint/2010/main" val="9052665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000000"/>
                </a:solidFill>
                <a:effectLst/>
                <a:latin typeface="Tahoma" panose="020B0604030504040204" pitchFamily="34" charset="0"/>
              </a:rPr>
              <a:t>The $100m shipment of iron ore from Australia is an export and is recorded as a ‘goods credit’ under the trade balance. </a:t>
            </a:r>
          </a:p>
          <a:p>
            <a:r>
              <a:rPr lang="en-AU" b="0" i="0" dirty="0">
                <a:solidFill>
                  <a:srgbClr val="000000"/>
                </a:solidFill>
                <a:effectLst/>
                <a:latin typeface="Tahoma" panose="020B0604030504040204" pitchFamily="34" charset="0"/>
              </a:rPr>
              <a:t>The trade credit payment from the Chinese steel maker is recorded in the financial accounts as a debit under ‘other investment – trade credit’.</a:t>
            </a:r>
            <a:endParaRPr lang="en-US" i="0" dirty="0"/>
          </a:p>
        </p:txBody>
      </p:sp>
      <p:sp>
        <p:nvSpPr>
          <p:cNvPr id="4" name="Slide Number Placeholder 3"/>
          <p:cNvSpPr>
            <a:spLocks noGrp="1"/>
          </p:cNvSpPr>
          <p:nvPr>
            <p:ph type="sldNum" sz="quarter" idx="5"/>
          </p:nvPr>
        </p:nvSpPr>
        <p:spPr/>
        <p:txBody>
          <a:bodyPr/>
          <a:lstStyle/>
          <a:p>
            <a:fld id="{695999E5-59C6-E948-A261-940476C15AF5}" type="slidenum">
              <a:rPr lang="en-US" smtClean="0"/>
              <a:t>53</a:t>
            </a:fld>
            <a:endParaRPr lang="en-US"/>
          </a:p>
        </p:txBody>
      </p:sp>
    </p:spTree>
    <p:extLst>
      <p:ext uri="{BB962C8B-B14F-4D97-AF65-F5344CB8AC3E}">
        <p14:creationId xmlns:p14="http://schemas.microsoft.com/office/powerpoint/2010/main" val="28639597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000000"/>
                </a:solidFill>
                <a:effectLst/>
                <a:latin typeface="Tahoma" panose="020B0604030504040204" pitchFamily="34" charset="0"/>
              </a:rPr>
              <a:t>The $20 million of shares purchased by Taylor is recorded in the financial account as a debit under ‘portfolio investment’, because the purchase does not result in a significant degree of influence over the firm. The payment for the shares is made from Taylor's Australian bank account and recorded in the financial accounts as a credit under ‘other investment – currency and deposits’.</a:t>
            </a:r>
            <a:endParaRPr lang="en-US" i="0" dirty="0"/>
          </a:p>
        </p:txBody>
      </p:sp>
      <p:sp>
        <p:nvSpPr>
          <p:cNvPr id="4" name="Slide Number Placeholder 3"/>
          <p:cNvSpPr>
            <a:spLocks noGrp="1"/>
          </p:cNvSpPr>
          <p:nvPr>
            <p:ph type="sldNum" sz="quarter" idx="5"/>
          </p:nvPr>
        </p:nvSpPr>
        <p:spPr/>
        <p:txBody>
          <a:bodyPr/>
          <a:lstStyle/>
          <a:p>
            <a:fld id="{695999E5-59C6-E948-A261-940476C15AF5}" type="slidenum">
              <a:rPr lang="en-US" smtClean="0"/>
              <a:t>54</a:t>
            </a:fld>
            <a:endParaRPr lang="en-US"/>
          </a:p>
        </p:txBody>
      </p:sp>
    </p:spTree>
    <p:extLst>
      <p:ext uri="{BB962C8B-B14F-4D97-AF65-F5344CB8AC3E}">
        <p14:creationId xmlns:p14="http://schemas.microsoft.com/office/powerpoint/2010/main" val="4764047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000000"/>
                </a:solidFill>
                <a:effectLst/>
                <a:latin typeface="Tahoma" panose="020B0604030504040204" pitchFamily="34" charset="0"/>
              </a:rPr>
              <a:t>The $20 million of shares purchased by Taylor is recorded in the financial account as a debit under ‘portfolio investment’, because the purchase does not result in a significant degree of influence over the firm. The payment for the shares is made from Taylor's Australian bank account and recorded in the financial accounts as a credit under ‘other investment – currency and deposits’.</a:t>
            </a:r>
            <a:endParaRPr lang="en-US" i="0" dirty="0"/>
          </a:p>
        </p:txBody>
      </p:sp>
      <p:sp>
        <p:nvSpPr>
          <p:cNvPr id="4" name="Slide Number Placeholder 3"/>
          <p:cNvSpPr>
            <a:spLocks noGrp="1"/>
          </p:cNvSpPr>
          <p:nvPr>
            <p:ph type="sldNum" sz="quarter" idx="5"/>
          </p:nvPr>
        </p:nvSpPr>
        <p:spPr/>
        <p:txBody>
          <a:bodyPr/>
          <a:lstStyle/>
          <a:p>
            <a:fld id="{695999E5-59C6-E948-A261-940476C15AF5}" type="slidenum">
              <a:rPr lang="en-US" smtClean="0"/>
              <a:t>55</a:t>
            </a:fld>
            <a:endParaRPr lang="en-US"/>
          </a:p>
        </p:txBody>
      </p:sp>
    </p:spTree>
    <p:extLst>
      <p:ext uri="{BB962C8B-B14F-4D97-AF65-F5344CB8AC3E}">
        <p14:creationId xmlns:p14="http://schemas.microsoft.com/office/powerpoint/2010/main" val="9360501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000000"/>
                </a:solidFill>
                <a:effectLst/>
                <a:latin typeface="Tahoma" panose="020B0604030504040204" pitchFamily="34" charset="0"/>
              </a:rPr>
              <a:t>The $20 million of shares purchased by Taylor is recorded in the financial account as a debit under ‘portfolio investment’, because the purchase does not result in a significant degree of influence over the firm. The payment for the shares is made from Taylor's Australian bank account and recorded in the financial accounts as a credit under ‘other investment – currency and deposits’.</a:t>
            </a:r>
            <a:endParaRPr lang="en-US" i="0" dirty="0"/>
          </a:p>
        </p:txBody>
      </p:sp>
      <p:sp>
        <p:nvSpPr>
          <p:cNvPr id="4" name="Slide Number Placeholder 3"/>
          <p:cNvSpPr>
            <a:spLocks noGrp="1"/>
          </p:cNvSpPr>
          <p:nvPr>
            <p:ph type="sldNum" sz="quarter" idx="5"/>
          </p:nvPr>
        </p:nvSpPr>
        <p:spPr/>
        <p:txBody>
          <a:bodyPr/>
          <a:lstStyle/>
          <a:p>
            <a:fld id="{695999E5-59C6-E948-A261-940476C15AF5}" type="slidenum">
              <a:rPr lang="en-US" smtClean="0"/>
              <a:t>56</a:t>
            </a:fld>
            <a:endParaRPr lang="en-US"/>
          </a:p>
        </p:txBody>
      </p:sp>
    </p:spTree>
    <p:extLst>
      <p:ext uri="{BB962C8B-B14F-4D97-AF65-F5344CB8AC3E}">
        <p14:creationId xmlns:p14="http://schemas.microsoft.com/office/powerpoint/2010/main" val="38191826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The local Scouts send money they have to aid Vanuatu in recovering from the latest Cyclone.</a:t>
            </a:r>
          </a:p>
        </p:txBody>
      </p:sp>
      <p:sp>
        <p:nvSpPr>
          <p:cNvPr id="4" name="Slide Number Placeholder 3"/>
          <p:cNvSpPr>
            <a:spLocks noGrp="1"/>
          </p:cNvSpPr>
          <p:nvPr>
            <p:ph type="sldNum" sz="quarter" idx="5"/>
          </p:nvPr>
        </p:nvSpPr>
        <p:spPr/>
        <p:txBody>
          <a:bodyPr/>
          <a:lstStyle/>
          <a:p>
            <a:fld id="{550C984B-717E-B94D-82BF-99B99AE95A10}" type="slidenum">
              <a:rPr lang="en-US" smtClean="0"/>
              <a:t>64</a:t>
            </a:fld>
            <a:endParaRPr lang="en-US"/>
          </a:p>
        </p:txBody>
      </p:sp>
    </p:spTree>
    <p:extLst>
      <p:ext uri="{BB962C8B-B14F-4D97-AF65-F5344CB8AC3E}">
        <p14:creationId xmlns:p14="http://schemas.microsoft.com/office/powerpoint/2010/main" val="32727809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4A788-66E9-30BA-F8C7-4F08302F76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E58FAC-9C22-101C-F123-84D26AB9F5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06486E-1EF0-7991-4EEB-B5F2E7BE9485}"/>
              </a:ext>
            </a:extLst>
          </p:cNvPr>
          <p:cNvSpPr>
            <a:spLocks noGrp="1"/>
          </p:cNvSpPr>
          <p:nvPr>
            <p:ph type="body" idx="1"/>
          </p:nvPr>
        </p:nvSpPr>
        <p:spPr/>
        <p:txBody>
          <a:bodyPr/>
          <a:lstStyle/>
          <a:p>
            <a:endParaRPr lang="en-AU"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B454F132-3B43-BF5D-D9F6-CDB1BCCF1EB4}"/>
              </a:ext>
            </a:extLst>
          </p:cNvPr>
          <p:cNvSpPr>
            <a:spLocks noGrp="1"/>
          </p:cNvSpPr>
          <p:nvPr>
            <p:ph type="sldNum" sz="quarter" idx="5"/>
          </p:nvPr>
        </p:nvSpPr>
        <p:spPr/>
        <p:txBody>
          <a:bodyPr/>
          <a:lstStyle/>
          <a:p>
            <a:fld id="{550C984B-717E-B94D-82BF-99B99AE95A10}" type="slidenum">
              <a:rPr lang="en-US" smtClean="0"/>
              <a:t>65</a:t>
            </a:fld>
            <a:endParaRPr lang="en-US"/>
          </a:p>
        </p:txBody>
      </p:sp>
    </p:spTree>
    <p:extLst>
      <p:ext uri="{BB962C8B-B14F-4D97-AF65-F5344CB8AC3E}">
        <p14:creationId xmlns:p14="http://schemas.microsoft.com/office/powerpoint/2010/main" val="1372728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0C984B-717E-B94D-82BF-99B99AE95A10}" type="slidenum">
              <a:rPr lang="en-US" smtClean="0"/>
              <a:t>66</a:t>
            </a:fld>
            <a:endParaRPr lang="en-US"/>
          </a:p>
        </p:txBody>
      </p:sp>
    </p:spTree>
    <p:extLst>
      <p:ext uri="{BB962C8B-B14F-4D97-AF65-F5344CB8AC3E}">
        <p14:creationId xmlns:p14="http://schemas.microsoft.com/office/powerpoint/2010/main" val="28108759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482AA-8045-FAB8-C792-95D5B1854D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4645ED-5561-8EFE-C0D4-5208F720CE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90C9C3-CF23-C7AA-C344-EA66B052D6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C27BF6-EE77-B967-27C2-A82D600E2A5A}"/>
              </a:ext>
            </a:extLst>
          </p:cNvPr>
          <p:cNvSpPr>
            <a:spLocks noGrp="1"/>
          </p:cNvSpPr>
          <p:nvPr>
            <p:ph type="sldNum" sz="quarter" idx="5"/>
          </p:nvPr>
        </p:nvSpPr>
        <p:spPr/>
        <p:txBody>
          <a:bodyPr/>
          <a:lstStyle/>
          <a:p>
            <a:fld id="{550C984B-717E-B94D-82BF-99B99AE95A10}" type="slidenum">
              <a:rPr lang="en-US" smtClean="0"/>
              <a:t>67</a:t>
            </a:fld>
            <a:endParaRPr lang="en-US"/>
          </a:p>
        </p:txBody>
      </p:sp>
    </p:spTree>
    <p:extLst>
      <p:ext uri="{BB962C8B-B14F-4D97-AF65-F5344CB8AC3E}">
        <p14:creationId xmlns:p14="http://schemas.microsoft.com/office/powerpoint/2010/main" val="11972662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0C984B-717E-B94D-82BF-99B99AE95A10}" type="slidenum">
              <a:rPr lang="en-US" smtClean="0"/>
              <a:t>75</a:t>
            </a:fld>
            <a:endParaRPr lang="en-US"/>
          </a:p>
        </p:txBody>
      </p:sp>
    </p:spTree>
    <p:extLst>
      <p:ext uri="{BB962C8B-B14F-4D97-AF65-F5344CB8AC3E}">
        <p14:creationId xmlns:p14="http://schemas.microsoft.com/office/powerpoint/2010/main" val="41581523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0C984B-717E-B94D-82BF-99B99AE95A10}" type="slidenum">
              <a:rPr lang="en-US" smtClean="0"/>
              <a:t>76</a:t>
            </a:fld>
            <a:endParaRPr lang="en-US"/>
          </a:p>
        </p:txBody>
      </p:sp>
    </p:spTree>
    <p:extLst>
      <p:ext uri="{BB962C8B-B14F-4D97-AF65-F5344CB8AC3E}">
        <p14:creationId xmlns:p14="http://schemas.microsoft.com/office/powerpoint/2010/main" val="33433491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dirty="0">
                <a:solidFill>
                  <a:schemeClr val="tx1"/>
                </a:solidFill>
                <a:effectLst/>
                <a:latin typeface="+mn-lt"/>
                <a:ea typeface="+mn-ea"/>
                <a:cs typeface="+mn-cs"/>
              </a:rPr>
              <a:t>While Australia has been exporting more goods and services than it imports since September 2019, money has flowed out of Australia in exchange for increased ownership of foreign assets, including Australian superannuation funds' purchasing of overseas equities.</a:t>
            </a:r>
            <a:endParaRPr lang="en-US" dirty="0"/>
          </a:p>
        </p:txBody>
      </p:sp>
      <p:sp>
        <p:nvSpPr>
          <p:cNvPr id="4" name="Slide Number Placeholder 3"/>
          <p:cNvSpPr>
            <a:spLocks noGrp="1"/>
          </p:cNvSpPr>
          <p:nvPr>
            <p:ph type="sldNum" sz="quarter" idx="5"/>
          </p:nvPr>
        </p:nvSpPr>
        <p:spPr/>
        <p:txBody>
          <a:bodyPr/>
          <a:lstStyle/>
          <a:p>
            <a:fld id="{550C984B-717E-B94D-82BF-99B99AE95A10}" type="slidenum">
              <a:rPr lang="en-US" smtClean="0"/>
              <a:t>77</a:t>
            </a:fld>
            <a:endParaRPr lang="en-US"/>
          </a:p>
        </p:txBody>
      </p:sp>
    </p:spTree>
    <p:extLst>
      <p:ext uri="{BB962C8B-B14F-4D97-AF65-F5344CB8AC3E}">
        <p14:creationId xmlns:p14="http://schemas.microsoft.com/office/powerpoint/2010/main" val="5143877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DEFINE TERMS OF TRADE slide</a:t>
            </a:r>
          </a:p>
        </p:txBody>
      </p:sp>
      <p:sp>
        <p:nvSpPr>
          <p:cNvPr id="4" name="Slide Number Placeholder 3"/>
          <p:cNvSpPr>
            <a:spLocks noGrp="1"/>
          </p:cNvSpPr>
          <p:nvPr>
            <p:ph type="sldNum" sz="quarter" idx="5"/>
          </p:nvPr>
        </p:nvSpPr>
        <p:spPr/>
        <p:txBody>
          <a:bodyPr/>
          <a:lstStyle/>
          <a:p>
            <a:fld id="{550C984B-717E-B94D-82BF-99B99AE95A10}" type="slidenum">
              <a:rPr lang="en-US" smtClean="0"/>
              <a:t>79</a:t>
            </a:fld>
            <a:endParaRPr lang="en-US"/>
          </a:p>
        </p:txBody>
      </p:sp>
    </p:spTree>
    <p:extLst>
      <p:ext uri="{BB962C8B-B14F-4D97-AF65-F5344CB8AC3E}">
        <p14:creationId xmlns:p14="http://schemas.microsoft.com/office/powerpoint/2010/main" val="7589361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0C984B-717E-B94D-82BF-99B99AE95A10}" type="slidenum">
              <a:rPr lang="en-US" smtClean="0"/>
              <a:t>80</a:t>
            </a:fld>
            <a:endParaRPr lang="en-US"/>
          </a:p>
        </p:txBody>
      </p:sp>
    </p:spTree>
    <p:extLst>
      <p:ext uri="{BB962C8B-B14F-4D97-AF65-F5344CB8AC3E}">
        <p14:creationId xmlns:p14="http://schemas.microsoft.com/office/powerpoint/2010/main" val="39907178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0C984B-717E-B94D-82BF-99B99AE95A10}" type="slidenum">
              <a:rPr lang="en-US" smtClean="0"/>
              <a:t>82</a:t>
            </a:fld>
            <a:endParaRPr lang="en-US"/>
          </a:p>
        </p:txBody>
      </p:sp>
    </p:spTree>
    <p:extLst>
      <p:ext uri="{BB962C8B-B14F-4D97-AF65-F5344CB8AC3E}">
        <p14:creationId xmlns:p14="http://schemas.microsoft.com/office/powerpoint/2010/main" val="41173256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5C3AC-21F2-9A4E-3C69-3795A630F0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DF470D-3350-27E1-59D5-E9ACFAC4C5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336B01-8C11-C3F5-F303-94E896ABD3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936F1B-BC71-16B6-F6F8-93C29BB376E6}"/>
              </a:ext>
            </a:extLst>
          </p:cNvPr>
          <p:cNvSpPr>
            <a:spLocks noGrp="1"/>
          </p:cNvSpPr>
          <p:nvPr>
            <p:ph type="sldNum" sz="quarter" idx="5"/>
          </p:nvPr>
        </p:nvSpPr>
        <p:spPr/>
        <p:txBody>
          <a:bodyPr/>
          <a:lstStyle/>
          <a:p>
            <a:fld id="{550C984B-717E-B94D-82BF-99B99AE95A10}" type="slidenum">
              <a:rPr lang="en-US" smtClean="0"/>
              <a:t>89</a:t>
            </a:fld>
            <a:endParaRPr lang="en-US"/>
          </a:p>
        </p:txBody>
      </p:sp>
    </p:spTree>
    <p:extLst>
      <p:ext uri="{BB962C8B-B14F-4D97-AF65-F5344CB8AC3E}">
        <p14:creationId xmlns:p14="http://schemas.microsoft.com/office/powerpoint/2010/main" val="18479953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3A8A1-0AEF-8115-DA57-21CBBF7549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3EB755-43B5-5939-E873-80E6BE5BCE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5FD1B9-8D2D-F73D-C1B3-6567FFDBC05B}"/>
              </a:ext>
            </a:extLst>
          </p:cNvPr>
          <p:cNvSpPr>
            <a:spLocks noGrp="1"/>
          </p:cNvSpPr>
          <p:nvPr>
            <p:ph type="body" idx="1"/>
          </p:nvPr>
        </p:nvSpPr>
        <p:spPr/>
        <p:txBody>
          <a:bodyPr/>
          <a:lstStyle/>
          <a:p>
            <a:r>
              <a:rPr lang="en-AU" sz="1200" b="0" i="0" kern="1200" dirty="0">
                <a:solidFill>
                  <a:schemeClr val="tx1"/>
                </a:solidFill>
                <a:effectLst/>
                <a:latin typeface="+mn-lt"/>
                <a:ea typeface="+mn-ea"/>
                <a:cs typeface="+mn-cs"/>
              </a:rPr>
              <a:t>CAS – huge increase in export earnings, import growth slowed (during covid), NPY remained negative but trade surplus was so large it outweighed NPY effects</a:t>
            </a:r>
          </a:p>
          <a:p>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2019 – record high iron prices due to supply shock (collapse at a major </a:t>
            </a:r>
            <a:r>
              <a:rPr lang="en-AU" sz="1200" b="0" i="0" kern="1200" dirty="0" err="1">
                <a:solidFill>
                  <a:schemeClr val="tx1"/>
                </a:solidFill>
                <a:effectLst/>
                <a:latin typeface="+mn-lt"/>
                <a:ea typeface="+mn-ea"/>
                <a:cs typeface="+mn-cs"/>
              </a:rPr>
              <a:t>brazillion</a:t>
            </a:r>
            <a:r>
              <a:rPr lang="en-AU" sz="1200" b="0" i="0" kern="1200" dirty="0">
                <a:solidFill>
                  <a:schemeClr val="tx1"/>
                </a:solidFill>
                <a:effectLst/>
                <a:latin typeface="+mn-lt"/>
                <a:ea typeface="+mn-ea"/>
                <a:cs typeface="+mn-cs"/>
              </a:rPr>
              <a:t> mine site), strong LNG exports, domestic economy was sluggish so import growth slowed, lower NPY as global interest rates were low and falling therefore reduced interest repayments on Aus Foreign debt</a:t>
            </a:r>
            <a:endParaRPr lang="en-US" dirty="0"/>
          </a:p>
        </p:txBody>
      </p:sp>
      <p:sp>
        <p:nvSpPr>
          <p:cNvPr id="4" name="Slide Number Placeholder 3">
            <a:extLst>
              <a:ext uri="{FF2B5EF4-FFF2-40B4-BE49-F238E27FC236}">
                <a16:creationId xmlns:a16="http://schemas.microsoft.com/office/drawing/2014/main" id="{872F7477-BF4E-A54C-DD9B-E489EDE24982}"/>
              </a:ext>
            </a:extLst>
          </p:cNvPr>
          <p:cNvSpPr>
            <a:spLocks noGrp="1"/>
          </p:cNvSpPr>
          <p:nvPr>
            <p:ph type="sldNum" sz="quarter" idx="5"/>
          </p:nvPr>
        </p:nvSpPr>
        <p:spPr/>
        <p:txBody>
          <a:bodyPr/>
          <a:lstStyle/>
          <a:p>
            <a:fld id="{550C984B-717E-B94D-82BF-99B99AE95A10}" type="slidenum">
              <a:rPr lang="en-US" smtClean="0"/>
              <a:t>90</a:t>
            </a:fld>
            <a:endParaRPr lang="en-US"/>
          </a:p>
        </p:txBody>
      </p:sp>
    </p:spTree>
    <p:extLst>
      <p:ext uri="{BB962C8B-B14F-4D97-AF65-F5344CB8AC3E}">
        <p14:creationId xmlns:p14="http://schemas.microsoft.com/office/powerpoint/2010/main" val="188494532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dirty="0">
                <a:solidFill>
                  <a:schemeClr val="tx1"/>
                </a:solidFill>
                <a:effectLst/>
                <a:latin typeface="+mn-lt"/>
                <a:ea typeface="+mn-ea"/>
                <a:cs typeface="+mn-cs"/>
              </a:rPr>
              <a:t>NPY - While Australia has been exporting more goods and services than it imports since September 2019, money has flowed out of Australia in exchange for increased ownership of foreign assets, including Australian superannuation funds' purchasing of overseas equities.</a:t>
            </a:r>
          </a:p>
          <a:p>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This is due to Australia relying heavily on foreign investment to fund economic growth</a:t>
            </a:r>
            <a:endParaRPr lang="en-US" dirty="0"/>
          </a:p>
          <a:p>
            <a:endParaRPr lang="en-US" dirty="0"/>
          </a:p>
        </p:txBody>
      </p:sp>
      <p:sp>
        <p:nvSpPr>
          <p:cNvPr id="4" name="Slide Number Placeholder 3"/>
          <p:cNvSpPr>
            <a:spLocks noGrp="1"/>
          </p:cNvSpPr>
          <p:nvPr>
            <p:ph type="sldNum" sz="quarter" idx="5"/>
          </p:nvPr>
        </p:nvSpPr>
        <p:spPr/>
        <p:txBody>
          <a:bodyPr/>
          <a:lstStyle/>
          <a:p>
            <a:fld id="{550C984B-717E-B94D-82BF-99B99AE95A10}" type="slidenum">
              <a:rPr lang="en-US" smtClean="0"/>
              <a:t>91</a:t>
            </a:fld>
            <a:endParaRPr lang="en-US"/>
          </a:p>
        </p:txBody>
      </p:sp>
    </p:spTree>
    <p:extLst>
      <p:ext uri="{BB962C8B-B14F-4D97-AF65-F5344CB8AC3E}">
        <p14:creationId xmlns:p14="http://schemas.microsoft.com/office/powerpoint/2010/main" val="127312726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0C984B-717E-B94D-82BF-99B99AE95A10}" type="slidenum">
              <a:rPr lang="en-US" smtClean="0"/>
              <a:t>94</a:t>
            </a:fld>
            <a:endParaRPr lang="en-US"/>
          </a:p>
        </p:txBody>
      </p:sp>
    </p:spTree>
    <p:extLst>
      <p:ext uri="{BB962C8B-B14F-4D97-AF65-F5344CB8AC3E}">
        <p14:creationId xmlns:p14="http://schemas.microsoft.com/office/powerpoint/2010/main" val="86269165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0C984B-717E-B94D-82BF-99B99AE95A10}" type="slidenum">
              <a:rPr lang="en-US" smtClean="0"/>
              <a:t>99</a:t>
            </a:fld>
            <a:endParaRPr lang="en-US"/>
          </a:p>
        </p:txBody>
      </p:sp>
    </p:spTree>
    <p:extLst>
      <p:ext uri="{BB962C8B-B14F-4D97-AF65-F5344CB8AC3E}">
        <p14:creationId xmlns:p14="http://schemas.microsoft.com/office/powerpoint/2010/main" val="161282822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dirty="0">
                <a:solidFill>
                  <a:schemeClr val="tx1"/>
                </a:solidFill>
                <a:effectLst/>
                <a:latin typeface="+mn-lt"/>
                <a:ea typeface="+mn-ea"/>
                <a:cs typeface="+mn-cs"/>
              </a:rPr>
              <a:t>CAS – huge increase in export earnings, import growth slowed (during covid), NPY remained negative but trade surplus was so large it outweighed NPY effects</a:t>
            </a:r>
          </a:p>
          <a:p>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2019 – record high iron prices due to supply shock (collapse at a major </a:t>
            </a:r>
            <a:r>
              <a:rPr lang="en-AU" sz="1200" b="0" i="0" kern="1200" dirty="0" err="1">
                <a:solidFill>
                  <a:schemeClr val="tx1"/>
                </a:solidFill>
                <a:effectLst/>
                <a:latin typeface="+mn-lt"/>
                <a:ea typeface="+mn-ea"/>
                <a:cs typeface="+mn-cs"/>
              </a:rPr>
              <a:t>brazillion</a:t>
            </a:r>
            <a:r>
              <a:rPr lang="en-AU" sz="1200" b="0" i="0" kern="1200" dirty="0">
                <a:solidFill>
                  <a:schemeClr val="tx1"/>
                </a:solidFill>
                <a:effectLst/>
                <a:latin typeface="+mn-lt"/>
                <a:ea typeface="+mn-ea"/>
                <a:cs typeface="+mn-cs"/>
              </a:rPr>
              <a:t> mine site), strong LNG exports, domestic economy was sluggish so import growth slowed, lower NPY as global interest rates were low and falling therefore reduced interest repayments on Aus Foreign debt</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50C984B-717E-B94D-82BF-99B99AE95A10}" type="slidenum">
              <a:rPr lang="en-US" smtClean="0"/>
              <a:t>102</a:t>
            </a:fld>
            <a:endParaRPr lang="en-US"/>
          </a:p>
        </p:txBody>
      </p:sp>
    </p:spTree>
    <p:extLst>
      <p:ext uri="{BB962C8B-B14F-4D97-AF65-F5344CB8AC3E}">
        <p14:creationId xmlns:p14="http://schemas.microsoft.com/office/powerpoint/2010/main" val="69578852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dirty="0">
                <a:solidFill>
                  <a:schemeClr val="tx1"/>
                </a:solidFill>
                <a:effectLst/>
                <a:latin typeface="+mn-lt"/>
                <a:ea typeface="+mn-ea"/>
                <a:cs typeface="+mn-cs"/>
              </a:rPr>
              <a:t>CAS – huge increase in export earnings, import growth slowed (during covid), NPY remained negative but trade surplus was so large it outweighed NPY effects</a:t>
            </a:r>
          </a:p>
          <a:p>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2019 – record high iron prices due to supply shock (collapse at a major </a:t>
            </a:r>
            <a:r>
              <a:rPr lang="en-AU" sz="1200" b="0" i="0" kern="1200" dirty="0" err="1">
                <a:solidFill>
                  <a:schemeClr val="tx1"/>
                </a:solidFill>
                <a:effectLst/>
                <a:latin typeface="+mn-lt"/>
                <a:ea typeface="+mn-ea"/>
                <a:cs typeface="+mn-cs"/>
              </a:rPr>
              <a:t>brazillion</a:t>
            </a:r>
            <a:r>
              <a:rPr lang="en-AU" sz="1200" b="0" i="0" kern="1200" dirty="0">
                <a:solidFill>
                  <a:schemeClr val="tx1"/>
                </a:solidFill>
                <a:effectLst/>
                <a:latin typeface="+mn-lt"/>
                <a:ea typeface="+mn-ea"/>
                <a:cs typeface="+mn-cs"/>
              </a:rPr>
              <a:t> mine site), strong LNG exports, domestic economy was sluggish so import growth slowed, lower NPY as global interest rates were low and falling therefore reduced interest repayments on Aus Foreign debt</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50C984B-717E-B94D-82BF-99B99AE95A10}" type="slidenum">
              <a:rPr lang="en-US" smtClean="0"/>
              <a:t>103</a:t>
            </a:fld>
            <a:endParaRPr lang="en-US"/>
          </a:p>
        </p:txBody>
      </p:sp>
    </p:spTree>
    <p:extLst>
      <p:ext uri="{BB962C8B-B14F-4D97-AF65-F5344CB8AC3E}">
        <p14:creationId xmlns:p14="http://schemas.microsoft.com/office/powerpoint/2010/main" val="230324393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0C984B-717E-B94D-82BF-99B99AE95A10}" type="slidenum">
              <a:rPr lang="en-US" smtClean="0"/>
              <a:t>104</a:t>
            </a:fld>
            <a:endParaRPr lang="en-US"/>
          </a:p>
        </p:txBody>
      </p:sp>
    </p:spTree>
    <p:extLst>
      <p:ext uri="{BB962C8B-B14F-4D97-AF65-F5344CB8AC3E}">
        <p14:creationId xmlns:p14="http://schemas.microsoft.com/office/powerpoint/2010/main" val="18445921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0C984B-717E-B94D-82BF-99B99AE95A10}" type="slidenum">
              <a:rPr lang="en-US" smtClean="0"/>
              <a:t>108</a:t>
            </a:fld>
            <a:endParaRPr lang="en-US"/>
          </a:p>
        </p:txBody>
      </p:sp>
    </p:spTree>
    <p:extLst>
      <p:ext uri="{BB962C8B-B14F-4D97-AF65-F5344CB8AC3E}">
        <p14:creationId xmlns:p14="http://schemas.microsoft.com/office/powerpoint/2010/main" val="1645016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1E8A1-6DA8-4496-BCE8-03ED561CC4E5}"/>
              </a:ext>
            </a:extLst>
          </p:cNvPr>
          <p:cNvSpPr>
            <a:spLocks noGrp="1"/>
          </p:cNvSpPr>
          <p:nvPr>
            <p:ph type="ctrTitle"/>
          </p:nvPr>
        </p:nvSpPr>
        <p:spPr>
          <a:xfrm>
            <a:off x="838200" y="365760"/>
            <a:ext cx="10515600" cy="2890202"/>
          </a:xfrm>
        </p:spPr>
        <p:txBody>
          <a:bodyPr anchor="b">
            <a:normAutofit/>
          </a:bodyPr>
          <a:lstStyle>
            <a:lvl1pPr algn="l">
              <a:defRPr sz="6600"/>
            </a:lvl1pPr>
          </a:lstStyle>
          <a:p>
            <a:r>
              <a:rPr lang="en-GB"/>
              <a:t>Click to edit Master title style</a:t>
            </a:r>
            <a:endParaRPr lang="en-US" dirty="0"/>
          </a:p>
        </p:txBody>
      </p:sp>
      <p:sp>
        <p:nvSpPr>
          <p:cNvPr id="3" name="Subtitle 2">
            <a:extLst>
              <a:ext uri="{FF2B5EF4-FFF2-40B4-BE49-F238E27FC236}">
                <a16:creationId xmlns:a16="http://schemas.microsoft.com/office/drawing/2014/main" id="{3EB24CCC-3D44-4BB5-AA35-A21607EF69A4}"/>
              </a:ext>
            </a:extLst>
          </p:cNvPr>
          <p:cNvSpPr>
            <a:spLocks noGrp="1"/>
          </p:cNvSpPr>
          <p:nvPr>
            <p:ph type="subTitle" idx="1"/>
          </p:nvPr>
        </p:nvSpPr>
        <p:spPr>
          <a:xfrm>
            <a:off x="838200" y="3506150"/>
            <a:ext cx="10515600" cy="2483488"/>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a:extLst>
              <a:ext uri="{FF2B5EF4-FFF2-40B4-BE49-F238E27FC236}">
                <a16:creationId xmlns:a16="http://schemas.microsoft.com/office/drawing/2014/main" id="{301F80F6-1855-44E9-BA95-5E00A06E786D}"/>
              </a:ext>
            </a:extLst>
          </p:cNvPr>
          <p:cNvSpPr>
            <a:spLocks noGrp="1"/>
          </p:cNvSpPr>
          <p:nvPr>
            <p:ph type="dt" sz="half" idx="10"/>
          </p:nvPr>
        </p:nvSpPr>
        <p:spPr/>
        <p:txBody>
          <a:bodyPr/>
          <a:lstStyle/>
          <a:p>
            <a:fld id="{F19A473A-771E-384C-8A02-D68DAB283049}" type="datetimeFigureOut">
              <a:rPr lang="en-US" smtClean="0"/>
              <a:t>8/8/25</a:t>
            </a:fld>
            <a:endParaRPr lang="en-US"/>
          </a:p>
        </p:txBody>
      </p:sp>
      <p:sp>
        <p:nvSpPr>
          <p:cNvPr id="5" name="Footer Placeholder 4">
            <a:extLst>
              <a:ext uri="{FF2B5EF4-FFF2-40B4-BE49-F238E27FC236}">
                <a16:creationId xmlns:a16="http://schemas.microsoft.com/office/drawing/2014/main" id="{873D7FFD-570A-4968-B943-AF87BB679D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CCE6A8-0665-4714-B241-6AFBA8C6F807}"/>
              </a:ext>
            </a:extLst>
          </p:cNvPr>
          <p:cNvSpPr>
            <a:spLocks noGrp="1"/>
          </p:cNvSpPr>
          <p:nvPr>
            <p:ph type="sldNum" sz="quarter" idx="12"/>
          </p:nvPr>
        </p:nvSpPr>
        <p:spPr/>
        <p:txBody>
          <a:bodyPr/>
          <a:lstStyle/>
          <a:p>
            <a:fld id="{D9028318-F1B7-5B40-863D-7B95E4289F52}" type="slidenum">
              <a:rPr lang="en-US" smtClean="0"/>
              <a:t>‹#›</a:t>
            </a:fld>
            <a:endParaRPr lang="en-US"/>
          </a:p>
        </p:txBody>
      </p:sp>
    </p:spTree>
    <p:extLst>
      <p:ext uri="{BB962C8B-B14F-4D97-AF65-F5344CB8AC3E}">
        <p14:creationId xmlns:p14="http://schemas.microsoft.com/office/powerpoint/2010/main" val="4082564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2A8A8-ECDA-4018-ABB4-CC22892BE88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B90AE7C-51AF-4F0E-B5A3-8C7E1026C27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D5F28C09-A717-49AB-B60E-433BC469258F}"/>
              </a:ext>
            </a:extLst>
          </p:cNvPr>
          <p:cNvSpPr>
            <a:spLocks noGrp="1"/>
          </p:cNvSpPr>
          <p:nvPr>
            <p:ph type="dt" sz="half" idx="10"/>
          </p:nvPr>
        </p:nvSpPr>
        <p:spPr/>
        <p:txBody>
          <a:bodyPr/>
          <a:lstStyle/>
          <a:p>
            <a:fld id="{F19A473A-771E-384C-8A02-D68DAB283049}" type="datetimeFigureOut">
              <a:rPr lang="en-US" smtClean="0"/>
              <a:t>8/8/25</a:t>
            </a:fld>
            <a:endParaRPr lang="en-US"/>
          </a:p>
        </p:txBody>
      </p:sp>
      <p:sp>
        <p:nvSpPr>
          <p:cNvPr id="5" name="Footer Placeholder 4">
            <a:extLst>
              <a:ext uri="{FF2B5EF4-FFF2-40B4-BE49-F238E27FC236}">
                <a16:creationId xmlns:a16="http://schemas.microsoft.com/office/drawing/2014/main" id="{1D11A47A-6E5A-4754-8B43-9CE556160B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ACA1EB-7AC7-4F86-90C0-AA980D887225}"/>
              </a:ext>
            </a:extLst>
          </p:cNvPr>
          <p:cNvSpPr>
            <a:spLocks noGrp="1"/>
          </p:cNvSpPr>
          <p:nvPr>
            <p:ph type="sldNum" sz="quarter" idx="12"/>
          </p:nvPr>
        </p:nvSpPr>
        <p:spPr/>
        <p:txBody>
          <a:bodyPr/>
          <a:lstStyle/>
          <a:p>
            <a:fld id="{D9028318-F1B7-5B40-863D-7B95E4289F52}" type="slidenum">
              <a:rPr lang="en-US" smtClean="0"/>
              <a:t>‹#›</a:t>
            </a:fld>
            <a:endParaRPr lang="en-US"/>
          </a:p>
        </p:txBody>
      </p:sp>
    </p:spTree>
    <p:extLst>
      <p:ext uri="{BB962C8B-B14F-4D97-AF65-F5344CB8AC3E}">
        <p14:creationId xmlns:p14="http://schemas.microsoft.com/office/powerpoint/2010/main" val="187108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95957-C46F-4F17-BC8C-6507E676E916}"/>
              </a:ext>
            </a:extLst>
          </p:cNvPr>
          <p:cNvSpPr>
            <a:spLocks noGrp="1"/>
          </p:cNvSpPr>
          <p:nvPr>
            <p:ph type="title"/>
          </p:nvPr>
        </p:nvSpPr>
        <p:spPr>
          <a:xfrm>
            <a:off x="831850" y="365760"/>
            <a:ext cx="10515600" cy="3827868"/>
          </a:xfrm>
        </p:spPr>
        <p:txBody>
          <a:bodyPr anchor="b"/>
          <a:lstStyle>
            <a:lvl1pPr>
              <a:defRPr sz="6000"/>
            </a:lvl1p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98D9661B-6633-4C8B-8B9C-E514DF851D3E}"/>
              </a:ext>
            </a:extLst>
          </p:cNvPr>
          <p:cNvSpPr>
            <a:spLocks noGrp="1"/>
          </p:cNvSpPr>
          <p:nvPr>
            <p:ph type="body" idx="1"/>
          </p:nvPr>
        </p:nvSpPr>
        <p:spPr>
          <a:xfrm>
            <a:off x="831850" y="4443817"/>
            <a:ext cx="10515600" cy="1645834"/>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B6274BF-C1CD-4709-B0A0-E9407DBEA73C}"/>
              </a:ext>
            </a:extLst>
          </p:cNvPr>
          <p:cNvSpPr>
            <a:spLocks noGrp="1"/>
          </p:cNvSpPr>
          <p:nvPr>
            <p:ph type="dt" sz="half" idx="10"/>
          </p:nvPr>
        </p:nvSpPr>
        <p:spPr/>
        <p:txBody>
          <a:bodyPr/>
          <a:lstStyle/>
          <a:p>
            <a:fld id="{F19A473A-771E-384C-8A02-D68DAB283049}" type="datetimeFigureOut">
              <a:rPr lang="en-US" smtClean="0"/>
              <a:t>8/8/25</a:t>
            </a:fld>
            <a:endParaRPr lang="en-US"/>
          </a:p>
        </p:txBody>
      </p:sp>
      <p:sp>
        <p:nvSpPr>
          <p:cNvPr id="5" name="Footer Placeholder 4">
            <a:extLst>
              <a:ext uri="{FF2B5EF4-FFF2-40B4-BE49-F238E27FC236}">
                <a16:creationId xmlns:a16="http://schemas.microsoft.com/office/drawing/2014/main" id="{CC9ADB94-0A5B-4B56-B0B1-1FF5580A47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CA668A-35AE-4CDF-AC4C-2BEEA9EE80F8}"/>
              </a:ext>
            </a:extLst>
          </p:cNvPr>
          <p:cNvSpPr>
            <a:spLocks noGrp="1"/>
          </p:cNvSpPr>
          <p:nvPr>
            <p:ph type="sldNum" sz="quarter" idx="12"/>
          </p:nvPr>
        </p:nvSpPr>
        <p:spPr/>
        <p:txBody>
          <a:bodyPr/>
          <a:lstStyle/>
          <a:p>
            <a:fld id="{D9028318-F1B7-5B40-863D-7B95E4289F52}" type="slidenum">
              <a:rPr lang="en-US" smtClean="0"/>
              <a:t>‹#›</a:t>
            </a:fld>
            <a:endParaRPr lang="en-US"/>
          </a:p>
        </p:txBody>
      </p:sp>
    </p:spTree>
    <p:extLst>
      <p:ext uri="{BB962C8B-B14F-4D97-AF65-F5344CB8AC3E}">
        <p14:creationId xmlns:p14="http://schemas.microsoft.com/office/powerpoint/2010/main" val="983347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7F1FD-0E96-4963-9F09-92861572BBD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979E5F0-B650-4AFF-B90E-23B378684D66}"/>
              </a:ext>
            </a:extLst>
          </p:cNvPr>
          <p:cNvSpPr>
            <a:spLocks noGrp="1"/>
          </p:cNvSpPr>
          <p:nvPr>
            <p:ph sz="half" idx="1"/>
          </p:nvPr>
        </p:nvSpPr>
        <p:spPr>
          <a:xfrm>
            <a:off x="838200" y="1940876"/>
            <a:ext cx="5181600" cy="423608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a:extLst>
              <a:ext uri="{FF2B5EF4-FFF2-40B4-BE49-F238E27FC236}">
                <a16:creationId xmlns:a16="http://schemas.microsoft.com/office/drawing/2014/main" id="{82D1747B-302D-476E-8F4F-E4B114C6624E}"/>
              </a:ext>
            </a:extLst>
          </p:cNvPr>
          <p:cNvSpPr>
            <a:spLocks noGrp="1"/>
          </p:cNvSpPr>
          <p:nvPr>
            <p:ph sz="half" idx="2"/>
          </p:nvPr>
        </p:nvSpPr>
        <p:spPr>
          <a:xfrm>
            <a:off x="6172200" y="1940876"/>
            <a:ext cx="5181600" cy="423608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740577D-22F7-4958-BB3D-6C9265EA1964}"/>
              </a:ext>
            </a:extLst>
          </p:cNvPr>
          <p:cNvSpPr>
            <a:spLocks noGrp="1"/>
          </p:cNvSpPr>
          <p:nvPr>
            <p:ph type="dt" sz="half" idx="10"/>
          </p:nvPr>
        </p:nvSpPr>
        <p:spPr/>
        <p:txBody>
          <a:bodyPr/>
          <a:lstStyle/>
          <a:p>
            <a:fld id="{F19A473A-771E-384C-8A02-D68DAB283049}" type="datetimeFigureOut">
              <a:rPr lang="en-US" smtClean="0"/>
              <a:t>8/8/25</a:t>
            </a:fld>
            <a:endParaRPr lang="en-US"/>
          </a:p>
        </p:txBody>
      </p:sp>
      <p:sp>
        <p:nvSpPr>
          <p:cNvPr id="6" name="Footer Placeholder 5">
            <a:extLst>
              <a:ext uri="{FF2B5EF4-FFF2-40B4-BE49-F238E27FC236}">
                <a16:creationId xmlns:a16="http://schemas.microsoft.com/office/drawing/2014/main" id="{71EC5B46-A8FB-4683-9618-3F6E073839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7887BD-93E9-4181-9D7F-940C3E1730FF}"/>
              </a:ext>
            </a:extLst>
          </p:cNvPr>
          <p:cNvSpPr>
            <a:spLocks noGrp="1"/>
          </p:cNvSpPr>
          <p:nvPr>
            <p:ph type="sldNum" sz="quarter" idx="12"/>
          </p:nvPr>
        </p:nvSpPr>
        <p:spPr/>
        <p:txBody>
          <a:bodyPr/>
          <a:lstStyle/>
          <a:p>
            <a:fld id="{D9028318-F1B7-5B40-863D-7B95E4289F52}" type="slidenum">
              <a:rPr lang="en-US" smtClean="0"/>
              <a:t>‹#›</a:t>
            </a:fld>
            <a:endParaRPr lang="en-US"/>
          </a:p>
        </p:txBody>
      </p:sp>
    </p:spTree>
    <p:extLst>
      <p:ext uri="{BB962C8B-B14F-4D97-AF65-F5344CB8AC3E}">
        <p14:creationId xmlns:p14="http://schemas.microsoft.com/office/powerpoint/2010/main" val="4036541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63D79-FA27-4567-9032-AF722733E10C}"/>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77C1BF-703F-4992-BB0C-EB1E579C7410}"/>
              </a:ext>
            </a:extLst>
          </p:cNvPr>
          <p:cNvSpPr>
            <a:spLocks noGrp="1"/>
          </p:cNvSpPr>
          <p:nvPr>
            <p:ph type="body" idx="1"/>
          </p:nvPr>
        </p:nvSpPr>
        <p:spPr>
          <a:xfrm>
            <a:off x="839788" y="1951823"/>
            <a:ext cx="5157787" cy="823912"/>
          </a:xfrm>
        </p:spPr>
        <p:txBody>
          <a:bodyPr anchor="b"/>
          <a:lstStyle>
            <a:lvl1pPr marL="0" indent="0">
              <a:buNone/>
              <a:defRPr lang="en-US" sz="2400" b="0" i="1" kern="120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2B2FCE1-6DC0-43B5-8016-89FD4AF5ABD2}"/>
              </a:ext>
            </a:extLst>
          </p:cNvPr>
          <p:cNvSpPr>
            <a:spLocks noGrp="1"/>
          </p:cNvSpPr>
          <p:nvPr>
            <p:ph sz="half" idx="2"/>
          </p:nvPr>
        </p:nvSpPr>
        <p:spPr>
          <a:xfrm>
            <a:off x="839788" y="2954741"/>
            <a:ext cx="5157787" cy="323492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a:extLst>
              <a:ext uri="{FF2B5EF4-FFF2-40B4-BE49-F238E27FC236}">
                <a16:creationId xmlns:a16="http://schemas.microsoft.com/office/drawing/2014/main" id="{162FED7A-67D0-43CC-889A-25F8849647F1}"/>
              </a:ext>
            </a:extLst>
          </p:cNvPr>
          <p:cNvSpPr>
            <a:spLocks noGrp="1"/>
          </p:cNvSpPr>
          <p:nvPr>
            <p:ph type="body" sz="quarter" idx="3"/>
          </p:nvPr>
        </p:nvSpPr>
        <p:spPr>
          <a:xfrm>
            <a:off x="6172200" y="1951823"/>
            <a:ext cx="5183188" cy="823912"/>
          </a:xfrm>
        </p:spPr>
        <p:txBody>
          <a:bodyPr anchor="b"/>
          <a:lstStyle>
            <a:lvl1pPr marL="0" indent="0">
              <a:buNone/>
              <a:defRPr lang="en-US" sz="2400" b="0" i="1" kern="120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731C176-48F2-44EC-B3A2-A144403D57FB}"/>
              </a:ext>
            </a:extLst>
          </p:cNvPr>
          <p:cNvSpPr>
            <a:spLocks noGrp="1"/>
          </p:cNvSpPr>
          <p:nvPr>
            <p:ph sz="quarter" idx="4"/>
          </p:nvPr>
        </p:nvSpPr>
        <p:spPr>
          <a:xfrm>
            <a:off x="6172200" y="2954741"/>
            <a:ext cx="5183188" cy="323492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B9187B8-AC48-4FE7-8658-8A31E37311F6}"/>
              </a:ext>
            </a:extLst>
          </p:cNvPr>
          <p:cNvSpPr>
            <a:spLocks noGrp="1"/>
          </p:cNvSpPr>
          <p:nvPr>
            <p:ph type="dt" sz="half" idx="10"/>
          </p:nvPr>
        </p:nvSpPr>
        <p:spPr/>
        <p:txBody>
          <a:bodyPr/>
          <a:lstStyle/>
          <a:p>
            <a:fld id="{F19A473A-771E-384C-8A02-D68DAB283049}" type="datetimeFigureOut">
              <a:rPr lang="en-US" smtClean="0"/>
              <a:t>8/8/25</a:t>
            </a:fld>
            <a:endParaRPr lang="en-US"/>
          </a:p>
        </p:txBody>
      </p:sp>
      <p:sp>
        <p:nvSpPr>
          <p:cNvPr id="8" name="Footer Placeholder 7">
            <a:extLst>
              <a:ext uri="{FF2B5EF4-FFF2-40B4-BE49-F238E27FC236}">
                <a16:creationId xmlns:a16="http://schemas.microsoft.com/office/drawing/2014/main" id="{7CCAB465-E22E-45DC-89C9-406121BCED6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2F9D1CF-F964-4405-8677-5F9E2A028785}"/>
              </a:ext>
            </a:extLst>
          </p:cNvPr>
          <p:cNvSpPr>
            <a:spLocks noGrp="1"/>
          </p:cNvSpPr>
          <p:nvPr>
            <p:ph type="sldNum" sz="quarter" idx="12"/>
          </p:nvPr>
        </p:nvSpPr>
        <p:spPr/>
        <p:txBody>
          <a:bodyPr/>
          <a:lstStyle/>
          <a:p>
            <a:fld id="{D9028318-F1B7-5B40-863D-7B95E4289F52}" type="slidenum">
              <a:rPr lang="en-US" smtClean="0"/>
              <a:t>‹#›</a:t>
            </a:fld>
            <a:endParaRPr lang="en-US"/>
          </a:p>
        </p:txBody>
      </p:sp>
    </p:spTree>
    <p:extLst>
      <p:ext uri="{BB962C8B-B14F-4D97-AF65-F5344CB8AC3E}">
        <p14:creationId xmlns:p14="http://schemas.microsoft.com/office/powerpoint/2010/main" val="846796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A3453-DD0F-41C0-8F4A-5DC343F5EB1B}"/>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904E6313-506F-4456-B3D9-D9655538F9FB}"/>
              </a:ext>
            </a:extLst>
          </p:cNvPr>
          <p:cNvSpPr>
            <a:spLocks noGrp="1"/>
          </p:cNvSpPr>
          <p:nvPr>
            <p:ph type="dt" sz="half" idx="10"/>
          </p:nvPr>
        </p:nvSpPr>
        <p:spPr/>
        <p:txBody>
          <a:bodyPr/>
          <a:lstStyle/>
          <a:p>
            <a:fld id="{F19A473A-771E-384C-8A02-D68DAB283049}" type="datetimeFigureOut">
              <a:rPr lang="en-US" smtClean="0"/>
              <a:t>8/8/25</a:t>
            </a:fld>
            <a:endParaRPr lang="en-US"/>
          </a:p>
        </p:txBody>
      </p:sp>
      <p:sp>
        <p:nvSpPr>
          <p:cNvPr id="4" name="Footer Placeholder 3">
            <a:extLst>
              <a:ext uri="{FF2B5EF4-FFF2-40B4-BE49-F238E27FC236}">
                <a16:creationId xmlns:a16="http://schemas.microsoft.com/office/drawing/2014/main" id="{E8F26068-7707-41EC-93EF-A24CAF8FFD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9C8A3C-8C01-4039-B47B-57D8497587A5}"/>
              </a:ext>
            </a:extLst>
          </p:cNvPr>
          <p:cNvSpPr>
            <a:spLocks noGrp="1"/>
          </p:cNvSpPr>
          <p:nvPr>
            <p:ph type="sldNum" sz="quarter" idx="12"/>
          </p:nvPr>
        </p:nvSpPr>
        <p:spPr/>
        <p:txBody>
          <a:bodyPr/>
          <a:lstStyle/>
          <a:p>
            <a:fld id="{D9028318-F1B7-5B40-863D-7B95E4289F52}" type="slidenum">
              <a:rPr lang="en-US" smtClean="0"/>
              <a:t>‹#›</a:t>
            </a:fld>
            <a:endParaRPr lang="en-US"/>
          </a:p>
        </p:txBody>
      </p:sp>
    </p:spTree>
    <p:extLst>
      <p:ext uri="{BB962C8B-B14F-4D97-AF65-F5344CB8AC3E}">
        <p14:creationId xmlns:p14="http://schemas.microsoft.com/office/powerpoint/2010/main" val="2821092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892633-8C77-419D-B24D-2B3D44DBA556}"/>
              </a:ext>
            </a:extLst>
          </p:cNvPr>
          <p:cNvSpPr>
            <a:spLocks noGrp="1"/>
          </p:cNvSpPr>
          <p:nvPr>
            <p:ph type="dt" sz="half" idx="10"/>
          </p:nvPr>
        </p:nvSpPr>
        <p:spPr/>
        <p:txBody>
          <a:bodyPr/>
          <a:lstStyle/>
          <a:p>
            <a:fld id="{F19A473A-771E-384C-8A02-D68DAB283049}" type="datetimeFigureOut">
              <a:rPr lang="en-US" smtClean="0"/>
              <a:t>8/8/25</a:t>
            </a:fld>
            <a:endParaRPr lang="en-US"/>
          </a:p>
        </p:txBody>
      </p:sp>
      <p:sp>
        <p:nvSpPr>
          <p:cNvPr id="3" name="Footer Placeholder 2">
            <a:extLst>
              <a:ext uri="{FF2B5EF4-FFF2-40B4-BE49-F238E27FC236}">
                <a16:creationId xmlns:a16="http://schemas.microsoft.com/office/drawing/2014/main" id="{FD149D59-0A88-4A14-A740-4CCD9B5264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A3DEF9-802F-444E-92D2-397862EEAB07}"/>
              </a:ext>
            </a:extLst>
          </p:cNvPr>
          <p:cNvSpPr>
            <a:spLocks noGrp="1"/>
          </p:cNvSpPr>
          <p:nvPr>
            <p:ph type="sldNum" sz="quarter" idx="12"/>
          </p:nvPr>
        </p:nvSpPr>
        <p:spPr/>
        <p:txBody>
          <a:bodyPr/>
          <a:lstStyle/>
          <a:p>
            <a:fld id="{D9028318-F1B7-5B40-863D-7B95E4289F52}" type="slidenum">
              <a:rPr lang="en-US" smtClean="0"/>
              <a:t>‹#›</a:t>
            </a:fld>
            <a:endParaRPr lang="en-US"/>
          </a:p>
        </p:txBody>
      </p:sp>
    </p:spTree>
    <p:extLst>
      <p:ext uri="{BB962C8B-B14F-4D97-AF65-F5344CB8AC3E}">
        <p14:creationId xmlns:p14="http://schemas.microsoft.com/office/powerpoint/2010/main" val="2459904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23C20-3881-4F15-94F7-9D7B9F9E357A}"/>
              </a:ext>
            </a:extLst>
          </p:cNvPr>
          <p:cNvSpPr>
            <a:spLocks noGrp="1"/>
          </p:cNvSpPr>
          <p:nvPr>
            <p:ph type="title"/>
          </p:nvPr>
        </p:nvSpPr>
        <p:spPr>
          <a:xfrm>
            <a:off x="839788" y="457200"/>
            <a:ext cx="4343400" cy="2971800"/>
          </a:xfrm>
        </p:spPr>
        <p:txBody>
          <a:bodyPr anchor="b">
            <a:noAutofit/>
          </a:bodyPr>
          <a:lstStyle>
            <a:lvl1pPr algn="l" defTabSz="914400" rtl="0" eaLnBrk="1" latinLnBrk="0" hangingPunct="1">
              <a:lnSpc>
                <a:spcPct val="100000"/>
              </a:lnSpc>
              <a:spcBef>
                <a:spcPct val="0"/>
              </a:spcBef>
              <a:buNone/>
              <a:defRPr lang="en-US" sz="5400" kern="1200" dirty="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B268F40F-6C2A-48EC-8F16-DA179A1DA375}"/>
              </a:ext>
            </a:extLst>
          </p:cNvPr>
          <p:cNvSpPr>
            <a:spLocks noGrp="1"/>
          </p:cNvSpPr>
          <p:nvPr>
            <p:ph idx="1"/>
          </p:nvPr>
        </p:nvSpPr>
        <p:spPr>
          <a:xfrm>
            <a:off x="5554638" y="457201"/>
            <a:ext cx="5800749" cy="5403850"/>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a:extLst>
              <a:ext uri="{FF2B5EF4-FFF2-40B4-BE49-F238E27FC236}">
                <a16:creationId xmlns:a16="http://schemas.microsoft.com/office/drawing/2014/main" id="{56736B7E-D33D-48C7-97AC-5C0D9874FE53}"/>
              </a:ext>
            </a:extLst>
          </p:cNvPr>
          <p:cNvSpPr>
            <a:spLocks noGrp="1"/>
          </p:cNvSpPr>
          <p:nvPr>
            <p:ph type="body" sz="half" idx="2"/>
          </p:nvPr>
        </p:nvSpPr>
        <p:spPr>
          <a:xfrm>
            <a:off x="839788" y="3657600"/>
            <a:ext cx="4343400" cy="2211387"/>
          </a:xfrm>
        </p:spPr>
        <p:txBody>
          <a:bodyPr>
            <a:normAutofit/>
          </a:bodyPr>
          <a:lstStyle>
            <a:lvl1pPr marL="0" indent="0">
              <a:buNone/>
              <a:defRPr lang="en-US" sz="2400" i="1" kern="1200" dirty="0" smtClean="0">
                <a:solidFill>
                  <a:schemeClr val="tx2"/>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10000"/>
              </a:lnSpc>
              <a:spcBef>
                <a:spcPts val="1000"/>
              </a:spcBef>
              <a:buFont typeface="Arial" panose="020B0604020202020204" pitchFamily="34" charset="0"/>
              <a:buNone/>
            </a:pPr>
            <a:r>
              <a:rPr lang="en-GB"/>
              <a:t>Click to edit Master text styles</a:t>
            </a:r>
          </a:p>
        </p:txBody>
      </p:sp>
      <p:sp>
        <p:nvSpPr>
          <p:cNvPr id="5" name="Date Placeholder 4">
            <a:extLst>
              <a:ext uri="{FF2B5EF4-FFF2-40B4-BE49-F238E27FC236}">
                <a16:creationId xmlns:a16="http://schemas.microsoft.com/office/drawing/2014/main" id="{E9149BC5-FF58-463A-B4FA-F0F912F1234F}"/>
              </a:ext>
            </a:extLst>
          </p:cNvPr>
          <p:cNvSpPr>
            <a:spLocks noGrp="1"/>
          </p:cNvSpPr>
          <p:nvPr>
            <p:ph type="dt" sz="half" idx="10"/>
          </p:nvPr>
        </p:nvSpPr>
        <p:spPr/>
        <p:txBody>
          <a:bodyPr/>
          <a:lstStyle/>
          <a:p>
            <a:fld id="{F19A473A-771E-384C-8A02-D68DAB283049}" type="datetimeFigureOut">
              <a:rPr lang="en-US" smtClean="0"/>
              <a:t>8/8/25</a:t>
            </a:fld>
            <a:endParaRPr lang="en-US"/>
          </a:p>
        </p:txBody>
      </p:sp>
      <p:sp>
        <p:nvSpPr>
          <p:cNvPr id="6" name="Footer Placeholder 5">
            <a:extLst>
              <a:ext uri="{FF2B5EF4-FFF2-40B4-BE49-F238E27FC236}">
                <a16:creationId xmlns:a16="http://schemas.microsoft.com/office/drawing/2014/main" id="{947072D7-4A2A-407F-A084-6AE8DD0016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D4C41C-C368-475C-BDC1-DC5B29C78005}"/>
              </a:ext>
            </a:extLst>
          </p:cNvPr>
          <p:cNvSpPr>
            <a:spLocks noGrp="1"/>
          </p:cNvSpPr>
          <p:nvPr>
            <p:ph type="sldNum" sz="quarter" idx="12"/>
          </p:nvPr>
        </p:nvSpPr>
        <p:spPr/>
        <p:txBody>
          <a:bodyPr/>
          <a:lstStyle/>
          <a:p>
            <a:fld id="{D9028318-F1B7-5B40-863D-7B95E4289F52}" type="slidenum">
              <a:rPr lang="en-US" smtClean="0"/>
              <a:t>‹#›</a:t>
            </a:fld>
            <a:endParaRPr lang="en-US"/>
          </a:p>
        </p:txBody>
      </p:sp>
    </p:spTree>
    <p:extLst>
      <p:ext uri="{BB962C8B-B14F-4D97-AF65-F5344CB8AC3E}">
        <p14:creationId xmlns:p14="http://schemas.microsoft.com/office/powerpoint/2010/main" val="1792802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F67B0-865B-44ED-9DFE-36C73B0C8B43}"/>
              </a:ext>
            </a:extLst>
          </p:cNvPr>
          <p:cNvSpPr>
            <a:spLocks noGrp="1"/>
          </p:cNvSpPr>
          <p:nvPr>
            <p:ph type="title"/>
          </p:nvPr>
        </p:nvSpPr>
        <p:spPr>
          <a:xfrm>
            <a:off x="839788" y="457200"/>
            <a:ext cx="4343400" cy="2971800"/>
          </a:xfrm>
        </p:spPr>
        <p:txBody>
          <a:bodyPr anchor="b">
            <a:noAutofit/>
          </a:bodyPr>
          <a:lstStyle>
            <a:lvl1pPr algn="l" defTabSz="914400" rtl="0" eaLnBrk="1" latinLnBrk="0" hangingPunct="1">
              <a:lnSpc>
                <a:spcPct val="100000"/>
              </a:lnSpc>
              <a:spcBef>
                <a:spcPct val="0"/>
              </a:spcBef>
              <a:buNone/>
              <a:defRPr lang="en-US" sz="5400" kern="1200" dirty="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defRPr>
            </a:lvl1pPr>
          </a:lstStyle>
          <a:p>
            <a:r>
              <a:rPr lang="en-GB"/>
              <a:t>Click to edit Master title style</a:t>
            </a:r>
            <a:endParaRPr lang="en-US" dirty="0"/>
          </a:p>
        </p:txBody>
      </p:sp>
      <p:sp>
        <p:nvSpPr>
          <p:cNvPr id="3" name="Picture Placeholder 2">
            <a:extLst>
              <a:ext uri="{FF2B5EF4-FFF2-40B4-BE49-F238E27FC236}">
                <a16:creationId xmlns:a16="http://schemas.microsoft.com/office/drawing/2014/main" id="{B73C5CF7-138A-437C-9E0A-FF4179970319}"/>
              </a:ext>
            </a:extLst>
          </p:cNvPr>
          <p:cNvSpPr>
            <a:spLocks noGrp="1"/>
          </p:cNvSpPr>
          <p:nvPr>
            <p:ph type="pic" idx="1"/>
          </p:nvPr>
        </p:nvSpPr>
        <p:spPr>
          <a:xfrm>
            <a:off x="5561462" y="457201"/>
            <a:ext cx="5793925"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a:extLst>
              <a:ext uri="{FF2B5EF4-FFF2-40B4-BE49-F238E27FC236}">
                <a16:creationId xmlns:a16="http://schemas.microsoft.com/office/drawing/2014/main" id="{95117822-7770-4117-96A2-8D2FF0A01044}"/>
              </a:ext>
            </a:extLst>
          </p:cNvPr>
          <p:cNvSpPr>
            <a:spLocks noGrp="1"/>
          </p:cNvSpPr>
          <p:nvPr>
            <p:ph type="body" sz="half" idx="2"/>
          </p:nvPr>
        </p:nvSpPr>
        <p:spPr>
          <a:xfrm>
            <a:off x="839788" y="3664424"/>
            <a:ext cx="4343400" cy="2204564"/>
          </a:xfrm>
        </p:spPr>
        <p:txBody>
          <a:bodyPr>
            <a:normAutofit/>
          </a:bodyPr>
          <a:lstStyle>
            <a:lvl1pPr marL="0" indent="0">
              <a:buNone/>
              <a:defRPr lang="en-US" sz="2400" i="1" kern="1200" dirty="0" smtClean="0">
                <a:solidFill>
                  <a:schemeClr val="tx2"/>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10000"/>
              </a:lnSpc>
              <a:spcBef>
                <a:spcPts val="1000"/>
              </a:spcBef>
              <a:buFont typeface="Arial" panose="020B0604020202020204" pitchFamily="34" charset="0"/>
              <a:buNone/>
            </a:pPr>
            <a:r>
              <a:rPr lang="en-GB"/>
              <a:t>Click to edit Master text styles</a:t>
            </a:r>
          </a:p>
        </p:txBody>
      </p:sp>
      <p:sp>
        <p:nvSpPr>
          <p:cNvPr id="5" name="Date Placeholder 4">
            <a:extLst>
              <a:ext uri="{FF2B5EF4-FFF2-40B4-BE49-F238E27FC236}">
                <a16:creationId xmlns:a16="http://schemas.microsoft.com/office/drawing/2014/main" id="{11295030-39C7-4814-A766-1A3E094EBA15}"/>
              </a:ext>
            </a:extLst>
          </p:cNvPr>
          <p:cNvSpPr>
            <a:spLocks noGrp="1"/>
          </p:cNvSpPr>
          <p:nvPr>
            <p:ph type="dt" sz="half" idx="10"/>
          </p:nvPr>
        </p:nvSpPr>
        <p:spPr/>
        <p:txBody>
          <a:bodyPr/>
          <a:lstStyle/>
          <a:p>
            <a:fld id="{F19A473A-771E-384C-8A02-D68DAB283049}" type="datetimeFigureOut">
              <a:rPr lang="en-US" smtClean="0"/>
              <a:t>8/8/25</a:t>
            </a:fld>
            <a:endParaRPr lang="en-US"/>
          </a:p>
        </p:txBody>
      </p:sp>
      <p:sp>
        <p:nvSpPr>
          <p:cNvPr id="6" name="Footer Placeholder 5">
            <a:extLst>
              <a:ext uri="{FF2B5EF4-FFF2-40B4-BE49-F238E27FC236}">
                <a16:creationId xmlns:a16="http://schemas.microsoft.com/office/drawing/2014/main" id="{B91F02CD-DC87-47B6-96C4-F6470B1D8F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CFF531-02C2-4C1D-A692-7040378066C7}"/>
              </a:ext>
            </a:extLst>
          </p:cNvPr>
          <p:cNvSpPr>
            <a:spLocks noGrp="1"/>
          </p:cNvSpPr>
          <p:nvPr>
            <p:ph type="sldNum" sz="quarter" idx="12"/>
          </p:nvPr>
        </p:nvSpPr>
        <p:spPr/>
        <p:txBody>
          <a:bodyPr/>
          <a:lstStyle/>
          <a:p>
            <a:fld id="{D9028318-F1B7-5B40-863D-7B95E4289F52}" type="slidenum">
              <a:rPr lang="en-US" smtClean="0"/>
              <a:t>‹#›</a:t>
            </a:fld>
            <a:endParaRPr lang="en-US"/>
          </a:p>
        </p:txBody>
      </p:sp>
    </p:spTree>
    <p:extLst>
      <p:ext uri="{BB962C8B-B14F-4D97-AF65-F5344CB8AC3E}">
        <p14:creationId xmlns:p14="http://schemas.microsoft.com/office/powerpoint/2010/main" val="13784736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926EC-DC54-4882-9D58-F201EA25C4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5804E7C-4CBA-49AF-B24C-1A1FF51C21B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1D3C727-C0C7-4BBA-9CF5-6C1FAC76B10C}"/>
              </a:ext>
            </a:extLst>
          </p:cNvPr>
          <p:cNvSpPr>
            <a:spLocks noGrp="1"/>
          </p:cNvSpPr>
          <p:nvPr>
            <p:ph type="dt" sz="half" idx="10"/>
          </p:nvPr>
        </p:nvSpPr>
        <p:spPr/>
        <p:txBody>
          <a:bodyPr/>
          <a:lstStyle/>
          <a:p>
            <a:fld id="{F19A473A-771E-384C-8A02-D68DAB283049}" type="datetimeFigureOut">
              <a:rPr lang="en-US" smtClean="0"/>
              <a:t>8/8/25</a:t>
            </a:fld>
            <a:endParaRPr lang="en-US"/>
          </a:p>
        </p:txBody>
      </p:sp>
      <p:sp>
        <p:nvSpPr>
          <p:cNvPr id="5" name="Footer Placeholder 4">
            <a:extLst>
              <a:ext uri="{FF2B5EF4-FFF2-40B4-BE49-F238E27FC236}">
                <a16:creationId xmlns:a16="http://schemas.microsoft.com/office/drawing/2014/main" id="{34603986-C5B4-4956-AC6F-4F36186B8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45F941-E847-4C51-97D6-21066B26EB26}"/>
              </a:ext>
            </a:extLst>
          </p:cNvPr>
          <p:cNvSpPr>
            <a:spLocks noGrp="1"/>
          </p:cNvSpPr>
          <p:nvPr>
            <p:ph type="sldNum" sz="quarter" idx="12"/>
          </p:nvPr>
        </p:nvSpPr>
        <p:spPr/>
        <p:txBody>
          <a:bodyPr/>
          <a:lstStyle/>
          <a:p>
            <a:fld id="{D9028318-F1B7-5B40-863D-7B95E4289F52}" type="slidenum">
              <a:rPr lang="en-US" smtClean="0"/>
              <a:t>‹#›</a:t>
            </a:fld>
            <a:endParaRPr lang="en-US"/>
          </a:p>
        </p:txBody>
      </p:sp>
    </p:spTree>
    <p:extLst>
      <p:ext uri="{BB962C8B-B14F-4D97-AF65-F5344CB8AC3E}">
        <p14:creationId xmlns:p14="http://schemas.microsoft.com/office/powerpoint/2010/main" val="2102320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0338D2-D9EE-4B67-97C1-08ABD574530B}"/>
              </a:ext>
            </a:extLst>
          </p:cNvPr>
          <p:cNvSpPr>
            <a:spLocks noGrp="1"/>
          </p:cNvSpPr>
          <p:nvPr>
            <p:ph type="title" orient="vert"/>
          </p:nvPr>
        </p:nvSpPr>
        <p:spPr>
          <a:xfrm>
            <a:off x="7353848" y="365125"/>
            <a:ext cx="3999952" cy="5811838"/>
          </a:xfrm>
        </p:spPr>
        <p:txBody>
          <a:bodyPr vert="eaVert"/>
          <a:lstStyle/>
          <a:p>
            <a:r>
              <a:rPr lang="en-GB"/>
              <a:t>Click to edit Master title style</a:t>
            </a:r>
            <a:endParaRPr lang="en-US" dirty="0"/>
          </a:p>
        </p:txBody>
      </p:sp>
      <p:sp>
        <p:nvSpPr>
          <p:cNvPr id="3" name="Vertical Text Placeholder 2">
            <a:extLst>
              <a:ext uri="{FF2B5EF4-FFF2-40B4-BE49-F238E27FC236}">
                <a16:creationId xmlns:a16="http://schemas.microsoft.com/office/drawing/2014/main" id="{274B1422-6C1E-4422-80E8-34B0092FBF05}"/>
              </a:ext>
            </a:extLst>
          </p:cNvPr>
          <p:cNvSpPr>
            <a:spLocks noGrp="1"/>
          </p:cNvSpPr>
          <p:nvPr>
            <p:ph type="body" orient="vert" idx="1"/>
          </p:nvPr>
        </p:nvSpPr>
        <p:spPr>
          <a:xfrm>
            <a:off x="838200" y="365125"/>
            <a:ext cx="626546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73C8B53C-3084-4BC0-A80E-DB41C04C6258}"/>
              </a:ext>
            </a:extLst>
          </p:cNvPr>
          <p:cNvSpPr>
            <a:spLocks noGrp="1"/>
          </p:cNvSpPr>
          <p:nvPr>
            <p:ph type="dt" sz="half" idx="10"/>
          </p:nvPr>
        </p:nvSpPr>
        <p:spPr/>
        <p:txBody>
          <a:bodyPr/>
          <a:lstStyle/>
          <a:p>
            <a:fld id="{F19A473A-771E-384C-8A02-D68DAB283049}" type="datetimeFigureOut">
              <a:rPr lang="en-US" smtClean="0"/>
              <a:t>8/8/25</a:t>
            </a:fld>
            <a:endParaRPr lang="en-US"/>
          </a:p>
        </p:txBody>
      </p:sp>
      <p:sp>
        <p:nvSpPr>
          <p:cNvPr id="5" name="Footer Placeholder 4">
            <a:extLst>
              <a:ext uri="{FF2B5EF4-FFF2-40B4-BE49-F238E27FC236}">
                <a16:creationId xmlns:a16="http://schemas.microsoft.com/office/drawing/2014/main" id="{8276BFDE-DC70-4A6E-90B8-337FC47254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C3578F-39AE-4F6F-9614-32EF672E616D}"/>
              </a:ext>
            </a:extLst>
          </p:cNvPr>
          <p:cNvSpPr>
            <a:spLocks noGrp="1"/>
          </p:cNvSpPr>
          <p:nvPr>
            <p:ph type="sldNum" sz="quarter" idx="12"/>
          </p:nvPr>
        </p:nvSpPr>
        <p:spPr/>
        <p:txBody>
          <a:bodyPr/>
          <a:lstStyle/>
          <a:p>
            <a:fld id="{D9028318-F1B7-5B40-863D-7B95E4289F52}" type="slidenum">
              <a:rPr lang="en-US" smtClean="0"/>
              <a:t>‹#›</a:t>
            </a:fld>
            <a:endParaRPr lang="en-US"/>
          </a:p>
        </p:txBody>
      </p:sp>
    </p:spTree>
    <p:extLst>
      <p:ext uri="{BB962C8B-B14F-4D97-AF65-F5344CB8AC3E}">
        <p14:creationId xmlns:p14="http://schemas.microsoft.com/office/powerpoint/2010/main" val="30889903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Quote">
    <p:bg>
      <p:bgPr>
        <a:solidFill>
          <a:schemeClr val="accent3"/>
        </a:solidFill>
        <a:effectLst/>
      </p:bgPr>
    </p:bg>
    <p:spTree>
      <p:nvGrpSpPr>
        <p:cNvPr id="1" name=""/>
        <p:cNvGrpSpPr/>
        <p:nvPr/>
      </p:nvGrpSpPr>
      <p:grpSpPr>
        <a:xfrm>
          <a:off x="0" y="0"/>
          <a:ext cx="0" cy="0"/>
          <a:chOff x="0" y="0"/>
          <a:chExt cx="0" cy="0"/>
        </a:xfrm>
      </p:grpSpPr>
      <p:sp>
        <p:nvSpPr>
          <p:cNvPr id="12" name="Google Shape;327;p33">
            <a:extLst>
              <a:ext uri="{FF2B5EF4-FFF2-40B4-BE49-F238E27FC236}">
                <a16:creationId xmlns:a16="http://schemas.microsoft.com/office/drawing/2014/main" id="{EA1EE280-E44E-F71B-ED1B-CA8CEDEE6175}"/>
              </a:ext>
            </a:extLst>
          </p:cNvPr>
          <p:cNvSpPr/>
          <p:nvPr userDrawn="1"/>
        </p:nvSpPr>
        <p:spPr>
          <a:xfrm>
            <a:off x="1087280" y="1161412"/>
            <a:ext cx="10221119" cy="483174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4" name="Google Shape;328;p33">
            <a:extLst>
              <a:ext uri="{FF2B5EF4-FFF2-40B4-BE49-F238E27FC236}">
                <a16:creationId xmlns:a16="http://schemas.microsoft.com/office/drawing/2014/main" id="{332C8624-D848-DF0C-9104-7A2655E4A0FE}"/>
              </a:ext>
            </a:extLst>
          </p:cNvPr>
          <p:cNvSpPr/>
          <p:nvPr userDrawn="1"/>
        </p:nvSpPr>
        <p:spPr>
          <a:xfrm>
            <a:off x="858371" y="800100"/>
            <a:ext cx="10221119" cy="4953001"/>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2862072" y="2322576"/>
            <a:ext cx="6473952" cy="1901952"/>
          </a:xfrm>
        </p:spPr>
        <p:txBody>
          <a:bodyPr anchor="ctr"/>
          <a:lstStyle>
            <a:lvl1pPr algn="l">
              <a:lnSpc>
                <a:spcPct val="90000"/>
              </a:lnSpc>
              <a:defRPr sz="4000"/>
            </a:lvl1pPr>
          </a:lstStyle>
          <a:p>
            <a:r>
              <a:rPr lang="en-US" noProof="0"/>
              <a:t>Click to edit Master title style</a:t>
            </a:r>
          </a:p>
        </p:txBody>
      </p:sp>
      <p:sp>
        <p:nvSpPr>
          <p:cNvPr id="18" name="Text Placeholder 15">
            <a:extLst>
              <a:ext uri="{FF2B5EF4-FFF2-40B4-BE49-F238E27FC236}">
                <a16:creationId xmlns:a16="http://schemas.microsoft.com/office/drawing/2014/main" id="{4817D722-78FF-E98D-229F-DDC8146F5572}"/>
              </a:ext>
            </a:extLst>
          </p:cNvPr>
          <p:cNvSpPr>
            <a:spLocks noGrp="1"/>
          </p:cNvSpPr>
          <p:nvPr>
            <p:ph type="body" sz="quarter" idx="15" hasCustomPrompt="1"/>
          </p:nvPr>
        </p:nvSpPr>
        <p:spPr>
          <a:xfrm>
            <a:off x="1027874" y="809103"/>
            <a:ext cx="1798955" cy="2062163"/>
          </a:xfrm>
        </p:spPr>
        <p:txBody>
          <a:bodyPr anchor="t"/>
          <a:lstStyle>
            <a:lvl1pPr marL="0" indent="0">
              <a:buNone/>
              <a:defRPr sz="25000" b="1">
                <a:solidFill>
                  <a:schemeClr val="tx2"/>
                </a:solidFill>
                <a:latin typeface="+mj-lt"/>
              </a:defRPr>
            </a:lvl1pPr>
          </a:lstStyle>
          <a:p>
            <a:pPr lvl="0"/>
            <a:r>
              <a:rPr lang="en-US" noProof="0"/>
              <a:t>“</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2862072" y="4334256"/>
            <a:ext cx="2340864" cy="585216"/>
          </a:xfrm>
        </p:spPr>
        <p:txBody>
          <a:bodyPr/>
          <a:lstStyle>
            <a:lvl1pPr marL="0" indent="0">
              <a:lnSpc>
                <a:spcPct val="100000"/>
              </a:lnSpc>
              <a:spcBef>
                <a:spcPts val="0"/>
              </a:spcBef>
              <a:buNone/>
              <a:defRPr sz="2000"/>
            </a:lvl1pPr>
          </a:lstStyle>
          <a:p>
            <a:pPr lvl="0"/>
            <a:r>
              <a:rPr lang="en-US" noProof="0"/>
              <a:t>Click to edit Master text styles</a:t>
            </a:r>
          </a:p>
        </p:txBody>
      </p:sp>
      <p:sp>
        <p:nvSpPr>
          <p:cNvPr id="17" name="Text Placeholder 15">
            <a:extLst>
              <a:ext uri="{FF2B5EF4-FFF2-40B4-BE49-F238E27FC236}">
                <a16:creationId xmlns:a16="http://schemas.microsoft.com/office/drawing/2014/main" id="{F9A35D83-86B3-5132-45B2-6382E8F3A4C2}"/>
              </a:ext>
            </a:extLst>
          </p:cNvPr>
          <p:cNvSpPr>
            <a:spLocks noGrp="1"/>
          </p:cNvSpPr>
          <p:nvPr>
            <p:ph type="body" sz="quarter" idx="14" hasCustomPrompt="1"/>
          </p:nvPr>
        </p:nvSpPr>
        <p:spPr>
          <a:xfrm>
            <a:off x="9281160" y="3957272"/>
            <a:ext cx="1798955" cy="2062163"/>
          </a:xfrm>
        </p:spPr>
        <p:txBody>
          <a:bodyPr/>
          <a:lstStyle>
            <a:lvl1pPr marL="0" indent="0">
              <a:buNone/>
              <a:defRPr sz="25000" b="1">
                <a:solidFill>
                  <a:schemeClr val="tx2"/>
                </a:solidFill>
                <a:latin typeface="+mj-lt"/>
              </a:defRPr>
            </a:lvl1pPr>
          </a:lstStyle>
          <a:p>
            <a:pPr lvl="0"/>
            <a:r>
              <a:rPr lang="en-US" noProof="0"/>
              <a:t>”</a:t>
            </a:r>
          </a:p>
        </p:txBody>
      </p:sp>
      <p:sp>
        <p:nvSpPr>
          <p:cNvPr id="7" name="Date Placeholder 6">
            <a:extLst>
              <a:ext uri="{FF2B5EF4-FFF2-40B4-BE49-F238E27FC236}">
                <a16:creationId xmlns:a16="http://schemas.microsoft.com/office/drawing/2014/main" id="{C1F53ABF-1C17-E7D0-EEB7-468CEDF285C7}"/>
              </a:ext>
            </a:extLst>
          </p:cNvPr>
          <p:cNvSpPr>
            <a:spLocks noGrp="1"/>
          </p:cNvSpPr>
          <p:nvPr>
            <p:ph type="dt" sz="half" idx="16"/>
          </p:nvPr>
        </p:nvSpPr>
        <p:spPr/>
        <p:txBody>
          <a:bodyPr/>
          <a:lstStyle/>
          <a:p>
            <a:r>
              <a:rPr lang="en-US" noProof="0"/>
              <a:t>20XX</a:t>
            </a:r>
          </a:p>
        </p:txBody>
      </p:sp>
      <p:sp>
        <p:nvSpPr>
          <p:cNvPr id="8" name="Footer Placeholder 7">
            <a:extLst>
              <a:ext uri="{FF2B5EF4-FFF2-40B4-BE49-F238E27FC236}">
                <a16:creationId xmlns:a16="http://schemas.microsoft.com/office/drawing/2014/main" id="{86A64DF1-77A3-B856-5F46-12724706B8A1}"/>
              </a:ext>
            </a:extLst>
          </p:cNvPr>
          <p:cNvSpPr>
            <a:spLocks noGrp="1"/>
          </p:cNvSpPr>
          <p:nvPr>
            <p:ph type="ftr" sz="quarter" idx="17"/>
          </p:nvPr>
        </p:nvSpPr>
        <p:spPr/>
        <p:txBody>
          <a:bodyPr/>
          <a:lstStyle/>
          <a:p>
            <a:r>
              <a:rPr lang="en-US" noProof="0"/>
              <a:t>Presentation title</a:t>
            </a:r>
          </a:p>
        </p:txBody>
      </p:sp>
      <p:sp>
        <p:nvSpPr>
          <p:cNvPr id="9" name="Slide Number Placeholder 8">
            <a:extLst>
              <a:ext uri="{FF2B5EF4-FFF2-40B4-BE49-F238E27FC236}">
                <a16:creationId xmlns:a16="http://schemas.microsoft.com/office/drawing/2014/main" id="{D8961FC7-9CAD-4B2D-A8F6-C172AF6D5EB1}"/>
              </a:ext>
            </a:extLst>
          </p:cNvPr>
          <p:cNvSpPr>
            <a:spLocks noGrp="1"/>
          </p:cNvSpPr>
          <p:nvPr>
            <p:ph type="sldNum" sz="quarter" idx="18"/>
          </p:nvPr>
        </p:nvSpPr>
        <p:spPr/>
        <p:txBody>
          <a:bodyPr/>
          <a:lstStyle/>
          <a:p>
            <a:fld id="{8D0AFDD5-844D-364D-8AEC-50CF4D36D55D}" type="slidenum">
              <a:rPr lang="en-US" noProof="0" smtClean="0"/>
              <a:pPr/>
              <a:t>‹#›</a:t>
            </a:fld>
            <a:endParaRPr lang="en-US" noProof="0"/>
          </a:p>
        </p:txBody>
      </p:sp>
    </p:spTree>
    <p:extLst>
      <p:ext uri="{BB962C8B-B14F-4D97-AF65-F5344CB8AC3E}">
        <p14:creationId xmlns:p14="http://schemas.microsoft.com/office/powerpoint/2010/main" val="25405676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Picture with Caption">
    <p:bg>
      <p:bgPr>
        <a:solidFill>
          <a:schemeClr val="accent2"/>
        </a:solidFill>
        <a:effectLst/>
      </p:bgPr>
    </p:bg>
    <p:spTree>
      <p:nvGrpSpPr>
        <p:cNvPr id="1" name=""/>
        <p:cNvGrpSpPr/>
        <p:nvPr/>
      </p:nvGrpSpPr>
      <p:grpSpPr>
        <a:xfrm>
          <a:off x="0" y="0"/>
          <a:ext cx="0" cy="0"/>
          <a:chOff x="0" y="0"/>
          <a:chExt cx="0" cy="0"/>
        </a:xfrm>
      </p:grpSpPr>
      <p:sp>
        <p:nvSpPr>
          <p:cNvPr id="7" name="Google Shape;327;p33">
            <a:extLst>
              <a:ext uri="{FF2B5EF4-FFF2-40B4-BE49-F238E27FC236}">
                <a16:creationId xmlns:a16="http://schemas.microsoft.com/office/drawing/2014/main" id="{E7EB222B-6CF5-9486-E495-4BBCFBA5DEE9}"/>
              </a:ext>
            </a:extLst>
          </p:cNvPr>
          <p:cNvSpPr/>
          <p:nvPr userDrawn="1"/>
        </p:nvSpPr>
        <p:spPr>
          <a:xfrm>
            <a:off x="5400719" y="1198578"/>
            <a:ext cx="6114430" cy="4794575"/>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Google Shape;328;p33">
            <a:extLst>
              <a:ext uri="{FF2B5EF4-FFF2-40B4-BE49-F238E27FC236}">
                <a16:creationId xmlns:a16="http://schemas.microsoft.com/office/drawing/2014/main" id="{1FEBC754-F0A8-F9F6-F804-7081E078D8F5}"/>
              </a:ext>
            </a:extLst>
          </p:cNvPr>
          <p:cNvSpPr/>
          <p:nvPr userDrawn="1"/>
        </p:nvSpPr>
        <p:spPr>
          <a:xfrm>
            <a:off x="5196524" y="838200"/>
            <a:ext cx="6114430" cy="49149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Title 1">
            <a:extLst>
              <a:ext uri="{FF2B5EF4-FFF2-40B4-BE49-F238E27FC236}">
                <a16:creationId xmlns:a16="http://schemas.microsoft.com/office/drawing/2014/main" id="{A8F8B0E5-D249-4F2F-16F0-7A9A49B95D39}"/>
              </a:ext>
            </a:extLst>
          </p:cNvPr>
          <p:cNvSpPr>
            <a:spLocks noGrp="1"/>
          </p:cNvSpPr>
          <p:nvPr>
            <p:ph type="title"/>
          </p:nvPr>
        </p:nvSpPr>
        <p:spPr>
          <a:xfrm>
            <a:off x="5978024" y="1783080"/>
            <a:ext cx="4959821" cy="1162762"/>
          </a:xfrm>
        </p:spPr>
        <p:txBody>
          <a:bodyPr/>
          <a:lstStyle>
            <a:lvl1pPr algn="l">
              <a:lnSpc>
                <a:spcPct val="90000"/>
              </a:lnSpc>
              <a:defRPr/>
            </a:lvl1pPr>
          </a:lstStyle>
          <a:p>
            <a:r>
              <a:rPr lang="en-US" noProof="0"/>
              <a:t>Click to edit Master title style</a:t>
            </a:r>
          </a:p>
        </p:txBody>
      </p:sp>
      <p:sp>
        <p:nvSpPr>
          <p:cNvPr id="19" name="Picture Placeholder 18">
            <a:extLst>
              <a:ext uri="{FF2B5EF4-FFF2-40B4-BE49-F238E27FC236}">
                <a16:creationId xmlns:a16="http://schemas.microsoft.com/office/drawing/2014/main" id="{52CFE759-845E-6170-DB8C-EA3FA075BBC8}"/>
              </a:ext>
            </a:extLst>
          </p:cNvPr>
          <p:cNvSpPr>
            <a:spLocks noGrp="1"/>
          </p:cNvSpPr>
          <p:nvPr>
            <p:ph type="pic" sz="quarter" idx="13"/>
          </p:nvPr>
        </p:nvSpPr>
        <p:spPr>
          <a:xfrm>
            <a:off x="0" y="0"/>
            <a:ext cx="4351128" cy="6858000"/>
          </a:xfrm>
          <a:solidFill>
            <a:schemeClr val="accent5"/>
          </a:solidFill>
        </p:spPr>
        <p:txBody>
          <a:bodyPr anchor="ctr"/>
          <a:lstStyle>
            <a:lvl1pPr marL="0" indent="0" algn="ctr">
              <a:buNone/>
              <a:defRPr/>
            </a:lvl1pPr>
          </a:lstStyle>
          <a:p>
            <a:r>
              <a:rPr lang="en-US" noProof="0"/>
              <a:t>Click icon to add picture</a:t>
            </a:r>
          </a:p>
        </p:txBody>
      </p:sp>
      <p:sp>
        <p:nvSpPr>
          <p:cNvPr id="15" name="Content Placeholder 2">
            <a:extLst>
              <a:ext uri="{FF2B5EF4-FFF2-40B4-BE49-F238E27FC236}">
                <a16:creationId xmlns:a16="http://schemas.microsoft.com/office/drawing/2014/main" id="{77189B6C-4236-0B00-D585-EEE5183EC3B5}"/>
              </a:ext>
            </a:extLst>
          </p:cNvPr>
          <p:cNvSpPr>
            <a:spLocks noGrp="1"/>
          </p:cNvSpPr>
          <p:nvPr>
            <p:ph idx="1"/>
          </p:nvPr>
        </p:nvSpPr>
        <p:spPr>
          <a:xfrm>
            <a:off x="5961888" y="2944368"/>
            <a:ext cx="4818888" cy="2130552"/>
          </a:xfrm>
        </p:spPr>
        <p:txBody>
          <a:bodyPr/>
          <a:lstStyle>
            <a:lvl1pPr marL="0" indent="0">
              <a:lnSpc>
                <a:spcPct val="10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sp>
        <p:nvSpPr>
          <p:cNvPr id="5" name="Slide Number Placeholder 4">
            <a:extLst>
              <a:ext uri="{FF2B5EF4-FFF2-40B4-BE49-F238E27FC236}">
                <a16:creationId xmlns:a16="http://schemas.microsoft.com/office/drawing/2014/main" id="{22D37E9B-F86D-C91D-23CC-19F188DE83F6}"/>
              </a:ext>
            </a:extLst>
          </p:cNvPr>
          <p:cNvSpPr>
            <a:spLocks noGrp="1"/>
          </p:cNvSpPr>
          <p:nvPr>
            <p:ph type="sldNum" sz="quarter" idx="12"/>
          </p:nvPr>
        </p:nvSpPr>
        <p:spPr>
          <a:xfrm>
            <a:off x="8072901" y="6400904"/>
            <a:ext cx="365760" cy="246888"/>
          </a:xfrm>
        </p:spPr>
        <p:txBody>
          <a:bodyPr/>
          <a:lstStyle/>
          <a:p>
            <a:fld id="{8D0AFDD5-844D-364D-8AEC-50CF4D36D55D}" type="slidenum">
              <a:rPr lang="en-US" noProof="0" smtClean="0"/>
              <a:pPr/>
              <a:t>‹#›</a:t>
            </a:fld>
            <a:endParaRPr lang="en-US" noProof="0"/>
          </a:p>
        </p:txBody>
      </p:sp>
      <p:cxnSp>
        <p:nvCxnSpPr>
          <p:cNvPr id="21" name="Straight Connector 20">
            <a:extLst>
              <a:ext uri="{FF2B5EF4-FFF2-40B4-BE49-F238E27FC236}">
                <a16:creationId xmlns:a16="http://schemas.microsoft.com/office/drawing/2014/main" id="{CB55B0F1-C1EF-3790-A994-C8C4BB61CCB9}"/>
              </a:ext>
            </a:extLst>
          </p:cNvPr>
          <p:cNvCxnSpPr>
            <a:cxnSpLocks/>
          </p:cNvCxnSpPr>
          <p:nvPr/>
        </p:nvCxnSpPr>
        <p:spPr>
          <a:xfrm>
            <a:off x="4351128" y="6532618"/>
            <a:ext cx="369308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D4F275B-2CE9-CD3C-081E-0B79C125257E}"/>
              </a:ext>
            </a:extLst>
          </p:cNvPr>
          <p:cNvCxnSpPr>
            <a:cxnSpLocks/>
          </p:cNvCxnSpPr>
          <p:nvPr/>
        </p:nvCxnSpPr>
        <p:spPr>
          <a:xfrm>
            <a:off x="8467344" y="6527001"/>
            <a:ext cx="3724656" cy="56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49900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Comparison">
    <p:bg>
      <p:bgPr>
        <a:solidFill>
          <a:schemeClr val="accent5"/>
        </a:solidFill>
        <a:effectLst/>
      </p:bgPr>
    </p:bg>
    <p:spTree>
      <p:nvGrpSpPr>
        <p:cNvPr id="1" name=""/>
        <p:cNvGrpSpPr/>
        <p:nvPr/>
      </p:nvGrpSpPr>
      <p:grpSpPr>
        <a:xfrm>
          <a:off x="0" y="0"/>
          <a:ext cx="0" cy="0"/>
          <a:chOff x="0" y="0"/>
          <a:chExt cx="0" cy="0"/>
        </a:xfrm>
      </p:grpSpPr>
      <p:sp>
        <p:nvSpPr>
          <p:cNvPr id="11" name="Google Shape;634;p42">
            <a:extLst>
              <a:ext uri="{FF2B5EF4-FFF2-40B4-BE49-F238E27FC236}">
                <a16:creationId xmlns:a16="http://schemas.microsoft.com/office/drawing/2014/main" id="{8B24251C-09A2-7EC7-D81E-7B4EC1A6C8FB}"/>
              </a:ext>
            </a:extLst>
          </p:cNvPr>
          <p:cNvSpPr/>
          <p:nvPr userDrawn="1"/>
        </p:nvSpPr>
        <p:spPr>
          <a:xfrm>
            <a:off x="1112818" y="524247"/>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634;p42">
            <a:extLst>
              <a:ext uri="{FF2B5EF4-FFF2-40B4-BE49-F238E27FC236}">
                <a16:creationId xmlns:a16="http://schemas.microsoft.com/office/drawing/2014/main" id="{7095FC12-1305-9C50-D9A9-1BA4392374E6}"/>
              </a:ext>
            </a:extLst>
          </p:cNvPr>
          <p:cNvSpPr/>
          <p:nvPr userDrawn="1"/>
        </p:nvSpPr>
        <p:spPr>
          <a:xfrm>
            <a:off x="1112818" y="2589051"/>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Text Placeholder 2">
            <a:extLst>
              <a:ext uri="{FF2B5EF4-FFF2-40B4-BE49-F238E27FC236}">
                <a16:creationId xmlns:a16="http://schemas.microsoft.com/office/drawing/2014/main" id="{BCA26A7E-435E-AFBA-FECA-047481A83CB8}"/>
              </a:ext>
            </a:extLst>
          </p:cNvPr>
          <p:cNvSpPr>
            <a:spLocks noGrp="1"/>
          </p:cNvSpPr>
          <p:nvPr>
            <p:ph type="body" idx="1"/>
          </p:nvPr>
        </p:nvSpPr>
        <p:spPr>
          <a:xfrm>
            <a:off x="961644" y="348398"/>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styles</a:t>
            </a:r>
          </a:p>
        </p:txBody>
      </p:sp>
      <p:sp>
        <p:nvSpPr>
          <p:cNvPr id="22" name="Text Placeholder 4">
            <a:extLst>
              <a:ext uri="{FF2B5EF4-FFF2-40B4-BE49-F238E27FC236}">
                <a16:creationId xmlns:a16="http://schemas.microsoft.com/office/drawing/2014/main" id="{42E5F6B0-4BF8-B61C-19DC-44EADF2C6A3E}"/>
              </a:ext>
            </a:extLst>
          </p:cNvPr>
          <p:cNvSpPr>
            <a:spLocks noGrp="1"/>
          </p:cNvSpPr>
          <p:nvPr>
            <p:ph type="body" sz="quarter" idx="3"/>
          </p:nvPr>
        </p:nvSpPr>
        <p:spPr>
          <a:xfrm>
            <a:off x="961644" y="2433937"/>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0" name="Content Placeholder 3">
            <a:extLst>
              <a:ext uri="{FF2B5EF4-FFF2-40B4-BE49-F238E27FC236}">
                <a16:creationId xmlns:a16="http://schemas.microsoft.com/office/drawing/2014/main" id="{710FDC74-97A7-7CF9-8479-7DF70FE009C4}"/>
              </a:ext>
            </a:extLst>
          </p:cNvPr>
          <p:cNvSpPr>
            <a:spLocks noGrp="1"/>
          </p:cNvSpPr>
          <p:nvPr>
            <p:ph sz="half" idx="13"/>
          </p:nvPr>
        </p:nvSpPr>
        <p:spPr>
          <a:xfrm>
            <a:off x="4560400" y="2521499"/>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9" name="Slide Number Placeholder 8">
            <a:extLst>
              <a:ext uri="{FF2B5EF4-FFF2-40B4-BE49-F238E27FC236}">
                <a16:creationId xmlns:a16="http://schemas.microsoft.com/office/drawing/2014/main" id="{7EA9E27A-A5B9-7554-B03C-977DD0697109}"/>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8" name="Footer Placeholder 7">
            <a:extLst>
              <a:ext uri="{FF2B5EF4-FFF2-40B4-BE49-F238E27FC236}">
                <a16:creationId xmlns:a16="http://schemas.microsoft.com/office/drawing/2014/main" id="{10B2D671-9FA9-57ED-C5BB-EF64BEB1363E}"/>
              </a:ext>
            </a:extLst>
          </p:cNvPr>
          <p:cNvSpPr>
            <a:spLocks noGrp="1"/>
          </p:cNvSpPr>
          <p:nvPr>
            <p:ph type="ftr" sz="quarter" idx="11"/>
          </p:nvPr>
        </p:nvSpPr>
        <p:spPr/>
        <p:txBody>
          <a:bodyPr/>
          <a:lstStyle/>
          <a:p>
            <a:r>
              <a:rPr lang="en-US" noProof="0"/>
              <a:t>Presentation title</a:t>
            </a:r>
          </a:p>
        </p:txBody>
      </p:sp>
      <p:sp>
        <p:nvSpPr>
          <p:cNvPr id="7" name="Date Placeholder 6">
            <a:extLst>
              <a:ext uri="{FF2B5EF4-FFF2-40B4-BE49-F238E27FC236}">
                <a16:creationId xmlns:a16="http://schemas.microsoft.com/office/drawing/2014/main" id="{ECF944D9-3F95-D788-A7A5-9C541DBDEF9F}"/>
              </a:ext>
            </a:extLst>
          </p:cNvPr>
          <p:cNvSpPr>
            <a:spLocks noGrp="1"/>
          </p:cNvSpPr>
          <p:nvPr>
            <p:ph type="dt" sz="half" idx="10"/>
          </p:nvPr>
        </p:nvSpPr>
        <p:spPr/>
        <p:txBody>
          <a:bodyPr/>
          <a:lstStyle/>
          <a:p>
            <a:r>
              <a:rPr lang="en-US" noProof="0"/>
              <a:t>20XX</a:t>
            </a:r>
          </a:p>
        </p:txBody>
      </p:sp>
      <p:sp>
        <p:nvSpPr>
          <p:cNvPr id="2" name="Google Shape;634;p42">
            <a:extLst>
              <a:ext uri="{FF2B5EF4-FFF2-40B4-BE49-F238E27FC236}">
                <a16:creationId xmlns:a16="http://schemas.microsoft.com/office/drawing/2014/main" id="{6ADA366F-DAEC-0F54-4A28-F5FC71D148AD}"/>
              </a:ext>
            </a:extLst>
          </p:cNvPr>
          <p:cNvSpPr/>
          <p:nvPr userDrawn="1"/>
        </p:nvSpPr>
        <p:spPr>
          <a:xfrm>
            <a:off x="1112818" y="4568923"/>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3" name="Text Placeholder 2">
            <a:extLst>
              <a:ext uri="{FF2B5EF4-FFF2-40B4-BE49-F238E27FC236}">
                <a16:creationId xmlns:a16="http://schemas.microsoft.com/office/drawing/2014/main" id="{01D2858C-4983-2C07-E3DC-A8A24C90DD50}"/>
              </a:ext>
            </a:extLst>
          </p:cNvPr>
          <p:cNvSpPr>
            <a:spLocks noGrp="1"/>
          </p:cNvSpPr>
          <p:nvPr>
            <p:ph type="body" idx="14"/>
          </p:nvPr>
        </p:nvSpPr>
        <p:spPr>
          <a:xfrm>
            <a:off x="961644" y="4393074"/>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styles</a:t>
            </a:r>
          </a:p>
        </p:txBody>
      </p:sp>
      <p:sp>
        <p:nvSpPr>
          <p:cNvPr id="5" name="Content Placeholder 3">
            <a:extLst>
              <a:ext uri="{FF2B5EF4-FFF2-40B4-BE49-F238E27FC236}">
                <a16:creationId xmlns:a16="http://schemas.microsoft.com/office/drawing/2014/main" id="{61F8CB1D-DCED-44EE-BC0D-3C51B7A9DBC4}"/>
              </a:ext>
            </a:extLst>
          </p:cNvPr>
          <p:cNvSpPr>
            <a:spLocks noGrp="1"/>
          </p:cNvSpPr>
          <p:nvPr>
            <p:ph sz="half" idx="15"/>
          </p:nvPr>
        </p:nvSpPr>
        <p:spPr>
          <a:xfrm>
            <a:off x="4560400" y="407672"/>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6" name="Content Placeholder 3">
            <a:extLst>
              <a:ext uri="{FF2B5EF4-FFF2-40B4-BE49-F238E27FC236}">
                <a16:creationId xmlns:a16="http://schemas.microsoft.com/office/drawing/2014/main" id="{853E18C7-99A4-5BF2-FDEE-A434F8F0385F}"/>
              </a:ext>
            </a:extLst>
          </p:cNvPr>
          <p:cNvSpPr>
            <a:spLocks noGrp="1"/>
          </p:cNvSpPr>
          <p:nvPr>
            <p:ph sz="half" idx="16"/>
          </p:nvPr>
        </p:nvSpPr>
        <p:spPr>
          <a:xfrm>
            <a:off x="4560400" y="4480636"/>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Tree>
    <p:extLst>
      <p:ext uri="{BB962C8B-B14F-4D97-AF65-F5344CB8AC3E}">
        <p14:creationId xmlns:p14="http://schemas.microsoft.com/office/powerpoint/2010/main" val="2069956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wo Conten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
        <p:nvSpPr>
          <p:cNvPr id="7" name="Google Shape;1148;p53">
            <a:extLst>
              <a:ext uri="{FF2B5EF4-FFF2-40B4-BE49-F238E27FC236}">
                <a16:creationId xmlns:a16="http://schemas.microsoft.com/office/drawing/2014/main" id="{D76333E0-FAE0-3B63-28EE-BA834131593C}"/>
              </a:ext>
            </a:extLst>
          </p:cNvPr>
          <p:cNvSpPr/>
          <p:nvPr userDrawn="1"/>
        </p:nvSpPr>
        <p:spPr>
          <a:xfrm>
            <a:off x="6481182" y="2106081"/>
            <a:ext cx="5056632"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a:extLst>
              <a:ext uri="{FF2B5EF4-FFF2-40B4-BE49-F238E27FC236}">
                <a16:creationId xmlns:a16="http://schemas.microsoft.com/office/drawing/2014/main" id="{B21F23CA-8996-2ED3-865E-9CBB7B3DEF01}"/>
              </a:ext>
            </a:extLst>
          </p:cNvPr>
          <p:cNvSpPr/>
          <p:nvPr userDrawn="1"/>
        </p:nvSpPr>
        <p:spPr>
          <a:xfrm>
            <a:off x="808072"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5048882"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4604512"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6358128" y="1956816"/>
            <a:ext cx="5047488"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6600154" y="2944368"/>
            <a:ext cx="4608576"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5" name="Slide Number Placeholder 4">
            <a:extLst>
              <a:ext uri="{FF2B5EF4-FFF2-40B4-BE49-F238E27FC236}">
                <a16:creationId xmlns:a16="http://schemas.microsoft.com/office/drawing/2014/main" id="{3A18DB23-E349-DF43-8126-A1F21B8C33C6}"/>
              </a:ext>
            </a:extLst>
          </p:cNvPr>
          <p:cNvSpPr>
            <a:spLocks noGrp="1"/>
          </p:cNvSpPr>
          <p:nvPr>
            <p:ph type="sldNum" sz="quarter" idx="12"/>
          </p:nvPr>
        </p:nvSpPr>
        <p:spPr/>
        <p:txBody>
          <a:body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6774F0D-57B5-C6EE-016C-501DC8D7E4F7}"/>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5DF0D283-938B-8E26-1C43-DC3AD65091B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14319881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Quote">
    <p:bg>
      <p:bgPr>
        <a:solidFill>
          <a:schemeClr val="accent3"/>
        </a:solidFill>
        <a:effectLst/>
      </p:bgPr>
    </p:bg>
    <p:spTree>
      <p:nvGrpSpPr>
        <p:cNvPr id="1" name=""/>
        <p:cNvGrpSpPr/>
        <p:nvPr/>
      </p:nvGrpSpPr>
      <p:grpSpPr>
        <a:xfrm>
          <a:off x="0" y="0"/>
          <a:ext cx="0" cy="0"/>
          <a:chOff x="0" y="0"/>
          <a:chExt cx="0" cy="0"/>
        </a:xfrm>
      </p:grpSpPr>
      <p:sp>
        <p:nvSpPr>
          <p:cNvPr id="12" name="Google Shape;327;p33">
            <a:extLst>
              <a:ext uri="{FF2B5EF4-FFF2-40B4-BE49-F238E27FC236}">
                <a16:creationId xmlns:a16="http://schemas.microsoft.com/office/drawing/2014/main" id="{EA1EE280-E44E-F71B-ED1B-CA8CEDEE6175}"/>
              </a:ext>
            </a:extLst>
          </p:cNvPr>
          <p:cNvSpPr/>
          <p:nvPr userDrawn="1"/>
        </p:nvSpPr>
        <p:spPr>
          <a:xfrm>
            <a:off x="1087280" y="1161412"/>
            <a:ext cx="10221119" cy="483174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4" name="Google Shape;328;p33">
            <a:extLst>
              <a:ext uri="{FF2B5EF4-FFF2-40B4-BE49-F238E27FC236}">
                <a16:creationId xmlns:a16="http://schemas.microsoft.com/office/drawing/2014/main" id="{332C8624-D848-DF0C-9104-7A2655E4A0FE}"/>
              </a:ext>
            </a:extLst>
          </p:cNvPr>
          <p:cNvSpPr/>
          <p:nvPr userDrawn="1"/>
        </p:nvSpPr>
        <p:spPr>
          <a:xfrm>
            <a:off x="858371" y="800100"/>
            <a:ext cx="10221119" cy="4953001"/>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2862072" y="2322576"/>
            <a:ext cx="6473952" cy="1901952"/>
          </a:xfrm>
        </p:spPr>
        <p:txBody>
          <a:bodyPr anchor="ctr"/>
          <a:lstStyle>
            <a:lvl1pPr algn="l">
              <a:lnSpc>
                <a:spcPct val="90000"/>
              </a:lnSpc>
              <a:defRPr sz="4000"/>
            </a:lvl1pPr>
          </a:lstStyle>
          <a:p>
            <a:r>
              <a:rPr lang="en-US" noProof="0"/>
              <a:t>Click to edit Master title style</a:t>
            </a:r>
          </a:p>
        </p:txBody>
      </p:sp>
      <p:sp>
        <p:nvSpPr>
          <p:cNvPr id="18" name="Text Placeholder 15">
            <a:extLst>
              <a:ext uri="{FF2B5EF4-FFF2-40B4-BE49-F238E27FC236}">
                <a16:creationId xmlns:a16="http://schemas.microsoft.com/office/drawing/2014/main" id="{4817D722-78FF-E98D-229F-DDC8146F5572}"/>
              </a:ext>
            </a:extLst>
          </p:cNvPr>
          <p:cNvSpPr>
            <a:spLocks noGrp="1"/>
          </p:cNvSpPr>
          <p:nvPr>
            <p:ph type="body" sz="quarter" idx="15" hasCustomPrompt="1"/>
          </p:nvPr>
        </p:nvSpPr>
        <p:spPr>
          <a:xfrm>
            <a:off x="1027874" y="809103"/>
            <a:ext cx="1798955" cy="2062163"/>
          </a:xfrm>
        </p:spPr>
        <p:txBody>
          <a:bodyPr anchor="t"/>
          <a:lstStyle>
            <a:lvl1pPr marL="0" indent="0">
              <a:buNone/>
              <a:defRPr sz="25000" b="1">
                <a:solidFill>
                  <a:schemeClr val="tx2"/>
                </a:solidFill>
                <a:latin typeface="+mj-lt"/>
              </a:defRPr>
            </a:lvl1pPr>
          </a:lstStyle>
          <a:p>
            <a:pPr lvl="0"/>
            <a:r>
              <a:rPr lang="en-US" noProof="0"/>
              <a:t>“</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2862072" y="4334256"/>
            <a:ext cx="2340864" cy="585216"/>
          </a:xfrm>
        </p:spPr>
        <p:txBody>
          <a:bodyPr/>
          <a:lstStyle>
            <a:lvl1pPr marL="0" indent="0">
              <a:lnSpc>
                <a:spcPct val="100000"/>
              </a:lnSpc>
              <a:spcBef>
                <a:spcPts val="0"/>
              </a:spcBef>
              <a:buNone/>
              <a:defRPr sz="2000"/>
            </a:lvl1pPr>
          </a:lstStyle>
          <a:p>
            <a:pPr lvl="0"/>
            <a:r>
              <a:rPr lang="en-US" noProof="0"/>
              <a:t>Click to edit Master text styles</a:t>
            </a:r>
          </a:p>
        </p:txBody>
      </p:sp>
      <p:sp>
        <p:nvSpPr>
          <p:cNvPr id="17" name="Text Placeholder 15">
            <a:extLst>
              <a:ext uri="{FF2B5EF4-FFF2-40B4-BE49-F238E27FC236}">
                <a16:creationId xmlns:a16="http://schemas.microsoft.com/office/drawing/2014/main" id="{F9A35D83-86B3-5132-45B2-6382E8F3A4C2}"/>
              </a:ext>
            </a:extLst>
          </p:cNvPr>
          <p:cNvSpPr>
            <a:spLocks noGrp="1"/>
          </p:cNvSpPr>
          <p:nvPr>
            <p:ph type="body" sz="quarter" idx="14" hasCustomPrompt="1"/>
          </p:nvPr>
        </p:nvSpPr>
        <p:spPr>
          <a:xfrm>
            <a:off x="9281160" y="3957272"/>
            <a:ext cx="1798955" cy="2062163"/>
          </a:xfrm>
        </p:spPr>
        <p:txBody>
          <a:bodyPr/>
          <a:lstStyle>
            <a:lvl1pPr marL="0" indent="0">
              <a:buNone/>
              <a:defRPr sz="25000" b="1">
                <a:solidFill>
                  <a:schemeClr val="tx2"/>
                </a:solidFill>
                <a:latin typeface="+mj-lt"/>
              </a:defRPr>
            </a:lvl1pPr>
          </a:lstStyle>
          <a:p>
            <a:pPr lvl="0"/>
            <a:r>
              <a:rPr lang="en-US" noProof="0"/>
              <a:t>”</a:t>
            </a:r>
          </a:p>
        </p:txBody>
      </p:sp>
      <p:sp>
        <p:nvSpPr>
          <p:cNvPr id="7" name="Date Placeholder 6">
            <a:extLst>
              <a:ext uri="{FF2B5EF4-FFF2-40B4-BE49-F238E27FC236}">
                <a16:creationId xmlns:a16="http://schemas.microsoft.com/office/drawing/2014/main" id="{C1F53ABF-1C17-E7D0-EEB7-468CEDF285C7}"/>
              </a:ext>
            </a:extLst>
          </p:cNvPr>
          <p:cNvSpPr>
            <a:spLocks noGrp="1"/>
          </p:cNvSpPr>
          <p:nvPr>
            <p:ph type="dt" sz="half" idx="16"/>
          </p:nvPr>
        </p:nvSpPr>
        <p:spPr/>
        <p:txBody>
          <a:bodyPr/>
          <a:lstStyle/>
          <a:p>
            <a:r>
              <a:rPr lang="en-US" noProof="0"/>
              <a:t>20XX</a:t>
            </a:r>
          </a:p>
        </p:txBody>
      </p:sp>
      <p:sp>
        <p:nvSpPr>
          <p:cNvPr id="8" name="Footer Placeholder 7">
            <a:extLst>
              <a:ext uri="{FF2B5EF4-FFF2-40B4-BE49-F238E27FC236}">
                <a16:creationId xmlns:a16="http://schemas.microsoft.com/office/drawing/2014/main" id="{86A64DF1-77A3-B856-5F46-12724706B8A1}"/>
              </a:ext>
            </a:extLst>
          </p:cNvPr>
          <p:cNvSpPr>
            <a:spLocks noGrp="1"/>
          </p:cNvSpPr>
          <p:nvPr>
            <p:ph type="ftr" sz="quarter" idx="17"/>
          </p:nvPr>
        </p:nvSpPr>
        <p:spPr/>
        <p:txBody>
          <a:bodyPr/>
          <a:lstStyle/>
          <a:p>
            <a:r>
              <a:rPr lang="en-US" noProof="0"/>
              <a:t>Presentation title</a:t>
            </a:r>
          </a:p>
        </p:txBody>
      </p:sp>
      <p:sp>
        <p:nvSpPr>
          <p:cNvPr id="9" name="Slide Number Placeholder 8">
            <a:extLst>
              <a:ext uri="{FF2B5EF4-FFF2-40B4-BE49-F238E27FC236}">
                <a16:creationId xmlns:a16="http://schemas.microsoft.com/office/drawing/2014/main" id="{D8961FC7-9CAD-4B2D-A8F6-C172AF6D5EB1}"/>
              </a:ext>
            </a:extLst>
          </p:cNvPr>
          <p:cNvSpPr>
            <a:spLocks noGrp="1"/>
          </p:cNvSpPr>
          <p:nvPr>
            <p:ph type="sldNum" sz="quarter" idx="18"/>
          </p:nvPr>
        </p:nvSpPr>
        <p:spPr/>
        <p:txBody>
          <a:bodyPr/>
          <a:lstStyle/>
          <a:p>
            <a:fld id="{8D0AFDD5-844D-364D-8AEC-50CF4D36D55D}" type="slidenum">
              <a:rPr lang="en-US" noProof="0" smtClean="0"/>
              <a:pPr/>
              <a:t>‹#›</a:t>
            </a:fld>
            <a:endParaRPr lang="en-US" noProof="0"/>
          </a:p>
        </p:txBody>
      </p:sp>
    </p:spTree>
    <p:extLst>
      <p:ext uri="{BB962C8B-B14F-4D97-AF65-F5344CB8AC3E}">
        <p14:creationId xmlns:p14="http://schemas.microsoft.com/office/powerpoint/2010/main" val="1387209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Quote">
    <p:bg>
      <p:bgPr>
        <a:solidFill>
          <a:schemeClr val="accent3"/>
        </a:solidFill>
        <a:effectLst/>
      </p:bgPr>
    </p:bg>
    <p:spTree>
      <p:nvGrpSpPr>
        <p:cNvPr id="1" name=""/>
        <p:cNvGrpSpPr/>
        <p:nvPr/>
      </p:nvGrpSpPr>
      <p:grpSpPr>
        <a:xfrm>
          <a:off x="0" y="0"/>
          <a:ext cx="0" cy="0"/>
          <a:chOff x="0" y="0"/>
          <a:chExt cx="0" cy="0"/>
        </a:xfrm>
      </p:grpSpPr>
      <p:sp>
        <p:nvSpPr>
          <p:cNvPr id="12" name="Google Shape;327;p33">
            <a:extLst>
              <a:ext uri="{FF2B5EF4-FFF2-40B4-BE49-F238E27FC236}">
                <a16:creationId xmlns:a16="http://schemas.microsoft.com/office/drawing/2014/main" id="{EA1EE280-E44E-F71B-ED1B-CA8CEDEE6175}"/>
              </a:ext>
            </a:extLst>
          </p:cNvPr>
          <p:cNvSpPr/>
          <p:nvPr userDrawn="1"/>
        </p:nvSpPr>
        <p:spPr>
          <a:xfrm>
            <a:off x="1087280" y="1161412"/>
            <a:ext cx="10221119" cy="483174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4" name="Google Shape;328;p33">
            <a:extLst>
              <a:ext uri="{FF2B5EF4-FFF2-40B4-BE49-F238E27FC236}">
                <a16:creationId xmlns:a16="http://schemas.microsoft.com/office/drawing/2014/main" id="{332C8624-D848-DF0C-9104-7A2655E4A0FE}"/>
              </a:ext>
            </a:extLst>
          </p:cNvPr>
          <p:cNvSpPr/>
          <p:nvPr userDrawn="1"/>
        </p:nvSpPr>
        <p:spPr>
          <a:xfrm>
            <a:off x="858371" y="800100"/>
            <a:ext cx="10221119" cy="4953001"/>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2862072" y="2322576"/>
            <a:ext cx="6473952" cy="1901952"/>
          </a:xfrm>
        </p:spPr>
        <p:txBody>
          <a:bodyPr anchor="ctr"/>
          <a:lstStyle>
            <a:lvl1pPr algn="l">
              <a:lnSpc>
                <a:spcPct val="90000"/>
              </a:lnSpc>
              <a:defRPr sz="4000"/>
            </a:lvl1pPr>
          </a:lstStyle>
          <a:p>
            <a:r>
              <a:rPr lang="en-US" noProof="0"/>
              <a:t>Click to edit Master title style</a:t>
            </a:r>
          </a:p>
        </p:txBody>
      </p:sp>
      <p:sp>
        <p:nvSpPr>
          <p:cNvPr id="18" name="Text Placeholder 15">
            <a:extLst>
              <a:ext uri="{FF2B5EF4-FFF2-40B4-BE49-F238E27FC236}">
                <a16:creationId xmlns:a16="http://schemas.microsoft.com/office/drawing/2014/main" id="{4817D722-78FF-E98D-229F-DDC8146F5572}"/>
              </a:ext>
            </a:extLst>
          </p:cNvPr>
          <p:cNvSpPr>
            <a:spLocks noGrp="1"/>
          </p:cNvSpPr>
          <p:nvPr>
            <p:ph type="body" sz="quarter" idx="15" hasCustomPrompt="1"/>
          </p:nvPr>
        </p:nvSpPr>
        <p:spPr>
          <a:xfrm>
            <a:off x="1027874" y="809103"/>
            <a:ext cx="1798955" cy="2062163"/>
          </a:xfrm>
        </p:spPr>
        <p:txBody>
          <a:bodyPr anchor="t"/>
          <a:lstStyle>
            <a:lvl1pPr marL="0" indent="0">
              <a:buNone/>
              <a:defRPr sz="25000" b="1">
                <a:solidFill>
                  <a:schemeClr val="tx2"/>
                </a:solidFill>
                <a:latin typeface="+mj-lt"/>
              </a:defRPr>
            </a:lvl1pPr>
          </a:lstStyle>
          <a:p>
            <a:pPr lvl="0"/>
            <a:r>
              <a:rPr lang="en-US" noProof="0"/>
              <a:t>“</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2862072" y="4334256"/>
            <a:ext cx="2340864" cy="585216"/>
          </a:xfrm>
        </p:spPr>
        <p:txBody>
          <a:bodyPr/>
          <a:lstStyle>
            <a:lvl1pPr marL="0" indent="0">
              <a:lnSpc>
                <a:spcPct val="100000"/>
              </a:lnSpc>
              <a:spcBef>
                <a:spcPts val="0"/>
              </a:spcBef>
              <a:buNone/>
              <a:defRPr sz="2000"/>
            </a:lvl1pPr>
          </a:lstStyle>
          <a:p>
            <a:pPr lvl="0"/>
            <a:r>
              <a:rPr lang="en-US" noProof="0"/>
              <a:t>Click to edit Master text styles</a:t>
            </a:r>
          </a:p>
        </p:txBody>
      </p:sp>
      <p:sp>
        <p:nvSpPr>
          <p:cNvPr id="17" name="Text Placeholder 15">
            <a:extLst>
              <a:ext uri="{FF2B5EF4-FFF2-40B4-BE49-F238E27FC236}">
                <a16:creationId xmlns:a16="http://schemas.microsoft.com/office/drawing/2014/main" id="{F9A35D83-86B3-5132-45B2-6382E8F3A4C2}"/>
              </a:ext>
            </a:extLst>
          </p:cNvPr>
          <p:cNvSpPr>
            <a:spLocks noGrp="1"/>
          </p:cNvSpPr>
          <p:nvPr>
            <p:ph type="body" sz="quarter" idx="14" hasCustomPrompt="1"/>
          </p:nvPr>
        </p:nvSpPr>
        <p:spPr>
          <a:xfrm>
            <a:off x="9281160" y="3957272"/>
            <a:ext cx="1798955" cy="2062163"/>
          </a:xfrm>
        </p:spPr>
        <p:txBody>
          <a:bodyPr/>
          <a:lstStyle>
            <a:lvl1pPr marL="0" indent="0">
              <a:buNone/>
              <a:defRPr sz="25000" b="1">
                <a:solidFill>
                  <a:schemeClr val="tx2"/>
                </a:solidFill>
                <a:latin typeface="+mj-lt"/>
              </a:defRPr>
            </a:lvl1pPr>
          </a:lstStyle>
          <a:p>
            <a:pPr lvl="0"/>
            <a:r>
              <a:rPr lang="en-US" noProof="0"/>
              <a:t>”</a:t>
            </a:r>
          </a:p>
        </p:txBody>
      </p:sp>
      <p:sp>
        <p:nvSpPr>
          <p:cNvPr id="7" name="Date Placeholder 6">
            <a:extLst>
              <a:ext uri="{FF2B5EF4-FFF2-40B4-BE49-F238E27FC236}">
                <a16:creationId xmlns:a16="http://schemas.microsoft.com/office/drawing/2014/main" id="{C1F53ABF-1C17-E7D0-EEB7-468CEDF285C7}"/>
              </a:ext>
            </a:extLst>
          </p:cNvPr>
          <p:cNvSpPr>
            <a:spLocks noGrp="1"/>
          </p:cNvSpPr>
          <p:nvPr>
            <p:ph type="dt" sz="half" idx="16"/>
          </p:nvPr>
        </p:nvSpPr>
        <p:spPr/>
        <p:txBody>
          <a:bodyPr/>
          <a:lstStyle/>
          <a:p>
            <a:r>
              <a:rPr lang="en-US" noProof="0"/>
              <a:t>20XX</a:t>
            </a:r>
          </a:p>
        </p:txBody>
      </p:sp>
      <p:sp>
        <p:nvSpPr>
          <p:cNvPr id="8" name="Footer Placeholder 7">
            <a:extLst>
              <a:ext uri="{FF2B5EF4-FFF2-40B4-BE49-F238E27FC236}">
                <a16:creationId xmlns:a16="http://schemas.microsoft.com/office/drawing/2014/main" id="{86A64DF1-77A3-B856-5F46-12724706B8A1}"/>
              </a:ext>
            </a:extLst>
          </p:cNvPr>
          <p:cNvSpPr>
            <a:spLocks noGrp="1"/>
          </p:cNvSpPr>
          <p:nvPr>
            <p:ph type="ftr" sz="quarter" idx="17"/>
          </p:nvPr>
        </p:nvSpPr>
        <p:spPr/>
        <p:txBody>
          <a:bodyPr/>
          <a:lstStyle/>
          <a:p>
            <a:r>
              <a:rPr lang="en-US" noProof="0"/>
              <a:t>Presentation title</a:t>
            </a:r>
          </a:p>
        </p:txBody>
      </p:sp>
      <p:sp>
        <p:nvSpPr>
          <p:cNvPr id="9" name="Slide Number Placeholder 8">
            <a:extLst>
              <a:ext uri="{FF2B5EF4-FFF2-40B4-BE49-F238E27FC236}">
                <a16:creationId xmlns:a16="http://schemas.microsoft.com/office/drawing/2014/main" id="{D8961FC7-9CAD-4B2D-A8F6-C172AF6D5EB1}"/>
              </a:ext>
            </a:extLst>
          </p:cNvPr>
          <p:cNvSpPr>
            <a:spLocks noGrp="1"/>
          </p:cNvSpPr>
          <p:nvPr>
            <p:ph type="sldNum" sz="quarter" idx="18"/>
          </p:nvPr>
        </p:nvSpPr>
        <p:spPr/>
        <p:txBody>
          <a:bodyPr/>
          <a:lstStyle/>
          <a:p>
            <a:fld id="{8D0AFDD5-844D-364D-8AEC-50CF4D36D55D}" type="slidenum">
              <a:rPr lang="en-US" noProof="0" smtClean="0"/>
              <a:pPr/>
              <a:t>‹#›</a:t>
            </a:fld>
            <a:endParaRPr lang="en-US" noProof="0"/>
          </a:p>
        </p:txBody>
      </p:sp>
    </p:spTree>
    <p:extLst>
      <p:ext uri="{BB962C8B-B14F-4D97-AF65-F5344CB8AC3E}">
        <p14:creationId xmlns:p14="http://schemas.microsoft.com/office/powerpoint/2010/main" val="31056416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3_Quote">
    <p:bg>
      <p:bgPr>
        <a:solidFill>
          <a:schemeClr val="accent3"/>
        </a:solidFill>
        <a:effectLst/>
      </p:bgPr>
    </p:bg>
    <p:spTree>
      <p:nvGrpSpPr>
        <p:cNvPr id="1" name=""/>
        <p:cNvGrpSpPr/>
        <p:nvPr/>
      </p:nvGrpSpPr>
      <p:grpSpPr>
        <a:xfrm>
          <a:off x="0" y="0"/>
          <a:ext cx="0" cy="0"/>
          <a:chOff x="0" y="0"/>
          <a:chExt cx="0" cy="0"/>
        </a:xfrm>
      </p:grpSpPr>
      <p:sp>
        <p:nvSpPr>
          <p:cNvPr id="12" name="Google Shape;327;p33">
            <a:extLst>
              <a:ext uri="{FF2B5EF4-FFF2-40B4-BE49-F238E27FC236}">
                <a16:creationId xmlns:a16="http://schemas.microsoft.com/office/drawing/2014/main" id="{EA1EE280-E44E-F71B-ED1B-CA8CEDEE6175}"/>
              </a:ext>
            </a:extLst>
          </p:cNvPr>
          <p:cNvSpPr/>
          <p:nvPr userDrawn="1"/>
        </p:nvSpPr>
        <p:spPr>
          <a:xfrm>
            <a:off x="1087280" y="1161412"/>
            <a:ext cx="10221119" cy="483174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4" name="Google Shape;328;p33">
            <a:extLst>
              <a:ext uri="{FF2B5EF4-FFF2-40B4-BE49-F238E27FC236}">
                <a16:creationId xmlns:a16="http://schemas.microsoft.com/office/drawing/2014/main" id="{332C8624-D848-DF0C-9104-7A2655E4A0FE}"/>
              </a:ext>
            </a:extLst>
          </p:cNvPr>
          <p:cNvSpPr/>
          <p:nvPr userDrawn="1"/>
        </p:nvSpPr>
        <p:spPr>
          <a:xfrm>
            <a:off x="858371" y="800100"/>
            <a:ext cx="10221119" cy="4953001"/>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2862072" y="2322576"/>
            <a:ext cx="6473952" cy="1901952"/>
          </a:xfrm>
        </p:spPr>
        <p:txBody>
          <a:bodyPr anchor="ctr"/>
          <a:lstStyle>
            <a:lvl1pPr algn="l">
              <a:lnSpc>
                <a:spcPct val="90000"/>
              </a:lnSpc>
              <a:defRPr sz="4000"/>
            </a:lvl1pPr>
          </a:lstStyle>
          <a:p>
            <a:r>
              <a:rPr lang="en-US" noProof="0"/>
              <a:t>Click to edit Master title style</a:t>
            </a:r>
          </a:p>
        </p:txBody>
      </p:sp>
      <p:sp>
        <p:nvSpPr>
          <p:cNvPr id="18" name="Text Placeholder 15">
            <a:extLst>
              <a:ext uri="{FF2B5EF4-FFF2-40B4-BE49-F238E27FC236}">
                <a16:creationId xmlns:a16="http://schemas.microsoft.com/office/drawing/2014/main" id="{4817D722-78FF-E98D-229F-DDC8146F5572}"/>
              </a:ext>
            </a:extLst>
          </p:cNvPr>
          <p:cNvSpPr>
            <a:spLocks noGrp="1"/>
          </p:cNvSpPr>
          <p:nvPr>
            <p:ph type="body" sz="quarter" idx="15" hasCustomPrompt="1"/>
          </p:nvPr>
        </p:nvSpPr>
        <p:spPr>
          <a:xfrm>
            <a:off x="1027874" y="809103"/>
            <a:ext cx="1798955" cy="2062163"/>
          </a:xfrm>
        </p:spPr>
        <p:txBody>
          <a:bodyPr anchor="t"/>
          <a:lstStyle>
            <a:lvl1pPr marL="0" indent="0">
              <a:buNone/>
              <a:defRPr sz="25000" b="1">
                <a:solidFill>
                  <a:schemeClr val="tx2"/>
                </a:solidFill>
                <a:latin typeface="+mj-lt"/>
              </a:defRPr>
            </a:lvl1pPr>
          </a:lstStyle>
          <a:p>
            <a:pPr lvl="0"/>
            <a:r>
              <a:rPr lang="en-US" noProof="0"/>
              <a:t>“</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2862072" y="4334256"/>
            <a:ext cx="2340864" cy="585216"/>
          </a:xfrm>
        </p:spPr>
        <p:txBody>
          <a:bodyPr/>
          <a:lstStyle>
            <a:lvl1pPr marL="0" indent="0">
              <a:lnSpc>
                <a:spcPct val="100000"/>
              </a:lnSpc>
              <a:spcBef>
                <a:spcPts val="0"/>
              </a:spcBef>
              <a:buNone/>
              <a:defRPr sz="2000"/>
            </a:lvl1pPr>
          </a:lstStyle>
          <a:p>
            <a:pPr lvl="0"/>
            <a:r>
              <a:rPr lang="en-US" noProof="0"/>
              <a:t>Click to edit Master text styles</a:t>
            </a:r>
          </a:p>
        </p:txBody>
      </p:sp>
      <p:sp>
        <p:nvSpPr>
          <p:cNvPr id="17" name="Text Placeholder 15">
            <a:extLst>
              <a:ext uri="{FF2B5EF4-FFF2-40B4-BE49-F238E27FC236}">
                <a16:creationId xmlns:a16="http://schemas.microsoft.com/office/drawing/2014/main" id="{F9A35D83-86B3-5132-45B2-6382E8F3A4C2}"/>
              </a:ext>
            </a:extLst>
          </p:cNvPr>
          <p:cNvSpPr>
            <a:spLocks noGrp="1"/>
          </p:cNvSpPr>
          <p:nvPr>
            <p:ph type="body" sz="quarter" idx="14" hasCustomPrompt="1"/>
          </p:nvPr>
        </p:nvSpPr>
        <p:spPr>
          <a:xfrm>
            <a:off x="9281160" y="3957272"/>
            <a:ext cx="1798955" cy="2062163"/>
          </a:xfrm>
        </p:spPr>
        <p:txBody>
          <a:bodyPr/>
          <a:lstStyle>
            <a:lvl1pPr marL="0" indent="0">
              <a:buNone/>
              <a:defRPr sz="25000" b="1">
                <a:solidFill>
                  <a:schemeClr val="tx2"/>
                </a:solidFill>
                <a:latin typeface="+mj-lt"/>
              </a:defRPr>
            </a:lvl1pPr>
          </a:lstStyle>
          <a:p>
            <a:pPr lvl="0"/>
            <a:r>
              <a:rPr lang="en-US" noProof="0"/>
              <a:t>”</a:t>
            </a:r>
          </a:p>
        </p:txBody>
      </p:sp>
      <p:sp>
        <p:nvSpPr>
          <p:cNvPr id="7" name="Date Placeholder 6">
            <a:extLst>
              <a:ext uri="{FF2B5EF4-FFF2-40B4-BE49-F238E27FC236}">
                <a16:creationId xmlns:a16="http://schemas.microsoft.com/office/drawing/2014/main" id="{C1F53ABF-1C17-E7D0-EEB7-468CEDF285C7}"/>
              </a:ext>
            </a:extLst>
          </p:cNvPr>
          <p:cNvSpPr>
            <a:spLocks noGrp="1"/>
          </p:cNvSpPr>
          <p:nvPr>
            <p:ph type="dt" sz="half" idx="16"/>
          </p:nvPr>
        </p:nvSpPr>
        <p:spPr/>
        <p:txBody>
          <a:bodyPr/>
          <a:lstStyle/>
          <a:p>
            <a:r>
              <a:rPr lang="en-US" noProof="0"/>
              <a:t>20XX</a:t>
            </a:r>
          </a:p>
        </p:txBody>
      </p:sp>
      <p:sp>
        <p:nvSpPr>
          <p:cNvPr id="8" name="Footer Placeholder 7">
            <a:extLst>
              <a:ext uri="{FF2B5EF4-FFF2-40B4-BE49-F238E27FC236}">
                <a16:creationId xmlns:a16="http://schemas.microsoft.com/office/drawing/2014/main" id="{86A64DF1-77A3-B856-5F46-12724706B8A1}"/>
              </a:ext>
            </a:extLst>
          </p:cNvPr>
          <p:cNvSpPr>
            <a:spLocks noGrp="1"/>
          </p:cNvSpPr>
          <p:nvPr>
            <p:ph type="ftr" sz="quarter" idx="17"/>
          </p:nvPr>
        </p:nvSpPr>
        <p:spPr/>
        <p:txBody>
          <a:bodyPr/>
          <a:lstStyle/>
          <a:p>
            <a:r>
              <a:rPr lang="en-US" noProof="0"/>
              <a:t>Presentation title</a:t>
            </a:r>
          </a:p>
        </p:txBody>
      </p:sp>
      <p:sp>
        <p:nvSpPr>
          <p:cNvPr id="9" name="Slide Number Placeholder 8">
            <a:extLst>
              <a:ext uri="{FF2B5EF4-FFF2-40B4-BE49-F238E27FC236}">
                <a16:creationId xmlns:a16="http://schemas.microsoft.com/office/drawing/2014/main" id="{D8961FC7-9CAD-4B2D-A8F6-C172AF6D5EB1}"/>
              </a:ext>
            </a:extLst>
          </p:cNvPr>
          <p:cNvSpPr>
            <a:spLocks noGrp="1"/>
          </p:cNvSpPr>
          <p:nvPr>
            <p:ph type="sldNum" sz="quarter" idx="18"/>
          </p:nvPr>
        </p:nvSpPr>
        <p:spPr/>
        <p:txBody>
          <a:bodyPr/>
          <a:lstStyle/>
          <a:p>
            <a:fld id="{8D0AFDD5-844D-364D-8AEC-50CF4D36D55D}" type="slidenum">
              <a:rPr lang="en-US" noProof="0" smtClean="0"/>
              <a:pPr/>
              <a:t>‹#›</a:t>
            </a:fld>
            <a:endParaRPr lang="en-US" noProof="0"/>
          </a:p>
        </p:txBody>
      </p:sp>
    </p:spTree>
    <p:extLst>
      <p:ext uri="{BB962C8B-B14F-4D97-AF65-F5344CB8AC3E}">
        <p14:creationId xmlns:p14="http://schemas.microsoft.com/office/powerpoint/2010/main" val="3597317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6818BD-D734-48A1-8CC0-609D11E5560E}"/>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AF9D215A-D2A1-4903-A905-F8B06EF41B4F}"/>
              </a:ext>
            </a:extLst>
          </p:cNvPr>
          <p:cNvSpPr>
            <a:spLocks noGrp="1"/>
          </p:cNvSpPr>
          <p:nvPr>
            <p:ph type="body" idx="1"/>
          </p:nvPr>
        </p:nvSpPr>
        <p:spPr>
          <a:xfrm>
            <a:off x="838200" y="1940875"/>
            <a:ext cx="10515600" cy="423608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3942B88A-7A1D-4AA1-8536-28DC13D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F19A473A-771E-384C-8A02-D68DAB283049}" type="datetimeFigureOut">
              <a:rPr lang="en-US" smtClean="0"/>
              <a:t>8/8/25</a:t>
            </a:fld>
            <a:endParaRPr lang="en-US"/>
          </a:p>
        </p:txBody>
      </p:sp>
      <p:sp>
        <p:nvSpPr>
          <p:cNvPr id="5" name="Footer Placeholder 4">
            <a:extLst>
              <a:ext uri="{FF2B5EF4-FFF2-40B4-BE49-F238E27FC236}">
                <a16:creationId xmlns:a16="http://schemas.microsoft.com/office/drawing/2014/main" id="{B37FE925-0C4B-4BAE-9799-3A9D46D920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7ADAD54-E5C5-4D48-8592-BB22F0A851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9028318-F1B7-5B40-863D-7B95E4289F52}" type="slidenum">
              <a:rPr lang="en-US" smtClean="0"/>
              <a:t>‹#›</a:t>
            </a:fld>
            <a:endParaRPr lang="en-US"/>
          </a:p>
        </p:txBody>
      </p:sp>
    </p:spTree>
    <p:extLst>
      <p:ext uri="{BB962C8B-B14F-4D97-AF65-F5344CB8AC3E}">
        <p14:creationId xmlns:p14="http://schemas.microsoft.com/office/powerpoint/2010/main" val="28529512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 id="2147483675" r:id="rId13"/>
    <p:sldLayoutId id="2147483677" r:id="rId14"/>
    <p:sldLayoutId id="2147483678" r:id="rId15"/>
    <p:sldLayoutId id="2147483691" r:id="rId16"/>
    <p:sldLayoutId id="2147483754" r:id="rId17"/>
    <p:sldLayoutId id="2147483793" r:id="rId18"/>
  </p:sldLayoutIdLst>
  <p:txStyles>
    <p:titleStyle>
      <a:lvl1pPr algn="l" defTabSz="914400" rtl="0" eaLnBrk="1" latinLnBrk="0" hangingPunct="1">
        <a:lnSpc>
          <a:spcPct val="100000"/>
        </a:lnSpc>
        <a:spcBef>
          <a:spcPct val="0"/>
        </a:spcBef>
        <a:buNone/>
        <a:defRPr lang="en-US" sz="5400" kern="1200" smtClean="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defRPr>
      </a:lvl1pPr>
    </p:titleStyle>
    <p:bodyStyle>
      <a:lvl1pPr marL="228600" indent="-228600" algn="l" defTabSz="914400" rtl="0" eaLnBrk="1" latinLnBrk="0" hangingPunct="1">
        <a:lnSpc>
          <a:spcPct val="110000"/>
        </a:lnSpc>
        <a:spcBef>
          <a:spcPts val="1000"/>
        </a:spcBef>
        <a:buClr>
          <a:schemeClr val="tx2"/>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8.xml"/><Relationship Id="rId4" Type="http://schemas.openxmlformats.org/officeDocument/2006/relationships/image" Target="../media/image21.svg"/></Relationships>
</file>

<file path=ppt/slides/_rels/slide7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1.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3.svg"/></Relationships>
</file>

<file path=ppt/slides/_rels/slide83.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hyperlink" Target="https://www.rba.gov.au/education/resources/explainers/trends-in-australias-balance-of-payments.html" TargetMode="Externa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40.svg"/></Relationships>
</file>

<file path=ppt/slides/_rels/slide9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9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46.gif"/><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6.gif"/><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10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hyperlink" Target="https://www.abs.gov.au/statistics/economy/international-trade/balance-payments-and-international-investment-position-australia/latest-release#data-downloads" TargetMode="External"/><Relationship Id="rId2" Type="http://schemas.openxmlformats.org/officeDocument/2006/relationships/hyperlink" Target="https://www.miragenews.com/australias-current-account-surplus-drops-due-to-1077624/" TargetMode="External"/><Relationship Id="rId1" Type="http://schemas.openxmlformats.org/officeDocument/2006/relationships/slideLayout" Target="../slideLayouts/slideLayout2.xml"/><Relationship Id="rId5" Type="http://schemas.openxmlformats.org/officeDocument/2006/relationships/image" Target="../media/image55.svg"/><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A4B41-C7B5-2B00-0273-92C39DCD3D9F}"/>
              </a:ext>
            </a:extLst>
          </p:cNvPr>
          <p:cNvSpPr>
            <a:spLocks noGrp="1"/>
          </p:cNvSpPr>
          <p:nvPr>
            <p:ph type="title"/>
          </p:nvPr>
        </p:nvSpPr>
        <p:spPr>
          <a:xfrm>
            <a:off x="839788" y="457200"/>
            <a:ext cx="4343400" cy="2971800"/>
          </a:xfrm>
        </p:spPr>
        <p:txBody>
          <a:bodyPr anchor="b">
            <a:normAutofit/>
          </a:bodyPr>
          <a:lstStyle/>
          <a:p>
            <a:pPr>
              <a:lnSpc>
                <a:spcPct val="90000"/>
              </a:lnSpc>
            </a:pPr>
            <a:r>
              <a:rPr lang="en-US" sz="5000"/>
              <a:t>THE CONCEPT AND STRUCTURE OF THE B.O.P</a:t>
            </a:r>
          </a:p>
        </p:txBody>
      </p:sp>
      <p:pic>
        <p:nvPicPr>
          <p:cNvPr id="5" name="Picture 4" descr="A map of the world with text and symbols&#10;&#10;AI-generated content may be incorrect.">
            <a:extLst>
              <a:ext uri="{FF2B5EF4-FFF2-40B4-BE49-F238E27FC236}">
                <a16:creationId xmlns:a16="http://schemas.microsoft.com/office/drawing/2014/main" id="{830CAA71-29CB-BDC5-7B80-54528C91F936}"/>
              </a:ext>
            </a:extLst>
          </p:cNvPr>
          <p:cNvPicPr>
            <a:picLocks noChangeAspect="1"/>
          </p:cNvPicPr>
          <p:nvPr/>
        </p:nvPicPr>
        <p:blipFill>
          <a:blip r:embed="rId3"/>
          <a:stretch>
            <a:fillRect/>
          </a:stretch>
        </p:blipFill>
        <p:spPr>
          <a:xfrm>
            <a:off x="5900001" y="457201"/>
            <a:ext cx="5110023" cy="5403850"/>
          </a:xfrm>
          <a:prstGeom prst="rect">
            <a:avLst/>
          </a:prstGeom>
          <a:noFill/>
        </p:spPr>
      </p:pic>
      <p:sp>
        <p:nvSpPr>
          <p:cNvPr id="3" name="Subtitle 2">
            <a:extLst>
              <a:ext uri="{FF2B5EF4-FFF2-40B4-BE49-F238E27FC236}">
                <a16:creationId xmlns:a16="http://schemas.microsoft.com/office/drawing/2014/main" id="{410316AA-AFA0-F741-EA07-C89048C72690}"/>
              </a:ext>
            </a:extLst>
          </p:cNvPr>
          <p:cNvSpPr>
            <a:spLocks noGrp="1"/>
          </p:cNvSpPr>
          <p:nvPr>
            <p:ph type="body" sz="half" idx="2"/>
          </p:nvPr>
        </p:nvSpPr>
        <p:spPr>
          <a:xfrm>
            <a:off x="839788" y="3657600"/>
            <a:ext cx="4343400" cy="2211387"/>
          </a:xfrm>
        </p:spPr>
        <p:txBody>
          <a:bodyPr>
            <a:normAutofit/>
          </a:bodyPr>
          <a:lstStyle/>
          <a:p>
            <a:r>
              <a:rPr lang="en-US" dirty="0"/>
              <a:t>SYLLABUS:</a:t>
            </a:r>
          </a:p>
          <a:p>
            <a:pPr marL="342900" indent="-342900">
              <a:buFont typeface="Arial" panose="020B0604020202020204" pitchFamily="34" charset="0"/>
              <a:buChar char="•"/>
            </a:pPr>
            <a:r>
              <a:rPr lang="en-US" dirty="0"/>
              <a:t>the concept and structure of Australia’s balance of payments</a:t>
            </a:r>
          </a:p>
        </p:txBody>
      </p:sp>
    </p:spTree>
    <p:extLst>
      <p:ext uri="{BB962C8B-B14F-4D97-AF65-F5344CB8AC3E}">
        <p14:creationId xmlns:p14="http://schemas.microsoft.com/office/powerpoint/2010/main" val="2426097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5185EC3-9B18-5402-3C2C-5C5743CA19FF}"/>
              </a:ext>
            </a:extLst>
          </p:cNvPr>
          <p:cNvSpPr>
            <a:spLocks noGrp="1"/>
          </p:cNvSpPr>
          <p:nvPr>
            <p:ph type="title"/>
          </p:nvPr>
        </p:nvSpPr>
        <p:spPr>
          <a:xfrm>
            <a:off x="2105193" y="687479"/>
            <a:ext cx="7989752" cy="1083329"/>
          </a:xfrm>
        </p:spPr>
        <p:txBody>
          <a:bodyPr>
            <a:normAutofit/>
          </a:bodyPr>
          <a:lstStyle/>
          <a:p>
            <a:r>
              <a:rPr lang="en-AU" sz="3500" dirty="0"/>
              <a:t>THE BALANCE OF PAYMENTS</a:t>
            </a:r>
          </a:p>
        </p:txBody>
      </p:sp>
      <p:graphicFrame>
        <p:nvGraphicFramePr>
          <p:cNvPr id="5" name="Content Placeholder 1">
            <a:extLst>
              <a:ext uri="{FF2B5EF4-FFF2-40B4-BE49-F238E27FC236}">
                <a16:creationId xmlns:a16="http://schemas.microsoft.com/office/drawing/2014/main" id="{856E32B1-24AA-99CB-87AF-8A1BB5BC715D}"/>
              </a:ext>
            </a:extLst>
          </p:cNvPr>
          <p:cNvGraphicFramePr>
            <a:graphicFrameLocks noGrp="1"/>
          </p:cNvGraphicFramePr>
          <p:nvPr>
            <p:ph idx="1"/>
          </p:nvPr>
        </p:nvGraphicFramePr>
        <p:xfrm>
          <a:off x="1959771" y="2181225"/>
          <a:ext cx="8272463" cy="36782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570992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90E4C-B379-FB26-4ED0-3F313420FE7E}"/>
              </a:ext>
            </a:extLst>
          </p:cNvPr>
          <p:cNvSpPr>
            <a:spLocks noGrp="1"/>
          </p:cNvSpPr>
          <p:nvPr>
            <p:ph type="title"/>
          </p:nvPr>
        </p:nvSpPr>
        <p:spPr>
          <a:xfrm>
            <a:off x="276341" y="372526"/>
            <a:ext cx="3810917" cy="5268110"/>
          </a:xfrm>
        </p:spPr>
        <p:txBody>
          <a:bodyPr>
            <a:normAutofit/>
          </a:bodyPr>
          <a:lstStyle/>
          <a:p>
            <a:pPr algn="ctr"/>
            <a:r>
              <a:rPr lang="en-US" dirty="0"/>
              <a:t>THE BALANCE OF PAYMENTS (B.O.P)</a:t>
            </a:r>
          </a:p>
        </p:txBody>
      </p:sp>
      <p:sp>
        <p:nvSpPr>
          <p:cNvPr id="3" name="Content Placeholder 2">
            <a:extLst>
              <a:ext uri="{FF2B5EF4-FFF2-40B4-BE49-F238E27FC236}">
                <a16:creationId xmlns:a16="http://schemas.microsoft.com/office/drawing/2014/main" id="{7AF3FDED-E0D1-98B4-ED3A-1715E54A150A}"/>
              </a:ext>
            </a:extLst>
          </p:cNvPr>
          <p:cNvSpPr>
            <a:spLocks noGrp="1"/>
          </p:cNvSpPr>
          <p:nvPr>
            <p:ph idx="1"/>
          </p:nvPr>
        </p:nvSpPr>
        <p:spPr>
          <a:xfrm>
            <a:off x="4263529" y="559813"/>
            <a:ext cx="7409916" cy="5781610"/>
          </a:xfrm>
        </p:spPr>
        <p:txBody>
          <a:bodyPr anchorCtr="0">
            <a:normAutofit/>
          </a:bodyPr>
          <a:lstStyle/>
          <a:p>
            <a:r>
              <a:rPr lang="en-US" sz="2400" dirty="0">
                <a:solidFill>
                  <a:schemeClr val="tx2"/>
                </a:solidFill>
              </a:rPr>
              <a:t>The Balance of Payments is </a:t>
            </a:r>
            <a:r>
              <a:rPr lang="en-US" sz="2400" b="1" dirty="0">
                <a:solidFill>
                  <a:schemeClr val="tx2"/>
                </a:solidFill>
              </a:rPr>
              <a:t>a systematic record of all transactions between the residents of Australia and the residents of rest of the world. </a:t>
            </a:r>
          </a:p>
          <a:p>
            <a:r>
              <a:rPr lang="en-US" sz="2400" dirty="0">
                <a:solidFill>
                  <a:schemeClr val="tx2"/>
                </a:solidFill>
              </a:rPr>
              <a:t>Summary of all </a:t>
            </a:r>
            <a:r>
              <a:rPr lang="en-US" sz="2400" b="1" dirty="0">
                <a:solidFill>
                  <a:schemeClr val="tx2"/>
                </a:solidFill>
              </a:rPr>
              <a:t>international economic activity</a:t>
            </a:r>
            <a:endParaRPr lang="en-US" sz="2400" dirty="0">
              <a:solidFill>
                <a:schemeClr val="tx2"/>
              </a:solidFill>
            </a:endParaRPr>
          </a:p>
          <a:p>
            <a:r>
              <a:rPr lang="en-US" sz="2400" dirty="0">
                <a:solidFill>
                  <a:schemeClr val="tx2"/>
                </a:solidFill>
              </a:rPr>
              <a:t>Residents = individuals, firms &amp; the government</a:t>
            </a:r>
          </a:p>
          <a:p>
            <a:r>
              <a:rPr lang="en-US" sz="2400" dirty="0">
                <a:solidFill>
                  <a:schemeClr val="tx2"/>
                </a:solidFill>
              </a:rPr>
              <a:t>Think of it as when you purchase an item you get a receipt, except in this case it's a receipt of all the transactions between Australia and the world.</a:t>
            </a:r>
          </a:p>
          <a:p>
            <a:r>
              <a:rPr lang="en-AU" sz="2400" dirty="0"/>
              <a:t>If you’ve ever looked at your bank account and seen money going in and out — that’s what the Balance of Payments is, but for the entire country.</a:t>
            </a:r>
            <a:endParaRPr lang="en-US" sz="2400" dirty="0">
              <a:solidFill>
                <a:schemeClr val="tx2"/>
              </a:solidFill>
            </a:endParaRPr>
          </a:p>
        </p:txBody>
      </p:sp>
    </p:spTree>
    <p:extLst>
      <p:ext uri="{BB962C8B-B14F-4D97-AF65-F5344CB8AC3E}">
        <p14:creationId xmlns:p14="http://schemas.microsoft.com/office/powerpoint/2010/main" val="2919276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FFE1D-AC7C-DB8E-7D73-FBE2CD4477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04D2D-320B-52BD-80A8-952119E3205C}"/>
              </a:ext>
            </a:extLst>
          </p:cNvPr>
          <p:cNvSpPr>
            <a:spLocks noGrp="1"/>
          </p:cNvSpPr>
          <p:nvPr>
            <p:ph type="title"/>
          </p:nvPr>
        </p:nvSpPr>
        <p:spPr>
          <a:xfrm>
            <a:off x="838201" y="559813"/>
            <a:ext cx="3810917" cy="5268110"/>
          </a:xfrm>
        </p:spPr>
        <p:txBody>
          <a:bodyPr>
            <a:normAutofit/>
          </a:bodyPr>
          <a:lstStyle/>
          <a:p>
            <a:pPr algn="ctr"/>
            <a:r>
              <a:rPr lang="en-US" dirty="0"/>
              <a:t>THE BALANCE OF PAYMENTS (B.O.P)</a:t>
            </a:r>
          </a:p>
        </p:txBody>
      </p:sp>
      <p:sp>
        <p:nvSpPr>
          <p:cNvPr id="3" name="Content Placeholder 2">
            <a:extLst>
              <a:ext uri="{FF2B5EF4-FFF2-40B4-BE49-F238E27FC236}">
                <a16:creationId xmlns:a16="http://schemas.microsoft.com/office/drawing/2014/main" id="{F46CF1DA-D6A6-B8CE-7E5F-93A9CA224117}"/>
              </a:ext>
            </a:extLst>
          </p:cNvPr>
          <p:cNvSpPr>
            <a:spLocks noGrp="1"/>
          </p:cNvSpPr>
          <p:nvPr>
            <p:ph idx="1"/>
          </p:nvPr>
        </p:nvSpPr>
        <p:spPr>
          <a:xfrm>
            <a:off x="5133860" y="559813"/>
            <a:ext cx="6539584" cy="5781610"/>
          </a:xfrm>
        </p:spPr>
        <p:txBody>
          <a:bodyPr anchorCtr="0">
            <a:normAutofit fontScale="92500"/>
          </a:bodyPr>
          <a:lstStyle/>
          <a:p>
            <a:r>
              <a:rPr lang="en-US" sz="2400" dirty="0">
                <a:solidFill>
                  <a:schemeClr val="tx2"/>
                </a:solidFill>
              </a:rPr>
              <a:t>The balance of payments is an </a:t>
            </a:r>
            <a:r>
              <a:rPr lang="en-US" sz="2400" b="1" dirty="0">
                <a:solidFill>
                  <a:schemeClr val="tx2"/>
                </a:solidFill>
              </a:rPr>
              <a:t>important economic indicator </a:t>
            </a:r>
            <a:r>
              <a:rPr lang="en-US" sz="2400" dirty="0">
                <a:solidFill>
                  <a:schemeClr val="tx2"/>
                </a:solidFill>
              </a:rPr>
              <a:t>for ‘open’ economies like Australia that engage in international trade because it </a:t>
            </a:r>
            <a:r>
              <a:rPr lang="en-US" sz="2400" dirty="0" err="1">
                <a:solidFill>
                  <a:schemeClr val="tx2"/>
                </a:solidFill>
              </a:rPr>
              <a:t>summarises</a:t>
            </a:r>
            <a:r>
              <a:rPr lang="en-US" sz="2400" dirty="0">
                <a:solidFill>
                  <a:schemeClr val="tx2"/>
                </a:solidFill>
              </a:rPr>
              <a:t> how resources flow between Australia and our trading partners.</a:t>
            </a:r>
          </a:p>
          <a:p>
            <a:r>
              <a:rPr lang="en-US" sz="2400" dirty="0">
                <a:solidFill>
                  <a:schemeClr val="tx2"/>
                </a:solidFill>
              </a:rPr>
              <a:t>The most common form of international transactions are for traded goods and services – imports and exports</a:t>
            </a:r>
          </a:p>
          <a:p>
            <a:r>
              <a:rPr lang="en-US" sz="2400" dirty="0">
                <a:solidFill>
                  <a:schemeClr val="tx2"/>
                </a:solidFill>
              </a:rPr>
              <a:t>Other transactions include income inflows (</a:t>
            </a:r>
            <a:r>
              <a:rPr lang="en-US" sz="2400" dirty="0" err="1">
                <a:solidFill>
                  <a:schemeClr val="tx2"/>
                </a:solidFill>
              </a:rPr>
              <a:t>eg.</a:t>
            </a:r>
            <a:r>
              <a:rPr lang="en-US" sz="2400" dirty="0">
                <a:solidFill>
                  <a:schemeClr val="tx2"/>
                </a:solidFill>
              </a:rPr>
              <a:t> Wages, dividend and interest payments).</a:t>
            </a:r>
          </a:p>
          <a:p>
            <a:r>
              <a:rPr lang="en-US" sz="2400" dirty="0">
                <a:solidFill>
                  <a:schemeClr val="tx2"/>
                </a:solidFill>
              </a:rPr>
              <a:t>Transfers such as foreign aid</a:t>
            </a:r>
          </a:p>
          <a:p>
            <a:r>
              <a:rPr lang="en-US" sz="2400" dirty="0">
                <a:solidFill>
                  <a:schemeClr val="tx2"/>
                </a:solidFill>
              </a:rPr>
              <a:t>Financial flows – (</a:t>
            </a:r>
            <a:r>
              <a:rPr lang="en-US" sz="2400" dirty="0" err="1">
                <a:solidFill>
                  <a:schemeClr val="tx2"/>
                </a:solidFill>
              </a:rPr>
              <a:t>eg.</a:t>
            </a:r>
            <a:r>
              <a:rPr lang="en-US" sz="2400" dirty="0">
                <a:solidFill>
                  <a:schemeClr val="tx2"/>
                </a:solidFill>
              </a:rPr>
              <a:t> foreign investment in shares and securities). </a:t>
            </a:r>
          </a:p>
          <a:p>
            <a:endParaRPr lang="en-US" sz="2400" dirty="0">
              <a:solidFill>
                <a:schemeClr val="tx2"/>
              </a:solidFill>
            </a:endParaRPr>
          </a:p>
        </p:txBody>
      </p:sp>
    </p:spTree>
    <p:extLst>
      <p:ext uri="{BB962C8B-B14F-4D97-AF65-F5344CB8AC3E}">
        <p14:creationId xmlns:p14="http://schemas.microsoft.com/office/powerpoint/2010/main" val="2710896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ACB51-9ADF-5B16-6B1B-DDB1E1D0389C}"/>
              </a:ext>
            </a:extLst>
          </p:cNvPr>
          <p:cNvSpPr>
            <a:spLocks noGrp="1"/>
          </p:cNvSpPr>
          <p:nvPr>
            <p:ph type="title"/>
          </p:nvPr>
        </p:nvSpPr>
        <p:spPr>
          <a:xfrm>
            <a:off x="838200" y="365761"/>
            <a:ext cx="10515600" cy="904900"/>
          </a:xfrm>
        </p:spPr>
        <p:txBody>
          <a:bodyPr>
            <a:normAutofit fontScale="90000"/>
          </a:bodyPr>
          <a:lstStyle/>
          <a:p>
            <a:r>
              <a:rPr lang="en-US"/>
              <a:t>THE STRUCTURE OF THE B.O.P</a:t>
            </a:r>
            <a:endParaRPr lang="en-US" dirty="0"/>
          </a:p>
        </p:txBody>
      </p:sp>
      <p:sp>
        <p:nvSpPr>
          <p:cNvPr id="3" name="Content Placeholder 2">
            <a:extLst>
              <a:ext uri="{FF2B5EF4-FFF2-40B4-BE49-F238E27FC236}">
                <a16:creationId xmlns:a16="http://schemas.microsoft.com/office/drawing/2014/main" id="{984BEA0A-C08B-2414-29AC-AB8CFDA59764}"/>
              </a:ext>
            </a:extLst>
          </p:cNvPr>
          <p:cNvSpPr>
            <a:spLocks noGrp="1"/>
          </p:cNvSpPr>
          <p:nvPr>
            <p:ph idx="1"/>
          </p:nvPr>
        </p:nvSpPr>
        <p:spPr>
          <a:xfrm>
            <a:off x="838200" y="1520042"/>
            <a:ext cx="10515600" cy="4833257"/>
          </a:xfrm>
        </p:spPr>
        <p:txBody>
          <a:bodyPr>
            <a:normAutofit/>
          </a:bodyPr>
          <a:lstStyle/>
          <a:p>
            <a:r>
              <a:rPr lang="en-US" dirty="0"/>
              <a:t>Australia's balance of payments captures the transactions between Australian ‘residents’ and the rest of the world, over a given period (monthly/quarterly/annually). </a:t>
            </a:r>
          </a:p>
          <a:p>
            <a:pPr marL="0" indent="0">
              <a:buNone/>
            </a:pPr>
            <a:endParaRPr lang="en-US" dirty="0"/>
          </a:p>
          <a:p>
            <a:r>
              <a:rPr lang="en-US" dirty="0"/>
              <a:t>‘Residents’ are defined broadly to include people who live in Australia, businesses that operate in Australia, the Australian government and other </a:t>
            </a:r>
            <a:r>
              <a:rPr lang="en-US" dirty="0" err="1"/>
              <a:t>organisations</a:t>
            </a:r>
            <a:r>
              <a:rPr lang="en-US" dirty="0"/>
              <a:t> that operate here.</a:t>
            </a:r>
          </a:p>
          <a:p>
            <a:endParaRPr lang="en-US" dirty="0"/>
          </a:p>
        </p:txBody>
      </p:sp>
      <p:pic>
        <p:nvPicPr>
          <p:cNvPr id="6" name="Picture 5" descr="A close up of a map&#10;&#10;Description automatically generated">
            <a:extLst>
              <a:ext uri="{FF2B5EF4-FFF2-40B4-BE49-F238E27FC236}">
                <a16:creationId xmlns:a16="http://schemas.microsoft.com/office/drawing/2014/main" id="{76B7EB47-0908-21CB-9F14-1CCB9676A8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9221" y="4347720"/>
            <a:ext cx="5402290" cy="1796259"/>
          </a:xfrm>
          <a:prstGeom prst="rect">
            <a:avLst/>
          </a:prstGeom>
        </p:spPr>
      </p:pic>
      <p:sp>
        <p:nvSpPr>
          <p:cNvPr id="8" name="TextBox 7">
            <a:extLst>
              <a:ext uri="{FF2B5EF4-FFF2-40B4-BE49-F238E27FC236}">
                <a16:creationId xmlns:a16="http://schemas.microsoft.com/office/drawing/2014/main" id="{7927152D-B56A-2809-D4A3-7B9A4412B003}"/>
              </a:ext>
            </a:extLst>
          </p:cNvPr>
          <p:cNvSpPr txBox="1"/>
          <p:nvPr/>
        </p:nvSpPr>
        <p:spPr>
          <a:xfrm>
            <a:off x="6240490" y="4645460"/>
            <a:ext cx="5569930" cy="1384995"/>
          </a:xfrm>
          <a:prstGeom prst="rect">
            <a:avLst/>
          </a:prstGeom>
          <a:noFill/>
        </p:spPr>
        <p:txBody>
          <a:bodyPr wrap="square">
            <a:spAutoFit/>
          </a:bodyPr>
          <a:lstStyle/>
          <a:p>
            <a:r>
              <a:rPr lang="en-AU" sz="2400" b="1" dirty="0">
                <a:ea typeface="Times New Roman"/>
              </a:rPr>
              <a:t>In simple terms, BOP is </a:t>
            </a:r>
          </a:p>
          <a:p>
            <a:pPr lvl="1"/>
            <a:r>
              <a:rPr lang="en-AU" sz="2000" dirty="0">
                <a:ea typeface="Times New Roman"/>
              </a:rPr>
              <a:t>A monetary record of transactions </a:t>
            </a:r>
            <a:r>
              <a:rPr lang="en-AU" sz="2000" b="1" dirty="0">
                <a:ea typeface="Times New Roman"/>
              </a:rPr>
              <a:t>INTO AND OUT OF AUSTRALIA </a:t>
            </a:r>
            <a:r>
              <a:rPr lang="en-AU" sz="2000" dirty="0">
                <a:ea typeface="Times New Roman"/>
              </a:rPr>
              <a:t>over a period of time </a:t>
            </a:r>
          </a:p>
        </p:txBody>
      </p:sp>
    </p:spTree>
    <p:extLst>
      <p:ext uri="{BB962C8B-B14F-4D97-AF65-F5344CB8AC3E}">
        <p14:creationId xmlns:p14="http://schemas.microsoft.com/office/powerpoint/2010/main" val="496454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79027" y="355600"/>
            <a:ext cx="8272212" cy="1013800"/>
          </a:xfrm>
        </p:spPr>
        <p:txBody>
          <a:bodyPr>
            <a:normAutofit/>
          </a:bodyPr>
          <a:lstStyle/>
          <a:p>
            <a:r>
              <a:rPr lang="en-AU" dirty="0">
                <a:solidFill>
                  <a:srgbClr val="FFFFFF"/>
                </a:solidFill>
              </a:rPr>
              <a:t>Must Know Terminology</a:t>
            </a:r>
          </a:p>
        </p:txBody>
      </p:sp>
      <p:sp>
        <p:nvSpPr>
          <p:cNvPr id="2" name="Content Placeholder 1"/>
          <p:cNvSpPr>
            <a:spLocks noGrp="1"/>
          </p:cNvSpPr>
          <p:nvPr>
            <p:ph idx="1"/>
          </p:nvPr>
        </p:nvSpPr>
        <p:spPr>
          <a:xfrm>
            <a:off x="5201920" y="1656820"/>
            <a:ext cx="6106159" cy="2320381"/>
          </a:xfrm>
        </p:spPr>
        <p:txBody>
          <a:bodyPr>
            <a:normAutofit/>
          </a:bodyPr>
          <a:lstStyle/>
          <a:p>
            <a:r>
              <a:rPr lang="en-AU" b="1" dirty="0">
                <a:ea typeface="Times New Roman"/>
              </a:rPr>
              <a:t>Debits and Credits</a:t>
            </a:r>
          </a:p>
          <a:p>
            <a:pPr lvl="1">
              <a:spcBef>
                <a:spcPts val="600"/>
              </a:spcBef>
            </a:pPr>
            <a:r>
              <a:rPr lang="en-AU" sz="2000" dirty="0">
                <a:ea typeface="Times New Roman"/>
              </a:rPr>
              <a:t>Money flowing into Australia are </a:t>
            </a:r>
            <a:r>
              <a:rPr lang="en-AU" sz="2000" b="1" dirty="0">
                <a:ea typeface="Times New Roman"/>
              </a:rPr>
              <a:t>CREDITS (CR) </a:t>
            </a:r>
            <a:r>
              <a:rPr lang="en-AU" sz="2000" dirty="0">
                <a:ea typeface="Times New Roman"/>
              </a:rPr>
              <a:t>e.g. exports out, money in</a:t>
            </a:r>
          </a:p>
          <a:p>
            <a:pPr marL="457200" lvl="1" indent="0">
              <a:spcBef>
                <a:spcPts val="600"/>
              </a:spcBef>
              <a:buNone/>
            </a:pPr>
            <a:endParaRPr lang="en-AU" sz="2000" dirty="0">
              <a:ea typeface="Times New Roman"/>
            </a:endParaRPr>
          </a:p>
          <a:p>
            <a:pPr lvl="1">
              <a:spcBef>
                <a:spcPts val="600"/>
              </a:spcBef>
            </a:pPr>
            <a:r>
              <a:rPr lang="en-AU" sz="2000" dirty="0">
                <a:ea typeface="Times New Roman"/>
              </a:rPr>
              <a:t>Money flowing out of Australia are </a:t>
            </a:r>
            <a:r>
              <a:rPr lang="en-AU" sz="2000" b="1" dirty="0">
                <a:ea typeface="Times New Roman"/>
              </a:rPr>
              <a:t>DEBITS (DR) </a:t>
            </a:r>
            <a:r>
              <a:rPr lang="en-AU" sz="2000" dirty="0">
                <a:ea typeface="Times New Roman"/>
              </a:rPr>
              <a:t>e.g. imports in, money out</a:t>
            </a:r>
          </a:p>
        </p:txBody>
      </p:sp>
      <p:pic>
        <p:nvPicPr>
          <p:cNvPr id="18" name="Picture 17" descr="A close up of a map&#10;&#10;Description automatically generated">
            <a:extLst>
              <a:ext uri="{FF2B5EF4-FFF2-40B4-BE49-F238E27FC236}">
                <a16:creationId xmlns:a16="http://schemas.microsoft.com/office/drawing/2014/main" id="{D3D4BDF0-1D6E-5A46-A57A-004751430D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681" y="1656820"/>
            <a:ext cx="4336785" cy="1441979"/>
          </a:xfrm>
          <a:prstGeom prst="rect">
            <a:avLst/>
          </a:prstGeom>
        </p:spPr>
      </p:pic>
      <p:pic>
        <p:nvPicPr>
          <p:cNvPr id="1026" name="Picture 2" descr="How to Draw a Boy - Really Easy Drawing Tutorial">
            <a:extLst>
              <a:ext uri="{FF2B5EF4-FFF2-40B4-BE49-F238E27FC236}">
                <a16:creationId xmlns:a16="http://schemas.microsoft.com/office/drawing/2014/main" id="{65D972CA-FBAE-3614-25DB-743EFBDDB1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787" y="3429000"/>
            <a:ext cx="1456478" cy="3200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remium Vector | Little girl show hand gesture thumb up and thumb down">
            <a:extLst>
              <a:ext uri="{FF2B5EF4-FFF2-40B4-BE49-F238E27FC236}">
                <a16:creationId xmlns:a16="http://schemas.microsoft.com/office/drawing/2014/main" id="{EEEE9821-D54E-0F08-F08C-AAAF9046681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7328" r="34881"/>
          <a:stretch/>
        </p:blipFill>
        <p:spPr bwMode="auto">
          <a:xfrm>
            <a:off x="10479732" y="3701666"/>
            <a:ext cx="1399212" cy="2927733"/>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1">
            <a:extLst>
              <a:ext uri="{FF2B5EF4-FFF2-40B4-BE49-F238E27FC236}">
                <a16:creationId xmlns:a16="http://schemas.microsoft.com/office/drawing/2014/main" id="{60421AC9-4741-34A8-ED7F-28B67499DCA2}"/>
              </a:ext>
            </a:extLst>
          </p:cNvPr>
          <p:cNvSpPr txBox="1">
            <a:spLocks/>
          </p:cNvSpPr>
          <p:nvPr/>
        </p:nvSpPr>
        <p:spPr>
          <a:xfrm>
            <a:off x="2190342" y="4009631"/>
            <a:ext cx="7811316" cy="232038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b="1" dirty="0">
                <a:solidFill>
                  <a:schemeClr val="tx1"/>
                </a:solidFill>
                <a:ea typeface="Times New Roman"/>
              </a:rPr>
              <a:t>Meet Chris Credit</a:t>
            </a:r>
          </a:p>
          <a:p>
            <a:pPr marL="0" indent="0" algn="ctr">
              <a:buNone/>
            </a:pPr>
            <a:r>
              <a:rPr lang="en-AU" b="1" dirty="0">
                <a:solidFill>
                  <a:schemeClr val="tx1"/>
                </a:solidFill>
              </a:rPr>
              <a:t>&amp;</a:t>
            </a:r>
          </a:p>
          <a:p>
            <a:pPr marL="0" indent="0" algn="r">
              <a:buNone/>
            </a:pPr>
            <a:r>
              <a:rPr lang="en-AU" b="1" dirty="0">
                <a:solidFill>
                  <a:schemeClr val="tx1"/>
                </a:solidFill>
              </a:rPr>
              <a:t>Debbie Debit</a:t>
            </a:r>
          </a:p>
        </p:txBody>
      </p:sp>
    </p:spTree>
    <p:extLst>
      <p:ext uri="{BB962C8B-B14F-4D97-AF65-F5344CB8AC3E}">
        <p14:creationId xmlns:p14="http://schemas.microsoft.com/office/powerpoint/2010/main" val="4222726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45912" y="332656"/>
            <a:ext cx="7989752" cy="934091"/>
          </a:xfrm>
        </p:spPr>
        <p:txBody>
          <a:bodyPr>
            <a:normAutofit/>
          </a:bodyPr>
          <a:lstStyle/>
          <a:p>
            <a:r>
              <a:rPr lang="en-AU" sz="3500" dirty="0"/>
              <a:t>On your whiteboards,</a:t>
            </a:r>
          </a:p>
        </p:txBody>
      </p:sp>
      <p:sp>
        <p:nvSpPr>
          <p:cNvPr id="2" name="Content Placeholder 1"/>
          <p:cNvSpPr>
            <a:spLocks noGrp="1"/>
          </p:cNvSpPr>
          <p:nvPr>
            <p:ph idx="1"/>
          </p:nvPr>
        </p:nvSpPr>
        <p:spPr>
          <a:xfrm>
            <a:off x="355600" y="1493520"/>
            <a:ext cx="11257280" cy="5031824"/>
          </a:xfrm>
        </p:spPr>
        <p:txBody>
          <a:bodyPr>
            <a:noAutofit/>
          </a:bodyPr>
          <a:lstStyle/>
          <a:p>
            <a:r>
              <a:rPr lang="en-AU" sz="2400" dirty="0"/>
              <a:t>Payments into Australia are  </a:t>
            </a:r>
            <a:r>
              <a:rPr lang="en-AU" sz="2400" b="1" dirty="0"/>
              <a:t>__________</a:t>
            </a:r>
            <a:endParaRPr lang="en-AU" sz="2400" dirty="0"/>
          </a:p>
          <a:p>
            <a:r>
              <a:rPr lang="en-AU" sz="2400" dirty="0"/>
              <a:t>Payments out of Australia are </a:t>
            </a:r>
            <a:r>
              <a:rPr lang="en-AU" sz="2400" b="1" dirty="0"/>
              <a:t>_________</a:t>
            </a:r>
            <a:endParaRPr lang="en-AU" sz="2400" dirty="0"/>
          </a:p>
          <a:p>
            <a:pPr marL="0" indent="0" algn="ctr">
              <a:buNone/>
            </a:pPr>
            <a:endParaRPr lang="en-AU" sz="2400" b="1" dirty="0"/>
          </a:p>
          <a:p>
            <a:pPr marL="0" indent="0" algn="ctr">
              <a:buNone/>
            </a:pPr>
            <a:r>
              <a:rPr lang="en-AU" sz="2400" b="1" dirty="0"/>
              <a:t>Credit or Debit?</a:t>
            </a:r>
          </a:p>
          <a:p>
            <a:pPr marL="736092" lvl="1" indent="-342900">
              <a:buFont typeface="+mj-lt"/>
              <a:buAutoNum type="arabicPeriod"/>
            </a:pPr>
            <a:r>
              <a:rPr lang="en-AU" dirty="0"/>
              <a:t>Investment into Australia </a:t>
            </a:r>
          </a:p>
          <a:p>
            <a:pPr marL="736092" lvl="1" indent="-342900">
              <a:buFont typeface="+mj-lt"/>
              <a:buAutoNum type="arabicPeriod"/>
            </a:pPr>
            <a:r>
              <a:rPr lang="en-AU" dirty="0"/>
              <a:t>Purchasing a foreign car </a:t>
            </a:r>
          </a:p>
          <a:p>
            <a:pPr marL="736092" lvl="1" indent="-342900">
              <a:buFont typeface="+mj-lt"/>
              <a:buAutoNum type="arabicPeriod"/>
            </a:pPr>
            <a:r>
              <a:rPr lang="en-AU" dirty="0"/>
              <a:t>An Australian travelling overseas </a:t>
            </a:r>
          </a:p>
          <a:p>
            <a:pPr marL="736092" lvl="1" indent="-342900">
              <a:buFont typeface="+mj-lt"/>
              <a:buAutoNum type="arabicPeriod"/>
            </a:pPr>
            <a:r>
              <a:rPr lang="en-AU" dirty="0"/>
              <a:t>Sending pension to UK </a:t>
            </a:r>
          </a:p>
          <a:p>
            <a:pPr marL="736092" lvl="1" indent="-342900">
              <a:buFont typeface="+mj-lt"/>
              <a:buAutoNum type="arabicPeriod"/>
            </a:pPr>
            <a:r>
              <a:rPr lang="en-AU" dirty="0"/>
              <a:t>US business man buying Australian </a:t>
            </a:r>
          </a:p>
          <a:p>
            <a:pPr marL="393192" lvl="1" indent="0">
              <a:buNone/>
            </a:pPr>
            <a:r>
              <a:rPr lang="en-AU" dirty="0"/>
              <a:t>	shares </a:t>
            </a:r>
          </a:p>
          <a:p>
            <a:pPr marL="393192" lvl="1" indent="0">
              <a:buNone/>
            </a:pPr>
            <a:endParaRPr lang="en-AU" b="1" dirty="0">
              <a:solidFill>
                <a:srgbClr val="FF0000"/>
              </a:solidFill>
            </a:endParaRPr>
          </a:p>
        </p:txBody>
      </p:sp>
      <p:sp>
        <p:nvSpPr>
          <p:cNvPr id="9" name="TextBox 8">
            <a:extLst>
              <a:ext uri="{FF2B5EF4-FFF2-40B4-BE49-F238E27FC236}">
                <a16:creationId xmlns:a16="http://schemas.microsoft.com/office/drawing/2014/main" id="{D4ABE1BA-2261-BF07-73C6-7F2BED5BF7D7}"/>
              </a:ext>
            </a:extLst>
          </p:cNvPr>
          <p:cNvSpPr txBox="1"/>
          <p:nvPr/>
        </p:nvSpPr>
        <p:spPr>
          <a:xfrm>
            <a:off x="5990864" y="3682284"/>
            <a:ext cx="5537200" cy="1853264"/>
          </a:xfrm>
          <a:prstGeom prst="rect">
            <a:avLst/>
          </a:prstGeom>
          <a:noFill/>
        </p:spPr>
        <p:txBody>
          <a:bodyPr wrap="square">
            <a:spAutoFit/>
          </a:bodyPr>
          <a:lstStyle/>
          <a:p>
            <a:pPr marL="850392" marR="0" lvl="1" indent="-457200" algn="l" defTabSz="914400" rtl="0" eaLnBrk="1" fontAlgn="auto" latinLnBrk="0" hangingPunct="1">
              <a:lnSpc>
                <a:spcPct val="110000"/>
              </a:lnSpc>
              <a:spcBef>
                <a:spcPts val="500"/>
              </a:spcBef>
              <a:spcAft>
                <a:spcPts val="0"/>
              </a:spcAft>
              <a:buClr>
                <a:schemeClr val="tx1"/>
              </a:buClr>
              <a:buSzTx/>
              <a:buFont typeface="+mj-lt"/>
              <a:buAutoNum type="arabicPeriod" startAt="6"/>
              <a:tabLst/>
              <a:defRPr/>
            </a:pPr>
            <a:r>
              <a:rPr kumimoji="0" lang="en-AU" b="0" i="0" u="none" strike="noStrike" kern="1200" cap="none" spc="0" normalizeH="0" baseline="0" noProof="0" dirty="0">
                <a:ln>
                  <a:noFill/>
                </a:ln>
                <a:effectLst/>
                <a:uLnTx/>
                <a:uFillTx/>
                <a:latin typeface="Avenir Next LT Pro"/>
                <a:ea typeface="+mn-ea"/>
                <a:cs typeface="+mn-cs"/>
              </a:rPr>
              <a:t>Buying a US Government Bond </a:t>
            </a:r>
          </a:p>
          <a:p>
            <a:pPr marL="850392" marR="0" lvl="1" indent="-457200" algn="l" defTabSz="914400" rtl="0" eaLnBrk="1" fontAlgn="auto" latinLnBrk="0" hangingPunct="1">
              <a:lnSpc>
                <a:spcPct val="110000"/>
              </a:lnSpc>
              <a:spcBef>
                <a:spcPts val="500"/>
              </a:spcBef>
              <a:spcAft>
                <a:spcPts val="0"/>
              </a:spcAft>
              <a:buClr>
                <a:schemeClr val="tx1"/>
              </a:buClr>
              <a:buSzTx/>
              <a:buFont typeface="+mj-lt"/>
              <a:buAutoNum type="arabicPeriod" startAt="6"/>
              <a:tabLst/>
              <a:defRPr/>
            </a:pPr>
            <a:r>
              <a:rPr kumimoji="0" lang="en-AU" b="0" i="0" u="none" strike="noStrike" kern="1200" cap="none" spc="0" normalizeH="0" baseline="0" noProof="0" dirty="0">
                <a:ln>
                  <a:noFill/>
                </a:ln>
                <a:effectLst/>
                <a:uLnTx/>
                <a:uFillTx/>
                <a:latin typeface="Avenir Next LT Pro"/>
                <a:ea typeface="+mn-ea"/>
                <a:cs typeface="+mn-cs"/>
              </a:rPr>
              <a:t>Paying for UK freight services  </a:t>
            </a:r>
          </a:p>
          <a:p>
            <a:pPr marL="850392" marR="0" lvl="1" indent="-457200" algn="l" defTabSz="914400" rtl="0" eaLnBrk="1" fontAlgn="auto" latinLnBrk="0" hangingPunct="1">
              <a:lnSpc>
                <a:spcPct val="110000"/>
              </a:lnSpc>
              <a:spcBef>
                <a:spcPts val="500"/>
              </a:spcBef>
              <a:spcAft>
                <a:spcPts val="0"/>
              </a:spcAft>
              <a:buClr>
                <a:schemeClr val="tx1"/>
              </a:buClr>
              <a:buSzTx/>
              <a:buFont typeface="+mj-lt"/>
              <a:buAutoNum type="arabicPeriod" startAt="6"/>
              <a:tabLst/>
              <a:defRPr/>
            </a:pPr>
            <a:r>
              <a:rPr kumimoji="0" lang="en-AU" b="0" i="0" u="none" strike="noStrike" kern="1200" cap="none" spc="0" normalizeH="0" baseline="0" noProof="0" dirty="0">
                <a:ln>
                  <a:noFill/>
                </a:ln>
                <a:effectLst/>
                <a:uLnTx/>
                <a:uFillTx/>
                <a:latin typeface="Avenir Next LT Pro"/>
                <a:ea typeface="+mn-ea"/>
                <a:cs typeface="+mn-cs"/>
              </a:rPr>
              <a:t>Foreign Aid to Indonesia </a:t>
            </a:r>
          </a:p>
          <a:p>
            <a:pPr marL="850392" marR="0" lvl="1" indent="-457200" algn="l" defTabSz="914400" rtl="0" eaLnBrk="1" fontAlgn="auto" latinLnBrk="0" hangingPunct="1">
              <a:lnSpc>
                <a:spcPct val="110000"/>
              </a:lnSpc>
              <a:spcBef>
                <a:spcPts val="500"/>
              </a:spcBef>
              <a:spcAft>
                <a:spcPts val="0"/>
              </a:spcAft>
              <a:buClr>
                <a:schemeClr val="tx1"/>
              </a:buClr>
              <a:buSzTx/>
              <a:buFont typeface="+mj-lt"/>
              <a:buAutoNum type="arabicPeriod" startAt="6"/>
              <a:tabLst/>
              <a:defRPr/>
            </a:pPr>
            <a:r>
              <a:rPr kumimoji="0" lang="en-AU" b="0" i="0" u="none" strike="noStrike" kern="1200" cap="none" spc="0" normalizeH="0" baseline="0" noProof="0" dirty="0">
                <a:ln>
                  <a:noFill/>
                </a:ln>
                <a:effectLst/>
                <a:uLnTx/>
                <a:uFillTx/>
                <a:latin typeface="Avenir Next LT Pro"/>
                <a:ea typeface="+mn-ea"/>
                <a:cs typeface="+mn-cs"/>
              </a:rPr>
              <a:t>Japanese students studying in Australia </a:t>
            </a:r>
          </a:p>
          <a:p>
            <a:pPr marL="850392" marR="0" lvl="1" indent="-457200" algn="l" defTabSz="914400" rtl="0" eaLnBrk="1" fontAlgn="auto" latinLnBrk="0" hangingPunct="1">
              <a:lnSpc>
                <a:spcPct val="110000"/>
              </a:lnSpc>
              <a:spcBef>
                <a:spcPts val="500"/>
              </a:spcBef>
              <a:spcAft>
                <a:spcPts val="0"/>
              </a:spcAft>
              <a:buClr>
                <a:schemeClr val="tx1"/>
              </a:buClr>
              <a:buSzTx/>
              <a:buFont typeface="+mj-lt"/>
              <a:buAutoNum type="arabicPeriod" startAt="6"/>
              <a:tabLst/>
              <a:defRPr/>
            </a:pPr>
            <a:r>
              <a:rPr kumimoji="0" lang="en-AU" b="0" i="0" u="none" strike="noStrike" kern="1200" cap="none" spc="0" normalizeH="0" baseline="0" noProof="0" dirty="0">
                <a:ln>
                  <a:noFill/>
                </a:ln>
                <a:effectLst/>
                <a:uLnTx/>
                <a:uFillTx/>
                <a:latin typeface="Avenir Next LT Pro"/>
                <a:ea typeface="+mn-ea"/>
                <a:cs typeface="+mn-cs"/>
              </a:rPr>
              <a:t>Iron Ore Export to Indonesia</a:t>
            </a:r>
            <a:endParaRPr lang="en-AU" dirty="0"/>
          </a:p>
        </p:txBody>
      </p:sp>
      <p:pic>
        <p:nvPicPr>
          <p:cNvPr id="10" name="Picture 2" descr="How to Draw a Boy - Really Easy Drawing Tutorial">
            <a:extLst>
              <a:ext uri="{FF2B5EF4-FFF2-40B4-BE49-F238E27FC236}">
                <a16:creationId xmlns:a16="http://schemas.microsoft.com/office/drawing/2014/main" id="{B5510724-9005-578F-006B-81E39CCED9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8133" y="799701"/>
            <a:ext cx="942411" cy="207081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Premium Vector | Little girl show hand gesture thumb up and thumb down">
            <a:extLst>
              <a:ext uri="{FF2B5EF4-FFF2-40B4-BE49-F238E27FC236}">
                <a16:creationId xmlns:a16="http://schemas.microsoft.com/office/drawing/2014/main" id="{853901B1-87CD-79AD-23EC-13B72D4A8A1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328" r="34881"/>
          <a:stretch/>
        </p:blipFill>
        <p:spPr bwMode="auto">
          <a:xfrm>
            <a:off x="10538389" y="799701"/>
            <a:ext cx="989675" cy="2070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3808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E1D89-13B4-1032-9E54-80FD678394C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512D73C-C2F2-CFEB-02EE-BBEA289361E3}"/>
              </a:ext>
            </a:extLst>
          </p:cNvPr>
          <p:cNvSpPr>
            <a:spLocks noGrp="1"/>
          </p:cNvSpPr>
          <p:nvPr>
            <p:ph type="title"/>
          </p:nvPr>
        </p:nvSpPr>
        <p:spPr>
          <a:xfrm>
            <a:off x="245912" y="332656"/>
            <a:ext cx="7989752" cy="934091"/>
          </a:xfrm>
        </p:spPr>
        <p:txBody>
          <a:bodyPr>
            <a:normAutofit/>
          </a:bodyPr>
          <a:lstStyle/>
          <a:p>
            <a:r>
              <a:rPr lang="en-AU" sz="3500" dirty="0"/>
              <a:t>ON YOUR WHITEBOARDS,</a:t>
            </a:r>
          </a:p>
        </p:txBody>
      </p:sp>
      <p:sp>
        <p:nvSpPr>
          <p:cNvPr id="2" name="Content Placeholder 1">
            <a:extLst>
              <a:ext uri="{FF2B5EF4-FFF2-40B4-BE49-F238E27FC236}">
                <a16:creationId xmlns:a16="http://schemas.microsoft.com/office/drawing/2014/main" id="{C619F1F7-325E-5B3F-64B8-A60F34322A73}"/>
              </a:ext>
            </a:extLst>
          </p:cNvPr>
          <p:cNvSpPr>
            <a:spLocks noGrp="1"/>
          </p:cNvSpPr>
          <p:nvPr>
            <p:ph idx="1"/>
          </p:nvPr>
        </p:nvSpPr>
        <p:spPr>
          <a:xfrm>
            <a:off x="355600" y="1493520"/>
            <a:ext cx="11257280" cy="5031824"/>
          </a:xfrm>
        </p:spPr>
        <p:txBody>
          <a:bodyPr>
            <a:noAutofit/>
          </a:bodyPr>
          <a:lstStyle/>
          <a:p>
            <a:r>
              <a:rPr lang="en-AU" sz="2400" dirty="0"/>
              <a:t>Payments into Australia are  </a:t>
            </a:r>
            <a:r>
              <a:rPr lang="en-AU" sz="2400" b="1" dirty="0">
                <a:solidFill>
                  <a:schemeClr val="accent6">
                    <a:lumMod val="40000"/>
                    <a:lumOff val="60000"/>
                  </a:schemeClr>
                </a:solidFill>
              </a:rPr>
              <a:t>Credits</a:t>
            </a:r>
          </a:p>
          <a:p>
            <a:r>
              <a:rPr lang="en-AU" sz="2400" dirty="0"/>
              <a:t>Payments out of Australia are </a:t>
            </a:r>
            <a:r>
              <a:rPr lang="en-AU" sz="2400" b="1" dirty="0">
                <a:solidFill>
                  <a:schemeClr val="accent6">
                    <a:lumMod val="40000"/>
                    <a:lumOff val="60000"/>
                  </a:schemeClr>
                </a:solidFill>
              </a:rPr>
              <a:t>Debits</a:t>
            </a:r>
            <a:endParaRPr lang="en-AU" sz="2400" dirty="0">
              <a:solidFill>
                <a:schemeClr val="accent6">
                  <a:lumMod val="40000"/>
                  <a:lumOff val="60000"/>
                </a:schemeClr>
              </a:solidFill>
            </a:endParaRPr>
          </a:p>
          <a:p>
            <a:pPr marL="0" indent="0" algn="ctr">
              <a:buNone/>
            </a:pPr>
            <a:r>
              <a:rPr lang="en-AU" sz="2400" b="1" dirty="0"/>
              <a:t>Credit or Debit?</a:t>
            </a:r>
          </a:p>
          <a:p>
            <a:pPr marL="736092" lvl="1" indent="-342900">
              <a:buFont typeface="+mj-lt"/>
              <a:buAutoNum type="arabicPeriod"/>
            </a:pPr>
            <a:r>
              <a:rPr lang="en-AU" dirty="0"/>
              <a:t>Investment into Australia </a:t>
            </a:r>
            <a:r>
              <a:rPr lang="en-AU" b="1" dirty="0">
                <a:solidFill>
                  <a:schemeClr val="accent6">
                    <a:lumMod val="40000"/>
                    <a:lumOff val="60000"/>
                  </a:schemeClr>
                </a:solidFill>
              </a:rPr>
              <a:t>C</a:t>
            </a:r>
          </a:p>
          <a:p>
            <a:pPr marL="736092" lvl="1" indent="-342900">
              <a:buFont typeface="+mj-lt"/>
              <a:buAutoNum type="arabicPeriod"/>
            </a:pPr>
            <a:r>
              <a:rPr lang="en-AU" dirty="0"/>
              <a:t>Purchasing a foreign car </a:t>
            </a:r>
            <a:r>
              <a:rPr lang="en-AU" b="1" dirty="0">
                <a:solidFill>
                  <a:schemeClr val="accent6">
                    <a:lumMod val="40000"/>
                    <a:lumOff val="60000"/>
                  </a:schemeClr>
                </a:solidFill>
              </a:rPr>
              <a:t>D</a:t>
            </a:r>
          </a:p>
          <a:p>
            <a:pPr marL="736092" lvl="1" indent="-342900">
              <a:buFont typeface="+mj-lt"/>
              <a:buAutoNum type="arabicPeriod"/>
            </a:pPr>
            <a:r>
              <a:rPr lang="en-AU" dirty="0"/>
              <a:t>An Australian travelling overseas </a:t>
            </a:r>
            <a:r>
              <a:rPr lang="en-AU" b="1" dirty="0">
                <a:solidFill>
                  <a:schemeClr val="accent6">
                    <a:lumMod val="40000"/>
                    <a:lumOff val="60000"/>
                  </a:schemeClr>
                </a:solidFill>
              </a:rPr>
              <a:t>D</a:t>
            </a:r>
            <a:r>
              <a:rPr lang="en-AU" dirty="0"/>
              <a:t> </a:t>
            </a:r>
          </a:p>
          <a:p>
            <a:pPr marL="736092" lvl="1" indent="-342900">
              <a:buFont typeface="+mj-lt"/>
              <a:buAutoNum type="arabicPeriod"/>
            </a:pPr>
            <a:r>
              <a:rPr lang="en-AU" dirty="0"/>
              <a:t>Sending pension to UK </a:t>
            </a:r>
            <a:r>
              <a:rPr lang="en-AU" b="1" dirty="0">
                <a:solidFill>
                  <a:schemeClr val="accent6">
                    <a:lumMod val="40000"/>
                    <a:lumOff val="60000"/>
                  </a:schemeClr>
                </a:solidFill>
              </a:rPr>
              <a:t>D</a:t>
            </a:r>
            <a:endParaRPr lang="en-AU" dirty="0"/>
          </a:p>
          <a:p>
            <a:pPr marL="736092" lvl="1" indent="-342900">
              <a:buFont typeface="+mj-lt"/>
              <a:buAutoNum type="arabicPeriod"/>
            </a:pPr>
            <a:r>
              <a:rPr lang="en-AU" dirty="0"/>
              <a:t>US businessman buying Australian shares </a:t>
            </a:r>
            <a:r>
              <a:rPr lang="en-AU" b="1" dirty="0">
                <a:solidFill>
                  <a:schemeClr val="accent6">
                    <a:lumMod val="40000"/>
                    <a:lumOff val="60000"/>
                  </a:schemeClr>
                </a:solidFill>
              </a:rPr>
              <a:t>C</a:t>
            </a:r>
          </a:p>
          <a:p>
            <a:pPr marL="393192" lvl="1" indent="0">
              <a:buNone/>
            </a:pPr>
            <a:endParaRPr lang="en-AU" dirty="0"/>
          </a:p>
          <a:p>
            <a:pPr marL="393192" lvl="1" indent="0">
              <a:buNone/>
            </a:pPr>
            <a:r>
              <a:rPr lang="en-AU" dirty="0"/>
              <a:t> </a:t>
            </a:r>
          </a:p>
          <a:p>
            <a:pPr marL="736092" lvl="1" indent="-342900">
              <a:buFont typeface="+mj-lt"/>
              <a:buAutoNum type="arabicPeriod"/>
            </a:pPr>
            <a:endParaRPr lang="en-AU" b="1" dirty="0">
              <a:solidFill>
                <a:srgbClr val="FF0000"/>
              </a:solidFill>
            </a:endParaRPr>
          </a:p>
        </p:txBody>
      </p:sp>
      <p:sp>
        <p:nvSpPr>
          <p:cNvPr id="9" name="TextBox 8">
            <a:extLst>
              <a:ext uri="{FF2B5EF4-FFF2-40B4-BE49-F238E27FC236}">
                <a16:creationId xmlns:a16="http://schemas.microsoft.com/office/drawing/2014/main" id="{9BCD825C-D257-A6A1-9B76-152BB894128E}"/>
              </a:ext>
            </a:extLst>
          </p:cNvPr>
          <p:cNvSpPr txBox="1"/>
          <p:nvPr/>
        </p:nvSpPr>
        <p:spPr>
          <a:xfrm>
            <a:off x="5872480" y="3082800"/>
            <a:ext cx="5740400" cy="1853264"/>
          </a:xfrm>
          <a:prstGeom prst="rect">
            <a:avLst/>
          </a:prstGeom>
          <a:noFill/>
        </p:spPr>
        <p:txBody>
          <a:bodyPr wrap="square">
            <a:spAutoFit/>
          </a:bodyPr>
          <a:lstStyle/>
          <a:p>
            <a:pPr marL="736092" marR="0" lvl="1" indent="-342900" fontAlgn="auto">
              <a:lnSpc>
                <a:spcPct val="110000"/>
              </a:lnSpc>
              <a:spcBef>
                <a:spcPts val="500"/>
              </a:spcBef>
              <a:spcAft>
                <a:spcPts val="0"/>
              </a:spcAft>
              <a:buClr>
                <a:schemeClr val="tx2"/>
              </a:buClr>
              <a:buSzTx/>
              <a:buFont typeface="+mj-lt"/>
              <a:buAutoNum type="arabicPeriod" startAt="6"/>
              <a:tabLst/>
              <a:defRPr/>
            </a:pPr>
            <a:r>
              <a:rPr lang="en-AU" dirty="0"/>
              <a:t>Buying a US Government Bond </a:t>
            </a:r>
            <a:r>
              <a:rPr lang="en-AU" b="1" dirty="0">
                <a:solidFill>
                  <a:schemeClr val="accent6">
                    <a:lumMod val="40000"/>
                    <a:lumOff val="60000"/>
                  </a:schemeClr>
                </a:solidFill>
              </a:rPr>
              <a:t>D </a:t>
            </a:r>
          </a:p>
          <a:p>
            <a:pPr marL="736092" marR="0" lvl="1" indent="-342900" fontAlgn="auto">
              <a:lnSpc>
                <a:spcPct val="110000"/>
              </a:lnSpc>
              <a:spcBef>
                <a:spcPts val="500"/>
              </a:spcBef>
              <a:spcAft>
                <a:spcPts val="0"/>
              </a:spcAft>
              <a:buClr>
                <a:schemeClr val="tx2"/>
              </a:buClr>
              <a:buSzTx/>
              <a:buFont typeface="+mj-lt"/>
              <a:buAutoNum type="arabicPeriod" startAt="6"/>
              <a:tabLst/>
              <a:defRPr/>
            </a:pPr>
            <a:r>
              <a:rPr lang="en-AU" dirty="0"/>
              <a:t>Paying for UK freight services </a:t>
            </a:r>
            <a:r>
              <a:rPr lang="en-AU" b="1" dirty="0">
                <a:solidFill>
                  <a:schemeClr val="accent6">
                    <a:lumMod val="40000"/>
                    <a:lumOff val="60000"/>
                  </a:schemeClr>
                </a:solidFill>
              </a:rPr>
              <a:t>D  </a:t>
            </a:r>
          </a:p>
          <a:p>
            <a:pPr marL="736092" marR="0" lvl="1" indent="-342900" fontAlgn="auto">
              <a:lnSpc>
                <a:spcPct val="110000"/>
              </a:lnSpc>
              <a:spcBef>
                <a:spcPts val="500"/>
              </a:spcBef>
              <a:spcAft>
                <a:spcPts val="0"/>
              </a:spcAft>
              <a:buClr>
                <a:schemeClr val="tx2"/>
              </a:buClr>
              <a:buSzTx/>
              <a:buFont typeface="+mj-lt"/>
              <a:buAutoNum type="arabicPeriod" startAt="6"/>
              <a:tabLst/>
              <a:defRPr/>
            </a:pPr>
            <a:r>
              <a:rPr lang="en-AU" dirty="0"/>
              <a:t>Foreign Aid to Indonesia</a:t>
            </a:r>
            <a:r>
              <a:rPr lang="en-AU" b="1" dirty="0">
                <a:solidFill>
                  <a:schemeClr val="accent6">
                    <a:lumMod val="40000"/>
                    <a:lumOff val="60000"/>
                  </a:schemeClr>
                </a:solidFill>
              </a:rPr>
              <a:t> D</a:t>
            </a:r>
          </a:p>
          <a:p>
            <a:pPr marL="736092" marR="0" lvl="1" indent="-342900" fontAlgn="auto">
              <a:lnSpc>
                <a:spcPct val="110000"/>
              </a:lnSpc>
              <a:spcBef>
                <a:spcPts val="500"/>
              </a:spcBef>
              <a:spcAft>
                <a:spcPts val="0"/>
              </a:spcAft>
              <a:buClr>
                <a:schemeClr val="tx2"/>
              </a:buClr>
              <a:buSzTx/>
              <a:buFont typeface="+mj-lt"/>
              <a:buAutoNum type="arabicPeriod" startAt="6"/>
              <a:tabLst/>
              <a:defRPr/>
            </a:pPr>
            <a:r>
              <a:rPr lang="en-AU" dirty="0"/>
              <a:t>Japanese students studying in Australia </a:t>
            </a:r>
            <a:r>
              <a:rPr lang="en-AU" b="1" dirty="0">
                <a:solidFill>
                  <a:schemeClr val="accent6">
                    <a:lumMod val="40000"/>
                    <a:lumOff val="60000"/>
                  </a:schemeClr>
                </a:solidFill>
              </a:rPr>
              <a:t>C</a:t>
            </a:r>
          </a:p>
          <a:p>
            <a:pPr marL="736092" marR="0" lvl="1" indent="-342900" fontAlgn="auto">
              <a:lnSpc>
                <a:spcPct val="110000"/>
              </a:lnSpc>
              <a:spcBef>
                <a:spcPts val="500"/>
              </a:spcBef>
              <a:spcAft>
                <a:spcPts val="0"/>
              </a:spcAft>
              <a:buClr>
                <a:schemeClr val="tx2"/>
              </a:buClr>
              <a:buSzTx/>
              <a:buFont typeface="+mj-lt"/>
              <a:buAutoNum type="arabicPeriod" startAt="6"/>
              <a:tabLst/>
              <a:defRPr/>
            </a:pPr>
            <a:r>
              <a:rPr lang="en-AU" dirty="0"/>
              <a:t> Iron Ore Export to Indonesia </a:t>
            </a:r>
            <a:r>
              <a:rPr lang="en-AU" b="1" dirty="0">
                <a:solidFill>
                  <a:schemeClr val="accent6">
                    <a:lumMod val="40000"/>
                    <a:lumOff val="60000"/>
                  </a:schemeClr>
                </a:solidFill>
              </a:rPr>
              <a:t>C</a:t>
            </a:r>
          </a:p>
        </p:txBody>
      </p:sp>
    </p:spTree>
    <p:extLst>
      <p:ext uri="{BB962C8B-B14F-4D97-AF65-F5344CB8AC3E}">
        <p14:creationId xmlns:p14="http://schemas.microsoft.com/office/powerpoint/2010/main" val="1595024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01AE1-8FDE-D058-C741-3AEB090391B2}"/>
              </a:ext>
            </a:extLst>
          </p:cNvPr>
          <p:cNvSpPr>
            <a:spLocks noGrp="1"/>
          </p:cNvSpPr>
          <p:nvPr>
            <p:ph type="title"/>
          </p:nvPr>
        </p:nvSpPr>
        <p:spPr/>
        <p:txBody>
          <a:bodyPr>
            <a:normAutofit fontScale="90000"/>
          </a:bodyPr>
          <a:lstStyle/>
          <a:p>
            <a:r>
              <a:rPr lang="en-US" dirty="0"/>
              <a:t>CURRENT ACCOUNT &amp; </a:t>
            </a:r>
            <a:br>
              <a:rPr lang="en-US" dirty="0"/>
            </a:br>
            <a:r>
              <a:rPr lang="en-US" dirty="0"/>
              <a:t>CAPITAL/ FINANCIAL ACCOUNT</a:t>
            </a:r>
          </a:p>
        </p:txBody>
      </p:sp>
      <p:sp>
        <p:nvSpPr>
          <p:cNvPr id="3" name="Content Placeholder 2">
            <a:extLst>
              <a:ext uri="{FF2B5EF4-FFF2-40B4-BE49-F238E27FC236}">
                <a16:creationId xmlns:a16="http://schemas.microsoft.com/office/drawing/2014/main" id="{3AABF716-A0D8-0819-A000-59E59FE6AADD}"/>
              </a:ext>
            </a:extLst>
          </p:cNvPr>
          <p:cNvSpPr>
            <a:spLocks noGrp="1"/>
          </p:cNvSpPr>
          <p:nvPr>
            <p:ph idx="1"/>
          </p:nvPr>
        </p:nvSpPr>
        <p:spPr>
          <a:xfrm>
            <a:off x="838200" y="1949450"/>
            <a:ext cx="10515600" cy="4654550"/>
          </a:xfrm>
        </p:spPr>
        <p:txBody>
          <a:bodyPr>
            <a:normAutofit/>
          </a:bodyPr>
          <a:lstStyle/>
          <a:p>
            <a:r>
              <a:rPr lang="en-US" sz="2400" dirty="0"/>
              <a:t>The BOP divides transactions into two broad accounts:</a:t>
            </a:r>
          </a:p>
        </p:txBody>
      </p:sp>
      <p:graphicFrame>
        <p:nvGraphicFramePr>
          <p:cNvPr id="4" name="Diagram 3">
            <a:extLst>
              <a:ext uri="{FF2B5EF4-FFF2-40B4-BE49-F238E27FC236}">
                <a16:creationId xmlns:a16="http://schemas.microsoft.com/office/drawing/2014/main" id="{A51524DE-1D6F-BFF2-7A6C-9F8D1DE37618}"/>
              </a:ext>
            </a:extLst>
          </p:cNvPr>
          <p:cNvGraphicFramePr/>
          <p:nvPr/>
        </p:nvGraphicFramePr>
        <p:xfrm>
          <a:off x="1046480" y="2446867"/>
          <a:ext cx="9357360" cy="28871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TextBox 11">
            <a:extLst>
              <a:ext uri="{FF2B5EF4-FFF2-40B4-BE49-F238E27FC236}">
                <a16:creationId xmlns:a16="http://schemas.microsoft.com/office/drawing/2014/main" id="{A236C726-2925-81D3-3322-90B4837E9D98}"/>
              </a:ext>
            </a:extLst>
          </p:cNvPr>
          <p:cNvSpPr txBox="1"/>
          <p:nvPr/>
        </p:nvSpPr>
        <p:spPr>
          <a:xfrm>
            <a:off x="965200" y="5334000"/>
            <a:ext cx="9519920" cy="757130"/>
          </a:xfrm>
          <a:prstGeom prst="rect">
            <a:avLst/>
          </a:prstGeom>
          <a:solidFill>
            <a:schemeClr val="accent5">
              <a:lumMod val="50000"/>
            </a:schemeClr>
          </a:solidFill>
        </p:spPr>
        <p:txBody>
          <a:bodyPr wrap="square">
            <a:spAutoFit/>
          </a:bodyPr>
          <a:lstStyle/>
          <a:p>
            <a:pPr marL="0" lvl="0" indent="0" defTabSz="488950">
              <a:lnSpc>
                <a:spcPct val="90000"/>
              </a:lnSpc>
              <a:spcBef>
                <a:spcPct val="0"/>
              </a:spcBef>
              <a:spcAft>
                <a:spcPct val="35000"/>
              </a:spcAft>
              <a:buNone/>
            </a:pPr>
            <a:r>
              <a:rPr lang="en-US" sz="2400" dirty="0">
                <a:solidFill>
                  <a:schemeClr val="bg1"/>
                </a:solidFill>
              </a:rPr>
              <a:t>These broad accounts are often referred to as the ‘two sides’ of the balance of payments.</a:t>
            </a:r>
          </a:p>
        </p:txBody>
      </p:sp>
      <p:sp>
        <p:nvSpPr>
          <p:cNvPr id="13" name="Isosceles Triangle 12">
            <a:extLst>
              <a:ext uri="{FF2B5EF4-FFF2-40B4-BE49-F238E27FC236}">
                <a16:creationId xmlns:a16="http://schemas.microsoft.com/office/drawing/2014/main" id="{19D65283-6BD8-2DAE-26CB-2EC856D82081}"/>
              </a:ext>
            </a:extLst>
          </p:cNvPr>
          <p:cNvSpPr/>
          <p:nvPr/>
        </p:nvSpPr>
        <p:spPr>
          <a:xfrm>
            <a:off x="5260340" y="6091130"/>
            <a:ext cx="899160" cy="71120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316859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document&#10;&#10;AI-generated content may be incorrect.">
            <a:extLst>
              <a:ext uri="{FF2B5EF4-FFF2-40B4-BE49-F238E27FC236}">
                <a16:creationId xmlns:a16="http://schemas.microsoft.com/office/drawing/2014/main" id="{04CADF98-CB1B-9A2B-CE31-493C8C99A0E5}"/>
              </a:ext>
            </a:extLst>
          </p:cNvPr>
          <p:cNvPicPr>
            <a:picLocks noGrp="1" noChangeAspect="1"/>
          </p:cNvPicPr>
          <p:nvPr>
            <p:ph idx="1"/>
          </p:nvPr>
        </p:nvPicPr>
        <p:blipFill>
          <a:blip r:embed="rId2"/>
          <a:stretch>
            <a:fillRect/>
          </a:stretch>
        </p:blipFill>
        <p:spPr>
          <a:xfrm>
            <a:off x="2412999" y="68263"/>
            <a:ext cx="7366001" cy="6721475"/>
          </a:xfrm>
          <a:prstGeom prst="rect">
            <a:avLst/>
          </a:prstGeom>
          <a:noFill/>
        </p:spPr>
      </p:pic>
    </p:spTree>
    <p:extLst>
      <p:ext uri="{BB962C8B-B14F-4D97-AF65-F5344CB8AC3E}">
        <p14:creationId xmlns:p14="http://schemas.microsoft.com/office/powerpoint/2010/main" val="2730407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CF005-89FE-FB04-2EDF-02FFBF7B572F}"/>
              </a:ext>
            </a:extLst>
          </p:cNvPr>
          <p:cNvSpPr>
            <a:spLocks noGrp="1"/>
          </p:cNvSpPr>
          <p:nvPr>
            <p:ph type="title"/>
          </p:nvPr>
        </p:nvSpPr>
        <p:spPr>
          <a:xfrm>
            <a:off x="838201" y="559814"/>
            <a:ext cx="10145616" cy="1079748"/>
          </a:xfrm>
        </p:spPr>
        <p:txBody>
          <a:bodyPr>
            <a:normAutofit/>
          </a:bodyPr>
          <a:lstStyle/>
          <a:p>
            <a:r>
              <a:rPr lang="en-US" dirty="0"/>
              <a:t>THE CURRENT ACCOUNT (CAB)</a:t>
            </a:r>
            <a:endParaRPr lang="en-US" dirty="0">
              <a:solidFill>
                <a:schemeClr val="tx2"/>
              </a:solidFill>
            </a:endParaRPr>
          </a:p>
        </p:txBody>
      </p:sp>
      <p:sp>
        <p:nvSpPr>
          <p:cNvPr id="3" name="Content Placeholder 2">
            <a:extLst>
              <a:ext uri="{FF2B5EF4-FFF2-40B4-BE49-F238E27FC236}">
                <a16:creationId xmlns:a16="http://schemas.microsoft.com/office/drawing/2014/main" id="{863C6888-CB81-8C57-DB00-4DFDD06C4825}"/>
              </a:ext>
            </a:extLst>
          </p:cNvPr>
          <p:cNvSpPr>
            <a:spLocks noGrp="1"/>
          </p:cNvSpPr>
          <p:nvPr>
            <p:ph idx="1"/>
          </p:nvPr>
        </p:nvSpPr>
        <p:spPr>
          <a:xfrm>
            <a:off x="825796" y="1639562"/>
            <a:ext cx="10708863" cy="4473525"/>
          </a:xfrm>
        </p:spPr>
        <p:txBody>
          <a:bodyPr>
            <a:normAutofit/>
          </a:bodyPr>
          <a:lstStyle/>
          <a:p>
            <a:pPr>
              <a:lnSpc>
                <a:spcPct val="100000"/>
              </a:lnSpc>
            </a:pPr>
            <a:r>
              <a:rPr lang="en-US" sz="2000" dirty="0">
                <a:solidFill>
                  <a:schemeClr val="tx2"/>
                </a:solidFill>
              </a:rPr>
              <a:t>The current account records the value of the flow of goods, services and income between Australian residents and the rest of the world. </a:t>
            </a:r>
          </a:p>
          <a:p>
            <a:pPr>
              <a:lnSpc>
                <a:spcPct val="100000"/>
              </a:lnSpc>
            </a:pPr>
            <a:r>
              <a:rPr lang="en-US" sz="2000" dirty="0">
                <a:solidFill>
                  <a:schemeClr val="tx2"/>
                </a:solidFill>
              </a:rPr>
              <a:t>There are three components to the current account:</a:t>
            </a:r>
          </a:p>
          <a:p>
            <a:pPr marL="914400" lvl="1" indent="-457200">
              <a:lnSpc>
                <a:spcPct val="100000"/>
              </a:lnSpc>
              <a:buFont typeface="+mj-lt"/>
              <a:buAutoNum type="arabicPeriod"/>
            </a:pPr>
            <a:r>
              <a:rPr lang="en-US" sz="2000" dirty="0">
                <a:solidFill>
                  <a:schemeClr val="tx2"/>
                </a:solidFill>
              </a:rPr>
              <a:t>‘Trade balance’</a:t>
            </a:r>
          </a:p>
          <a:p>
            <a:pPr marL="914400" lvl="1" indent="-457200">
              <a:lnSpc>
                <a:spcPct val="100000"/>
              </a:lnSpc>
              <a:buFont typeface="+mj-lt"/>
              <a:buAutoNum type="arabicPeriod"/>
            </a:pPr>
            <a:r>
              <a:rPr lang="en-US" sz="2000" dirty="0">
                <a:solidFill>
                  <a:schemeClr val="tx2"/>
                </a:solidFill>
              </a:rPr>
              <a:t>‘Primary income balance’</a:t>
            </a:r>
          </a:p>
          <a:p>
            <a:pPr marL="914400" lvl="1" indent="-457200">
              <a:lnSpc>
                <a:spcPct val="100000"/>
              </a:lnSpc>
              <a:buFont typeface="+mj-lt"/>
              <a:buAutoNum type="arabicPeriod"/>
            </a:pPr>
            <a:r>
              <a:rPr lang="en-US" sz="2000" dirty="0">
                <a:solidFill>
                  <a:schemeClr val="tx2"/>
                </a:solidFill>
              </a:rPr>
              <a:t>‘Secondary income balance’</a:t>
            </a:r>
          </a:p>
          <a:p>
            <a:pPr>
              <a:lnSpc>
                <a:spcPct val="100000"/>
              </a:lnSpc>
            </a:pPr>
            <a:r>
              <a:rPr lang="en-US" sz="2000" dirty="0">
                <a:solidFill>
                  <a:schemeClr val="tx2"/>
                </a:solidFill>
              </a:rPr>
              <a:t>Most attention is usually given to the trade balance, which records the difference between the value of our exports and imports of goods and services. This is because the trade balance forms part of gross domestic product</a:t>
            </a:r>
          </a:p>
          <a:p>
            <a:pPr>
              <a:lnSpc>
                <a:spcPct val="100000"/>
              </a:lnSpc>
            </a:pPr>
            <a:r>
              <a:rPr lang="en-US" sz="2000" dirty="0">
                <a:solidFill>
                  <a:schemeClr val="tx2"/>
                </a:solidFill>
              </a:rPr>
              <a:t>The term ‘current’ is used in describing the current account because the goods, services and income being traded in will be consumed or received in the current period (specifically, within the quarter).</a:t>
            </a:r>
          </a:p>
        </p:txBody>
      </p:sp>
    </p:spTree>
    <p:extLst>
      <p:ext uri="{BB962C8B-B14F-4D97-AF65-F5344CB8AC3E}">
        <p14:creationId xmlns:p14="http://schemas.microsoft.com/office/powerpoint/2010/main" val="3084175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0F44FCB4-9455-8E74-C6D0-4734A6E8923F}"/>
              </a:ext>
            </a:extLst>
          </p:cNvPr>
          <p:cNvGraphicFramePr>
            <a:graphicFrameLocks noGrp="1"/>
          </p:cNvGraphicFramePr>
          <p:nvPr>
            <p:ph idx="1"/>
            <p:extLst>
              <p:ext uri="{D42A27DB-BD31-4B8C-83A1-F6EECF244321}">
                <p14:modId xmlns:p14="http://schemas.microsoft.com/office/powerpoint/2010/main" val="1991630514"/>
              </p:ext>
            </p:extLst>
          </p:nvPr>
        </p:nvGraphicFramePr>
        <p:xfrm>
          <a:off x="838200" y="1000760"/>
          <a:ext cx="10515600" cy="4856480"/>
        </p:xfrm>
        <a:graphic>
          <a:graphicData uri="http://schemas.openxmlformats.org/drawingml/2006/table">
            <a:tbl>
              <a:tblPr firstRow="1" bandRow="1">
                <a:tableStyleId>{0660B408-B3CF-4A94-85FC-2B1E0A45F4A2}</a:tableStyleId>
              </a:tblPr>
              <a:tblGrid>
                <a:gridCol w="2828365">
                  <a:extLst>
                    <a:ext uri="{9D8B030D-6E8A-4147-A177-3AD203B41FA5}">
                      <a16:colId xmlns:a16="http://schemas.microsoft.com/office/drawing/2014/main" val="1276546514"/>
                    </a:ext>
                  </a:extLst>
                </a:gridCol>
                <a:gridCol w="7687235">
                  <a:extLst>
                    <a:ext uri="{9D8B030D-6E8A-4147-A177-3AD203B41FA5}">
                      <a16:colId xmlns:a16="http://schemas.microsoft.com/office/drawing/2014/main" val="2919911000"/>
                    </a:ext>
                  </a:extLst>
                </a:gridCol>
              </a:tblGrid>
              <a:tr h="370840">
                <a:tc gridSpan="2">
                  <a:txBody>
                    <a:bodyPr/>
                    <a:lstStyle/>
                    <a:p>
                      <a:pPr algn="ctr"/>
                      <a:r>
                        <a:rPr lang="en-US" dirty="0"/>
                        <a:t>THE CURRENT ACCOUNT</a:t>
                      </a:r>
                    </a:p>
                  </a:txBody>
                  <a:tcPr>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5067088"/>
                  </a:ext>
                </a:extLst>
              </a:tr>
              <a:tr h="370840">
                <a:tc>
                  <a:txBody>
                    <a:bodyPr/>
                    <a:lstStyle/>
                    <a:p>
                      <a:pPr algn="ctr"/>
                      <a:r>
                        <a:rPr lang="en-US" b="1" dirty="0"/>
                        <a:t>COMPONENT</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6362273"/>
                  </a:ext>
                </a:extLst>
              </a:tr>
              <a:tr h="370840">
                <a:tc>
                  <a:txBody>
                    <a:bodyPr/>
                    <a:lstStyle/>
                    <a:p>
                      <a:pPr algn="ctr"/>
                      <a:r>
                        <a:rPr lang="en-US" b="1" dirty="0"/>
                        <a:t>Balance on Goods and Services (BOGS)/ Trade Balance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sz="1800" b="0" kern="1200" dirty="0">
                          <a:solidFill>
                            <a:schemeClr val="dk1"/>
                          </a:solidFill>
                          <a:effectLst/>
                        </a:rPr>
                        <a:t>The value of goods and services that Australian residents export less those that they import. </a:t>
                      </a:r>
                      <a:endParaRPr lang="en-US"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2576730"/>
                  </a:ext>
                </a:extLst>
              </a:tr>
              <a:tr h="370840">
                <a:tc>
                  <a:txBody>
                    <a:bodyPr/>
                    <a:lstStyle/>
                    <a:p>
                      <a:pPr algn="ctr"/>
                      <a:r>
                        <a:rPr lang="en-US" b="1" dirty="0"/>
                        <a:t>Primary Income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sz="1800" b="0" kern="1200" dirty="0">
                          <a:solidFill>
                            <a:schemeClr val="dk1"/>
                          </a:solidFill>
                          <a:effectLst/>
                        </a:rPr>
                        <a:t>The income that Australian residents earn from, less that they pay to, the rest of the world from working (e.g. wages) and from financial investments (e.g. dividends, interest repayments, profits)</a:t>
                      </a:r>
                      <a:endParaRPr lang="en-US"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5263999"/>
                  </a:ext>
                </a:extLst>
              </a:tr>
              <a:tr h="370840">
                <a:tc>
                  <a:txBody>
                    <a:bodyPr/>
                    <a:lstStyle/>
                    <a:p>
                      <a:pPr algn="ctr"/>
                      <a:r>
                        <a:rPr lang="en-US" b="1" dirty="0"/>
                        <a:t>Secondary Income</a:t>
                      </a:r>
                    </a:p>
                    <a:p>
                      <a:pPr algn="ctr"/>
                      <a:r>
                        <a:rPr lang="en-US" b="1" dirty="0"/>
                        <a:t>(Miscellaneous earnings)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r>
                        <a:rPr lang="en-AU" sz="1800" b="0" kern="1200" dirty="0">
                          <a:solidFill>
                            <a:schemeClr val="dk1"/>
                          </a:solidFill>
                          <a:effectLst/>
                        </a:rPr>
                        <a:t>Consists of two parts:</a:t>
                      </a:r>
                    </a:p>
                    <a:p>
                      <a:pPr marL="342900" indent="-342900">
                        <a:buFont typeface="+mj-lt"/>
                        <a:buAutoNum type="arabicPeriod"/>
                      </a:pPr>
                      <a:r>
                        <a:rPr lang="en-AU" sz="1800" b="0" kern="1200" dirty="0">
                          <a:solidFill>
                            <a:schemeClr val="dk1"/>
                          </a:solidFill>
                          <a:effectLst/>
                        </a:rPr>
                        <a:t>The income that Australian residents earn from, less that they pay to, the rest of the world from the government (e.g. tax payments and refunds).</a:t>
                      </a:r>
                    </a:p>
                    <a:p>
                      <a:pPr marL="342900" indent="-342900">
                        <a:buFont typeface="+mj-lt"/>
                        <a:buAutoNum type="arabicPeriod"/>
                      </a:pPr>
                      <a:r>
                        <a:rPr lang="en-AU" sz="1800" b="0" kern="1200" dirty="0">
                          <a:solidFill>
                            <a:schemeClr val="dk1"/>
                          </a:solidFill>
                          <a:effectLst/>
                        </a:rPr>
                        <a:t>Current transfers: transactions between Australian residents and the rest of the world where one party provides something to be consumed by another party without receiving anything in return (e.g. emergency food aid, insurance payouts, pension payments).</a:t>
                      </a:r>
                      <a:endParaRPr lang="en-AU" sz="1800" b="0" i="0" kern="1200" dirty="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555826040"/>
                  </a:ext>
                </a:extLst>
              </a:tr>
            </a:tbl>
          </a:graphicData>
        </a:graphic>
      </p:graphicFrame>
    </p:spTree>
    <p:extLst>
      <p:ext uri="{BB962C8B-B14F-4D97-AF65-F5344CB8AC3E}">
        <p14:creationId xmlns:p14="http://schemas.microsoft.com/office/powerpoint/2010/main" val="1822600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2265E-0B11-668D-A9B9-14BDF416EC06}"/>
              </a:ext>
            </a:extLst>
          </p:cNvPr>
          <p:cNvSpPr>
            <a:spLocks noGrp="1"/>
          </p:cNvSpPr>
          <p:nvPr>
            <p:ph type="title"/>
          </p:nvPr>
        </p:nvSpPr>
        <p:spPr>
          <a:xfrm>
            <a:off x="838201" y="559813"/>
            <a:ext cx="3711765" cy="5400312"/>
          </a:xfrm>
        </p:spPr>
        <p:txBody>
          <a:bodyPr>
            <a:normAutofit fontScale="90000"/>
          </a:bodyPr>
          <a:lstStyle/>
          <a:p>
            <a:r>
              <a:rPr lang="en-US" dirty="0"/>
              <a:t>THE CAPITAL AND FINANCIAL ACCOUNT (KAFA)</a:t>
            </a:r>
          </a:p>
        </p:txBody>
      </p:sp>
      <p:sp>
        <p:nvSpPr>
          <p:cNvPr id="3" name="Content Placeholder 2">
            <a:extLst>
              <a:ext uri="{FF2B5EF4-FFF2-40B4-BE49-F238E27FC236}">
                <a16:creationId xmlns:a16="http://schemas.microsoft.com/office/drawing/2014/main" id="{B71AC0ED-45B6-ED93-578E-9E076514FE08}"/>
              </a:ext>
            </a:extLst>
          </p:cNvPr>
          <p:cNvSpPr>
            <a:spLocks noGrp="1"/>
          </p:cNvSpPr>
          <p:nvPr>
            <p:ph idx="1"/>
          </p:nvPr>
        </p:nvSpPr>
        <p:spPr>
          <a:xfrm>
            <a:off x="4781321" y="358346"/>
            <a:ext cx="7167664" cy="6141308"/>
          </a:xfrm>
        </p:spPr>
        <p:txBody>
          <a:bodyPr>
            <a:normAutofit/>
          </a:bodyPr>
          <a:lstStyle/>
          <a:p>
            <a:pPr>
              <a:lnSpc>
                <a:spcPct val="100000"/>
              </a:lnSpc>
            </a:pPr>
            <a:r>
              <a:rPr lang="en-US" sz="1800" dirty="0">
                <a:solidFill>
                  <a:schemeClr val="tx2"/>
                </a:solidFill>
              </a:rPr>
              <a:t>The combined </a:t>
            </a:r>
            <a:r>
              <a:rPr lang="en-US" sz="1800" b="1" dirty="0">
                <a:solidFill>
                  <a:schemeClr val="tx2"/>
                </a:solidFill>
              </a:rPr>
              <a:t>capital and financial account </a:t>
            </a:r>
            <a:r>
              <a:rPr lang="en-US" sz="1800" dirty="0">
                <a:solidFill>
                  <a:schemeClr val="tx2"/>
                </a:solidFill>
              </a:rPr>
              <a:t>records the capital and financial transactions between Australia and the rest of the world.</a:t>
            </a:r>
          </a:p>
          <a:p>
            <a:pPr>
              <a:lnSpc>
                <a:spcPct val="100000"/>
              </a:lnSpc>
            </a:pPr>
            <a:r>
              <a:rPr lang="en-US" sz="1800" dirty="0">
                <a:solidFill>
                  <a:schemeClr val="tx2"/>
                </a:solidFill>
              </a:rPr>
              <a:t>The </a:t>
            </a:r>
            <a:r>
              <a:rPr lang="en-US" sz="1800" b="1" dirty="0">
                <a:solidFill>
                  <a:schemeClr val="tx2"/>
                </a:solidFill>
              </a:rPr>
              <a:t>capital account </a:t>
            </a:r>
            <a:r>
              <a:rPr lang="en-US" sz="1800" dirty="0">
                <a:solidFill>
                  <a:schemeClr val="tx2"/>
                </a:solidFill>
              </a:rPr>
              <a:t>component records two main types of transactions involving capital. </a:t>
            </a:r>
          </a:p>
          <a:p>
            <a:pPr marL="971550" lvl="1" indent="-514350">
              <a:lnSpc>
                <a:spcPct val="100000"/>
              </a:lnSpc>
              <a:buFont typeface="+mj-lt"/>
              <a:buAutoNum type="arabicPeriod"/>
            </a:pPr>
            <a:r>
              <a:rPr lang="en-US" sz="1800" dirty="0">
                <a:solidFill>
                  <a:schemeClr val="tx2"/>
                </a:solidFill>
              </a:rPr>
              <a:t>‘Capital transfers’</a:t>
            </a:r>
          </a:p>
          <a:p>
            <a:pPr marL="971550" lvl="1" indent="-514350">
              <a:lnSpc>
                <a:spcPct val="100000"/>
              </a:lnSpc>
              <a:buFont typeface="+mj-lt"/>
              <a:buAutoNum type="arabicPeriod"/>
            </a:pPr>
            <a:r>
              <a:rPr lang="en-US" sz="1800" dirty="0">
                <a:solidFill>
                  <a:schemeClr val="tx2"/>
                </a:solidFill>
              </a:rPr>
              <a:t>‘Non-financial, non-produced assets’</a:t>
            </a:r>
          </a:p>
          <a:p>
            <a:pPr>
              <a:lnSpc>
                <a:spcPct val="100000"/>
              </a:lnSpc>
            </a:pPr>
            <a:r>
              <a:rPr lang="en-US" sz="1800" dirty="0">
                <a:solidFill>
                  <a:schemeClr val="tx2"/>
                </a:solidFill>
              </a:rPr>
              <a:t>The much larger </a:t>
            </a:r>
            <a:r>
              <a:rPr lang="en-US" sz="1800" b="1" dirty="0">
                <a:solidFill>
                  <a:schemeClr val="tx2"/>
                </a:solidFill>
              </a:rPr>
              <a:t>financial account </a:t>
            </a:r>
            <a:r>
              <a:rPr lang="en-US" sz="1800" dirty="0">
                <a:solidFill>
                  <a:schemeClr val="tx2"/>
                </a:solidFill>
              </a:rPr>
              <a:t>component records transactions between parties that involve a change of ownership of Australia's assets or liabilities (</a:t>
            </a:r>
            <a:r>
              <a:rPr lang="en-US" sz="1800" dirty="0" err="1">
                <a:solidFill>
                  <a:schemeClr val="tx2"/>
                </a:solidFill>
              </a:rPr>
              <a:t>eg.</a:t>
            </a:r>
            <a:r>
              <a:rPr lang="en-US" sz="1800" dirty="0">
                <a:solidFill>
                  <a:schemeClr val="tx2"/>
                </a:solidFill>
              </a:rPr>
              <a:t> Purchasing shares and loan principles). </a:t>
            </a:r>
          </a:p>
          <a:p>
            <a:pPr>
              <a:lnSpc>
                <a:spcPct val="100000"/>
              </a:lnSpc>
            </a:pPr>
            <a:r>
              <a:rPr lang="en-US" sz="1800" dirty="0">
                <a:solidFill>
                  <a:schemeClr val="tx2"/>
                </a:solidFill>
              </a:rPr>
              <a:t>It is structured according to the different classes of investment that owners of these assets or liabilities can undertake.</a:t>
            </a:r>
          </a:p>
          <a:p>
            <a:pPr marL="914400" lvl="1" indent="-457200">
              <a:lnSpc>
                <a:spcPct val="100000"/>
              </a:lnSpc>
              <a:buFont typeface="+mj-lt"/>
              <a:buAutoNum type="arabicPeriod"/>
            </a:pPr>
            <a:r>
              <a:rPr lang="en-US" sz="1800" dirty="0">
                <a:solidFill>
                  <a:schemeClr val="tx2"/>
                </a:solidFill>
              </a:rPr>
              <a:t>‘Direct investment’</a:t>
            </a:r>
          </a:p>
          <a:p>
            <a:pPr marL="914400" lvl="1" indent="-457200">
              <a:lnSpc>
                <a:spcPct val="100000"/>
              </a:lnSpc>
              <a:buFont typeface="+mj-lt"/>
              <a:buAutoNum type="arabicPeriod"/>
            </a:pPr>
            <a:r>
              <a:rPr lang="en-US" sz="1800" dirty="0">
                <a:solidFill>
                  <a:schemeClr val="tx2"/>
                </a:solidFill>
              </a:rPr>
              <a:t>‘Portfolio investment’</a:t>
            </a:r>
          </a:p>
          <a:p>
            <a:pPr marL="914400" lvl="1" indent="-457200">
              <a:lnSpc>
                <a:spcPct val="100000"/>
              </a:lnSpc>
              <a:buFont typeface="+mj-lt"/>
              <a:buAutoNum type="arabicPeriod"/>
            </a:pPr>
            <a:r>
              <a:rPr lang="en-US" sz="1800" dirty="0">
                <a:solidFill>
                  <a:schemeClr val="tx2"/>
                </a:solidFill>
              </a:rPr>
              <a:t>‘Financial derivatives’ </a:t>
            </a:r>
          </a:p>
          <a:p>
            <a:pPr marL="914400" lvl="1" indent="-457200">
              <a:lnSpc>
                <a:spcPct val="100000"/>
              </a:lnSpc>
              <a:buFont typeface="+mj-lt"/>
              <a:buAutoNum type="arabicPeriod"/>
            </a:pPr>
            <a:r>
              <a:rPr lang="en-US" sz="1800" dirty="0">
                <a:solidFill>
                  <a:schemeClr val="tx2"/>
                </a:solidFill>
              </a:rPr>
              <a:t>‘Reserve assets’</a:t>
            </a:r>
          </a:p>
          <a:p>
            <a:pPr marL="914400" lvl="1" indent="-457200">
              <a:lnSpc>
                <a:spcPct val="100000"/>
              </a:lnSpc>
              <a:buFont typeface="+mj-lt"/>
              <a:buAutoNum type="arabicPeriod"/>
            </a:pPr>
            <a:r>
              <a:rPr lang="en-US" sz="1800" dirty="0">
                <a:solidFill>
                  <a:schemeClr val="tx2"/>
                </a:solidFill>
              </a:rPr>
              <a:t>‘Other investments’</a:t>
            </a:r>
          </a:p>
        </p:txBody>
      </p:sp>
    </p:spTree>
    <p:extLst>
      <p:ext uri="{BB962C8B-B14F-4D97-AF65-F5344CB8AC3E}">
        <p14:creationId xmlns:p14="http://schemas.microsoft.com/office/powerpoint/2010/main" val="3666510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0F44FCB4-9455-8E74-C6D0-4734A6E8923F}"/>
              </a:ext>
            </a:extLst>
          </p:cNvPr>
          <p:cNvGraphicFramePr>
            <a:graphicFrameLocks noGrp="1"/>
          </p:cNvGraphicFramePr>
          <p:nvPr>
            <p:ph idx="1"/>
            <p:extLst>
              <p:ext uri="{D42A27DB-BD31-4B8C-83A1-F6EECF244321}">
                <p14:modId xmlns:p14="http://schemas.microsoft.com/office/powerpoint/2010/main" val="781049246"/>
              </p:ext>
            </p:extLst>
          </p:nvPr>
        </p:nvGraphicFramePr>
        <p:xfrm>
          <a:off x="170269" y="189262"/>
          <a:ext cx="11851462" cy="6479475"/>
        </p:xfrm>
        <a:graphic>
          <a:graphicData uri="http://schemas.openxmlformats.org/drawingml/2006/table">
            <a:tbl>
              <a:tblPr firstRow="1" bandRow="1">
                <a:tableStyleId>{0660B408-B3CF-4A94-85FC-2B1E0A45F4A2}</a:tableStyleId>
              </a:tblPr>
              <a:tblGrid>
                <a:gridCol w="370702">
                  <a:extLst>
                    <a:ext uri="{9D8B030D-6E8A-4147-A177-3AD203B41FA5}">
                      <a16:colId xmlns:a16="http://schemas.microsoft.com/office/drawing/2014/main" val="3966068282"/>
                    </a:ext>
                  </a:extLst>
                </a:gridCol>
                <a:gridCol w="2239299">
                  <a:extLst>
                    <a:ext uri="{9D8B030D-6E8A-4147-A177-3AD203B41FA5}">
                      <a16:colId xmlns:a16="http://schemas.microsoft.com/office/drawing/2014/main" val="1276546514"/>
                    </a:ext>
                  </a:extLst>
                </a:gridCol>
                <a:gridCol w="9241461">
                  <a:extLst>
                    <a:ext uri="{9D8B030D-6E8A-4147-A177-3AD203B41FA5}">
                      <a16:colId xmlns:a16="http://schemas.microsoft.com/office/drawing/2014/main" val="2919911000"/>
                    </a:ext>
                  </a:extLst>
                </a:gridCol>
              </a:tblGrid>
              <a:tr h="358346">
                <a:tc gridSpan="3">
                  <a:txBody>
                    <a:bodyPr/>
                    <a:lstStyle/>
                    <a:p>
                      <a:pPr algn="ctr"/>
                      <a:r>
                        <a:rPr lang="en-US" sz="1400" dirty="0"/>
                        <a:t>CAPITAL AND FINANCIAL ACCOUNT (KAFA)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8237039"/>
                  </a:ext>
                </a:extLst>
              </a:tr>
              <a:tr h="358346">
                <a:tc>
                  <a:txBody>
                    <a:bodyPr/>
                    <a:lstStyle/>
                    <a:p>
                      <a:pPr algn="ctr"/>
                      <a:endParaRPr lang="en-US" sz="14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1400" b="1" dirty="0"/>
                        <a:t>COMPONENT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1400" b="1" dirty="0"/>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3506362273"/>
                  </a:ext>
                </a:extLst>
              </a:tr>
              <a:tr h="1373663">
                <a:tc rowSpan="2">
                  <a:txBody>
                    <a:bodyPr/>
                    <a:lstStyle/>
                    <a:p>
                      <a:pPr algn="ctr"/>
                      <a:r>
                        <a:rPr lang="en-US" sz="1400" b="1" dirty="0"/>
                        <a:t>CAPITAL ACCOUNT</a:t>
                      </a:r>
                    </a:p>
                  </a:txBody>
                  <a:tcPr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Capital Transfers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buFont typeface="Arial" panose="020B0604020202020204" pitchFamily="34" charset="0"/>
                        <a:buNone/>
                      </a:pPr>
                      <a:r>
                        <a:rPr lang="en-AU" sz="1400" dirty="0">
                          <a:effectLst/>
                        </a:rPr>
                        <a:t>Transactions where one party has transferred ownership of something to another party without receiving anything specific in return. For example:</a:t>
                      </a:r>
                    </a:p>
                    <a:p>
                      <a:pPr marL="285750" indent="-285750" algn="l" fontAlgn="t">
                        <a:buFont typeface="Arial" panose="020B0604020202020204" pitchFamily="34" charset="0"/>
                        <a:buChar char="•"/>
                      </a:pPr>
                      <a:r>
                        <a:rPr lang="en-AU" sz="1400" dirty="0">
                          <a:effectLst/>
                        </a:rPr>
                        <a:t>forgiveness of debt (so that the borrower no longer has to pay back what they borrowed)</a:t>
                      </a:r>
                    </a:p>
                    <a:p>
                      <a:pPr marL="285750" indent="-285750" algn="l" fontAlgn="t">
                        <a:buFont typeface="Arial" panose="020B0604020202020204" pitchFamily="34" charset="0"/>
                        <a:buChar char="•"/>
                      </a:pPr>
                      <a:r>
                        <a:rPr lang="en-AU" sz="1400" dirty="0">
                          <a:effectLst/>
                        </a:rPr>
                        <a:t>conditional grants for capital projects (e.g. foreign aid to build roads, dams and schools)</a:t>
                      </a:r>
                    </a:p>
                    <a:p>
                      <a:pPr marL="285750" indent="-285750" algn="l" fontAlgn="t">
                        <a:buFont typeface="Arial" panose="020B0604020202020204" pitchFamily="34" charset="0"/>
                        <a:buChar char="•"/>
                      </a:pPr>
                      <a:r>
                        <a:rPr lang="en-AU" sz="1400" dirty="0">
                          <a:effectLst/>
                        </a:rPr>
                        <a:t>transfer of assets between residents and non-residents.</a:t>
                      </a:r>
                    </a:p>
                  </a:txBody>
                  <a:tcPr marL="66675" marR="66675"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2576730"/>
                  </a:ext>
                </a:extLst>
              </a:tr>
              <a:tr h="628132">
                <a:tc vMerge="1">
                  <a:txBody>
                    <a:bodyPr/>
                    <a:lstStyle/>
                    <a:p>
                      <a:pPr algn="ctr"/>
                      <a:endParaRPr lang="en-US" sz="1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Acquisition/ Disposal of non-produced, non-financial assets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sz="1400" b="0" kern="1200" dirty="0">
                          <a:solidFill>
                            <a:schemeClr val="dk1"/>
                          </a:solidFill>
                          <a:effectLst/>
                        </a:rPr>
                        <a:t>Transactions that involve intangible assets (e.g. brand names, copyrights and trademarks) and rights to use land or water (e.g. for mining or fishing).</a:t>
                      </a:r>
                      <a:endParaRPr lang="en-AU" sz="1400" b="0" i="0" kern="1200" dirty="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5263999"/>
                  </a:ext>
                </a:extLst>
              </a:tr>
              <a:tr h="398866">
                <a:tc rowSpan="5">
                  <a:txBody>
                    <a:bodyPr/>
                    <a:lstStyle/>
                    <a:p>
                      <a:pPr algn="ctr"/>
                      <a:r>
                        <a:rPr lang="en-US" sz="1400" b="1" dirty="0"/>
                        <a:t>FINANCIAL ACCOUNT</a:t>
                      </a:r>
                    </a:p>
                  </a:txBody>
                  <a:tcPr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Direct Investment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sz="1400" b="0" i="0" kern="1200" dirty="0">
                          <a:solidFill>
                            <a:schemeClr val="dk1"/>
                          </a:solidFill>
                          <a:effectLst/>
                          <a:latin typeface="+mn-lt"/>
                          <a:ea typeface="+mn-ea"/>
                          <a:cs typeface="+mn-cs"/>
                        </a:rPr>
                        <a:t>Financial transactions related to long-term capital investment in a business (e.g. purchase of machinery, buildings and factories), where the investor has significant – 10% or more – voting power in the business (i.e. through ownership of ordinary shares or voting stock). (Non speculative)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3348537"/>
                  </a:ext>
                </a:extLst>
              </a:tr>
              <a:tr h="398866">
                <a:tc vMerge="1">
                  <a:txBody>
                    <a:bodyPr/>
                    <a:lstStyle/>
                    <a:p>
                      <a:pPr algn="ctr"/>
                      <a:endParaRPr lang="en-US" sz="1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Portfolio Investment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sz="1400" b="0" i="0" kern="1200" dirty="0">
                          <a:solidFill>
                            <a:schemeClr val="dk1"/>
                          </a:solidFill>
                          <a:effectLst/>
                          <a:latin typeface="+mn-lt"/>
                          <a:ea typeface="+mn-ea"/>
                          <a:cs typeface="+mn-cs"/>
                        </a:rPr>
                        <a:t>The purchase of equity or debt (shares or bonds) in a business (&lt;10%). In contrast to direct investment, portfolio investment occurs when the investor does not have an influence in business operations. (More speculative)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9935930"/>
                  </a:ext>
                </a:extLst>
              </a:tr>
              <a:tr h="398866">
                <a:tc vMerge="1">
                  <a:txBody>
                    <a:bodyPr/>
                    <a:lstStyle/>
                    <a:p>
                      <a:pPr algn="ctr"/>
                      <a:endParaRPr lang="en-US" sz="1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Financial Derivatives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sz="1400" b="0" i="0" kern="1200" dirty="0">
                          <a:solidFill>
                            <a:schemeClr val="dk1"/>
                          </a:solidFill>
                          <a:effectLst/>
                          <a:latin typeface="+mn-lt"/>
                          <a:ea typeface="+mn-ea"/>
                          <a:cs typeface="+mn-cs"/>
                        </a:rPr>
                        <a:t>The purchase or sale of financial derivatives (i.e. financial contracts between two parties where the value is derived from another financial instrument, such as a bond,  share, currency exchange rates, market indexes). </a:t>
                      </a:r>
                    </a:p>
                    <a:p>
                      <a:r>
                        <a:rPr lang="en-AU" sz="1400" b="0" i="0" kern="1200" dirty="0">
                          <a:solidFill>
                            <a:schemeClr val="dk1"/>
                          </a:solidFill>
                          <a:effectLst/>
                          <a:latin typeface="+mn-lt"/>
                          <a:ea typeface="+mn-ea"/>
                          <a:cs typeface="+mn-cs"/>
                        </a:rPr>
                        <a:t>These transactions involve the exchange of risk between parties, rather than funds.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3666902"/>
                  </a:ext>
                </a:extLst>
              </a:tr>
              <a:tr h="398866">
                <a:tc vMerge="1">
                  <a:txBody>
                    <a:bodyPr/>
                    <a:lstStyle/>
                    <a:p>
                      <a:pPr algn="ctr"/>
                      <a:endParaRPr lang="en-US" sz="1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Reserve Assets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sz="1400" b="0" i="0" kern="1200" dirty="0">
                          <a:solidFill>
                            <a:schemeClr val="dk1"/>
                          </a:solidFill>
                          <a:effectLst/>
                          <a:latin typeface="+mn-lt"/>
                          <a:ea typeface="+mn-ea"/>
                          <a:cs typeface="+mn-cs"/>
                        </a:rPr>
                        <a:t>The purchases or sale of reserve assets held by the Reserve Bank. These reserves are assets controlled by the Reserve Bank to meet policy objectives such as intervention in the foreign exchange market and to assist the Australian government in meeting its commitments to the IMF.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6264350"/>
                  </a:ext>
                </a:extLst>
              </a:tr>
              <a:tr h="398866">
                <a:tc vMerge="1">
                  <a:txBody>
                    <a:bodyPr/>
                    <a:lstStyle/>
                    <a:p>
                      <a:pPr algn="ctr"/>
                      <a:endParaRPr lang="en-US" sz="1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Other Investments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sz="1400" b="0" i="0" kern="1200" dirty="0">
                          <a:solidFill>
                            <a:schemeClr val="dk1"/>
                          </a:solidFill>
                          <a:effectLst/>
                          <a:latin typeface="+mn-lt"/>
                          <a:ea typeface="+mn-ea"/>
                          <a:cs typeface="+mn-cs"/>
                        </a:rPr>
                        <a:t>Transactions that do not fit into one of the other categories. One example is ‘trade credit’ where an importer purchases goods from overseas and does not pay for the goods until they are received.</a:t>
                      </a:r>
                      <a:br>
                        <a:rPr lang="en-AU" sz="1400" dirty="0"/>
                      </a:br>
                      <a:r>
                        <a:rPr lang="en-AU" sz="1400" b="0" i="0" kern="1200" dirty="0">
                          <a:solidFill>
                            <a:schemeClr val="dk1"/>
                          </a:solidFill>
                          <a:effectLst/>
                          <a:latin typeface="+mn-lt"/>
                          <a:ea typeface="+mn-ea"/>
                          <a:cs typeface="+mn-cs"/>
                        </a:rPr>
                        <a:t>Another example is ‘currency and deposits’, where money is deposited in or withdrawn from banks across borders, or banknotes and coins are transferred between countries.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539055"/>
                  </a:ext>
                </a:extLst>
              </a:tr>
            </a:tbl>
          </a:graphicData>
        </a:graphic>
      </p:graphicFrame>
    </p:spTree>
    <p:extLst>
      <p:ext uri="{BB962C8B-B14F-4D97-AF65-F5344CB8AC3E}">
        <p14:creationId xmlns:p14="http://schemas.microsoft.com/office/powerpoint/2010/main" val="2074533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A4528-6356-F19A-0988-AC8B4016EFD0}"/>
            </a:ext>
          </a:extLst>
        </p:cNvPr>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1A58046B-5677-D0FD-68D8-7B17226BC4D4}"/>
              </a:ext>
            </a:extLst>
          </p:cNvPr>
          <p:cNvGraphicFramePr>
            <a:graphicFrameLocks noGrp="1"/>
          </p:cNvGraphicFramePr>
          <p:nvPr>
            <p:ph idx="1"/>
            <p:extLst>
              <p:ext uri="{D42A27DB-BD31-4B8C-83A1-F6EECF244321}">
                <p14:modId xmlns:p14="http://schemas.microsoft.com/office/powerpoint/2010/main" val="3083460380"/>
              </p:ext>
            </p:extLst>
          </p:nvPr>
        </p:nvGraphicFramePr>
        <p:xfrm>
          <a:off x="170269" y="1686986"/>
          <a:ext cx="11851462" cy="1448212"/>
        </p:xfrm>
        <a:graphic>
          <a:graphicData uri="http://schemas.openxmlformats.org/drawingml/2006/table">
            <a:tbl>
              <a:tblPr firstRow="1" bandRow="1">
                <a:tableStyleId>{0660B408-B3CF-4A94-85FC-2B1E0A45F4A2}</a:tableStyleId>
              </a:tblPr>
              <a:tblGrid>
                <a:gridCol w="665303">
                  <a:extLst>
                    <a:ext uri="{9D8B030D-6E8A-4147-A177-3AD203B41FA5}">
                      <a16:colId xmlns:a16="http://schemas.microsoft.com/office/drawing/2014/main" val="3966068282"/>
                    </a:ext>
                  </a:extLst>
                </a:gridCol>
                <a:gridCol w="1944698">
                  <a:extLst>
                    <a:ext uri="{9D8B030D-6E8A-4147-A177-3AD203B41FA5}">
                      <a16:colId xmlns:a16="http://schemas.microsoft.com/office/drawing/2014/main" val="1276546514"/>
                    </a:ext>
                  </a:extLst>
                </a:gridCol>
                <a:gridCol w="9241461">
                  <a:extLst>
                    <a:ext uri="{9D8B030D-6E8A-4147-A177-3AD203B41FA5}">
                      <a16:colId xmlns:a16="http://schemas.microsoft.com/office/drawing/2014/main" val="2919911000"/>
                    </a:ext>
                  </a:extLst>
                </a:gridCol>
              </a:tblGrid>
              <a:tr h="358346">
                <a:tc gridSpan="3">
                  <a:txBody>
                    <a:bodyPr/>
                    <a:lstStyle/>
                    <a:p>
                      <a:pPr algn="ctr"/>
                      <a:r>
                        <a:rPr lang="en-US" sz="1400" dirty="0"/>
                        <a:t>CAPITAL AND FINANCIAL ACCOUNT (KAFA)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8237039"/>
                  </a:ext>
                </a:extLst>
              </a:tr>
              <a:tr h="358346">
                <a:tc>
                  <a:txBody>
                    <a:bodyPr/>
                    <a:lstStyle/>
                    <a:p>
                      <a:pPr algn="ctr"/>
                      <a:endParaRPr lang="en-US" sz="14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1400" b="1" dirty="0"/>
                        <a:t>COMPONENT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sz="1400" b="1" dirty="0"/>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3506362273"/>
                  </a:ext>
                </a:extLst>
              </a:tr>
              <a:tr h="398866">
                <a:tc>
                  <a:txBody>
                    <a:bodyPr/>
                    <a:lstStyle/>
                    <a:p>
                      <a:pPr algn="ctr"/>
                      <a:endParaRPr lang="en-US" sz="1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Financial Derivatives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sz="1400" b="0" i="0" kern="1200" dirty="0">
                          <a:solidFill>
                            <a:schemeClr val="dk1"/>
                          </a:solidFill>
                          <a:effectLst/>
                          <a:latin typeface="+mn-lt"/>
                          <a:ea typeface="+mn-ea"/>
                          <a:cs typeface="+mn-cs"/>
                        </a:rPr>
                        <a:t>The purchase or sale of financial derivatives (i.e. financial contracts between two parties where the value is derived from another financial instrument, such as a bond,  share, currency exchange rates, market indexes). </a:t>
                      </a:r>
                    </a:p>
                    <a:p>
                      <a:r>
                        <a:rPr lang="en-AU" sz="1400" b="0" i="0" kern="1200" dirty="0">
                          <a:solidFill>
                            <a:schemeClr val="dk1"/>
                          </a:solidFill>
                          <a:effectLst/>
                          <a:latin typeface="+mn-lt"/>
                          <a:ea typeface="+mn-ea"/>
                          <a:cs typeface="+mn-cs"/>
                        </a:rPr>
                        <a:t>These transactions involve the exchange of risk between parties, rather than funds.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3666902"/>
                  </a:ext>
                </a:extLst>
              </a:tr>
            </a:tbl>
          </a:graphicData>
        </a:graphic>
      </p:graphicFrame>
      <p:sp>
        <p:nvSpPr>
          <p:cNvPr id="2" name="Title 1">
            <a:extLst>
              <a:ext uri="{FF2B5EF4-FFF2-40B4-BE49-F238E27FC236}">
                <a16:creationId xmlns:a16="http://schemas.microsoft.com/office/drawing/2014/main" id="{CAED1038-2536-1EA9-C0D7-CCAC79DDF0F2}"/>
              </a:ext>
            </a:extLst>
          </p:cNvPr>
          <p:cNvSpPr>
            <a:spLocks noGrp="1"/>
          </p:cNvSpPr>
          <p:nvPr>
            <p:ph type="title"/>
          </p:nvPr>
        </p:nvSpPr>
        <p:spPr>
          <a:xfrm>
            <a:off x="853966" y="725214"/>
            <a:ext cx="10145616" cy="961772"/>
          </a:xfrm>
        </p:spPr>
        <p:txBody>
          <a:bodyPr>
            <a:normAutofit fontScale="90000"/>
          </a:bodyPr>
          <a:lstStyle/>
          <a:p>
            <a:pPr algn="ctr"/>
            <a:r>
              <a:rPr lang="en-US" dirty="0"/>
              <a:t>CLOSER LOOK AT FINANCIAL DERIVATIVES</a:t>
            </a:r>
            <a:endParaRPr lang="en-US" dirty="0">
              <a:solidFill>
                <a:schemeClr val="tx2"/>
              </a:solidFill>
            </a:endParaRPr>
          </a:p>
        </p:txBody>
      </p:sp>
      <p:sp>
        <p:nvSpPr>
          <p:cNvPr id="3" name="TextBox 2">
            <a:extLst>
              <a:ext uri="{FF2B5EF4-FFF2-40B4-BE49-F238E27FC236}">
                <a16:creationId xmlns:a16="http://schemas.microsoft.com/office/drawing/2014/main" id="{59F8AFAF-183E-8D17-B4BA-B767F5608100}"/>
              </a:ext>
            </a:extLst>
          </p:cNvPr>
          <p:cNvSpPr txBox="1"/>
          <p:nvPr/>
        </p:nvSpPr>
        <p:spPr>
          <a:xfrm>
            <a:off x="346842" y="3429000"/>
            <a:ext cx="11524592" cy="3416320"/>
          </a:xfrm>
          <a:prstGeom prst="rect">
            <a:avLst/>
          </a:prstGeom>
          <a:noFill/>
        </p:spPr>
        <p:txBody>
          <a:bodyPr wrap="square" rtlCol="0">
            <a:spAutoFit/>
          </a:bodyPr>
          <a:lstStyle/>
          <a:p>
            <a:r>
              <a:rPr lang="en-AU" dirty="0"/>
              <a:t>Financial derivatives are like </a:t>
            </a:r>
            <a:r>
              <a:rPr lang="en-AU" b="1" dirty="0"/>
              <a:t>bets or insurance contracts</a:t>
            </a:r>
            <a:r>
              <a:rPr lang="en-AU" dirty="0"/>
              <a:t> between two people (or companies) about what will happen to the price of something in the future.</a:t>
            </a:r>
          </a:p>
          <a:p>
            <a:endParaRPr lang="en-AU" dirty="0"/>
          </a:p>
          <a:p>
            <a:r>
              <a:rPr lang="en-AU" dirty="0"/>
              <a:t>You're not buying an actual asset like shares or bonds, you're trading </a:t>
            </a:r>
            <a:r>
              <a:rPr lang="en-AU" b="1" dirty="0"/>
              <a:t>risk</a:t>
            </a:r>
            <a:r>
              <a:rPr lang="en-AU" dirty="0"/>
              <a:t>. You’re saying, </a:t>
            </a:r>
            <a:r>
              <a:rPr lang="en-AU" i="1" dirty="0"/>
              <a:t>“I think this will go up”</a:t>
            </a:r>
            <a:r>
              <a:rPr lang="en-AU" dirty="0"/>
              <a:t> or </a:t>
            </a:r>
            <a:r>
              <a:rPr lang="en-AU" i="1" dirty="0"/>
              <a:t>“I’ll protect myself if this goes down.”</a:t>
            </a:r>
            <a:endParaRPr lang="en-AU" dirty="0"/>
          </a:p>
          <a:p>
            <a:endParaRPr lang="en-US" dirty="0"/>
          </a:p>
          <a:p>
            <a:r>
              <a:rPr lang="en-US" dirty="0"/>
              <a:t>	Examples:</a:t>
            </a:r>
          </a:p>
          <a:p>
            <a:r>
              <a:rPr lang="en-AU" dirty="0"/>
              <a:t>	Share prices</a:t>
            </a:r>
          </a:p>
          <a:p>
            <a:r>
              <a:rPr lang="en-AU" dirty="0"/>
              <a:t>	Interest rates</a:t>
            </a:r>
          </a:p>
          <a:p>
            <a:r>
              <a:rPr lang="en-AU" dirty="0"/>
              <a:t>	Currency exchange rates</a:t>
            </a:r>
          </a:p>
          <a:p>
            <a:r>
              <a:rPr lang="en-AU" dirty="0"/>
              <a:t>	Market indexes</a:t>
            </a:r>
          </a:p>
          <a:p>
            <a:endParaRPr lang="en-US" dirty="0"/>
          </a:p>
        </p:txBody>
      </p:sp>
      <p:sp>
        <p:nvSpPr>
          <p:cNvPr id="5" name="TextBox 4">
            <a:extLst>
              <a:ext uri="{FF2B5EF4-FFF2-40B4-BE49-F238E27FC236}">
                <a16:creationId xmlns:a16="http://schemas.microsoft.com/office/drawing/2014/main" id="{412332A1-39A2-0975-1C4F-4F49DF55D33F}"/>
              </a:ext>
            </a:extLst>
          </p:cNvPr>
          <p:cNvSpPr txBox="1"/>
          <p:nvPr/>
        </p:nvSpPr>
        <p:spPr>
          <a:xfrm>
            <a:off x="4501580" y="5137160"/>
            <a:ext cx="7520151" cy="1200329"/>
          </a:xfrm>
          <a:prstGeom prst="rect">
            <a:avLst/>
          </a:prstGeom>
          <a:solidFill>
            <a:schemeClr val="accent2">
              <a:lumMod val="20000"/>
              <a:lumOff val="80000"/>
            </a:schemeClr>
          </a:solidFill>
        </p:spPr>
        <p:txBody>
          <a:bodyPr wrap="square" rtlCol="0">
            <a:spAutoFit/>
          </a:bodyPr>
          <a:lstStyle/>
          <a:p>
            <a:r>
              <a:rPr lang="en-US" b="1" dirty="0"/>
              <a:t>Why is it in the financial account?</a:t>
            </a:r>
          </a:p>
          <a:p>
            <a:r>
              <a:rPr lang="en-AU" dirty="0"/>
              <a:t>Because even though no physical money or goods might change hands right away, these transactions involve financial value and risk, and they connect Australia to the rest of the world.</a:t>
            </a:r>
            <a:endParaRPr lang="en-US" b="1" dirty="0"/>
          </a:p>
        </p:txBody>
      </p:sp>
    </p:spTree>
    <p:extLst>
      <p:ext uri="{BB962C8B-B14F-4D97-AF65-F5344CB8AC3E}">
        <p14:creationId xmlns:p14="http://schemas.microsoft.com/office/powerpoint/2010/main" val="38514698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9E27E93-ABA6-D2EF-5DD1-70EF5EE0B953}"/>
              </a:ext>
            </a:extLst>
          </p:cNvPr>
          <p:cNvGraphicFramePr>
            <a:graphicFrameLocks noGrp="1"/>
          </p:cNvGraphicFramePr>
          <p:nvPr>
            <p:ph idx="1"/>
            <p:extLst>
              <p:ext uri="{D42A27DB-BD31-4B8C-83A1-F6EECF244321}">
                <p14:modId xmlns:p14="http://schemas.microsoft.com/office/powerpoint/2010/main" val="1973858954"/>
              </p:ext>
            </p:extLst>
          </p:nvPr>
        </p:nvGraphicFramePr>
        <p:xfrm>
          <a:off x="-312943" y="191999"/>
          <a:ext cx="12501881" cy="64740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163246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D6509-64E7-1545-4A62-710503001E38}"/>
              </a:ext>
            </a:extLst>
          </p:cNvPr>
          <p:cNvSpPr>
            <a:spLocks noGrp="1"/>
          </p:cNvSpPr>
          <p:nvPr>
            <p:ph type="title"/>
          </p:nvPr>
        </p:nvSpPr>
        <p:spPr>
          <a:xfrm>
            <a:off x="838200" y="559813"/>
            <a:ext cx="5638800" cy="1573786"/>
          </a:xfrm>
        </p:spPr>
        <p:txBody>
          <a:bodyPr>
            <a:normAutofit fontScale="90000"/>
          </a:bodyPr>
          <a:lstStyle/>
          <a:p>
            <a:r>
              <a:rPr lang="en-GB" dirty="0">
                <a:solidFill>
                  <a:schemeClr val="tx2"/>
                </a:solidFill>
              </a:rPr>
              <a:t>Use the chart to help sort this</a:t>
            </a:r>
            <a:endParaRPr lang="en-AU" dirty="0">
              <a:solidFill>
                <a:schemeClr val="tx2"/>
              </a:solidFill>
            </a:endParaRPr>
          </a:p>
        </p:txBody>
      </p:sp>
      <p:pic>
        <p:nvPicPr>
          <p:cNvPr id="5" name="Picture 4">
            <a:extLst>
              <a:ext uri="{FF2B5EF4-FFF2-40B4-BE49-F238E27FC236}">
                <a16:creationId xmlns:a16="http://schemas.microsoft.com/office/drawing/2014/main" id="{A0AE09A1-8F08-413E-0E54-41B5F0671B55}"/>
              </a:ext>
            </a:extLst>
          </p:cNvPr>
          <p:cNvPicPr>
            <a:picLocks noChangeAspect="1"/>
          </p:cNvPicPr>
          <p:nvPr/>
        </p:nvPicPr>
        <p:blipFill>
          <a:blip r:embed="rId3"/>
          <a:stretch>
            <a:fillRect/>
          </a:stretch>
        </p:blipFill>
        <p:spPr>
          <a:xfrm>
            <a:off x="1511561" y="2385716"/>
            <a:ext cx="9168877" cy="3919694"/>
          </a:xfrm>
          <a:prstGeom prst="rect">
            <a:avLst/>
          </a:prstGeom>
        </p:spPr>
      </p:pic>
      <p:sp>
        <p:nvSpPr>
          <p:cNvPr id="6" name="Rectangle 5">
            <a:extLst>
              <a:ext uri="{FF2B5EF4-FFF2-40B4-BE49-F238E27FC236}">
                <a16:creationId xmlns:a16="http://schemas.microsoft.com/office/drawing/2014/main" id="{FE4F7969-1CA6-C681-E60C-37464AA7DA28}"/>
              </a:ext>
            </a:extLst>
          </p:cNvPr>
          <p:cNvSpPr/>
          <p:nvPr/>
        </p:nvSpPr>
        <p:spPr>
          <a:xfrm>
            <a:off x="1676400" y="4285635"/>
            <a:ext cx="457200" cy="467360"/>
          </a:xfrm>
          <a:prstGeom prst="rect">
            <a:avLst/>
          </a:prstGeom>
          <a:noFill/>
          <a:ln w="57150">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7" name="Picture 2" descr="How to Draw a Boy - Really Easy Drawing Tutorial">
            <a:extLst>
              <a:ext uri="{FF2B5EF4-FFF2-40B4-BE49-F238E27FC236}">
                <a16:creationId xmlns:a16="http://schemas.microsoft.com/office/drawing/2014/main" id="{7911BBCA-065A-6B2D-1072-1FC5E32E43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05653" y="188844"/>
            <a:ext cx="942411" cy="207081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Premium Vector | Little girl show hand gesture thumb up and thumb down">
            <a:extLst>
              <a:ext uri="{FF2B5EF4-FFF2-40B4-BE49-F238E27FC236}">
                <a16:creationId xmlns:a16="http://schemas.microsoft.com/office/drawing/2014/main" id="{3A6F9FA5-DAD4-4680-28E6-84729E4C229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7328" r="34881"/>
          <a:stretch/>
        </p:blipFill>
        <p:spPr bwMode="auto">
          <a:xfrm>
            <a:off x="10705964" y="129465"/>
            <a:ext cx="989675" cy="2070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0100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D46BB-22EB-AB01-FE1D-575AF7934563}"/>
              </a:ext>
            </a:extLst>
          </p:cNvPr>
          <p:cNvSpPr>
            <a:spLocks noGrp="1"/>
          </p:cNvSpPr>
          <p:nvPr>
            <p:ph type="title"/>
          </p:nvPr>
        </p:nvSpPr>
        <p:spPr/>
        <p:txBody>
          <a:bodyPr/>
          <a:lstStyle/>
          <a:p>
            <a:r>
              <a:rPr lang="en-US" dirty="0"/>
              <a:t>YOUR TASK</a:t>
            </a:r>
          </a:p>
        </p:txBody>
      </p:sp>
      <p:sp>
        <p:nvSpPr>
          <p:cNvPr id="3" name="Content Placeholder 2">
            <a:extLst>
              <a:ext uri="{FF2B5EF4-FFF2-40B4-BE49-F238E27FC236}">
                <a16:creationId xmlns:a16="http://schemas.microsoft.com/office/drawing/2014/main" id="{A3E0054E-5946-B867-E01C-BC0E8BB45D7C}"/>
              </a:ext>
            </a:extLst>
          </p:cNvPr>
          <p:cNvSpPr>
            <a:spLocks noGrp="1"/>
          </p:cNvSpPr>
          <p:nvPr>
            <p:ph idx="1"/>
          </p:nvPr>
        </p:nvSpPr>
        <p:spPr/>
        <p:txBody>
          <a:bodyPr/>
          <a:lstStyle/>
          <a:p>
            <a:r>
              <a:rPr lang="en-US" dirty="0"/>
              <a:t>Answer MCQ 1, 3, 6, 9, 14, and 15</a:t>
            </a:r>
          </a:p>
        </p:txBody>
      </p:sp>
    </p:spTree>
    <p:extLst>
      <p:ext uri="{BB962C8B-B14F-4D97-AF65-F5344CB8AC3E}">
        <p14:creationId xmlns:p14="http://schemas.microsoft.com/office/powerpoint/2010/main" val="1035397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odes on papers">
            <a:extLst>
              <a:ext uri="{FF2B5EF4-FFF2-40B4-BE49-F238E27FC236}">
                <a16:creationId xmlns:a16="http://schemas.microsoft.com/office/drawing/2014/main" id="{A632275B-9E44-5C7B-816D-38DEF0368CFE}"/>
              </a:ext>
            </a:extLst>
          </p:cNvPr>
          <p:cNvPicPr>
            <a:picLocks noChangeAspect="1"/>
          </p:cNvPicPr>
          <p:nvPr/>
        </p:nvPicPr>
        <p:blipFill>
          <a:blip r:embed="rId2"/>
          <a:srcRect l="6201" r="4255" b="1"/>
          <a:stretch/>
        </p:blipFill>
        <p:spPr>
          <a:xfrm>
            <a:off x="3048" y="10"/>
            <a:ext cx="6195372" cy="4618233"/>
          </a:xfrm>
          <a:prstGeom prst="rect">
            <a:avLst/>
          </a:prstGeom>
        </p:spPr>
      </p:pic>
      <p:sp>
        <p:nvSpPr>
          <p:cNvPr id="2" name="Title 1">
            <a:extLst>
              <a:ext uri="{FF2B5EF4-FFF2-40B4-BE49-F238E27FC236}">
                <a16:creationId xmlns:a16="http://schemas.microsoft.com/office/drawing/2014/main" id="{09CBA3A4-F82A-6EC1-E39A-5FA0A11128DC}"/>
              </a:ext>
            </a:extLst>
          </p:cNvPr>
          <p:cNvSpPr>
            <a:spLocks noGrp="1"/>
          </p:cNvSpPr>
          <p:nvPr>
            <p:ph type="title"/>
          </p:nvPr>
        </p:nvSpPr>
        <p:spPr>
          <a:xfrm>
            <a:off x="838200" y="4876800"/>
            <a:ext cx="10003218" cy="1219200"/>
          </a:xfrm>
        </p:spPr>
        <p:txBody>
          <a:bodyPr>
            <a:normAutofit/>
          </a:bodyPr>
          <a:lstStyle/>
          <a:p>
            <a:r>
              <a:rPr lang="en-US" dirty="0"/>
              <a:t>HOMEWORK</a:t>
            </a:r>
          </a:p>
        </p:txBody>
      </p:sp>
      <p:sp>
        <p:nvSpPr>
          <p:cNvPr id="3" name="Content Placeholder 2">
            <a:extLst>
              <a:ext uri="{FF2B5EF4-FFF2-40B4-BE49-F238E27FC236}">
                <a16:creationId xmlns:a16="http://schemas.microsoft.com/office/drawing/2014/main" id="{6BE22259-2ED8-E3BF-51BB-19D18FF47DE2}"/>
              </a:ext>
            </a:extLst>
          </p:cNvPr>
          <p:cNvSpPr>
            <a:spLocks noGrp="1"/>
          </p:cNvSpPr>
          <p:nvPr>
            <p:ph idx="1"/>
          </p:nvPr>
        </p:nvSpPr>
        <p:spPr>
          <a:xfrm>
            <a:off x="6553200" y="1203916"/>
            <a:ext cx="4800600" cy="3935986"/>
          </a:xfrm>
        </p:spPr>
        <p:txBody>
          <a:bodyPr anchor="ctr">
            <a:normAutofit/>
          </a:bodyPr>
          <a:lstStyle/>
          <a:p>
            <a:pPr marL="514350" indent="-514350">
              <a:lnSpc>
                <a:spcPct val="100000"/>
              </a:lnSpc>
              <a:buFont typeface="+mj-lt"/>
              <a:buAutoNum type="arabicPeriod"/>
            </a:pPr>
            <a:r>
              <a:rPr lang="en-US" sz="1800" dirty="0">
                <a:solidFill>
                  <a:schemeClr val="tx2"/>
                </a:solidFill>
              </a:rPr>
              <a:t>Read the RBA Explainer – ‘The structure of the BOP’ and make dot point notes under each of the following headings about what is recorded in each account. Take note of examples and appropriate data also.</a:t>
            </a:r>
          </a:p>
          <a:p>
            <a:pPr marL="914400" lvl="1" indent="-457200">
              <a:lnSpc>
                <a:spcPct val="100000"/>
              </a:lnSpc>
              <a:buFont typeface="+mj-lt"/>
              <a:buAutoNum type="alphaLcPeriod"/>
            </a:pPr>
            <a:r>
              <a:rPr lang="en-US" sz="1800" dirty="0">
                <a:solidFill>
                  <a:schemeClr val="tx2"/>
                </a:solidFill>
              </a:rPr>
              <a:t>Trade balance</a:t>
            </a:r>
          </a:p>
          <a:p>
            <a:pPr marL="914400" lvl="1" indent="-457200">
              <a:lnSpc>
                <a:spcPct val="100000"/>
              </a:lnSpc>
              <a:buFont typeface="+mj-lt"/>
              <a:buAutoNum type="alphaLcPeriod"/>
            </a:pPr>
            <a:r>
              <a:rPr lang="en-US" sz="1800" dirty="0">
                <a:solidFill>
                  <a:schemeClr val="tx2"/>
                </a:solidFill>
              </a:rPr>
              <a:t>Net Income Balance</a:t>
            </a:r>
          </a:p>
          <a:p>
            <a:pPr marL="914400" lvl="1" indent="-457200">
              <a:lnSpc>
                <a:spcPct val="100000"/>
              </a:lnSpc>
              <a:buFont typeface="+mj-lt"/>
              <a:buAutoNum type="alphaLcPeriod"/>
            </a:pPr>
            <a:r>
              <a:rPr lang="en-US" sz="1800" dirty="0">
                <a:solidFill>
                  <a:schemeClr val="tx2"/>
                </a:solidFill>
              </a:rPr>
              <a:t>Current Account</a:t>
            </a:r>
          </a:p>
          <a:p>
            <a:pPr marL="914400" lvl="1" indent="-457200">
              <a:lnSpc>
                <a:spcPct val="100000"/>
              </a:lnSpc>
              <a:buFont typeface="+mj-lt"/>
              <a:buAutoNum type="alphaLcPeriod"/>
            </a:pPr>
            <a:r>
              <a:rPr lang="en-US" sz="1800" dirty="0">
                <a:solidFill>
                  <a:schemeClr val="tx2"/>
                </a:solidFill>
              </a:rPr>
              <a:t>Capital Account</a:t>
            </a:r>
          </a:p>
          <a:p>
            <a:pPr marL="914400" lvl="1" indent="-457200">
              <a:lnSpc>
                <a:spcPct val="100000"/>
              </a:lnSpc>
              <a:buFont typeface="+mj-lt"/>
              <a:buAutoNum type="alphaLcPeriod"/>
            </a:pPr>
            <a:r>
              <a:rPr lang="en-US" sz="1800" dirty="0">
                <a:solidFill>
                  <a:schemeClr val="tx2"/>
                </a:solidFill>
              </a:rPr>
              <a:t>Financial Account</a:t>
            </a:r>
          </a:p>
          <a:p>
            <a:pPr marL="914400" lvl="1" indent="-457200">
              <a:lnSpc>
                <a:spcPct val="100000"/>
              </a:lnSpc>
              <a:buFont typeface="+mj-lt"/>
              <a:buAutoNum type="alphaLcPeriod"/>
            </a:pPr>
            <a:r>
              <a:rPr lang="en-US" sz="1800" dirty="0">
                <a:solidFill>
                  <a:schemeClr val="tx2"/>
                </a:solidFill>
              </a:rPr>
              <a:t>Net Errors and Omissions</a:t>
            </a:r>
          </a:p>
          <a:p>
            <a:pPr>
              <a:lnSpc>
                <a:spcPct val="100000"/>
              </a:lnSpc>
            </a:pPr>
            <a:endParaRPr lang="en-US" sz="1800" dirty="0">
              <a:solidFill>
                <a:schemeClr val="tx2"/>
              </a:solidFill>
            </a:endParaRPr>
          </a:p>
          <a:p>
            <a:pPr>
              <a:lnSpc>
                <a:spcPct val="100000"/>
              </a:lnSpc>
            </a:pPr>
            <a:endParaRPr lang="en-US" sz="1800" dirty="0">
              <a:solidFill>
                <a:schemeClr val="tx2"/>
              </a:solidFill>
            </a:endParaRPr>
          </a:p>
        </p:txBody>
      </p:sp>
    </p:spTree>
    <p:extLst>
      <p:ext uri="{BB962C8B-B14F-4D97-AF65-F5344CB8AC3E}">
        <p14:creationId xmlns:p14="http://schemas.microsoft.com/office/powerpoint/2010/main" val="3229028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37AF0-F771-33A5-7A34-173C3A0D0E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34E2A9-144B-2DFA-FCEB-A5E6B945AF8E}"/>
              </a:ext>
            </a:extLst>
          </p:cNvPr>
          <p:cNvSpPr>
            <a:spLocks noGrp="1"/>
          </p:cNvSpPr>
          <p:nvPr>
            <p:ph type="title"/>
          </p:nvPr>
        </p:nvSpPr>
        <p:spPr>
          <a:xfrm>
            <a:off x="839788" y="457200"/>
            <a:ext cx="4343400" cy="2971800"/>
          </a:xfrm>
        </p:spPr>
        <p:txBody>
          <a:bodyPr anchor="b">
            <a:normAutofit/>
          </a:bodyPr>
          <a:lstStyle/>
          <a:p>
            <a:pPr>
              <a:lnSpc>
                <a:spcPct val="90000"/>
              </a:lnSpc>
            </a:pPr>
            <a:r>
              <a:rPr lang="en-US" sz="5000" dirty="0"/>
              <a:t>BALANCE OF PAYMENTS</a:t>
            </a:r>
          </a:p>
        </p:txBody>
      </p:sp>
      <p:sp>
        <p:nvSpPr>
          <p:cNvPr id="3" name="Subtitle 2">
            <a:extLst>
              <a:ext uri="{FF2B5EF4-FFF2-40B4-BE49-F238E27FC236}">
                <a16:creationId xmlns:a16="http://schemas.microsoft.com/office/drawing/2014/main" id="{638BF72D-54A4-28A5-B7D7-74E349F89AFA}"/>
              </a:ext>
            </a:extLst>
          </p:cNvPr>
          <p:cNvSpPr>
            <a:spLocks noGrp="1"/>
          </p:cNvSpPr>
          <p:nvPr>
            <p:ph type="body" sz="half" idx="2"/>
          </p:nvPr>
        </p:nvSpPr>
        <p:spPr>
          <a:xfrm>
            <a:off x="839788" y="3657600"/>
            <a:ext cx="4343400" cy="2211387"/>
          </a:xfrm>
        </p:spPr>
        <p:txBody>
          <a:bodyPr>
            <a:normAutofit/>
          </a:bodyPr>
          <a:lstStyle/>
          <a:p>
            <a:r>
              <a:rPr lang="en-US" dirty="0"/>
              <a:t>SYLLABUS:</a:t>
            </a:r>
          </a:p>
          <a:p>
            <a:pPr marL="342900" indent="-342900">
              <a:buFont typeface="Arial" panose="020B0604020202020204" pitchFamily="34" charset="0"/>
              <a:buChar char="•"/>
            </a:pPr>
            <a:r>
              <a:rPr lang="en-US" dirty="0"/>
              <a:t>double entry system of recording transactions</a:t>
            </a:r>
          </a:p>
        </p:txBody>
      </p:sp>
      <p:pic>
        <p:nvPicPr>
          <p:cNvPr id="7" name="Picture 6">
            <a:extLst>
              <a:ext uri="{FF2B5EF4-FFF2-40B4-BE49-F238E27FC236}">
                <a16:creationId xmlns:a16="http://schemas.microsoft.com/office/drawing/2014/main" id="{2A9C3562-FFF7-6D4D-8729-E1BA55265B4A}"/>
              </a:ext>
            </a:extLst>
          </p:cNvPr>
          <p:cNvPicPr>
            <a:picLocks noChangeAspect="1"/>
          </p:cNvPicPr>
          <p:nvPr/>
        </p:nvPicPr>
        <p:blipFill>
          <a:blip r:embed="rId2"/>
          <a:stretch>
            <a:fillRect/>
          </a:stretch>
        </p:blipFill>
        <p:spPr>
          <a:xfrm>
            <a:off x="5686095" y="1060249"/>
            <a:ext cx="5532383" cy="4808738"/>
          </a:xfrm>
          <a:prstGeom prst="rect">
            <a:avLst/>
          </a:prstGeom>
        </p:spPr>
      </p:pic>
    </p:spTree>
    <p:extLst>
      <p:ext uri="{BB962C8B-B14F-4D97-AF65-F5344CB8AC3E}">
        <p14:creationId xmlns:p14="http://schemas.microsoft.com/office/powerpoint/2010/main" val="33195712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B409C-DF74-D42C-8140-91EA78E13463}"/>
              </a:ext>
            </a:extLst>
          </p:cNvPr>
          <p:cNvSpPr>
            <a:spLocks noGrp="1"/>
          </p:cNvSpPr>
          <p:nvPr>
            <p:ph type="title"/>
          </p:nvPr>
        </p:nvSpPr>
        <p:spPr/>
        <p:txBody>
          <a:bodyPr/>
          <a:lstStyle/>
          <a:p>
            <a:r>
              <a:rPr lang="en-AU" dirty="0"/>
              <a:t>DAILY REVIEW</a:t>
            </a:r>
          </a:p>
        </p:txBody>
      </p:sp>
      <p:sp>
        <p:nvSpPr>
          <p:cNvPr id="3" name="Content Placeholder 2">
            <a:extLst>
              <a:ext uri="{FF2B5EF4-FFF2-40B4-BE49-F238E27FC236}">
                <a16:creationId xmlns:a16="http://schemas.microsoft.com/office/drawing/2014/main" id="{1DF26BEE-F3F8-9359-EEA2-60D0DEBB1B67}"/>
              </a:ext>
            </a:extLst>
          </p:cNvPr>
          <p:cNvSpPr>
            <a:spLocks noGrp="1"/>
          </p:cNvSpPr>
          <p:nvPr>
            <p:ph idx="1"/>
          </p:nvPr>
        </p:nvSpPr>
        <p:spPr/>
        <p:txBody>
          <a:bodyPr/>
          <a:lstStyle/>
          <a:p>
            <a:r>
              <a:rPr lang="en-AU" dirty="0"/>
              <a:t>Using the Current Account table (slide 12) and the KAFA slide (14)</a:t>
            </a:r>
          </a:p>
          <a:p>
            <a:pPr marL="0" indent="0">
              <a:buNone/>
            </a:pPr>
            <a:endParaRPr lang="en-AU" dirty="0"/>
          </a:p>
          <a:p>
            <a:r>
              <a:rPr lang="en-AU" dirty="0"/>
              <a:t>Decide which section of the BOP these transactions belong. Also give the sub-section (EG – Primary Income) and whether it is a CR or DR.</a:t>
            </a:r>
          </a:p>
        </p:txBody>
      </p:sp>
      <p:sp>
        <p:nvSpPr>
          <p:cNvPr id="4" name="Slide Number Placeholder 3">
            <a:extLst>
              <a:ext uri="{FF2B5EF4-FFF2-40B4-BE49-F238E27FC236}">
                <a16:creationId xmlns:a16="http://schemas.microsoft.com/office/drawing/2014/main" id="{42F31735-261C-E664-BED8-7C4BE5E89D69}"/>
              </a:ext>
            </a:extLst>
          </p:cNvPr>
          <p:cNvSpPr>
            <a:spLocks noGrp="1"/>
          </p:cNvSpPr>
          <p:nvPr>
            <p:ph type="sldNum" sz="quarter" idx="12"/>
          </p:nvPr>
        </p:nvSpPr>
        <p:spPr/>
        <p:txBody>
          <a:bodyPr/>
          <a:lstStyle/>
          <a:p>
            <a:fld id="{8D0AFDD5-844D-364D-8AEC-50CF4D36D55D}" type="slidenum">
              <a:rPr lang="en-US" noProof="0" smtClean="0"/>
              <a:t>21</a:t>
            </a:fld>
            <a:endParaRPr lang="en-US" noProof="0"/>
          </a:p>
        </p:txBody>
      </p:sp>
      <p:sp>
        <p:nvSpPr>
          <p:cNvPr id="5" name="Footer Placeholder 4">
            <a:extLst>
              <a:ext uri="{FF2B5EF4-FFF2-40B4-BE49-F238E27FC236}">
                <a16:creationId xmlns:a16="http://schemas.microsoft.com/office/drawing/2014/main" id="{48D6AF37-D4FB-26EE-17BE-9B1B806515EA}"/>
              </a:ext>
            </a:extLst>
          </p:cNvPr>
          <p:cNvSpPr>
            <a:spLocks noGrp="1"/>
          </p:cNvSpPr>
          <p:nvPr>
            <p:ph type="ftr" sz="quarter" idx="11"/>
          </p:nvPr>
        </p:nvSpPr>
        <p:spPr/>
        <p:txBody>
          <a:bodyPr/>
          <a:lstStyle/>
          <a:p>
            <a:r>
              <a:rPr lang="en-US" noProof="0"/>
              <a:t>Presentation title</a:t>
            </a:r>
          </a:p>
        </p:txBody>
      </p:sp>
      <p:sp>
        <p:nvSpPr>
          <p:cNvPr id="6" name="Date Placeholder 5">
            <a:extLst>
              <a:ext uri="{FF2B5EF4-FFF2-40B4-BE49-F238E27FC236}">
                <a16:creationId xmlns:a16="http://schemas.microsoft.com/office/drawing/2014/main" id="{97BA8834-645E-43CB-777D-FA45F5CE110C}"/>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9024294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5D805-5B58-F1EB-31BD-0F2DF407CE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21FCDE-11C9-4687-F50E-4F6C2C56AAC1}"/>
              </a:ext>
            </a:extLst>
          </p:cNvPr>
          <p:cNvSpPr>
            <a:spLocks noGrp="1"/>
          </p:cNvSpPr>
          <p:nvPr>
            <p:ph type="title"/>
          </p:nvPr>
        </p:nvSpPr>
        <p:spPr>
          <a:xfrm>
            <a:off x="1206137" y="73100"/>
            <a:ext cx="9912096" cy="1014984"/>
          </a:xfrm>
        </p:spPr>
        <p:txBody>
          <a:bodyPr/>
          <a:lstStyle/>
          <a:p>
            <a:r>
              <a:rPr lang="en-AU" dirty="0"/>
              <a:t>DAILY REVIEW</a:t>
            </a:r>
          </a:p>
        </p:txBody>
      </p:sp>
      <p:sp>
        <p:nvSpPr>
          <p:cNvPr id="3" name="Content Placeholder 2">
            <a:extLst>
              <a:ext uri="{FF2B5EF4-FFF2-40B4-BE49-F238E27FC236}">
                <a16:creationId xmlns:a16="http://schemas.microsoft.com/office/drawing/2014/main" id="{4F6C329D-02F5-CEE1-E6DD-4C747DF1CAD1}"/>
              </a:ext>
            </a:extLst>
          </p:cNvPr>
          <p:cNvSpPr>
            <a:spLocks noGrp="1"/>
          </p:cNvSpPr>
          <p:nvPr>
            <p:ph idx="1"/>
          </p:nvPr>
        </p:nvSpPr>
        <p:spPr>
          <a:xfrm>
            <a:off x="39188" y="1200959"/>
            <a:ext cx="6122997" cy="4160520"/>
          </a:xfrm>
        </p:spPr>
        <p:txBody>
          <a:bodyPr>
            <a:noAutofit/>
          </a:bodyPr>
          <a:lstStyle/>
          <a:p>
            <a:pPr marL="624078" indent="-514350">
              <a:spcBef>
                <a:spcPts val="0"/>
              </a:spcBef>
              <a:buFont typeface="+mj-lt"/>
              <a:buAutoNum type="arabicPeriod"/>
            </a:pPr>
            <a:r>
              <a:rPr lang="en-AU" sz="1900" dirty="0"/>
              <a:t>Australian spending money in Bali </a:t>
            </a:r>
          </a:p>
          <a:p>
            <a:pPr marL="624078" indent="-514350">
              <a:spcBef>
                <a:spcPts val="0"/>
              </a:spcBef>
              <a:buFont typeface="+mj-lt"/>
              <a:buAutoNum type="arabicPeriod"/>
            </a:pPr>
            <a:endParaRPr lang="en-AU" sz="1900" dirty="0"/>
          </a:p>
          <a:p>
            <a:pPr marL="624078" indent="-514350">
              <a:spcBef>
                <a:spcPts val="0"/>
              </a:spcBef>
              <a:buFont typeface="+mj-lt"/>
              <a:buAutoNum type="arabicPeriod"/>
            </a:pPr>
            <a:r>
              <a:rPr lang="en-AU" sz="1900" dirty="0"/>
              <a:t>Mining company purchasing trucks</a:t>
            </a:r>
          </a:p>
          <a:p>
            <a:pPr marL="624078" indent="-514350">
              <a:spcBef>
                <a:spcPts val="0"/>
              </a:spcBef>
              <a:buFont typeface="+mj-lt"/>
              <a:buAutoNum type="arabicPeriod"/>
            </a:pPr>
            <a:endParaRPr lang="en-AU" sz="1900" b="1" dirty="0">
              <a:solidFill>
                <a:srgbClr val="FF0000"/>
              </a:solidFill>
            </a:endParaRPr>
          </a:p>
          <a:p>
            <a:pPr marL="624078" indent="-514350">
              <a:spcBef>
                <a:spcPts val="0"/>
              </a:spcBef>
              <a:buFont typeface="+mj-lt"/>
              <a:buAutoNum type="arabicPeriod"/>
            </a:pPr>
            <a:r>
              <a:rPr lang="en-AU" sz="1900" dirty="0"/>
              <a:t>Businessman paying interest for loan, to overseas Investor</a:t>
            </a:r>
          </a:p>
          <a:p>
            <a:pPr marL="624078" indent="-514350">
              <a:spcBef>
                <a:spcPts val="0"/>
              </a:spcBef>
              <a:buFont typeface="+mj-lt"/>
              <a:buAutoNum type="arabicPeriod"/>
            </a:pPr>
            <a:endParaRPr lang="en-AU" sz="1900" b="1" dirty="0">
              <a:solidFill>
                <a:srgbClr val="FF0000"/>
              </a:solidFill>
            </a:endParaRPr>
          </a:p>
          <a:p>
            <a:pPr marL="624078" indent="-514350">
              <a:spcBef>
                <a:spcPts val="0"/>
              </a:spcBef>
              <a:buFont typeface="+mj-lt"/>
              <a:buAutoNum type="arabicPeriod"/>
            </a:pPr>
            <a:r>
              <a:rPr lang="en-AU" sz="1900" dirty="0"/>
              <a:t>Chinese Business buying shares in Australian company </a:t>
            </a:r>
            <a:endParaRPr lang="en-AU" sz="1900" b="1" dirty="0">
              <a:solidFill>
                <a:srgbClr val="FF0000"/>
              </a:solidFill>
            </a:endParaRPr>
          </a:p>
          <a:p>
            <a:pPr marL="624078" indent="-514350">
              <a:spcBef>
                <a:spcPts val="0"/>
              </a:spcBef>
              <a:buFont typeface="+mj-lt"/>
              <a:buAutoNum type="arabicPeriod"/>
            </a:pPr>
            <a:endParaRPr lang="en-AU" sz="1900" b="1" dirty="0">
              <a:solidFill>
                <a:srgbClr val="FF0000"/>
              </a:solidFill>
            </a:endParaRPr>
          </a:p>
          <a:p>
            <a:pPr marL="624078" indent="-514350">
              <a:spcBef>
                <a:spcPts val="0"/>
              </a:spcBef>
              <a:buFont typeface="+mj-lt"/>
              <a:buAutoNum type="arabicPeriod"/>
            </a:pPr>
            <a:r>
              <a:rPr lang="en-AU" sz="1900" dirty="0"/>
              <a:t>Purchasing shipping for iron ore</a:t>
            </a:r>
          </a:p>
          <a:p>
            <a:pPr marL="624078" indent="-514350">
              <a:spcBef>
                <a:spcPts val="0"/>
              </a:spcBef>
              <a:buFont typeface="+mj-lt"/>
              <a:buAutoNum type="arabicPeriod"/>
            </a:pPr>
            <a:endParaRPr lang="en-AU" sz="1900" b="1" dirty="0">
              <a:solidFill>
                <a:srgbClr val="FF0000"/>
              </a:solidFill>
            </a:endParaRPr>
          </a:p>
          <a:p>
            <a:pPr marL="624078" indent="-514350">
              <a:spcBef>
                <a:spcPts val="0"/>
              </a:spcBef>
              <a:buFont typeface="+mj-lt"/>
              <a:buAutoNum type="arabicPeriod"/>
            </a:pPr>
            <a:r>
              <a:rPr lang="en-AU" sz="1900" dirty="0"/>
              <a:t>Coal export to China</a:t>
            </a:r>
          </a:p>
          <a:p>
            <a:pPr marL="624078" indent="-514350">
              <a:spcBef>
                <a:spcPts val="0"/>
              </a:spcBef>
              <a:buFont typeface="+mj-lt"/>
              <a:buAutoNum type="arabicPeriod"/>
            </a:pPr>
            <a:endParaRPr lang="en-AU" sz="1900" b="1" dirty="0">
              <a:solidFill>
                <a:srgbClr val="FF0000"/>
              </a:solidFill>
            </a:endParaRPr>
          </a:p>
          <a:p>
            <a:pPr marL="624078" indent="-514350">
              <a:spcBef>
                <a:spcPts val="0"/>
              </a:spcBef>
              <a:buFont typeface="+mj-lt"/>
              <a:buAutoNum type="arabicPeriod"/>
            </a:pPr>
            <a:r>
              <a:rPr lang="en-AU" sz="1900" dirty="0"/>
              <a:t>Donation to Charity in Africa</a:t>
            </a:r>
            <a:endParaRPr lang="en-AU" sz="1900" b="1" dirty="0">
              <a:solidFill>
                <a:srgbClr val="FF0000"/>
              </a:solidFill>
            </a:endParaRPr>
          </a:p>
        </p:txBody>
      </p:sp>
      <p:sp>
        <p:nvSpPr>
          <p:cNvPr id="4" name="Slide Number Placeholder 3">
            <a:extLst>
              <a:ext uri="{FF2B5EF4-FFF2-40B4-BE49-F238E27FC236}">
                <a16:creationId xmlns:a16="http://schemas.microsoft.com/office/drawing/2014/main" id="{D1AFFBEF-557A-6EEC-06E6-49121D4E80ED}"/>
              </a:ext>
            </a:extLst>
          </p:cNvPr>
          <p:cNvSpPr>
            <a:spLocks noGrp="1"/>
          </p:cNvSpPr>
          <p:nvPr>
            <p:ph type="sldNum" sz="quarter" idx="12"/>
          </p:nvPr>
        </p:nvSpPr>
        <p:spPr/>
        <p:txBody>
          <a:bodyPr/>
          <a:lstStyle/>
          <a:p>
            <a:fld id="{8D0AFDD5-844D-364D-8AEC-50CF4D36D55D}" type="slidenum">
              <a:rPr lang="en-US" noProof="0" smtClean="0"/>
              <a:t>22</a:t>
            </a:fld>
            <a:endParaRPr lang="en-US" noProof="0"/>
          </a:p>
        </p:txBody>
      </p:sp>
      <p:sp>
        <p:nvSpPr>
          <p:cNvPr id="5" name="Footer Placeholder 4">
            <a:extLst>
              <a:ext uri="{FF2B5EF4-FFF2-40B4-BE49-F238E27FC236}">
                <a16:creationId xmlns:a16="http://schemas.microsoft.com/office/drawing/2014/main" id="{F17C14A8-A87B-FEBA-B129-036761E8A294}"/>
              </a:ext>
            </a:extLst>
          </p:cNvPr>
          <p:cNvSpPr>
            <a:spLocks noGrp="1"/>
          </p:cNvSpPr>
          <p:nvPr>
            <p:ph type="ftr" sz="quarter" idx="11"/>
          </p:nvPr>
        </p:nvSpPr>
        <p:spPr/>
        <p:txBody>
          <a:bodyPr/>
          <a:lstStyle/>
          <a:p>
            <a:r>
              <a:rPr lang="en-US" noProof="0"/>
              <a:t>Presentation title</a:t>
            </a:r>
          </a:p>
        </p:txBody>
      </p:sp>
      <p:sp>
        <p:nvSpPr>
          <p:cNvPr id="6" name="Date Placeholder 5">
            <a:extLst>
              <a:ext uri="{FF2B5EF4-FFF2-40B4-BE49-F238E27FC236}">
                <a16:creationId xmlns:a16="http://schemas.microsoft.com/office/drawing/2014/main" id="{0EB4EB82-B4D9-F97B-2FD6-4225E4F45BE8}"/>
              </a:ext>
            </a:extLst>
          </p:cNvPr>
          <p:cNvSpPr>
            <a:spLocks noGrp="1"/>
          </p:cNvSpPr>
          <p:nvPr>
            <p:ph type="dt" sz="half" idx="10"/>
          </p:nvPr>
        </p:nvSpPr>
        <p:spPr/>
        <p:txBody>
          <a:bodyPr/>
          <a:lstStyle/>
          <a:p>
            <a:r>
              <a:rPr lang="en-US" noProof="0"/>
              <a:t>20XX</a:t>
            </a:r>
          </a:p>
        </p:txBody>
      </p:sp>
      <p:sp>
        <p:nvSpPr>
          <p:cNvPr id="8" name="TextBox 7">
            <a:extLst>
              <a:ext uri="{FF2B5EF4-FFF2-40B4-BE49-F238E27FC236}">
                <a16:creationId xmlns:a16="http://schemas.microsoft.com/office/drawing/2014/main" id="{021379AF-2F7B-39ED-CE50-F78AA527B800}"/>
              </a:ext>
            </a:extLst>
          </p:cNvPr>
          <p:cNvSpPr txBox="1"/>
          <p:nvPr/>
        </p:nvSpPr>
        <p:spPr>
          <a:xfrm>
            <a:off x="6162185" y="1117383"/>
            <a:ext cx="5823857" cy="5170646"/>
          </a:xfrm>
          <a:prstGeom prst="rect">
            <a:avLst/>
          </a:prstGeom>
          <a:noFill/>
        </p:spPr>
        <p:txBody>
          <a:bodyPr wrap="square">
            <a:spAutoFit/>
          </a:bodyPr>
          <a:lstStyle/>
          <a:p>
            <a:pPr marL="624078" indent="-514350">
              <a:spcBef>
                <a:spcPts val="0"/>
              </a:spcBef>
              <a:buFont typeface="+mj-lt"/>
              <a:buAutoNum type="arabicPeriod" startAt="8"/>
            </a:pPr>
            <a:r>
              <a:rPr lang="en-AU" sz="1900" dirty="0"/>
              <a:t>Australian company buying shares in Facebook </a:t>
            </a:r>
          </a:p>
          <a:p>
            <a:pPr marL="624078" indent="-514350">
              <a:spcBef>
                <a:spcPts val="0"/>
              </a:spcBef>
              <a:buFont typeface="+mj-lt"/>
              <a:buAutoNum type="arabicPeriod" startAt="8"/>
            </a:pPr>
            <a:endParaRPr lang="en-AU" sz="1900" dirty="0"/>
          </a:p>
          <a:p>
            <a:pPr marL="624078" indent="-514350">
              <a:spcBef>
                <a:spcPts val="0"/>
              </a:spcBef>
              <a:buFont typeface="+mj-lt"/>
              <a:buAutoNum type="arabicPeriod" startAt="8"/>
            </a:pPr>
            <a:r>
              <a:rPr lang="en-AU" sz="1900" dirty="0"/>
              <a:t>Chinese company paying for Australian education </a:t>
            </a:r>
          </a:p>
          <a:p>
            <a:pPr marL="624078" indent="-514350">
              <a:spcBef>
                <a:spcPts val="0"/>
              </a:spcBef>
              <a:buFont typeface="+mj-lt"/>
              <a:buAutoNum type="arabicPeriod" startAt="8"/>
            </a:pPr>
            <a:endParaRPr lang="en-AU" sz="1900" dirty="0"/>
          </a:p>
          <a:p>
            <a:pPr marL="624078" indent="-514350">
              <a:spcBef>
                <a:spcPts val="0"/>
              </a:spcBef>
              <a:buFont typeface="+mj-lt"/>
              <a:buAutoNum type="arabicPeriod" startAt="8"/>
            </a:pPr>
            <a:r>
              <a:rPr lang="en-AU" sz="1900" dirty="0"/>
              <a:t>Purchasing the rights to use Nando’s name in Australia </a:t>
            </a:r>
          </a:p>
          <a:p>
            <a:pPr marL="624078" indent="-514350">
              <a:spcBef>
                <a:spcPts val="0"/>
              </a:spcBef>
              <a:buFont typeface="+mj-lt"/>
              <a:buAutoNum type="arabicPeriod" startAt="8"/>
            </a:pPr>
            <a:r>
              <a:rPr lang="en-AU" sz="1900" dirty="0"/>
              <a:t>RBA selling gold to overseas country</a:t>
            </a:r>
          </a:p>
          <a:p>
            <a:pPr marL="624078" indent="-514350">
              <a:spcBef>
                <a:spcPts val="0"/>
              </a:spcBef>
              <a:buFont typeface="+mj-lt"/>
              <a:buAutoNum type="arabicPeriod" startAt="8"/>
            </a:pPr>
            <a:endParaRPr lang="en-AU" sz="1900" b="1" dirty="0">
              <a:solidFill>
                <a:srgbClr val="FF0000"/>
              </a:solidFill>
            </a:endParaRPr>
          </a:p>
          <a:p>
            <a:pPr marL="624078" indent="-514350">
              <a:spcBef>
                <a:spcPts val="0"/>
              </a:spcBef>
              <a:buFont typeface="+mj-lt"/>
              <a:buAutoNum type="arabicPeriod" startAt="8"/>
            </a:pPr>
            <a:r>
              <a:rPr lang="en-AU" sz="1900" dirty="0"/>
              <a:t>Drawing on funds in UK bank account for the purchase of a house in Australia </a:t>
            </a:r>
          </a:p>
          <a:p>
            <a:pPr marL="624078" indent="-514350">
              <a:spcBef>
                <a:spcPts val="0"/>
              </a:spcBef>
              <a:buFont typeface="+mj-lt"/>
              <a:buAutoNum type="arabicPeriod" startAt="8"/>
            </a:pPr>
            <a:endParaRPr lang="en-AU" sz="1900" dirty="0"/>
          </a:p>
          <a:p>
            <a:pPr marL="624078" indent="-514350">
              <a:spcBef>
                <a:spcPts val="0"/>
              </a:spcBef>
              <a:buFont typeface="+mj-lt"/>
              <a:buAutoNum type="arabicPeriod" startAt="8"/>
            </a:pPr>
            <a:r>
              <a:rPr lang="en-AU" sz="1900" dirty="0"/>
              <a:t>Apple iPhone shipment to Australia</a:t>
            </a:r>
          </a:p>
          <a:p>
            <a:pPr marL="624078" indent="-514350">
              <a:spcBef>
                <a:spcPts val="0"/>
              </a:spcBef>
              <a:buFont typeface="+mj-lt"/>
              <a:buAutoNum type="arabicPeriod" startAt="8"/>
            </a:pPr>
            <a:endParaRPr lang="en-AU" sz="1900" b="1" dirty="0">
              <a:solidFill>
                <a:srgbClr val="FF0000"/>
              </a:solidFill>
            </a:endParaRPr>
          </a:p>
          <a:p>
            <a:pPr marL="624078" indent="-514350">
              <a:spcBef>
                <a:spcPts val="0"/>
              </a:spcBef>
              <a:buFont typeface="+mj-lt"/>
              <a:buAutoNum type="arabicPeriod" startAt="8"/>
            </a:pPr>
            <a:r>
              <a:rPr lang="en-AU" sz="1900" dirty="0"/>
              <a:t>Overseas company paying interest to Australian company</a:t>
            </a:r>
          </a:p>
        </p:txBody>
      </p:sp>
    </p:spTree>
    <p:extLst>
      <p:ext uri="{BB962C8B-B14F-4D97-AF65-F5344CB8AC3E}">
        <p14:creationId xmlns:p14="http://schemas.microsoft.com/office/powerpoint/2010/main" val="38229892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07206-8625-838A-98CE-D8673D43CA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3D26B6-03CB-4ABD-D90B-058EDDCF17CE}"/>
              </a:ext>
            </a:extLst>
          </p:cNvPr>
          <p:cNvSpPr>
            <a:spLocks noGrp="1"/>
          </p:cNvSpPr>
          <p:nvPr>
            <p:ph type="title"/>
          </p:nvPr>
        </p:nvSpPr>
        <p:spPr>
          <a:xfrm>
            <a:off x="1206137" y="73100"/>
            <a:ext cx="9912096" cy="1014984"/>
          </a:xfrm>
        </p:spPr>
        <p:txBody>
          <a:bodyPr/>
          <a:lstStyle/>
          <a:p>
            <a:r>
              <a:rPr lang="en-AU" dirty="0"/>
              <a:t>DAILY REVIEW</a:t>
            </a:r>
          </a:p>
        </p:txBody>
      </p:sp>
      <p:sp>
        <p:nvSpPr>
          <p:cNvPr id="3" name="Content Placeholder 2">
            <a:extLst>
              <a:ext uri="{FF2B5EF4-FFF2-40B4-BE49-F238E27FC236}">
                <a16:creationId xmlns:a16="http://schemas.microsoft.com/office/drawing/2014/main" id="{A601CA33-AB10-761A-0956-17593390A1D4}"/>
              </a:ext>
            </a:extLst>
          </p:cNvPr>
          <p:cNvSpPr>
            <a:spLocks noGrp="1"/>
          </p:cNvSpPr>
          <p:nvPr>
            <p:ph idx="1"/>
          </p:nvPr>
        </p:nvSpPr>
        <p:spPr>
          <a:xfrm>
            <a:off x="39188" y="1200959"/>
            <a:ext cx="6122997" cy="4160520"/>
          </a:xfrm>
        </p:spPr>
        <p:txBody>
          <a:bodyPr>
            <a:noAutofit/>
          </a:bodyPr>
          <a:lstStyle/>
          <a:p>
            <a:pPr marL="624078" indent="-514350">
              <a:spcBef>
                <a:spcPts val="0"/>
              </a:spcBef>
              <a:buFont typeface="+mj-lt"/>
              <a:buAutoNum type="arabicPeriod"/>
            </a:pPr>
            <a:r>
              <a:rPr lang="en-AU" sz="1900" dirty="0"/>
              <a:t>Australian spending money in Bali - </a:t>
            </a:r>
            <a:r>
              <a:rPr lang="en-AU" sz="1900" b="1" dirty="0">
                <a:solidFill>
                  <a:srgbClr val="FF0000"/>
                </a:solidFill>
              </a:rPr>
              <a:t>Current Account, Services, Debit</a:t>
            </a:r>
            <a:endParaRPr lang="en-AU" sz="1900" dirty="0"/>
          </a:p>
          <a:p>
            <a:pPr marL="624078" indent="-514350">
              <a:spcBef>
                <a:spcPts val="0"/>
              </a:spcBef>
              <a:buFont typeface="+mj-lt"/>
              <a:buAutoNum type="arabicPeriod"/>
            </a:pPr>
            <a:r>
              <a:rPr lang="en-AU" sz="1900" dirty="0"/>
              <a:t>Mining company purchasing trucks</a:t>
            </a:r>
          </a:p>
          <a:p>
            <a:pPr marL="624078" indent="-514350">
              <a:spcBef>
                <a:spcPts val="0"/>
              </a:spcBef>
              <a:buFont typeface="+mj-lt"/>
              <a:buAutoNum type="arabicPeriod"/>
            </a:pPr>
            <a:endParaRPr lang="en-AU" sz="1900" b="1" dirty="0">
              <a:solidFill>
                <a:srgbClr val="FF0000"/>
              </a:solidFill>
            </a:endParaRPr>
          </a:p>
          <a:p>
            <a:pPr marL="624078" indent="-514350">
              <a:spcBef>
                <a:spcPts val="0"/>
              </a:spcBef>
              <a:buFont typeface="+mj-lt"/>
              <a:buAutoNum type="arabicPeriod"/>
            </a:pPr>
            <a:r>
              <a:rPr lang="en-AU" sz="1900" dirty="0"/>
              <a:t>Businessman paying interest for loan, to overseas Investor</a:t>
            </a:r>
          </a:p>
          <a:p>
            <a:pPr marL="624078" indent="-514350">
              <a:spcBef>
                <a:spcPts val="0"/>
              </a:spcBef>
              <a:buFont typeface="+mj-lt"/>
              <a:buAutoNum type="arabicPeriod"/>
            </a:pPr>
            <a:endParaRPr lang="en-AU" sz="1900" b="1" dirty="0">
              <a:solidFill>
                <a:srgbClr val="FF0000"/>
              </a:solidFill>
            </a:endParaRPr>
          </a:p>
          <a:p>
            <a:pPr marL="624078" indent="-514350">
              <a:spcBef>
                <a:spcPts val="0"/>
              </a:spcBef>
              <a:buFont typeface="+mj-lt"/>
              <a:buAutoNum type="arabicPeriod"/>
            </a:pPr>
            <a:r>
              <a:rPr lang="en-AU" sz="1900" dirty="0"/>
              <a:t>Chinese Business buying 25% shares in Australian company </a:t>
            </a:r>
            <a:endParaRPr lang="en-AU" sz="1900" b="1" dirty="0">
              <a:solidFill>
                <a:srgbClr val="FF0000"/>
              </a:solidFill>
            </a:endParaRPr>
          </a:p>
          <a:p>
            <a:pPr marL="624078" indent="-514350">
              <a:spcBef>
                <a:spcPts val="0"/>
              </a:spcBef>
              <a:buFont typeface="+mj-lt"/>
              <a:buAutoNum type="arabicPeriod"/>
            </a:pPr>
            <a:endParaRPr lang="en-AU" sz="1900" b="1" dirty="0">
              <a:solidFill>
                <a:srgbClr val="FF0000"/>
              </a:solidFill>
            </a:endParaRPr>
          </a:p>
          <a:p>
            <a:pPr marL="624078" indent="-514350">
              <a:spcBef>
                <a:spcPts val="0"/>
              </a:spcBef>
              <a:buFont typeface="+mj-lt"/>
              <a:buAutoNum type="arabicPeriod"/>
            </a:pPr>
            <a:r>
              <a:rPr lang="en-AU" sz="1900" dirty="0"/>
              <a:t>Purchasing shipping for iron ore</a:t>
            </a:r>
          </a:p>
          <a:p>
            <a:pPr marL="624078" indent="-514350">
              <a:spcBef>
                <a:spcPts val="0"/>
              </a:spcBef>
              <a:buFont typeface="+mj-lt"/>
              <a:buAutoNum type="arabicPeriod"/>
            </a:pPr>
            <a:endParaRPr lang="en-AU" sz="1900" b="1" dirty="0">
              <a:solidFill>
                <a:srgbClr val="FF0000"/>
              </a:solidFill>
            </a:endParaRPr>
          </a:p>
          <a:p>
            <a:pPr marL="624078" indent="-514350">
              <a:spcBef>
                <a:spcPts val="0"/>
              </a:spcBef>
              <a:buFont typeface="+mj-lt"/>
              <a:buAutoNum type="arabicPeriod"/>
            </a:pPr>
            <a:r>
              <a:rPr lang="en-AU" sz="1900" dirty="0"/>
              <a:t>Coal export to China</a:t>
            </a:r>
          </a:p>
          <a:p>
            <a:pPr marL="624078" indent="-514350">
              <a:spcBef>
                <a:spcPts val="0"/>
              </a:spcBef>
              <a:buFont typeface="+mj-lt"/>
              <a:buAutoNum type="arabicPeriod"/>
            </a:pPr>
            <a:endParaRPr lang="en-AU" sz="1900" b="1" dirty="0">
              <a:solidFill>
                <a:srgbClr val="FF0000"/>
              </a:solidFill>
            </a:endParaRPr>
          </a:p>
          <a:p>
            <a:pPr marL="624078" indent="-514350">
              <a:spcBef>
                <a:spcPts val="0"/>
              </a:spcBef>
              <a:buFont typeface="+mj-lt"/>
              <a:buAutoNum type="arabicPeriod"/>
            </a:pPr>
            <a:r>
              <a:rPr lang="en-AU" sz="1900" dirty="0"/>
              <a:t>Donation to Charity in Africa</a:t>
            </a:r>
            <a:endParaRPr lang="en-AU" sz="1900" b="1" dirty="0">
              <a:solidFill>
                <a:srgbClr val="FF0000"/>
              </a:solidFill>
            </a:endParaRPr>
          </a:p>
        </p:txBody>
      </p:sp>
      <p:sp>
        <p:nvSpPr>
          <p:cNvPr id="4" name="Slide Number Placeholder 3">
            <a:extLst>
              <a:ext uri="{FF2B5EF4-FFF2-40B4-BE49-F238E27FC236}">
                <a16:creationId xmlns:a16="http://schemas.microsoft.com/office/drawing/2014/main" id="{6A7ED4D4-C16C-21FB-4DBE-7470C6E7D70A}"/>
              </a:ext>
            </a:extLst>
          </p:cNvPr>
          <p:cNvSpPr>
            <a:spLocks noGrp="1"/>
          </p:cNvSpPr>
          <p:nvPr>
            <p:ph type="sldNum" sz="quarter" idx="12"/>
          </p:nvPr>
        </p:nvSpPr>
        <p:spPr/>
        <p:txBody>
          <a:bodyPr/>
          <a:lstStyle/>
          <a:p>
            <a:fld id="{8D0AFDD5-844D-364D-8AEC-50CF4D36D55D}" type="slidenum">
              <a:rPr lang="en-US" noProof="0" smtClean="0"/>
              <a:t>23</a:t>
            </a:fld>
            <a:endParaRPr lang="en-US" noProof="0"/>
          </a:p>
        </p:txBody>
      </p:sp>
      <p:sp>
        <p:nvSpPr>
          <p:cNvPr id="5" name="Footer Placeholder 4">
            <a:extLst>
              <a:ext uri="{FF2B5EF4-FFF2-40B4-BE49-F238E27FC236}">
                <a16:creationId xmlns:a16="http://schemas.microsoft.com/office/drawing/2014/main" id="{8A9E3DAD-7439-70D7-79FA-13F318006D8B}"/>
              </a:ext>
            </a:extLst>
          </p:cNvPr>
          <p:cNvSpPr>
            <a:spLocks noGrp="1"/>
          </p:cNvSpPr>
          <p:nvPr>
            <p:ph type="ftr" sz="quarter" idx="11"/>
          </p:nvPr>
        </p:nvSpPr>
        <p:spPr/>
        <p:txBody>
          <a:bodyPr/>
          <a:lstStyle/>
          <a:p>
            <a:r>
              <a:rPr lang="en-US" noProof="0" dirty="0"/>
              <a:t>Presentation title</a:t>
            </a:r>
          </a:p>
        </p:txBody>
      </p:sp>
      <p:sp>
        <p:nvSpPr>
          <p:cNvPr id="6" name="Date Placeholder 5">
            <a:extLst>
              <a:ext uri="{FF2B5EF4-FFF2-40B4-BE49-F238E27FC236}">
                <a16:creationId xmlns:a16="http://schemas.microsoft.com/office/drawing/2014/main" id="{1E9DA8C4-9C15-FDFA-6380-48262A44E681}"/>
              </a:ext>
            </a:extLst>
          </p:cNvPr>
          <p:cNvSpPr>
            <a:spLocks noGrp="1"/>
          </p:cNvSpPr>
          <p:nvPr>
            <p:ph type="dt" sz="half" idx="10"/>
          </p:nvPr>
        </p:nvSpPr>
        <p:spPr/>
        <p:txBody>
          <a:bodyPr/>
          <a:lstStyle/>
          <a:p>
            <a:r>
              <a:rPr lang="en-US" noProof="0"/>
              <a:t>20XX</a:t>
            </a:r>
          </a:p>
        </p:txBody>
      </p:sp>
      <p:sp>
        <p:nvSpPr>
          <p:cNvPr id="8" name="TextBox 7">
            <a:extLst>
              <a:ext uri="{FF2B5EF4-FFF2-40B4-BE49-F238E27FC236}">
                <a16:creationId xmlns:a16="http://schemas.microsoft.com/office/drawing/2014/main" id="{2BFFBF95-F611-6B65-D802-7C8469F1D879}"/>
              </a:ext>
            </a:extLst>
          </p:cNvPr>
          <p:cNvSpPr txBox="1"/>
          <p:nvPr/>
        </p:nvSpPr>
        <p:spPr>
          <a:xfrm>
            <a:off x="6162185" y="1117383"/>
            <a:ext cx="5823857" cy="5170646"/>
          </a:xfrm>
          <a:prstGeom prst="rect">
            <a:avLst/>
          </a:prstGeom>
          <a:noFill/>
        </p:spPr>
        <p:txBody>
          <a:bodyPr wrap="square">
            <a:spAutoFit/>
          </a:bodyPr>
          <a:lstStyle/>
          <a:p>
            <a:pPr marL="624078" indent="-514350">
              <a:spcBef>
                <a:spcPts val="0"/>
              </a:spcBef>
              <a:buFont typeface="+mj-lt"/>
              <a:buAutoNum type="arabicPeriod" startAt="8"/>
            </a:pPr>
            <a:r>
              <a:rPr lang="en-AU" sz="1900" dirty="0"/>
              <a:t>Australian company buying 5% shares in Facebook </a:t>
            </a:r>
          </a:p>
          <a:p>
            <a:pPr marL="624078" indent="-514350">
              <a:spcBef>
                <a:spcPts val="0"/>
              </a:spcBef>
              <a:buFont typeface="+mj-lt"/>
              <a:buAutoNum type="arabicPeriod" startAt="8"/>
            </a:pPr>
            <a:endParaRPr lang="en-AU" sz="1900" dirty="0"/>
          </a:p>
          <a:p>
            <a:pPr marL="624078" indent="-514350">
              <a:spcBef>
                <a:spcPts val="0"/>
              </a:spcBef>
              <a:buFont typeface="+mj-lt"/>
              <a:buAutoNum type="arabicPeriod" startAt="8"/>
            </a:pPr>
            <a:r>
              <a:rPr lang="en-AU" sz="1900" dirty="0"/>
              <a:t>Chinese company paying for Australian education </a:t>
            </a:r>
          </a:p>
          <a:p>
            <a:pPr marL="624078" indent="-514350">
              <a:spcBef>
                <a:spcPts val="0"/>
              </a:spcBef>
              <a:buFont typeface="+mj-lt"/>
              <a:buAutoNum type="arabicPeriod" startAt="8"/>
            </a:pPr>
            <a:endParaRPr lang="en-AU" sz="1900" dirty="0"/>
          </a:p>
          <a:p>
            <a:pPr marL="624078" indent="-514350">
              <a:spcBef>
                <a:spcPts val="0"/>
              </a:spcBef>
              <a:buFont typeface="+mj-lt"/>
              <a:buAutoNum type="arabicPeriod" startAt="8"/>
            </a:pPr>
            <a:r>
              <a:rPr lang="en-AU" sz="1900" dirty="0"/>
              <a:t>Purchasing the rights to use Nando’s name in Australia </a:t>
            </a:r>
          </a:p>
          <a:p>
            <a:pPr marL="624078" indent="-514350">
              <a:spcBef>
                <a:spcPts val="0"/>
              </a:spcBef>
              <a:buFont typeface="+mj-lt"/>
              <a:buAutoNum type="arabicPeriod" startAt="8"/>
            </a:pPr>
            <a:r>
              <a:rPr lang="en-AU" sz="1900" dirty="0"/>
              <a:t>RBA selling gold to overseas country</a:t>
            </a:r>
          </a:p>
          <a:p>
            <a:pPr marL="624078" indent="-514350">
              <a:spcBef>
                <a:spcPts val="0"/>
              </a:spcBef>
              <a:buFont typeface="+mj-lt"/>
              <a:buAutoNum type="arabicPeriod" startAt="8"/>
            </a:pPr>
            <a:endParaRPr lang="en-AU" sz="1900" b="1" dirty="0">
              <a:solidFill>
                <a:srgbClr val="FF0000"/>
              </a:solidFill>
            </a:endParaRPr>
          </a:p>
          <a:p>
            <a:pPr marL="624078" indent="-514350">
              <a:spcBef>
                <a:spcPts val="0"/>
              </a:spcBef>
              <a:buFont typeface="+mj-lt"/>
              <a:buAutoNum type="arabicPeriod" startAt="8"/>
            </a:pPr>
            <a:r>
              <a:rPr lang="en-AU" sz="1900" dirty="0"/>
              <a:t>Drawing on funds in UK bank account for the purchase of a house in Australia </a:t>
            </a:r>
          </a:p>
          <a:p>
            <a:pPr marL="624078" indent="-514350">
              <a:spcBef>
                <a:spcPts val="0"/>
              </a:spcBef>
              <a:buFont typeface="+mj-lt"/>
              <a:buAutoNum type="arabicPeriod" startAt="8"/>
            </a:pPr>
            <a:endParaRPr lang="en-AU" sz="1900" dirty="0"/>
          </a:p>
          <a:p>
            <a:pPr marL="624078" indent="-514350">
              <a:spcBef>
                <a:spcPts val="0"/>
              </a:spcBef>
              <a:buFont typeface="+mj-lt"/>
              <a:buAutoNum type="arabicPeriod" startAt="8"/>
            </a:pPr>
            <a:r>
              <a:rPr lang="en-AU" sz="1900" dirty="0"/>
              <a:t>Apple iPhone shipment to Australia</a:t>
            </a:r>
          </a:p>
          <a:p>
            <a:pPr marL="624078" indent="-514350">
              <a:spcBef>
                <a:spcPts val="0"/>
              </a:spcBef>
              <a:buFont typeface="+mj-lt"/>
              <a:buAutoNum type="arabicPeriod" startAt="8"/>
            </a:pPr>
            <a:endParaRPr lang="en-AU" sz="1900" b="1" dirty="0">
              <a:solidFill>
                <a:srgbClr val="FF0000"/>
              </a:solidFill>
            </a:endParaRPr>
          </a:p>
          <a:p>
            <a:pPr marL="624078" indent="-514350">
              <a:spcBef>
                <a:spcPts val="0"/>
              </a:spcBef>
              <a:buFont typeface="+mj-lt"/>
              <a:buAutoNum type="arabicPeriod" startAt="8"/>
            </a:pPr>
            <a:r>
              <a:rPr lang="en-AU" sz="1900" dirty="0"/>
              <a:t>Overseas company paying interest to Australian company</a:t>
            </a:r>
          </a:p>
        </p:txBody>
      </p:sp>
    </p:spTree>
    <p:extLst>
      <p:ext uri="{BB962C8B-B14F-4D97-AF65-F5344CB8AC3E}">
        <p14:creationId xmlns:p14="http://schemas.microsoft.com/office/powerpoint/2010/main" val="19374613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819CB-1CA5-79AB-72E8-D3956C8BB0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C1E9E9-ACD3-7740-E539-D8EDB5899C57}"/>
              </a:ext>
            </a:extLst>
          </p:cNvPr>
          <p:cNvSpPr>
            <a:spLocks noGrp="1"/>
          </p:cNvSpPr>
          <p:nvPr>
            <p:ph type="title"/>
          </p:nvPr>
        </p:nvSpPr>
        <p:spPr>
          <a:xfrm>
            <a:off x="1206137" y="73100"/>
            <a:ext cx="9912096" cy="1014984"/>
          </a:xfrm>
        </p:spPr>
        <p:txBody>
          <a:bodyPr/>
          <a:lstStyle/>
          <a:p>
            <a:r>
              <a:rPr lang="en-AU" dirty="0"/>
              <a:t>DAILY REVIEW</a:t>
            </a:r>
          </a:p>
        </p:txBody>
      </p:sp>
      <p:sp>
        <p:nvSpPr>
          <p:cNvPr id="3" name="Content Placeholder 2">
            <a:extLst>
              <a:ext uri="{FF2B5EF4-FFF2-40B4-BE49-F238E27FC236}">
                <a16:creationId xmlns:a16="http://schemas.microsoft.com/office/drawing/2014/main" id="{757BEE9C-9C79-7740-9798-5B96FEDA08A0}"/>
              </a:ext>
            </a:extLst>
          </p:cNvPr>
          <p:cNvSpPr>
            <a:spLocks noGrp="1"/>
          </p:cNvSpPr>
          <p:nvPr>
            <p:ph idx="1"/>
          </p:nvPr>
        </p:nvSpPr>
        <p:spPr>
          <a:xfrm>
            <a:off x="39188" y="1200959"/>
            <a:ext cx="6122997" cy="4160520"/>
          </a:xfrm>
        </p:spPr>
        <p:txBody>
          <a:bodyPr>
            <a:noAutofit/>
          </a:bodyPr>
          <a:lstStyle/>
          <a:p>
            <a:pPr marL="624078" indent="-514350">
              <a:spcBef>
                <a:spcPts val="0"/>
              </a:spcBef>
              <a:buFont typeface="+mj-lt"/>
              <a:buAutoNum type="arabicPeriod"/>
            </a:pPr>
            <a:r>
              <a:rPr lang="en-AU" sz="1900" dirty="0"/>
              <a:t>Australian spending money in Bali </a:t>
            </a:r>
            <a:r>
              <a:rPr lang="en-AU" sz="1900" b="1" dirty="0">
                <a:solidFill>
                  <a:srgbClr val="FF0000"/>
                </a:solidFill>
              </a:rPr>
              <a:t>Current Account, Services, Debit</a:t>
            </a:r>
          </a:p>
          <a:p>
            <a:pPr marL="624078" indent="-514350">
              <a:spcBef>
                <a:spcPts val="0"/>
              </a:spcBef>
              <a:buFont typeface="+mj-lt"/>
              <a:buAutoNum type="arabicPeriod"/>
            </a:pPr>
            <a:r>
              <a:rPr lang="en-AU" sz="1900" dirty="0"/>
              <a:t>Mining company purchasing trucks </a:t>
            </a:r>
            <a:r>
              <a:rPr lang="en-AU" sz="1900" b="1" dirty="0">
                <a:solidFill>
                  <a:srgbClr val="FF0000"/>
                </a:solidFill>
              </a:rPr>
              <a:t>Current Account, Goods, Debit</a:t>
            </a:r>
          </a:p>
          <a:p>
            <a:pPr marL="624078" indent="-514350">
              <a:spcBef>
                <a:spcPts val="0"/>
              </a:spcBef>
              <a:buFont typeface="+mj-lt"/>
              <a:buAutoNum type="arabicPeriod"/>
            </a:pPr>
            <a:r>
              <a:rPr lang="en-AU" sz="1900" dirty="0"/>
              <a:t>Businessman paying interest for loan, to overseas Investor </a:t>
            </a:r>
            <a:r>
              <a:rPr lang="en-AU" sz="1900" b="1" dirty="0">
                <a:solidFill>
                  <a:srgbClr val="FF0000"/>
                </a:solidFill>
              </a:rPr>
              <a:t>Current Account, Primary Income, Debit</a:t>
            </a:r>
          </a:p>
          <a:p>
            <a:pPr marL="624078" indent="-514350">
              <a:spcBef>
                <a:spcPts val="0"/>
              </a:spcBef>
              <a:buFont typeface="+mj-lt"/>
              <a:buAutoNum type="arabicPeriod"/>
            </a:pPr>
            <a:r>
              <a:rPr lang="en-AU" sz="1900" dirty="0"/>
              <a:t>Chinese Business buying 25% shares in Australian company </a:t>
            </a:r>
            <a:r>
              <a:rPr lang="en-AU" sz="1900" b="1" dirty="0">
                <a:solidFill>
                  <a:srgbClr val="FF0000"/>
                </a:solidFill>
              </a:rPr>
              <a:t>Financial Account, Direct Investment, Credit</a:t>
            </a:r>
          </a:p>
          <a:p>
            <a:pPr marL="624078" indent="-514350">
              <a:spcBef>
                <a:spcPts val="0"/>
              </a:spcBef>
              <a:buFont typeface="+mj-lt"/>
              <a:buAutoNum type="arabicPeriod"/>
            </a:pPr>
            <a:r>
              <a:rPr lang="en-AU" sz="1900" dirty="0"/>
              <a:t>Purchasing shipping for iron ore </a:t>
            </a:r>
            <a:r>
              <a:rPr lang="en-AU" sz="1900" b="1" dirty="0">
                <a:solidFill>
                  <a:srgbClr val="FF0000"/>
                </a:solidFill>
              </a:rPr>
              <a:t>Current Account, Services, Debit</a:t>
            </a:r>
          </a:p>
          <a:p>
            <a:pPr marL="624078" indent="-514350">
              <a:spcBef>
                <a:spcPts val="0"/>
              </a:spcBef>
              <a:buFont typeface="+mj-lt"/>
              <a:buAutoNum type="arabicPeriod"/>
            </a:pPr>
            <a:r>
              <a:rPr lang="en-AU" sz="1900" dirty="0"/>
              <a:t>Coal export to China </a:t>
            </a:r>
            <a:r>
              <a:rPr lang="en-AU" sz="1900" b="1" dirty="0">
                <a:solidFill>
                  <a:srgbClr val="FF0000"/>
                </a:solidFill>
              </a:rPr>
              <a:t>Current Account, Goods, Credit</a:t>
            </a:r>
          </a:p>
          <a:p>
            <a:pPr marL="624078" indent="-514350">
              <a:spcBef>
                <a:spcPts val="0"/>
              </a:spcBef>
              <a:buFont typeface="+mj-lt"/>
              <a:buAutoNum type="arabicPeriod"/>
            </a:pPr>
            <a:r>
              <a:rPr lang="en-AU" sz="1900" dirty="0"/>
              <a:t>Donation to Charity in Africa </a:t>
            </a:r>
            <a:r>
              <a:rPr lang="en-AU" sz="1900" b="1" dirty="0">
                <a:solidFill>
                  <a:srgbClr val="FF0000"/>
                </a:solidFill>
              </a:rPr>
              <a:t>Current Account, Secondary Income, Debit</a:t>
            </a:r>
          </a:p>
          <a:p>
            <a:pPr marL="109728" indent="0">
              <a:spcBef>
                <a:spcPts val="0"/>
              </a:spcBef>
              <a:buNone/>
            </a:pPr>
            <a:endParaRPr lang="en-AU" sz="1900" b="1" dirty="0">
              <a:solidFill>
                <a:srgbClr val="FF0000"/>
              </a:solidFill>
            </a:endParaRPr>
          </a:p>
        </p:txBody>
      </p:sp>
      <p:sp>
        <p:nvSpPr>
          <p:cNvPr id="4" name="Slide Number Placeholder 3">
            <a:extLst>
              <a:ext uri="{FF2B5EF4-FFF2-40B4-BE49-F238E27FC236}">
                <a16:creationId xmlns:a16="http://schemas.microsoft.com/office/drawing/2014/main" id="{B221B685-A7BC-7EB5-4CB0-9B47E78AF8B1}"/>
              </a:ext>
            </a:extLst>
          </p:cNvPr>
          <p:cNvSpPr>
            <a:spLocks noGrp="1"/>
          </p:cNvSpPr>
          <p:nvPr>
            <p:ph type="sldNum" sz="quarter" idx="12"/>
          </p:nvPr>
        </p:nvSpPr>
        <p:spPr/>
        <p:txBody>
          <a:bodyPr/>
          <a:lstStyle/>
          <a:p>
            <a:fld id="{8D0AFDD5-844D-364D-8AEC-50CF4D36D55D}" type="slidenum">
              <a:rPr lang="en-US" noProof="0" smtClean="0"/>
              <a:t>24</a:t>
            </a:fld>
            <a:endParaRPr lang="en-US" noProof="0"/>
          </a:p>
        </p:txBody>
      </p:sp>
      <p:sp>
        <p:nvSpPr>
          <p:cNvPr id="5" name="Footer Placeholder 4">
            <a:extLst>
              <a:ext uri="{FF2B5EF4-FFF2-40B4-BE49-F238E27FC236}">
                <a16:creationId xmlns:a16="http://schemas.microsoft.com/office/drawing/2014/main" id="{232441F8-3420-352D-BA21-BE706F6BE987}"/>
              </a:ext>
            </a:extLst>
          </p:cNvPr>
          <p:cNvSpPr>
            <a:spLocks noGrp="1"/>
          </p:cNvSpPr>
          <p:nvPr>
            <p:ph type="ftr" sz="quarter" idx="11"/>
          </p:nvPr>
        </p:nvSpPr>
        <p:spPr/>
        <p:txBody>
          <a:bodyPr/>
          <a:lstStyle/>
          <a:p>
            <a:r>
              <a:rPr lang="en-US" noProof="0"/>
              <a:t>Presentation title</a:t>
            </a:r>
          </a:p>
        </p:txBody>
      </p:sp>
      <p:sp>
        <p:nvSpPr>
          <p:cNvPr id="6" name="Date Placeholder 5">
            <a:extLst>
              <a:ext uri="{FF2B5EF4-FFF2-40B4-BE49-F238E27FC236}">
                <a16:creationId xmlns:a16="http://schemas.microsoft.com/office/drawing/2014/main" id="{B9FA226E-29A1-5627-AB4F-93D3FA773D1A}"/>
              </a:ext>
            </a:extLst>
          </p:cNvPr>
          <p:cNvSpPr>
            <a:spLocks noGrp="1"/>
          </p:cNvSpPr>
          <p:nvPr>
            <p:ph type="dt" sz="half" idx="10"/>
          </p:nvPr>
        </p:nvSpPr>
        <p:spPr/>
        <p:txBody>
          <a:bodyPr/>
          <a:lstStyle/>
          <a:p>
            <a:r>
              <a:rPr lang="en-US" noProof="0"/>
              <a:t>20XX</a:t>
            </a:r>
          </a:p>
        </p:txBody>
      </p:sp>
      <p:sp>
        <p:nvSpPr>
          <p:cNvPr id="8" name="TextBox 7">
            <a:extLst>
              <a:ext uri="{FF2B5EF4-FFF2-40B4-BE49-F238E27FC236}">
                <a16:creationId xmlns:a16="http://schemas.microsoft.com/office/drawing/2014/main" id="{359CFFCF-51A3-BFBD-0C3F-41E2CAEE4D7E}"/>
              </a:ext>
            </a:extLst>
          </p:cNvPr>
          <p:cNvSpPr txBox="1"/>
          <p:nvPr/>
        </p:nvSpPr>
        <p:spPr>
          <a:xfrm>
            <a:off x="6162185" y="1117383"/>
            <a:ext cx="5823857" cy="5509200"/>
          </a:xfrm>
          <a:prstGeom prst="rect">
            <a:avLst/>
          </a:prstGeom>
          <a:noFill/>
        </p:spPr>
        <p:txBody>
          <a:bodyPr wrap="square">
            <a:spAutoFit/>
          </a:bodyPr>
          <a:lstStyle/>
          <a:p>
            <a:pPr marL="624078" indent="-514350">
              <a:spcBef>
                <a:spcPts val="0"/>
              </a:spcBef>
              <a:buFont typeface="+mj-lt"/>
              <a:buAutoNum type="arabicPeriod" startAt="8"/>
            </a:pPr>
            <a:r>
              <a:rPr lang="en-AU" sz="1900" dirty="0"/>
              <a:t>Australian company buying 5% shares in Facebook </a:t>
            </a:r>
            <a:r>
              <a:rPr lang="en-AU" sz="1900" b="1" dirty="0">
                <a:solidFill>
                  <a:srgbClr val="FF0000"/>
                </a:solidFill>
              </a:rPr>
              <a:t>Financial Account, Portfolio, Debit </a:t>
            </a:r>
          </a:p>
          <a:p>
            <a:pPr marL="624078" indent="-514350">
              <a:spcBef>
                <a:spcPts val="0"/>
              </a:spcBef>
              <a:buFont typeface="+mj-lt"/>
              <a:buAutoNum type="arabicPeriod" startAt="8"/>
            </a:pPr>
            <a:r>
              <a:rPr lang="en-AU" sz="1900" dirty="0"/>
              <a:t>Chinese company paying for Australian education </a:t>
            </a:r>
            <a:r>
              <a:rPr lang="en-AU" sz="1900" b="1" dirty="0">
                <a:solidFill>
                  <a:srgbClr val="FF0000"/>
                </a:solidFill>
              </a:rPr>
              <a:t>Current Account, Services, Credit</a:t>
            </a:r>
          </a:p>
          <a:p>
            <a:pPr marL="624078" indent="-514350">
              <a:spcBef>
                <a:spcPts val="0"/>
              </a:spcBef>
              <a:buFont typeface="+mj-lt"/>
              <a:buAutoNum type="arabicPeriod" startAt="8"/>
            </a:pPr>
            <a:r>
              <a:rPr lang="en-AU" sz="1900" dirty="0"/>
              <a:t>Purchasing the rights to use Nando’s name in Australia </a:t>
            </a:r>
            <a:r>
              <a:rPr lang="en-AU" sz="1900" b="1" dirty="0">
                <a:solidFill>
                  <a:srgbClr val="FF0000"/>
                </a:solidFill>
              </a:rPr>
              <a:t>Capital Account, NPNF assets, Debit</a:t>
            </a:r>
          </a:p>
          <a:p>
            <a:pPr marL="624078" indent="-514350">
              <a:spcBef>
                <a:spcPts val="0"/>
              </a:spcBef>
              <a:buFont typeface="+mj-lt"/>
              <a:buAutoNum type="arabicPeriod" startAt="8"/>
            </a:pPr>
            <a:r>
              <a:rPr lang="en-AU" sz="1900" dirty="0"/>
              <a:t>RBA selling gold to overseas country </a:t>
            </a:r>
            <a:r>
              <a:rPr lang="en-AU" sz="1900" b="1" dirty="0">
                <a:solidFill>
                  <a:srgbClr val="FF0000"/>
                </a:solidFill>
              </a:rPr>
              <a:t>Financial Account, Reserve Assets, Credit</a:t>
            </a:r>
          </a:p>
          <a:p>
            <a:pPr marL="624078" indent="-514350">
              <a:spcBef>
                <a:spcPts val="0"/>
              </a:spcBef>
              <a:buFont typeface="+mj-lt"/>
              <a:buAutoNum type="arabicPeriod" startAt="8"/>
            </a:pPr>
            <a:r>
              <a:rPr lang="en-AU" sz="1900" dirty="0"/>
              <a:t>Drawing on funds in UK bank account for the purchase of a house in Australia </a:t>
            </a:r>
            <a:r>
              <a:rPr lang="en-AU" sz="1900" b="1" dirty="0">
                <a:solidFill>
                  <a:srgbClr val="FF0000"/>
                </a:solidFill>
              </a:rPr>
              <a:t>Financial Account, Other, Credit</a:t>
            </a:r>
          </a:p>
          <a:p>
            <a:pPr marL="624078" indent="-514350">
              <a:spcBef>
                <a:spcPts val="0"/>
              </a:spcBef>
              <a:buFont typeface="+mj-lt"/>
              <a:buAutoNum type="arabicPeriod" startAt="8"/>
            </a:pPr>
            <a:r>
              <a:rPr lang="en-AU" sz="1900" dirty="0"/>
              <a:t>Apple iPhone shipment to Australia </a:t>
            </a:r>
            <a:r>
              <a:rPr lang="en-AU" sz="1900" b="1" dirty="0">
                <a:solidFill>
                  <a:srgbClr val="FF0000"/>
                </a:solidFill>
              </a:rPr>
              <a:t>Current Account, Goods, Debit</a:t>
            </a:r>
          </a:p>
          <a:p>
            <a:pPr marL="624078" indent="-514350">
              <a:spcBef>
                <a:spcPts val="0"/>
              </a:spcBef>
              <a:buFont typeface="+mj-lt"/>
              <a:buAutoNum type="arabicPeriod" startAt="8"/>
            </a:pPr>
            <a:r>
              <a:rPr lang="en-AU" sz="1900" dirty="0"/>
              <a:t>Overseas company paying interest to Australian company </a:t>
            </a:r>
            <a:r>
              <a:rPr lang="en-AU" sz="1900" b="1" dirty="0">
                <a:solidFill>
                  <a:srgbClr val="FF0000"/>
                </a:solidFill>
              </a:rPr>
              <a:t>Current Account, Primary income, Credit</a:t>
            </a:r>
            <a:endParaRPr lang="en-AU" sz="1900" dirty="0"/>
          </a:p>
        </p:txBody>
      </p:sp>
    </p:spTree>
    <p:extLst>
      <p:ext uri="{BB962C8B-B14F-4D97-AF65-F5344CB8AC3E}">
        <p14:creationId xmlns:p14="http://schemas.microsoft.com/office/powerpoint/2010/main" val="16156342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A2732-5A57-CD69-D6A7-2F3E550459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A1FF4E-8D1B-23B8-F6AC-B74E94F2929D}"/>
              </a:ext>
            </a:extLst>
          </p:cNvPr>
          <p:cNvSpPr>
            <a:spLocks noGrp="1"/>
          </p:cNvSpPr>
          <p:nvPr>
            <p:ph type="title"/>
          </p:nvPr>
        </p:nvSpPr>
        <p:spPr>
          <a:xfrm>
            <a:off x="621792" y="1161288"/>
            <a:ext cx="4074386" cy="2518890"/>
          </a:xfrm>
        </p:spPr>
        <p:txBody>
          <a:bodyPr>
            <a:normAutofit fontScale="90000"/>
          </a:bodyPr>
          <a:lstStyle/>
          <a:p>
            <a:r>
              <a:rPr lang="en-US" dirty="0"/>
              <a:t>DOUBLE ENTRY SYSTEM</a:t>
            </a:r>
          </a:p>
        </p:txBody>
      </p:sp>
      <p:sp>
        <p:nvSpPr>
          <p:cNvPr id="3" name="Content Placeholder 2">
            <a:extLst>
              <a:ext uri="{FF2B5EF4-FFF2-40B4-BE49-F238E27FC236}">
                <a16:creationId xmlns:a16="http://schemas.microsoft.com/office/drawing/2014/main" id="{FB2932BA-A188-2219-7420-1FB843B959CE}"/>
              </a:ext>
            </a:extLst>
          </p:cNvPr>
          <p:cNvSpPr>
            <a:spLocks noGrp="1"/>
          </p:cNvSpPr>
          <p:nvPr>
            <p:ph idx="1"/>
          </p:nvPr>
        </p:nvSpPr>
        <p:spPr>
          <a:xfrm>
            <a:off x="3414656" y="220717"/>
            <a:ext cx="8777344" cy="6637283"/>
          </a:xfrm>
        </p:spPr>
        <p:txBody>
          <a:bodyPr anchor="ctr">
            <a:normAutofit/>
          </a:bodyPr>
          <a:lstStyle/>
          <a:p>
            <a:pPr marL="0" indent="0">
              <a:buNone/>
            </a:pPr>
            <a:r>
              <a:rPr lang="en-AU" dirty="0"/>
              <a:t>In every economic transaction, something of value is given and something of equal value is received, so every transaction has two sides. This idea is captured in the </a:t>
            </a:r>
            <a:r>
              <a:rPr lang="en-AU" b="1" dirty="0"/>
              <a:t>double-entry accounting system</a:t>
            </a:r>
            <a:r>
              <a:rPr lang="en-AU" dirty="0"/>
              <a:t> used in the </a:t>
            </a:r>
            <a:r>
              <a:rPr lang="en-AU" b="1" dirty="0"/>
              <a:t>Balance of Payments</a:t>
            </a:r>
            <a:r>
              <a:rPr lang="en-AU" dirty="0"/>
              <a:t>.</a:t>
            </a:r>
          </a:p>
          <a:p>
            <a:pPr marL="0" indent="0">
              <a:buNone/>
            </a:pPr>
            <a:endParaRPr lang="en-AU" dirty="0"/>
          </a:p>
          <a:p>
            <a:pPr marL="0" indent="0">
              <a:buNone/>
            </a:pPr>
            <a:r>
              <a:rPr lang="en-AU" dirty="0"/>
              <a:t>Each transaction in the </a:t>
            </a:r>
            <a:r>
              <a:rPr lang="en-AU" dirty="0" err="1"/>
              <a:t>BoP</a:t>
            </a:r>
            <a:r>
              <a:rPr lang="en-AU" dirty="0"/>
              <a:t> is recorded as consisting of two equal and opposite entries reflecting the inflow and outflow element to each exchange. </a:t>
            </a:r>
          </a:p>
          <a:p>
            <a:pPr marL="0" indent="0">
              <a:buNone/>
            </a:pPr>
            <a:endParaRPr lang="en-AU" dirty="0"/>
          </a:p>
          <a:p>
            <a:pPr marL="0" indent="0">
              <a:buNone/>
            </a:pPr>
            <a:r>
              <a:rPr lang="en-AU" dirty="0"/>
              <a:t>For each transaction between an Australian resident and someone overseas, there is </a:t>
            </a:r>
            <a:r>
              <a:rPr lang="en-AU" b="1" dirty="0"/>
              <a:t>a matching credit and debit entry:</a:t>
            </a:r>
          </a:p>
          <a:p>
            <a:pPr lvl="1"/>
            <a:r>
              <a:rPr lang="en-AU" sz="2000" dirty="0"/>
              <a:t>One entry records the receipt of the good or service (good, service, asset)</a:t>
            </a:r>
          </a:p>
          <a:p>
            <a:pPr lvl="1"/>
            <a:r>
              <a:rPr lang="en-AU" sz="2000" dirty="0"/>
              <a:t>One entry records the payment of the receipt (transfer of currency)</a:t>
            </a:r>
          </a:p>
          <a:p>
            <a:pPr lvl="1"/>
            <a:endParaRPr lang="en-AU" sz="2000" dirty="0"/>
          </a:p>
          <a:p>
            <a:pPr marL="457200" lvl="1" indent="0">
              <a:buNone/>
            </a:pPr>
            <a:r>
              <a:rPr lang="en-AU" sz="2000" b="1" dirty="0"/>
              <a:t>**More on this later in the lesson</a:t>
            </a:r>
          </a:p>
        </p:txBody>
      </p:sp>
      <p:pic>
        <p:nvPicPr>
          <p:cNvPr id="4" name="Picture 2" descr="How to Draw a Boy - Really Easy Drawing Tutorial">
            <a:extLst>
              <a:ext uri="{FF2B5EF4-FFF2-40B4-BE49-F238E27FC236}">
                <a16:creationId xmlns:a16="http://schemas.microsoft.com/office/drawing/2014/main" id="{2F26BE65-9B3A-3347-827F-C3B5B6F422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792" y="4002141"/>
            <a:ext cx="888625" cy="19526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Premium Vector | Little girl show hand gesture thumb up and thumb down">
            <a:extLst>
              <a:ext uri="{FF2B5EF4-FFF2-40B4-BE49-F238E27FC236}">
                <a16:creationId xmlns:a16="http://schemas.microsoft.com/office/drawing/2014/main" id="{CB5B91F6-5DCC-B8A2-7F44-5A16B9BB8AC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7328" r="34881"/>
          <a:stretch/>
        </p:blipFill>
        <p:spPr bwMode="auto">
          <a:xfrm>
            <a:off x="2310418" y="4182418"/>
            <a:ext cx="933192" cy="1952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16052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46C80-E8D3-10FF-9A81-D15B910266D8}"/>
              </a:ext>
            </a:extLst>
          </p:cNvPr>
          <p:cNvSpPr>
            <a:spLocks noGrp="1"/>
          </p:cNvSpPr>
          <p:nvPr>
            <p:ph type="title"/>
          </p:nvPr>
        </p:nvSpPr>
        <p:spPr/>
        <p:txBody>
          <a:bodyPr/>
          <a:lstStyle/>
          <a:p>
            <a:endParaRPr lang="en-AU"/>
          </a:p>
        </p:txBody>
      </p:sp>
      <p:sp>
        <p:nvSpPr>
          <p:cNvPr id="4" name="Text Placeholder 3">
            <a:extLst>
              <a:ext uri="{FF2B5EF4-FFF2-40B4-BE49-F238E27FC236}">
                <a16:creationId xmlns:a16="http://schemas.microsoft.com/office/drawing/2014/main" id="{78AF3C68-46C7-DCB1-4447-B81B4EDBC377}"/>
              </a:ext>
            </a:extLst>
          </p:cNvPr>
          <p:cNvSpPr>
            <a:spLocks noGrp="1"/>
          </p:cNvSpPr>
          <p:nvPr>
            <p:ph type="body" sz="quarter" idx="15"/>
          </p:nvPr>
        </p:nvSpPr>
        <p:spPr/>
        <p:txBody>
          <a:bodyPr>
            <a:normAutofit fontScale="55000" lnSpcReduction="20000"/>
          </a:bodyPr>
          <a:lstStyle/>
          <a:p>
            <a:endParaRPr lang="en-AU"/>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542006630"/>
              </p:ext>
            </p:extLst>
          </p:nvPr>
        </p:nvGraphicFramePr>
        <p:xfrm>
          <a:off x="772886" y="206828"/>
          <a:ext cx="10624456" cy="6389915"/>
        </p:xfrm>
        <a:graphic>
          <a:graphicData uri="http://schemas.openxmlformats.org/drawingml/2006/table">
            <a:tbl>
              <a:tblPr firstRow="1" firstCol="1" bandRow="1"/>
              <a:tblGrid>
                <a:gridCol w="5089025">
                  <a:extLst>
                    <a:ext uri="{9D8B030D-6E8A-4147-A177-3AD203B41FA5}">
                      <a16:colId xmlns:a16="http://schemas.microsoft.com/office/drawing/2014/main" val="20000"/>
                    </a:ext>
                  </a:extLst>
                </a:gridCol>
                <a:gridCol w="892810">
                  <a:extLst>
                    <a:ext uri="{9D8B030D-6E8A-4147-A177-3AD203B41FA5}">
                      <a16:colId xmlns:a16="http://schemas.microsoft.com/office/drawing/2014/main" val="20001"/>
                    </a:ext>
                  </a:extLst>
                </a:gridCol>
                <a:gridCol w="4642621">
                  <a:extLst>
                    <a:ext uri="{9D8B030D-6E8A-4147-A177-3AD203B41FA5}">
                      <a16:colId xmlns:a16="http://schemas.microsoft.com/office/drawing/2014/main" val="20002"/>
                    </a:ext>
                  </a:extLst>
                </a:gridCol>
              </a:tblGrid>
              <a:tr h="2294083">
                <a:tc>
                  <a:txBody>
                    <a:bodyPr/>
                    <a:lstStyle/>
                    <a:p>
                      <a:pPr>
                        <a:spcAft>
                          <a:spcPts val="0"/>
                        </a:spcAft>
                      </a:pPr>
                      <a:r>
                        <a:rPr lang="en-AU" sz="1600" b="1" u="sng" dirty="0">
                          <a:solidFill>
                            <a:schemeClr val="accent1"/>
                          </a:solidFill>
                          <a:effectLst/>
                          <a:latin typeface="+mn-lt"/>
                          <a:ea typeface="Times New Roman"/>
                          <a:cs typeface="Helvetica-Narrow"/>
                        </a:rPr>
                        <a:t>CURRENT ACCOUNT</a:t>
                      </a:r>
                      <a:endParaRPr lang="en-AU" sz="1600" b="1" dirty="0">
                        <a:solidFill>
                          <a:schemeClr val="accent1"/>
                        </a:solidFill>
                        <a:effectLst/>
                        <a:latin typeface="+mn-lt"/>
                        <a:ea typeface="Times New Roman"/>
                      </a:endParaRPr>
                    </a:p>
                    <a:p>
                      <a:pPr marL="342900" lvl="0" indent="-342900">
                        <a:spcAft>
                          <a:spcPts val="0"/>
                        </a:spcAft>
                        <a:buFont typeface="+mj-lt"/>
                        <a:buAutoNum type="arabicPeriod"/>
                      </a:pPr>
                      <a:endParaRPr lang="en-AU" sz="1400" dirty="0">
                        <a:effectLst/>
                        <a:latin typeface="+mn-lt"/>
                        <a:ea typeface="Times New Roman"/>
                        <a:cs typeface="Helvetica-Narrow"/>
                      </a:endParaRPr>
                    </a:p>
                    <a:p>
                      <a:pPr marL="0" lvl="0" indent="0">
                        <a:spcAft>
                          <a:spcPts val="0"/>
                        </a:spcAft>
                        <a:buFont typeface="+mj-lt"/>
                        <a:buNone/>
                      </a:pPr>
                      <a:r>
                        <a:rPr lang="en-AU" sz="1600" b="1" u="sng" dirty="0">
                          <a:effectLst/>
                          <a:latin typeface="+mn-lt"/>
                          <a:ea typeface="Times New Roman"/>
                          <a:cs typeface="Helvetica-Narrow"/>
                        </a:rPr>
                        <a:t>Goods</a:t>
                      </a:r>
                      <a:r>
                        <a:rPr lang="en-AU" sz="1600" dirty="0">
                          <a:effectLst/>
                          <a:latin typeface="+mn-lt"/>
                          <a:ea typeface="Times New Roman"/>
                          <a:cs typeface="Helvetica-Narrow"/>
                        </a:rPr>
                        <a:t> </a:t>
                      </a:r>
                    </a:p>
                    <a:p>
                      <a:pPr marL="0" lvl="0" indent="0">
                        <a:spcAft>
                          <a:spcPts val="0"/>
                        </a:spcAft>
                        <a:buFont typeface="+mj-lt"/>
                        <a:buNone/>
                      </a:pPr>
                      <a:r>
                        <a:rPr lang="en-AU" sz="1400" i="1" dirty="0">
                          <a:effectLst/>
                          <a:latin typeface="+mn-lt"/>
                          <a:ea typeface="Times New Roman"/>
                          <a:cs typeface="Helvetica-Narrow"/>
                        </a:rPr>
                        <a:t>Net Goods = Credits (X)  –  Debits (M)</a:t>
                      </a:r>
                    </a:p>
                    <a:p>
                      <a:pPr marL="0" lvl="0" indent="0">
                        <a:spcAft>
                          <a:spcPts val="0"/>
                        </a:spcAft>
                        <a:buFont typeface="+mj-lt"/>
                        <a:buNone/>
                      </a:pPr>
                      <a:endParaRPr lang="en-AU" sz="1400" dirty="0">
                        <a:effectLst/>
                        <a:latin typeface="+mn-lt"/>
                        <a:ea typeface="Times New Roman"/>
                      </a:endParaRPr>
                    </a:p>
                    <a:p>
                      <a:pPr marL="0" lvl="0" indent="0">
                        <a:spcAft>
                          <a:spcPts val="0"/>
                        </a:spcAft>
                        <a:buFont typeface="+mj-lt"/>
                        <a:buNone/>
                      </a:pPr>
                      <a:r>
                        <a:rPr lang="en-AU" sz="1400" dirty="0">
                          <a:effectLst/>
                          <a:latin typeface="+mn-lt"/>
                          <a:ea typeface="Times New Roman"/>
                        </a:rPr>
                        <a:t>+ </a:t>
                      </a:r>
                    </a:p>
                    <a:p>
                      <a:pPr marL="0" lvl="0" indent="0">
                        <a:spcAft>
                          <a:spcPts val="0"/>
                        </a:spcAft>
                        <a:buFont typeface="+mj-lt"/>
                        <a:buNone/>
                      </a:pPr>
                      <a:endParaRPr lang="en-AU" sz="1400" dirty="0">
                        <a:effectLst/>
                        <a:latin typeface="+mn-lt"/>
                        <a:ea typeface="Times New Roman"/>
                      </a:endParaRPr>
                    </a:p>
                    <a:p>
                      <a:pPr marL="0" lvl="0" indent="0">
                        <a:spcAft>
                          <a:spcPts val="0"/>
                        </a:spcAft>
                        <a:buFont typeface="+mj-lt"/>
                        <a:buNone/>
                      </a:pPr>
                      <a:r>
                        <a:rPr lang="en-AU" sz="1600" b="1" u="sng" dirty="0">
                          <a:effectLst/>
                          <a:latin typeface="+mn-lt"/>
                          <a:ea typeface="Times New Roman"/>
                          <a:cs typeface="Helvetica-Narrow"/>
                        </a:rPr>
                        <a:t>Services</a:t>
                      </a:r>
                      <a:r>
                        <a:rPr lang="en-AU" sz="1600" b="1" dirty="0">
                          <a:effectLst/>
                          <a:latin typeface="+mn-lt"/>
                          <a:ea typeface="Times New Roman"/>
                          <a:cs typeface="Helvetica-Narrow"/>
                        </a:rPr>
                        <a:t> </a:t>
                      </a:r>
                    </a:p>
                    <a:p>
                      <a:pPr marL="0" lvl="0" indent="0">
                        <a:spcAft>
                          <a:spcPts val="0"/>
                        </a:spcAft>
                        <a:buFont typeface="+mj-lt"/>
                        <a:buNone/>
                      </a:pPr>
                      <a:r>
                        <a:rPr lang="en-AU" sz="1600" b="0" i="1" dirty="0">
                          <a:effectLst/>
                          <a:latin typeface="+mn-lt"/>
                          <a:ea typeface="Times New Roman"/>
                          <a:cs typeface="Helvetica-Narrow"/>
                        </a:rPr>
                        <a:t>Net Services</a:t>
                      </a:r>
                      <a:r>
                        <a:rPr lang="en-AU" sz="1600" b="0" i="1" baseline="0" dirty="0">
                          <a:effectLst/>
                          <a:latin typeface="+mn-lt"/>
                          <a:ea typeface="Times New Roman"/>
                          <a:cs typeface="Helvetica-Narrow"/>
                        </a:rPr>
                        <a:t> = </a:t>
                      </a:r>
                      <a:r>
                        <a:rPr lang="en-AU" sz="1600" b="0" i="1" dirty="0">
                          <a:effectLst/>
                          <a:latin typeface="+mn-lt"/>
                          <a:ea typeface="Times New Roman"/>
                          <a:cs typeface="Helvetica-Narrow"/>
                        </a:rPr>
                        <a:t>C</a:t>
                      </a:r>
                      <a:r>
                        <a:rPr lang="en-AU" sz="1400" b="0" i="1" dirty="0">
                          <a:effectLst/>
                          <a:latin typeface="+mn-lt"/>
                          <a:ea typeface="Times New Roman"/>
                          <a:cs typeface="Helvetica-Narrow"/>
                        </a:rPr>
                        <a:t>redits (X) -  Debits (M)</a:t>
                      </a: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a:spcAft>
                          <a:spcPts val="0"/>
                        </a:spcAft>
                      </a:pPr>
                      <a:r>
                        <a:rPr lang="en-AU" sz="1400" dirty="0">
                          <a:solidFill>
                            <a:schemeClr val="tx1"/>
                          </a:solidFill>
                          <a:effectLst/>
                          <a:latin typeface="+mn-lt"/>
                          <a:ea typeface="Times New Roman"/>
                          <a:cs typeface="Helvetica-Narrow"/>
                        </a:rPr>
                        <a:t> </a:t>
                      </a:r>
                      <a:endParaRPr lang="en-AU" sz="1400" dirty="0">
                        <a:solidFill>
                          <a:schemeClr val="tx1"/>
                        </a:solidFill>
                        <a:effectLst/>
                        <a:latin typeface="+mn-lt"/>
                        <a:ea typeface="Times New Roman"/>
                      </a:endParaRPr>
                    </a:p>
                  </a:txBody>
                  <a:tcPr marL="68580" marR="68580" marT="0" marB="0">
                    <a:lnL>
                      <a:noFill/>
                    </a:lnL>
                    <a:lnR>
                      <a:noFill/>
                    </a:lnR>
                    <a:lnT>
                      <a:noFill/>
                    </a:lnT>
                    <a:lnB>
                      <a:noFill/>
                    </a:lnB>
                    <a:solidFill>
                      <a:schemeClr val="bg1"/>
                    </a:solidFill>
                  </a:tcPr>
                </a:tc>
                <a:tc>
                  <a:txBody>
                    <a:bodyPr/>
                    <a:lstStyle/>
                    <a:p>
                      <a:pPr>
                        <a:spcAft>
                          <a:spcPts val="0"/>
                        </a:spcAft>
                      </a:pPr>
                      <a:r>
                        <a:rPr lang="en-AU" sz="1600" b="1" u="sng" dirty="0">
                          <a:solidFill>
                            <a:schemeClr val="accent1"/>
                          </a:solidFill>
                          <a:effectLst/>
                          <a:latin typeface="+mn-lt"/>
                          <a:ea typeface="Times New Roman"/>
                          <a:cs typeface="Helvetica-Narrow"/>
                        </a:rPr>
                        <a:t>CAPITAL ACCOUNT</a:t>
                      </a:r>
                      <a:endParaRPr lang="en-AU" sz="1600" b="1" dirty="0">
                        <a:solidFill>
                          <a:schemeClr val="accent1"/>
                        </a:solidFill>
                        <a:effectLst/>
                        <a:latin typeface="+mn-lt"/>
                        <a:ea typeface="Times New Roman"/>
                      </a:endParaRPr>
                    </a:p>
                    <a:p>
                      <a:pPr marL="0" lvl="0" indent="0" algn="l" defTabSz="457200" rtl="0" eaLnBrk="1" latinLnBrk="0" hangingPunct="1">
                        <a:spcAft>
                          <a:spcPts val="0"/>
                        </a:spcAft>
                        <a:buFont typeface="+mj-lt"/>
                        <a:buNone/>
                      </a:pPr>
                      <a:endParaRPr lang="en-AU" sz="1400" kern="1200" dirty="0">
                        <a:solidFill>
                          <a:schemeClr val="bg1">
                            <a:lumMod val="85000"/>
                          </a:schemeClr>
                        </a:solidFill>
                        <a:effectLst/>
                        <a:latin typeface="+mn-lt"/>
                        <a:ea typeface="Times New Roman"/>
                      </a:endParaRPr>
                    </a:p>
                    <a:p>
                      <a:pPr marL="0" lvl="0" indent="0" algn="l" defTabSz="457200" rtl="0" eaLnBrk="1" latinLnBrk="0" hangingPunct="1">
                        <a:spcAft>
                          <a:spcPts val="0"/>
                        </a:spcAft>
                        <a:buFont typeface="+mj-lt"/>
                        <a:buNone/>
                      </a:pPr>
                      <a:r>
                        <a:rPr lang="en-AU" sz="1400" kern="1200" dirty="0">
                          <a:solidFill>
                            <a:schemeClr val="tx1"/>
                          </a:solidFill>
                          <a:effectLst/>
                          <a:latin typeface="+mn-lt"/>
                          <a:ea typeface="Times New Roman"/>
                        </a:rPr>
                        <a:t>Transfer of intellectual property</a:t>
                      </a:r>
                    </a:p>
                    <a:p>
                      <a:pPr marL="0" lvl="0" indent="0" algn="l" defTabSz="457200" rtl="0" eaLnBrk="1" latinLnBrk="0" hangingPunct="1">
                        <a:spcAft>
                          <a:spcPts val="0"/>
                        </a:spcAft>
                        <a:buFont typeface="+mj-lt"/>
                        <a:buNone/>
                      </a:pPr>
                      <a:r>
                        <a:rPr lang="en-AU" sz="1400" kern="1200" dirty="0">
                          <a:solidFill>
                            <a:schemeClr val="tx1"/>
                          </a:solidFill>
                          <a:effectLst/>
                          <a:latin typeface="+mn-lt"/>
                          <a:ea typeface="Times New Roman"/>
                        </a:rPr>
                        <a:t>Foreign aid used for capital</a:t>
                      </a:r>
                    </a:p>
                    <a:p>
                      <a:pPr marL="0" lvl="0" indent="0" algn="l" defTabSz="457200" rtl="0" eaLnBrk="1" latinLnBrk="0" hangingPunct="1">
                        <a:spcAft>
                          <a:spcPts val="0"/>
                        </a:spcAft>
                        <a:buFont typeface="+mj-lt"/>
                        <a:buNone/>
                      </a:pPr>
                      <a:r>
                        <a:rPr lang="en-AU" sz="1400" kern="1200" dirty="0">
                          <a:solidFill>
                            <a:schemeClr val="tx1"/>
                          </a:solidFill>
                          <a:effectLst/>
                          <a:latin typeface="+mn-lt"/>
                          <a:ea typeface="Times New Roman"/>
                        </a:rPr>
                        <a:t>Transfer of migrant funds</a:t>
                      </a:r>
                    </a:p>
                    <a:p>
                      <a:pPr marL="0" lvl="0" indent="0" algn="l" defTabSz="457200" rtl="0" eaLnBrk="1" latinLnBrk="0" hangingPunct="1">
                        <a:spcAft>
                          <a:spcPts val="0"/>
                        </a:spcAft>
                        <a:buFont typeface="+mj-lt"/>
                        <a:buNone/>
                      </a:pPr>
                      <a:endParaRPr lang="en-AU" sz="1400" kern="1200" dirty="0">
                        <a:solidFill>
                          <a:schemeClr val="tx1"/>
                        </a:solidFill>
                        <a:effectLst/>
                        <a:latin typeface="+mn-lt"/>
                        <a:ea typeface="Times New Roman"/>
                      </a:endParaRPr>
                    </a:p>
                    <a:p>
                      <a:pPr marL="0" lvl="0" indent="0" algn="l" defTabSz="457200" rtl="0" eaLnBrk="1" latinLnBrk="0" hangingPunct="1">
                        <a:spcAft>
                          <a:spcPts val="0"/>
                        </a:spcAft>
                        <a:buFont typeface="+mj-lt"/>
                        <a:buNone/>
                      </a:pPr>
                      <a:r>
                        <a:rPr lang="en-AU" sz="1400" i="1" kern="1200" dirty="0">
                          <a:solidFill>
                            <a:schemeClr val="tx1"/>
                          </a:solidFill>
                          <a:effectLst/>
                          <a:latin typeface="+mn-lt"/>
                          <a:ea typeface="Times New Roman"/>
                        </a:rPr>
                        <a:t>Credits      --     Debits </a:t>
                      </a: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86227">
                <a:tc>
                  <a:txBody>
                    <a:bodyPr/>
                    <a:lstStyle/>
                    <a:p>
                      <a:pPr algn="l">
                        <a:spcAft>
                          <a:spcPts val="0"/>
                        </a:spcAft>
                      </a:pPr>
                      <a:r>
                        <a:rPr lang="en-AU" sz="1400" b="1" dirty="0">
                          <a:solidFill>
                            <a:schemeClr val="tx1"/>
                          </a:solidFill>
                          <a:effectLst/>
                          <a:latin typeface="+mn-lt"/>
                          <a:ea typeface="Times New Roman"/>
                          <a:cs typeface="Helvetica-Narrow"/>
                        </a:rPr>
                        <a:t>= Trade balance </a:t>
                      </a:r>
                      <a:endParaRPr lang="en-AU" sz="1400" b="1" dirty="0">
                        <a:solidFill>
                          <a:schemeClr val="tx1"/>
                        </a:solidFill>
                        <a:effectLst/>
                        <a:latin typeface="+mn-lt"/>
                        <a:ea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solidFill>
                      <a:schemeClr val="bg1"/>
                    </a:solidFill>
                  </a:tcPr>
                </a:tc>
                <a:tc>
                  <a:txBody>
                    <a:bodyPr/>
                    <a:lstStyle/>
                    <a:p>
                      <a:pPr>
                        <a:spcAft>
                          <a:spcPts val="0"/>
                        </a:spcAft>
                      </a:pPr>
                      <a:r>
                        <a:rPr lang="en-AU" sz="1400" dirty="0">
                          <a:solidFill>
                            <a:schemeClr val="tx1"/>
                          </a:solidFill>
                          <a:effectLst/>
                          <a:latin typeface="+mn-lt"/>
                          <a:ea typeface="Times New Roman"/>
                          <a:cs typeface="Helvetica-Narrow"/>
                        </a:rPr>
                        <a:t> </a:t>
                      </a:r>
                      <a:endParaRPr lang="en-AU" sz="1400" dirty="0">
                        <a:solidFill>
                          <a:schemeClr val="tx1"/>
                        </a:solidFill>
                        <a:effectLst/>
                        <a:latin typeface="+mn-lt"/>
                        <a:ea typeface="Times New Roman"/>
                      </a:endParaRPr>
                    </a:p>
                  </a:txBody>
                  <a:tcPr marL="68580" marR="68580" marT="0" marB="0">
                    <a:lnL>
                      <a:noFill/>
                    </a:lnL>
                    <a:lnR>
                      <a:noFill/>
                    </a:lnR>
                    <a:lnT>
                      <a:noFill/>
                    </a:lnT>
                    <a:lnB>
                      <a:noFill/>
                    </a:lnB>
                    <a:solidFill>
                      <a:schemeClr val="bg1"/>
                    </a:solidFill>
                  </a:tcPr>
                </a:tc>
                <a:tc>
                  <a:txBody>
                    <a:bodyPr/>
                    <a:lstStyle/>
                    <a:p>
                      <a:pPr algn="ctr">
                        <a:spcAft>
                          <a:spcPts val="0"/>
                        </a:spcAft>
                      </a:pPr>
                      <a:r>
                        <a:rPr lang="en-AU" sz="1400" b="1" dirty="0">
                          <a:solidFill>
                            <a:schemeClr val="tx1"/>
                          </a:solidFill>
                          <a:effectLst/>
                          <a:latin typeface="+mn-lt"/>
                          <a:ea typeface="Times New Roman"/>
                          <a:cs typeface="Helvetica-Narrow"/>
                        </a:rPr>
                        <a:t> = Balance on Capital</a:t>
                      </a:r>
                      <a:r>
                        <a:rPr lang="en-AU" sz="1400" b="1" baseline="0" dirty="0">
                          <a:solidFill>
                            <a:schemeClr val="tx1"/>
                          </a:solidFill>
                          <a:effectLst/>
                          <a:latin typeface="+mn-lt"/>
                          <a:ea typeface="Times New Roman"/>
                          <a:cs typeface="Helvetica-Narrow"/>
                        </a:rPr>
                        <a:t> Account (KA)</a:t>
                      </a:r>
                      <a:endParaRPr lang="en-AU" sz="1400" b="1" dirty="0">
                        <a:solidFill>
                          <a:schemeClr val="tx1"/>
                        </a:solidFill>
                        <a:effectLst/>
                        <a:latin typeface="+mn-lt"/>
                        <a:ea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10001"/>
                  </a:ext>
                </a:extLst>
              </a:tr>
              <a:tr h="3509605">
                <a:tc>
                  <a:txBody>
                    <a:bodyPr/>
                    <a:lstStyle/>
                    <a:p>
                      <a:pPr>
                        <a:spcAft>
                          <a:spcPts val="0"/>
                        </a:spcAft>
                      </a:pPr>
                      <a:r>
                        <a:rPr lang="en-AU" sz="1600" b="1" u="sng" dirty="0">
                          <a:solidFill>
                            <a:schemeClr val="tx1"/>
                          </a:solidFill>
                          <a:effectLst/>
                          <a:latin typeface="+mn-lt"/>
                          <a:ea typeface="Times New Roman"/>
                          <a:cs typeface="Helvetica-Narrow"/>
                        </a:rPr>
                        <a:t>Income</a:t>
                      </a:r>
                    </a:p>
                    <a:p>
                      <a:pPr>
                        <a:spcAft>
                          <a:spcPts val="0"/>
                        </a:spcAft>
                      </a:pPr>
                      <a:endParaRPr lang="en-AU" sz="1600" b="1" u="sng" dirty="0">
                        <a:solidFill>
                          <a:schemeClr val="tx1"/>
                        </a:solidFill>
                        <a:effectLst/>
                        <a:latin typeface="+mn-lt"/>
                        <a:ea typeface="Times New Roman"/>
                        <a:cs typeface="Helvetica-Narrow"/>
                      </a:endParaRPr>
                    </a:p>
                    <a:p>
                      <a:pPr>
                        <a:spcAft>
                          <a:spcPts val="0"/>
                        </a:spcAft>
                      </a:pPr>
                      <a:r>
                        <a:rPr lang="en-AU" sz="1400" b="0" u="sng" dirty="0">
                          <a:effectLst/>
                          <a:latin typeface="+mn-lt"/>
                          <a:ea typeface="Times New Roman"/>
                        </a:rPr>
                        <a:t>Primary</a:t>
                      </a:r>
                    </a:p>
                    <a:p>
                      <a:pPr marL="0" lvl="0" indent="0">
                        <a:spcAft>
                          <a:spcPts val="0"/>
                        </a:spcAft>
                        <a:buFont typeface="+mj-lt"/>
                        <a:buNone/>
                      </a:pPr>
                      <a:r>
                        <a:rPr lang="en-AU" sz="1400" i="1" dirty="0">
                          <a:effectLst/>
                          <a:latin typeface="+mn-lt"/>
                          <a:ea typeface="Times New Roman"/>
                          <a:cs typeface="Helvetica-Narrow"/>
                        </a:rPr>
                        <a:t>Net Primary Income</a:t>
                      </a:r>
                      <a:r>
                        <a:rPr lang="en-AU" sz="1400" i="1" baseline="0" dirty="0">
                          <a:effectLst/>
                          <a:latin typeface="+mn-lt"/>
                          <a:ea typeface="Times New Roman"/>
                          <a:cs typeface="Helvetica-Narrow"/>
                        </a:rPr>
                        <a:t> = </a:t>
                      </a:r>
                      <a:r>
                        <a:rPr lang="en-AU" sz="1400" i="1" dirty="0">
                          <a:effectLst/>
                          <a:latin typeface="+mn-lt"/>
                          <a:ea typeface="Times New Roman"/>
                          <a:cs typeface="Helvetica-Narrow"/>
                        </a:rPr>
                        <a:t>Credits</a:t>
                      </a:r>
                      <a:r>
                        <a:rPr lang="en-AU" sz="1400" i="1" baseline="0" dirty="0">
                          <a:effectLst/>
                          <a:latin typeface="+mn-lt"/>
                          <a:ea typeface="Times New Roman"/>
                          <a:cs typeface="Helvetica-Narrow"/>
                        </a:rPr>
                        <a:t>   –  Debits</a:t>
                      </a:r>
                    </a:p>
                    <a:p>
                      <a:pPr marL="0" lvl="0" indent="0">
                        <a:spcAft>
                          <a:spcPts val="0"/>
                        </a:spcAft>
                        <a:buFont typeface="+mj-lt"/>
                        <a:buNone/>
                      </a:pPr>
                      <a:endParaRPr lang="en-AU" sz="1100" dirty="0">
                        <a:effectLst/>
                        <a:latin typeface="+mn-lt"/>
                        <a:ea typeface="Times New Roman"/>
                      </a:endParaRPr>
                    </a:p>
                    <a:p>
                      <a:pPr marL="0" lvl="0" indent="0">
                        <a:spcAft>
                          <a:spcPts val="0"/>
                        </a:spcAft>
                        <a:buFont typeface="+mj-lt"/>
                        <a:buNone/>
                      </a:pPr>
                      <a:r>
                        <a:rPr lang="en-AU" sz="1100" dirty="0">
                          <a:effectLst/>
                          <a:latin typeface="+mn-lt"/>
                          <a:ea typeface="Times New Roman"/>
                        </a:rPr>
                        <a:t>+</a:t>
                      </a:r>
                    </a:p>
                    <a:p>
                      <a:pPr marL="0" lvl="0" indent="0">
                        <a:spcAft>
                          <a:spcPts val="0"/>
                        </a:spcAft>
                        <a:buFont typeface="+mj-lt"/>
                        <a:buNone/>
                      </a:pPr>
                      <a:endParaRPr lang="en-AU" sz="1100" dirty="0">
                        <a:effectLst/>
                        <a:latin typeface="+mn-lt"/>
                        <a:ea typeface="Times New Roman"/>
                      </a:endParaRPr>
                    </a:p>
                    <a:p>
                      <a:pPr>
                        <a:spcAft>
                          <a:spcPts val="0"/>
                        </a:spcAft>
                      </a:pPr>
                      <a:r>
                        <a:rPr lang="en-AU" sz="1400" u="sng" dirty="0">
                          <a:effectLst/>
                          <a:latin typeface="+mn-lt"/>
                          <a:ea typeface="Times New Roman"/>
                          <a:cs typeface="Helvetica-Narrow"/>
                        </a:rPr>
                        <a:t>Secondary </a:t>
                      </a:r>
                    </a:p>
                    <a:p>
                      <a:pPr>
                        <a:spcAft>
                          <a:spcPts val="0"/>
                        </a:spcAft>
                      </a:pPr>
                      <a:r>
                        <a:rPr lang="en-AU" sz="1400" b="0" dirty="0">
                          <a:effectLst/>
                          <a:latin typeface="+mn-lt"/>
                          <a:ea typeface="Times New Roman"/>
                          <a:cs typeface="Helvetica-Narrow"/>
                        </a:rPr>
                        <a:t>Net Secondary Income = Credit - Debits</a:t>
                      </a:r>
                    </a:p>
                    <a:p>
                      <a:pPr>
                        <a:spcAft>
                          <a:spcPts val="0"/>
                        </a:spcAft>
                      </a:pPr>
                      <a:r>
                        <a:rPr lang="en-AU" sz="1400" b="1" dirty="0">
                          <a:effectLst/>
                          <a:latin typeface="+mn-lt"/>
                          <a:ea typeface="Times New Roman"/>
                          <a:cs typeface="Helvetica-Narrow"/>
                        </a:rPr>
                        <a:t>_____________________________________</a:t>
                      </a:r>
                    </a:p>
                    <a:p>
                      <a:pPr algn="l">
                        <a:spcAft>
                          <a:spcPts val="0"/>
                        </a:spcAft>
                      </a:pPr>
                      <a:r>
                        <a:rPr lang="en-AU" sz="1400" b="1" dirty="0">
                          <a:solidFill>
                            <a:schemeClr val="tx1"/>
                          </a:solidFill>
                          <a:effectLst/>
                          <a:latin typeface="+mn-lt"/>
                          <a:ea typeface="Times New Roman"/>
                          <a:cs typeface="Helvetica-Narrow"/>
                        </a:rPr>
                        <a:t>Net</a:t>
                      </a:r>
                      <a:r>
                        <a:rPr lang="en-AU" sz="1400" b="1" baseline="0" dirty="0">
                          <a:solidFill>
                            <a:schemeClr val="tx1"/>
                          </a:solidFill>
                          <a:effectLst/>
                          <a:latin typeface="+mn-lt"/>
                          <a:ea typeface="Times New Roman"/>
                          <a:cs typeface="Helvetica-Narrow"/>
                        </a:rPr>
                        <a:t> Income </a:t>
                      </a:r>
                    </a:p>
                    <a:p>
                      <a:pPr algn="l">
                        <a:spcAft>
                          <a:spcPts val="0"/>
                        </a:spcAft>
                      </a:pPr>
                      <a:r>
                        <a:rPr lang="en-AU" sz="1400" b="1" baseline="0" dirty="0">
                          <a:solidFill>
                            <a:schemeClr val="tx1"/>
                          </a:solidFill>
                          <a:effectLst/>
                          <a:latin typeface="+mn-lt"/>
                          <a:ea typeface="Times New Roman"/>
                          <a:cs typeface="Helvetica-Narrow"/>
                        </a:rPr>
                        <a:t>= Net Primary + Net Secondary</a:t>
                      </a:r>
                    </a:p>
                    <a:p>
                      <a:pPr>
                        <a:spcAft>
                          <a:spcPts val="0"/>
                        </a:spcAft>
                      </a:pPr>
                      <a:r>
                        <a:rPr lang="en-AU" sz="1400" dirty="0">
                          <a:effectLst/>
                          <a:latin typeface="+mn-lt"/>
                          <a:ea typeface="Times New Roman"/>
                        </a:rPr>
                        <a:t>____________________________________</a:t>
                      </a:r>
                    </a:p>
                    <a:p>
                      <a:pPr algn="l">
                        <a:spcAft>
                          <a:spcPts val="0"/>
                        </a:spcAft>
                      </a:pPr>
                      <a:r>
                        <a:rPr lang="en-AU" sz="1400" b="1" dirty="0">
                          <a:solidFill>
                            <a:schemeClr val="accent1"/>
                          </a:solidFill>
                          <a:effectLst/>
                          <a:latin typeface="+mn-lt"/>
                          <a:ea typeface="Times New Roman"/>
                        </a:rPr>
                        <a:t>TB + NET</a:t>
                      </a:r>
                      <a:r>
                        <a:rPr lang="en-AU" sz="1400" b="1" baseline="0" dirty="0">
                          <a:solidFill>
                            <a:schemeClr val="accent1"/>
                          </a:solidFill>
                          <a:effectLst/>
                          <a:latin typeface="+mn-lt"/>
                          <a:ea typeface="Times New Roman"/>
                        </a:rPr>
                        <a:t> INCOME</a:t>
                      </a:r>
                      <a:endParaRPr lang="en-AU" sz="1400" b="1" dirty="0">
                        <a:solidFill>
                          <a:schemeClr val="accent1"/>
                        </a:solidFill>
                        <a:effectLst/>
                        <a:latin typeface="+mn-lt"/>
                        <a:ea typeface="Times New Roman"/>
                      </a:endParaRPr>
                    </a:p>
                    <a:p>
                      <a:pPr algn="l">
                        <a:spcAft>
                          <a:spcPts val="0"/>
                        </a:spcAft>
                      </a:pPr>
                      <a:r>
                        <a:rPr lang="en-AU" sz="1400" b="1" dirty="0">
                          <a:solidFill>
                            <a:schemeClr val="accent1"/>
                          </a:solidFill>
                          <a:effectLst/>
                          <a:latin typeface="+mn-lt"/>
                          <a:ea typeface="Times New Roman"/>
                        </a:rPr>
                        <a:t>= BALANCE</a:t>
                      </a:r>
                      <a:r>
                        <a:rPr lang="en-AU" sz="1400" b="1" baseline="0" dirty="0">
                          <a:solidFill>
                            <a:schemeClr val="accent1"/>
                          </a:solidFill>
                          <a:effectLst/>
                          <a:latin typeface="+mn-lt"/>
                          <a:ea typeface="Times New Roman"/>
                        </a:rPr>
                        <a:t> ON CURRENT ACCOUNT</a:t>
                      </a:r>
                      <a:endParaRPr lang="en-AU" sz="1400" b="1" dirty="0">
                        <a:solidFill>
                          <a:schemeClr val="accent1"/>
                        </a:solidFill>
                        <a:effectLst/>
                        <a:latin typeface="+mn-lt"/>
                        <a:ea typeface="Times New Roman"/>
                      </a:endParaRPr>
                    </a:p>
                  </a:txBody>
                  <a:tcPr marL="68580" marR="68580" marT="0" marB="0">
                    <a:lnL>
                      <a:noFill/>
                    </a:lnL>
                    <a:lnR>
                      <a:noFill/>
                    </a:lnR>
                    <a:lnT>
                      <a:noFill/>
                    </a:lnT>
                    <a:lnB>
                      <a:noFill/>
                    </a:lnB>
                    <a:solidFill>
                      <a:schemeClr val="bg1"/>
                    </a:solidFill>
                  </a:tcPr>
                </a:tc>
                <a:tc>
                  <a:txBody>
                    <a:bodyPr/>
                    <a:lstStyle/>
                    <a:p>
                      <a:pPr>
                        <a:spcAft>
                          <a:spcPts val="0"/>
                        </a:spcAft>
                      </a:pPr>
                      <a:r>
                        <a:rPr lang="en-AU" sz="1400" dirty="0">
                          <a:solidFill>
                            <a:schemeClr val="tx1"/>
                          </a:solidFill>
                          <a:effectLst/>
                          <a:latin typeface="+mn-lt"/>
                          <a:ea typeface="Times New Roman"/>
                          <a:cs typeface="Helvetica-Narrow"/>
                        </a:rPr>
                        <a:t> </a:t>
                      </a:r>
                    </a:p>
                    <a:p>
                      <a:pPr>
                        <a:spcAft>
                          <a:spcPts val="0"/>
                        </a:spcAft>
                      </a:pPr>
                      <a:endParaRPr lang="en-AU" sz="1400" dirty="0">
                        <a:solidFill>
                          <a:schemeClr val="tx1"/>
                        </a:solidFill>
                        <a:effectLst/>
                        <a:latin typeface="+mn-lt"/>
                        <a:ea typeface="Times New Roman"/>
                      </a:endParaRPr>
                    </a:p>
                  </a:txBody>
                  <a:tcPr marL="68580" marR="68580" marT="0" marB="0">
                    <a:lnL>
                      <a:noFill/>
                    </a:lnL>
                    <a:lnR>
                      <a:noFill/>
                    </a:lnR>
                    <a:lnT>
                      <a:noFill/>
                    </a:lnT>
                    <a:lnB>
                      <a:noFill/>
                    </a:lnB>
                    <a:solidFill>
                      <a:schemeClr val="bg1"/>
                    </a:solidFill>
                  </a:tcPr>
                </a:tc>
                <a:tc>
                  <a:txBody>
                    <a:bodyPr/>
                    <a:lstStyle/>
                    <a:p>
                      <a:pPr>
                        <a:spcAft>
                          <a:spcPts val="0"/>
                        </a:spcAft>
                      </a:pPr>
                      <a:r>
                        <a:rPr lang="en-AU" sz="1600" b="1" u="sng" dirty="0">
                          <a:solidFill>
                            <a:schemeClr val="accent1"/>
                          </a:solidFill>
                          <a:effectLst/>
                          <a:latin typeface="+mn-lt"/>
                          <a:ea typeface="Times New Roman"/>
                          <a:cs typeface="Helvetica-Narrow"/>
                        </a:rPr>
                        <a:t>FINANCIAL ACCOUNT</a:t>
                      </a:r>
                    </a:p>
                    <a:p>
                      <a:pPr marL="0" lvl="0" indent="0">
                        <a:spcAft>
                          <a:spcPts val="0"/>
                        </a:spcAft>
                        <a:buFont typeface="+mj-lt"/>
                        <a:buNone/>
                      </a:pPr>
                      <a:endParaRPr lang="en-AU" sz="1400" dirty="0">
                        <a:effectLst/>
                        <a:latin typeface="+mn-lt"/>
                        <a:ea typeface="Times New Roman"/>
                        <a:cs typeface="Helvetica-Narrow"/>
                      </a:endParaRPr>
                    </a:p>
                    <a:p>
                      <a:pPr marL="0" lvl="0" indent="0">
                        <a:spcAft>
                          <a:spcPts val="0"/>
                        </a:spcAft>
                        <a:buFont typeface="+mj-lt"/>
                        <a:buNone/>
                      </a:pPr>
                      <a:r>
                        <a:rPr lang="en-AU" sz="1400" dirty="0">
                          <a:solidFill>
                            <a:schemeClr val="tx1"/>
                          </a:solidFill>
                          <a:effectLst/>
                          <a:latin typeface="+mn-lt"/>
                          <a:ea typeface="Times New Roman"/>
                          <a:cs typeface="Helvetica-Narrow"/>
                        </a:rPr>
                        <a:t>Direct Investment</a:t>
                      </a:r>
                    </a:p>
                    <a:p>
                      <a:pPr marL="0" lvl="0" indent="0">
                        <a:spcAft>
                          <a:spcPts val="0"/>
                        </a:spcAft>
                        <a:buFont typeface="+mj-lt"/>
                        <a:buNone/>
                      </a:pPr>
                      <a:r>
                        <a:rPr lang="en-AU" sz="1400" dirty="0">
                          <a:solidFill>
                            <a:schemeClr val="tx1"/>
                          </a:solidFill>
                          <a:effectLst/>
                          <a:latin typeface="+mn-lt"/>
                          <a:ea typeface="Times New Roman"/>
                          <a:cs typeface="Helvetica-Narrow"/>
                        </a:rPr>
                        <a:t>Portfolio Investment</a:t>
                      </a:r>
                    </a:p>
                    <a:p>
                      <a:pPr marL="0" lvl="0" indent="0">
                        <a:spcAft>
                          <a:spcPts val="0"/>
                        </a:spcAft>
                        <a:buFont typeface="+mj-lt"/>
                        <a:buNone/>
                      </a:pPr>
                      <a:r>
                        <a:rPr lang="en-AU" sz="1400" dirty="0">
                          <a:solidFill>
                            <a:schemeClr val="tx1"/>
                          </a:solidFill>
                          <a:effectLst/>
                          <a:latin typeface="+mn-lt"/>
                          <a:ea typeface="Times New Roman"/>
                          <a:cs typeface="Helvetica-Narrow"/>
                        </a:rPr>
                        <a:t>Other Investment</a:t>
                      </a:r>
                    </a:p>
                    <a:p>
                      <a:pPr marL="0" lvl="0" indent="0">
                        <a:spcAft>
                          <a:spcPts val="0"/>
                        </a:spcAft>
                        <a:buFont typeface="+mj-lt"/>
                        <a:buNone/>
                      </a:pPr>
                      <a:endParaRPr lang="en-AU" sz="1400" dirty="0">
                        <a:solidFill>
                          <a:schemeClr val="tx1"/>
                        </a:solidFill>
                        <a:effectLst/>
                        <a:latin typeface="+mn-lt"/>
                        <a:ea typeface="Times New Roman"/>
                        <a:cs typeface="Helvetica-Narrow"/>
                      </a:endParaRPr>
                    </a:p>
                    <a:p>
                      <a:pPr marL="0" lvl="0" indent="0">
                        <a:spcAft>
                          <a:spcPts val="0"/>
                        </a:spcAft>
                        <a:buFont typeface="+mj-lt"/>
                        <a:buNone/>
                      </a:pPr>
                      <a:r>
                        <a:rPr lang="en-AU" sz="1400" i="1" dirty="0">
                          <a:solidFill>
                            <a:schemeClr val="tx1"/>
                          </a:solidFill>
                          <a:effectLst/>
                          <a:latin typeface="+mn-lt"/>
                          <a:ea typeface="Times New Roman"/>
                          <a:cs typeface="Helvetica-Narrow"/>
                        </a:rPr>
                        <a:t>Credits    –     Debits</a:t>
                      </a:r>
                    </a:p>
                    <a:p>
                      <a:pPr marL="0" lvl="0" indent="0">
                        <a:spcAft>
                          <a:spcPts val="0"/>
                        </a:spcAft>
                        <a:buFont typeface="+mj-lt"/>
                        <a:buNone/>
                      </a:pPr>
                      <a:r>
                        <a:rPr lang="en-AU" sz="1400" i="1" dirty="0">
                          <a:solidFill>
                            <a:schemeClr val="tx1"/>
                          </a:solidFill>
                          <a:effectLst/>
                          <a:latin typeface="+mn-lt"/>
                          <a:ea typeface="Times New Roman"/>
                          <a:cs typeface="Helvetica-Narrow"/>
                        </a:rPr>
                        <a:t>________________________________</a:t>
                      </a:r>
                    </a:p>
                    <a:p>
                      <a:pPr marL="0" lvl="0" indent="0">
                        <a:spcAft>
                          <a:spcPts val="0"/>
                        </a:spcAft>
                        <a:buFont typeface="+mj-lt"/>
                        <a:buNone/>
                      </a:pPr>
                      <a:r>
                        <a:rPr lang="en-AU" sz="1400" b="1" i="0" dirty="0">
                          <a:solidFill>
                            <a:schemeClr val="tx1"/>
                          </a:solidFill>
                          <a:effectLst/>
                          <a:latin typeface="+mn-lt"/>
                          <a:ea typeface="Times New Roman"/>
                          <a:cs typeface="Helvetica-Narrow"/>
                        </a:rPr>
                        <a:t>= Balance on Financial Account</a:t>
                      </a:r>
                    </a:p>
                    <a:p>
                      <a:pPr marL="0" lvl="0" indent="0">
                        <a:spcAft>
                          <a:spcPts val="0"/>
                        </a:spcAft>
                        <a:buFont typeface="+mj-lt"/>
                        <a:buNone/>
                      </a:pPr>
                      <a:endParaRPr lang="en-AU" sz="1400" b="1" i="0" dirty="0">
                        <a:solidFill>
                          <a:schemeClr val="tx1"/>
                        </a:solidFill>
                        <a:effectLst/>
                        <a:latin typeface="+mn-lt"/>
                        <a:ea typeface="Times New Roman"/>
                        <a:cs typeface="Helvetica-Narrow"/>
                      </a:endParaRPr>
                    </a:p>
                    <a:p>
                      <a:pPr marL="0" lvl="0" indent="0">
                        <a:spcAft>
                          <a:spcPts val="0"/>
                        </a:spcAft>
                        <a:buFont typeface="+mj-lt"/>
                        <a:buNone/>
                      </a:pPr>
                      <a:r>
                        <a:rPr lang="en-AU" sz="1400" dirty="0">
                          <a:solidFill>
                            <a:schemeClr val="tx1"/>
                          </a:solidFill>
                          <a:effectLst/>
                          <a:latin typeface="+mn-lt"/>
                          <a:ea typeface="Times New Roman"/>
                        </a:rPr>
                        <a:t>________________________________</a:t>
                      </a:r>
                      <a:endParaRPr lang="en-AU" sz="1400" b="1" dirty="0">
                        <a:solidFill>
                          <a:schemeClr val="tx1"/>
                        </a:solidFill>
                        <a:effectLst/>
                        <a:latin typeface="+mn-lt"/>
                        <a:ea typeface="Times New Roman"/>
                      </a:endParaRPr>
                    </a:p>
                    <a:p>
                      <a:pPr marL="0" lvl="0" indent="0" algn="l">
                        <a:spcAft>
                          <a:spcPts val="0"/>
                        </a:spcAft>
                        <a:buFont typeface="+mj-lt"/>
                        <a:buNone/>
                      </a:pPr>
                      <a:r>
                        <a:rPr lang="en-AU" sz="1400" b="1" dirty="0">
                          <a:solidFill>
                            <a:schemeClr val="tx1"/>
                          </a:solidFill>
                          <a:effectLst/>
                          <a:latin typeface="+mn-lt"/>
                          <a:ea typeface="Times New Roman"/>
                        </a:rPr>
                        <a:t>Balance on Capital Account</a:t>
                      </a:r>
                      <a:r>
                        <a:rPr lang="en-AU" sz="1400" b="1" baseline="0" dirty="0">
                          <a:solidFill>
                            <a:schemeClr val="tx1"/>
                          </a:solidFill>
                          <a:effectLst/>
                          <a:latin typeface="+mn-lt"/>
                          <a:ea typeface="Times New Roman"/>
                        </a:rPr>
                        <a:t> + Balance on Financial Account</a:t>
                      </a:r>
                    </a:p>
                    <a:p>
                      <a:pPr marL="0" lvl="0" indent="0" algn="l">
                        <a:spcAft>
                          <a:spcPts val="0"/>
                        </a:spcAft>
                        <a:buFont typeface="+mj-lt"/>
                        <a:buNone/>
                      </a:pPr>
                      <a:endParaRPr lang="en-AU" sz="1400" b="1" dirty="0">
                        <a:solidFill>
                          <a:schemeClr val="tx1"/>
                        </a:solidFill>
                        <a:effectLst/>
                        <a:latin typeface="+mn-lt"/>
                        <a:ea typeface="Times New Roman"/>
                      </a:endParaRPr>
                    </a:p>
                    <a:p>
                      <a:pPr marL="0" lvl="0" indent="0" algn="l">
                        <a:spcAft>
                          <a:spcPts val="0"/>
                        </a:spcAft>
                        <a:buFont typeface="+mj-lt"/>
                        <a:buNone/>
                      </a:pPr>
                      <a:r>
                        <a:rPr lang="en-AU" sz="1400" b="1" dirty="0">
                          <a:solidFill>
                            <a:schemeClr val="accent1"/>
                          </a:solidFill>
                          <a:effectLst/>
                          <a:latin typeface="+mn-lt"/>
                          <a:ea typeface="Times New Roman"/>
                        </a:rPr>
                        <a:t>= BALANCE</a:t>
                      </a:r>
                      <a:r>
                        <a:rPr lang="en-AU" sz="1400" b="1" baseline="0" dirty="0">
                          <a:solidFill>
                            <a:schemeClr val="accent1"/>
                          </a:solidFill>
                          <a:effectLst/>
                          <a:latin typeface="+mn-lt"/>
                          <a:ea typeface="Times New Roman"/>
                        </a:rPr>
                        <a:t> ON THE CAPITAL &amp; FINANCIAL  ACCOUNT</a:t>
                      </a:r>
                      <a:endParaRPr lang="en-AU" sz="1400" b="1" dirty="0">
                        <a:solidFill>
                          <a:schemeClr val="accent1"/>
                        </a:solidFill>
                        <a:effectLst/>
                        <a:latin typeface="+mn-lt"/>
                        <a:ea typeface="Times New Roman"/>
                      </a:endParaRPr>
                    </a:p>
                  </a:txBody>
                  <a:tcPr marL="68580" marR="68580" marT="0" marB="0">
                    <a:lnL>
                      <a:noFill/>
                    </a:lnL>
                    <a:lnR>
                      <a:noFill/>
                    </a:lnR>
                    <a:lnT>
                      <a:noFill/>
                    </a:lnT>
                    <a:lnB>
                      <a:noFill/>
                    </a:lnB>
                    <a:solidFill>
                      <a:schemeClr val="bg1"/>
                    </a:solidFill>
                  </a:tcPr>
                </a:tc>
                <a:extLst>
                  <a:ext uri="{0D108BD9-81ED-4DB2-BD59-A6C34878D82A}">
                    <a16:rowId xmlns:a16="http://schemas.microsoft.com/office/drawing/2014/main" val="10002"/>
                  </a:ext>
                </a:extLst>
              </a:tr>
            </a:tbl>
          </a:graphicData>
        </a:graphic>
      </p:graphicFrame>
      <p:sp>
        <p:nvSpPr>
          <p:cNvPr id="5" name="Title 1">
            <a:extLst>
              <a:ext uri="{FF2B5EF4-FFF2-40B4-BE49-F238E27FC236}">
                <a16:creationId xmlns:a16="http://schemas.microsoft.com/office/drawing/2014/main" id="{43DBEEBB-4042-C517-A49A-0E6590E3B82F}"/>
              </a:ext>
            </a:extLst>
          </p:cNvPr>
          <p:cNvSpPr txBox="1">
            <a:spLocks/>
          </p:cNvSpPr>
          <p:nvPr/>
        </p:nvSpPr>
        <p:spPr>
          <a:xfrm>
            <a:off x="4000500" y="261257"/>
            <a:ext cx="2638425" cy="1453114"/>
          </a:xfrm>
          <a:prstGeom prst="rect">
            <a:avLst/>
          </a:prstGeom>
          <a:ln w="38100"/>
        </p:spPr>
        <p:style>
          <a:lnRef idx="2">
            <a:schemeClr val="accent3"/>
          </a:lnRef>
          <a:fillRef idx="1">
            <a:schemeClr val="lt1"/>
          </a:fillRef>
          <a:effectRef idx="0">
            <a:schemeClr val="accent3"/>
          </a:effectRef>
          <a:fontRef idx="minor">
            <a:schemeClr val="dk1"/>
          </a:fontRef>
        </p:style>
        <p:txBody>
          <a:bodyPr vert="horz" lIns="91440" tIns="45720" rIns="91440" bIns="45720" rtlCol="0" anchor="b">
            <a:normAutofit/>
          </a:bodyPr>
          <a:lstStyle>
            <a:lvl1pPr algn="l" defTabSz="914400" rtl="0" eaLnBrk="1" latinLnBrk="0" hangingPunct="1">
              <a:lnSpc>
                <a:spcPct val="90000"/>
              </a:lnSpc>
              <a:spcBef>
                <a:spcPct val="0"/>
              </a:spcBef>
              <a:buNone/>
              <a:defRPr sz="4000" kern="1200">
                <a:solidFill>
                  <a:schemeClr val="tx1"/>
                </a:solidFill>
                <a:latin typeface="+mj-lt"/>
                <a:ea typeface="+mj-ea"/>
                <a:cs typeface="+mj-cs"/>
              </a:defRPr>
            </a:lvl1pPr>
          </a:lstStyle>
          <a:p>
            <a:r>
              <a:rPr lang="en-US" sz="3200" dirty="0"/>
              <a:t>SAMPLE OF BALANCE OF PAYMENTS</a:t>
            </a:r>
          </a:p>
        </p:txBody>
      </p:sp>
    </p:spTree>
    <p:extLst>
      <p:ext uri="{BB962C8B-B14F-4D97-AF65-F5344CB8AC3E}">
        <p14:creationId xmlns:p14="http://schemas.microsoft.com/office/powerpoint/2010/main" val="28478891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F9CBD-9CCE-2E80-B8A8-AFD5B066D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AA7BD7-2D8D-50B6-B376-17A63692D4F4}"/>
              </a:ext>
            </a:extLst>
          </p:cNvPr>
          <p:cNvSpPr>
            <a:spLocks noGrp="1"/>
          </p:cNvSpPr>
          <p:nvPr>
            <p:ph type="title"/>
          </p:nvPr>
        </p:nvSpPr>
        <p:spPr>
          <a:xfrm>
            <a:off x="838200" y="365125"/>
            <a:ext cx="10515600" cy="1079853"/>
          </a:xfrm>
        </p:spPr>
        <p:txBody>
          <a:bodyPr>
            <a:normAutofit/>
          </a:bodyPr>
          <a:lstStyle/>
          <a:p>
            <a:r>
              <a:rPr lang="en-AU" sz="3200" dirty="0"/>
              <a:t>OBTAINING THE OVERALL BALANCE OF PAYMENTS</a:t>
            </a:r>
            <a:endParaRPr lang="en-US" sz="3000" dirty="0"/>
          </a:p>
        </p:txBody>
      </p:sp>
      <p:sp>
        <p:nvSpPr>
          <p:cNvPr id="3" name="Content Placeholder 2">
            <a:extLst>
              <a:ext uri="{FF2B5EF4-FFF2-40B4-BE49-F238E27FC236}">
                <a16:creationId xmlns:a16="http://schemas.microsoft.com/office/drawing/2014/main" id="{AD945E6C-94DD-1766-CA1F-D267C02CB5D8}"/>
              </a:ext>
            </a:extLst>
          </p:cNvPr>
          <p:cNvSpPr>
            <a:spLocks noGrp="1"/>
          </p:cNvSpPr>
          <p:nvPr>
            <p:ph idx="1"/>
          </p:nvPr>
        </p:nvSpPr>
        <p:spPr>
          <a:xfrm>
            <a:off x="558139" y="2137558"/>
            <a:ext cx="11174681" cy="4171802"/>
          </a:xfrm>
        </p:spPr>
        <p:txBody>
          <a:bodyPr>
            <a:normAutofit/>
          </a:bodyPr>
          <a:lstStyle/>
          <a:p>
            <a:pPr marL="305435" indent="-305435"/>
            <a:r>
              <a:rPr lang="en-AU" dirty="0"/>
              <a:t>Current Account Balance (CAB) + Capital and Financial Account Balance (KAFA) = BOP</a:t>
            </a:r>
          </a:p>
          <a:p>
            <a:pPr marL="305435" indent="-305435"/>
            <a:r>
              <a:rPr lang="en-AU" dirty="0"/>
              <a:t>The total must always sum to 0</a:t>
            </a:r>
          </a:p>
          <a:p>
            <a:pPr marL="305435" indent="-305435"/>
            <a:r>
              <a:rPr lang="en-AU" dirty="0"/>
              <a:t>If the CAB is in DEFICIT then the KAFA will be in SURPLUS</a:t>
            </a:r>
          </a:p>
          <a:p>
            <a:pPr marL="305435" indent="-305435"/>
            <a:r>
              <a:rPr lang="en-AU" dirty="0"/>
              <a:t>If the CAB is in SURPLUS then the KAFA will be in DEFICIT </a:t>
            </a:r>
          </a:p>
          <a:p>
            <a:r>
              <a:rPr lang="en-AU" dirty="0"/>
              <a:t>The larger the surplus, the larger the deficit. </a:t>
            </a:r>
          </a:p>
          <a:p>
            <a:pPr marL="305435" indent="-305435"/>
            <a:r>
              <a:rPr lang="en-AU" dirty="0"/>
              <a:t>THE BOP WILL ALWAYS BALANCE OVERALL (however, they do account for some small errors)</a:t>
            </a:r>
          </a:p>
          <a:p>
            <a:pPr marL="0" indent="0">
              <a:buNone/>
            </a:pPr>
            <a:r>
              <a:rPr lang="en-AU" b="1" dirty="0"/>
              <a:t>WHY? </a:t>
            </a:r>
            <a:r>
              <a:rPr lang="en-AU" dirty="0"/>
              <a:t>For every credit there is a corresponding debit. Called the double entry book-keeping system.</a:t>
            </a:r>
          </a:p>
          <a:p>
            <a:endParaRPr lang="en-US" dirty="0"/>
          </a:p>
        </p:txBody>
      </p:sp>
    </p:spTree>
    <p:extLst>
      <p:ext uri="{BB962C8B-B14F-4D97-AF65-F5344CB8AC3E}">
        <p14:creationId xmlns:p14="http://schemas.microsoft.com/office/powerpoint/2010/main" val="9686105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EE294-4E2A-3976-DB7E-23F7924F40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5901CB-85E9-DAFF-5B32-F966935903B6}"/>
              </a:ext>
            </a:extLst>
          </p:cNvPr>
          <p:cNvSpPr>
            <a:spLocks noGrp="1"/>
          </p:cNvSpPr>
          <p:nvPr>
            <p:ph type="title"/>
          </p:nvPr>
        </p:nvSpPr>
        <p:spPr>
          <a:xfrm>
            <a:off x="418786" y="441435"/>
            <a:ext cx="4074386" cy="2518890"/>
          </a:xfrm>
        </p:spPr>
        <p:txBody>
          <a:bodyPr>
            <a:normAutofit fontScale="90000"/>
          </a:bodyPr>
          <a:lstStyle/>
          <a:p>
            <a:r>
              <a:rPr lang="en-US" dirty="0"/>
              <a:t>NET ERRORS AND OMISSIONS</a:t>
            </a:r>
          </a:p>
        </p:txBody>
      </p:sp>
      <p:sp>
        <p:nvSpPr>
          <p:cNvPr id="3" name="Content Placeholder 2">
            <a:extLst>
              <a:ext uri="{FF2B5EF4-FFF2-40B4-BE49-F238E27FC236}">
                <a16:creationId xmlns:a16="http://schemas.microsoft.com/office/drawing/2014/main" id="{F63E0934-903F-BECB-3C7A-68BDEF2B0D69}"/>
              </a:ext>
            </a:extLst>
          </p:cNvPr>
          <p:cNvSpPr>
            <a:spLocks noGrp="1"/>
          </p:cNvSpPr>
          <p:nvPr>
            <p:ph idx="1"/>
          </p:nvPr>
        </p:nvSpPr>
        <p:spPr>
          <a:xfrm>
            <a:off x="4493172" y="441435"/>
            <a:ext cx="7512781" cy="6014784"/>
          </a:xfrm>
        </p:spPr>
        <p:txBody>
          <a:bodyPr anchor="ctr">
            <a:normAutofit/>
          </a:bodyPr>
          <a:lstStyle/>
          <a:p>
            <a:r>
              <a:rPr lang="en-AU" dirty="0"/>
              <a:t>While the Balance of Payments is meant to always equal zero (credits = debits), in reality this doesn’t always happen.</a:t>
            </a:r>
          </a:p>
          <a:p>
            <a:r>
              <a:rPr lang="en-AU" dirty="0"/>
              <a:t>This is because:</a:t>
            </a:r>
          </a:p>
          <a:p>
            <a:r>
              <a:rPr lang="en-AU" dirty="0"/>
              <a:t>Some transactions are hard to measure accurately</a:t>
            </a:r>
          </a:p>
          <a:p>
            <a:r>
              <a:rPr lang="en-AU" dirty="0"/>
              <a:t>Some are completely missed or not recorded (called omitted transactions)</a:t>
            </a:r>
          </a:p>
          <a:p>
            <a:r>
              <a:rPr lang="en-AU" dirty="0"/>
              <a:t>To fix this, there is an extra item included in the BOP called ‘Net Errors and Omissions’ is included to ensure everything balances in the end.</a:t>
            </a:r>
          </a:p>
          <a:p>
            <a:pPr marL="0" indent="0">
              <a:lnSpc>
                <a:spcPct val="100000"/>
              </a:lnSpc>
              <a:buNone/>
            </a:pPr>
            <a:endParaRPr lang="en-US" sz="2000" dirty="0"/>
          </a:p>
        </p:txBody>
      </p:sp>
      <p:pic>
        <p:nvPicPr>
          <p:cNvPr id="7" name="Graphic 6" descr="Calculator">
            <a:extLst>
              <a:ext uri="{FF2B5EF4-FFF2-40B4-BE49-F238E27FC236}">
                <a16:creationId xmlns:a16="http://schemas.microsoft.com/office/drawing/2014/main" id="{7C934ED1-6D35-6A2C-CF1D-5769ED935D2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8786" y="2769804"/>
            <a:ext cx="3426046" cy="3426046"/>
          </a:xfrm>
          <a:prstGeom prst="rect">
            <a:avLst/>
          </a:prstGeom>
        </p:spPr>
      </p:pic>
    </p:spTree>
    <p:extLst>
      <p:ext uri="{BB962C8B-B14F-4D97-AF65-F5344CB8AC3E}">
        <p14:creationId xmlns:p14="http://schemas.microsoft.com/office/powerpoint/2010/main" val="37887471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30020" y="0"/>
            <a:ext cx="6473952" cy="1901952"/>
          </a:xfrm>
        </p:spPr>
        <p:txBody>
          <a:bodyPr>
            <a:normAutofit/>
          </a:bodyPr>
          <a:lstStyle/>
          <a:p>
            <a:pPr>
              <a:defRPr/>
            </a:pPr>
            <a:r>
              <a:rPr lang="en-US" sz="4900" dirty="0"/>
              <a:t>BOP IN PRACTICE</a:t>
            </a:r>
          </a:p>
        </p:txBody>
      </p:sp>
      <p:sp>
        <p:nvSpPr>
          <p:cNvPr id="57347" name="Content Placeholder 2"/>
          <p:cNvSpPr>
            <a:spLocks noGrp="1"/>
          </p:cNvSpPr>
          <p:nvPr>
            <p:ph idx="1"/>
          </p:nvPr>
        </p:nvSpPr>
        <p:spPr>
          <a:xfrm>
            <a:off x="1519646" y="1756520"/>
            <a:ext cx="8484326" cy="585216"/>
          </a:xfrm>
        </p:spPr>
        <p:txBody>
          <a:bodyPr>
            <a:noAutofit/>
          </a:bodyPr>
          <a:lstStyle/>
          <a:p>
            <a:pPr marL="0" indent="0">
              <a:spcBef>
                <a:spcPct val="0"/>
              </a:spcBef>
              <a:buNone/>
              <a:tabLst>
                <a:tab pos="5029200" algn="l"/>
              </a:tabLst>
            </a:pPr>
            <a:r>
              <a:rPr lang="en-GB" sz="2400" b="1" dirty="0">
                <a:ea typeface="MS PGothic" charset="0"/>
              </a:rPr>
              <a:t>Balance of Payments</a:t>
            </a:r>
            <a:r>
              <a:rPr lang="en-US" sz="2400" dirty="0">
                <a:ea typeface="MS PGothic" charset="0"/>
              </a:rPr>
              <a:t>  	</a:t>
            </a:r>
            <a:r>
              <a:rPr lang="en-GB" sz="2400" b="1" dirty="0">
                <a:ea typeface="MS PGothic" charset="0"/>
              </a:rPr>
              <a:t>$m</a:t>
            </a:r>
            <a:endParaRPr lang="en-US" sz="2400" dirty="0">
              <a:ea typeface="MS PGothic" charset="0"/>
            </a:endParaRPr>
          </a:p>
          <a:p>
            <a:pPr marL="0" indent="0">
              <a:spcBef>
                <a:spcPct val="0"/>
              </a:spcBef>
              <a:buNone/>
              <a:tabLst>
                <a:tab pos="5029200" algn="l"/>
              </a:tabLst>
            </a:pPr>
            <a:r>
              <a:rPr lang="en-GB" sz="2400" dirty="0">
                <a:ea typeface="MS PGothic" charset="0"/>
              </a:rPr>
              <a:t>Current account</a:t>
            </a:r>
            <a:endParaRPr lang="en-US" sz="2400" dirty="0">
              <a:ea typeface="MS PGothic" charset="0"/>
            </a:endParaRPr>
          </a:p>
          <a:p>
            <a:pPr>
              <a:spcBef>
                <a:spcPct val="0"/>
              </a:spcBef>
              <a:buNone/>
              <a:tabLst>
                <a:tab pos="5029200" algn="l"/>
              </a:tabLst>
            </a:pPr>
            <a:r>
              <a:rPr lang="en-GB" sz="2400" dirty="0">
                <a:ea typeface="MS PGothic" charset="0"/>
              </a:rPr>
              <a:t>  	Goods credits	600</a:t>
            </a:r>
            <a:endParaRPr lang="en-US" sz="2400" dirty="0">
              <a:ea typeface="MS PGothic" charset="0"/>
            </a:endParaRPr>
          </a:p>
          <a:p>
            <a:pPr>
              <a:spcBef>
                <a:spcPct val="0"/>
              </a:spcBef>
              <a:buNone/>
              <a:tabLst>
                <a:tab pos="5029200" algn="l"/>
              </a:tabLst>
            </a:pPr>
            <a:r>
              <a:rPr lang="en-US" sz="2400" dirty="0">
                <a:ea typeface="MS PGothic" charset="0"/>
              </a:rPr>
              <a:t> 	</a:t>
            </a:r>
            <a:r>
              <a:rPr lang="en-GB" sz="2400" dirty="0">
                <a:ea typeface="MS PGothic" charset="0"/>
              </a:rPr>
              <a:t>Goods debits	500</a:t>
            </a:r>
            <a:endParaRPr lang="en-US" sz="2400" dirty="0">
              <a:ea typeface="MS PGothic" charset="0"/>
            </a:endParaRPr>
          </a:p>
          <a:p>
            <a:pPr>
              <a:spcBef>
                <a:spcPct val="0"/>
              </a:spcBef>
              <a:buNone/>
              <a:tabLst>
                <a:tab pos="5029200" algn="l"/>
              </a:tabLst>
            </a:pPr>
            <a:r>
              <a:rPr lang="en-GB" sz="2400" dirty="0">
                <a:ea typeface="MS PGothic" charset="0"/>
              </a:rPr>
              <a:t> 	Net services	–300</a:t>
            </a:r>
            <a:endParaRPr lang="en-US" sz="2400" dirty="0">
              <a:ea typeface="MS PGothic" charset="0"/>
            </a:endParaRPr>
          </a:p>
          <a:p>
            <a:pPr>
              <a:spcBef>
                <a:spcPct val="0"/>
              </a:spcBef>
              <a:buNone/>
              <a:tabLst>
                <a:tab pos="5029200" algn="l"/>
              </a:tabLst>
            </a:pPr>
            <a:r>
              <a:rPr lang="en-GB" sz="2400" dirty="0">
                <a:ea typeface="MS PGothic" charset="0"/>
              </a:rPr>
              <a:t> 	Net income	?</a:t>
            </a:r>
            <a:endParaRPr lang="en-US" sz="2400" dirty="0">
              <a:ea typeface="MS PGothic" charset="0"/>
            </a:endParaRPr>
          </a:p>
          <a:p>
            <a:pPr marL="0" indent="0">
              <a:spcBef>
                <a:spcPct val="0"/>
              </a:spcBef>
              <a:buNone/>
              <a:tabLst>
                <a:tab pos="5029200" algn="l"/>
              </a:tabLst>
            </a:pPr>
            <a:r>
              <a:rPr lang="en-GB" sz="2400" dirty="0">
                <a:ea typeface="MS PGothic" charset="0"/>
              </a:rPr>
              <a:t>Capital/fin. account balance</a:t>
            </a:r>
            <a:r>
              <a:rPr lang="en-US" sz="2400" dirty="0">
                <a:ea typeface="MS PGothic" charset="0"/>
              </a:rPr>
              <a:t> 	</a:t>
            </a:r>
            <a:r>
              <a:rPr lang="en-GB" sz="2400" dirty="0">
                <a:ea typeface="MS PGothic" charset="0"/>
              </a:rPr>
              <a:t>1150</a:t>
            </a:r>
            <a:endParaRPr lang="en-US" sz="2400" dirty="0">
              <a:ea typeface="MS PGothic" charset="0"/>
            </a:endParaRPr>
          </a:p>
          <a:p>
            <a:pPr>
              <a:spcBef>
                <a:spcPct val="0"/>
              </a:spcBef>
              <a:buNone/>
              <a:tabLst>
                <a:tab pos="5029200" algn="l"/>
              </a:tabLst>
            </a:pPr>
            <a:endParaRPr lang="en-AU" sz="2400" dirty="0">
              <a:ea typeface="MS PGothic" charset="0"/>
            </a:endParaRPr>
          </a:p>
          <a:p>
            <a:pPr>
              <a:spcBef>
                <a:spcPct val="0"/>
              </a:spcBef>
              <a:buNone/>
              <a:tabLst>
                <a:tab pos="5029200" algn="l"/>
              </a:tabLst>
            </a:pPr>
            <a:r>
              <a:rPr lang="en-AU" sz="2400" dirty="0">
                <a:ea typeface="MS PGothic" charset="0"/>
              </a:rPr>
              <a:t>What is the current account balance?</a:t>
            </a:r>
          </a:p>
          <a:p>
            <a:pPr>
              <a:buNone/>
              <a:tabLst>
                <a:tab pos="5029200" algn="l"/>
              </a:tabLst>
            </a:pPr>
            <a:r>
              <a:rPr lang="en-AU" sz="2400" dirty="0">
                <a:ea typeface="MS PGothic" charset="0"/>
              </a:rPr>
              <a:t>What is the value of net income?</a:t>
            </a:r>
            <a:endParaRPr lang="en-US" sz="2400" dirty="0">
              <a:ea typeface="MS PGothic" charset="0"/>
            </a:endParaRPr>
          </a:p>
        </p:txBody>
      </p:sp>
    </p:spTree>
    <p:extLst>
      <p:ext uri="{BB962C8B-B14F-4D97-AF65-F5344CB8AC3E}">
        <p14:creationId xmlns:p14="http://schemas.microsoft.com/office/powerpoint/2010/main" val="10711671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2181E270-80E2-1D2F-06F7-2E8FE64EDB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D5FFF2-115F-56BF-6A2E-16E12E17ABC2}"/>
              </a:ext>
            </a:extLst>
          </p:cNvPr>
          <p:cNvSpPr>
            <a:spLocks noGrp="1"/>
          </p:cNvSpPr>
          <p:nvPr>
            <p:ph type="title"/>
          </p:nvPr>
        </p:nvSpPr>
        <p:spPr>
          <a:xfrm>
            <a:off x="3530020" y="0"/>
            <a:ext cx="6473952" cy="1901952"/>
          </a:xfrm>
        </p:spPr>
        <p:txBody>
          <a:bodyPr>
            <a:normAutofit/>
          </a:bodyPr>
          <a:lstStyle/>
          <a:p>
            <a:pPr>
              <a:defRPr/>
            </a:pPr>
            <a:r>
              <a:rPr lang="en-US" sz="4900" dirty="0"/>
              <a:t>BOP IN PRACTICE</a:t>
            </a:r>
          </a:p>
        </p:txBody>
      </p:sp>
      <p:sp>
        <p:nvSpPr>
          <p:cNvPr id="57347" name="Content Placeholder 2">
            <a:extLst>
              <a:ext uri="{FF2B5EF4-FFF2-40B4-BE49-F238E27FC236}">
                <a16:creationId xmlns:a16="http://schemas.microsoft.com/office/drawing/2014/main" id="{A1F22B1C-CCD4-3869-D35B-610FDD700A10}"/>
              </a:ext>
            </a:extLst>
          </p:cNvPr>
          <p:cNvSpPr>
            <a:spLocks noGrp="1"/>
          </p:cNvSpPr>
          <p:nvPr>
            <p:ph idx="1"/>
          </p:nvPr>
        </p:nvSpPr>
        <p:spPr>
          <a:xfrm>
            <a:off x="2405734" y="1452765"/>
            <a:ext cx="7009757" cy="2278935"/>
          </a:xfrm>
          <a:solidFill>
            <a:schemeClr val="accent2">
              <a:lumMod val="20000"/>
              <a:lumOff val="80000"/>
            </a:schemeClr>
          </a:solidFill>
        </p:spPr>
        <p:txBody>
          <a:bodyPr>
            <a:noAutofit/>
          </a:bodyPr>
          <a:lstStyle/>
          <a:p>
            <a:pPr marL="0" indent="0">
              <a:spcBef>
                <a:spcPct val="0"/>
              </a:spcBef>
              <a:buNone/>
              <a:tabLst>
                <a:tab pos="5029200" algn="l"/>
              </a:tabLst>
            </a:pPr>
            <a:r>
              <a:rPr lang="en-GB" sz="1400" b="1" dirty="0">
                <a:ea typeface="MS PGothic" charset="0"/>
              </a:rPr>
              <a:t>Balance of Payments</a:t>
            </a:r>
            <a:r>
              <a:rPr lang="en-US" sz="1400" dirty="0">
                <a:ea typeface="MS PGothic" charset="0"/>
              </a:rPr>
              <a:t>  	</a:t>
            </a:r>
            <a:r>
              <a:rPr lang="en-GB" sz="1400" b="1" dirty="0">
                <a:ea typeface="MS PGothic" charset="0"/>
              </a:rPr>
              <a:t>$m</a:t>
            </a:r>
            <a:endParaRPr lang="en-US" sz="1400" dirty="0">
              <a:ea typeface="MS PGothic" charset="0"/>
            </a:endParaRPr>
          </a:p>
          <a:p>
            <a:pPr marL="0" indent="0">
              <a:spcBef>
                <a:spcPct val="0"/>
              </a:spcBef>
              <a:buNone/>
              <a:tabLst>
                <a:tab pos="5029200" algn="l"/>
              </a:tabLst>
            </a:pPr>
            <a:r>
              <a:rPr lang="en-GB" sz="1400" dirty="0">
                <a:ea typeface="MS PGothic" charset="0"/>
              </a:rPr>
              <a:t>Current account</a:t>
            </a:r>
            <a:endParaRPr lang="en-US" sz="1400" dirty="0">
              <a:ea typeface="MS PGothic" charset="0"/>
            </a:endParaRPr>
          </a:p>
          <a:p>
            <a:pPr>
              <a:spcBef>
                <a:spcPct val="0"/>
              </a:spcBef>
              <a:buNone/>
              <a:tabLst>
                <a:tab pos="5029200" algn="l"/>
              </a:tabLst>
            </a:pPr>
            <a:r>
              <a:rPr lang="en-GB" sz="1400" dirty="0">
                <a:ea typeface="MS PGothic" charset="0"/>
              </a:rPr>
              <a:t>  	Goods credits	600</a:t>
            </a:r>
            <a:endParaRPr lang="en-US" sz="1400" dirty="0">
              <a:ea typeface="MS PGothic" charset="0"/>
            </a:endParaRPr>
          </a:p>
          <a:p>
            <a:pPr>
              <a:spcBef>
                <a:spcPct val="0"/>
              </a:spcBef>
              <a:buNone/>
              <a:tabLst>
                <a:tab pos="5029200" algn="l"/>
              </a:tabLst>
            </a:pPr>
            <a:r>
              <a:rPr lang="en-US" sz="1400" dirty="0">
                <a:ea typeface="MS PGothic" charset="0"/>
              </a:rPr>
              <a:t> 	</a:t>
            </a:r>
            <a:r>
              <a:rPr lang="en-GB" sz="1400" dirty="0">
                <a:ea typeface="MS PGothic" charset="0"/>
              </a:rPr>
              <a:t>Goods debits	500</a:t>
            </a:r>
            <a:endParaRPr lang="en-US" sz="1400" dirty="0">
              <a:ea typeface="MS PGothic" charset="0"/>
            </a:endParaRPr>
          </a:p>
          <a:p>
            <a:pPr>
              <a:spcBef>
                <a:spcPct val="0"/>
              </a:spcBef>
              <a:buNone/>
              <a:tabLst>
                <a:tab pos="5029200" algn="l"/>
              </a:tabLst>
            </a:pPr>
            <a:r>
              <a:rPr lang="en-GB" sz="1400" dirty="0">
                <a:ea typeface="MS PGothic" charset="0"/>
              </a:rPr>
              <a:t> 	Net services	–300</a:t>
            </a:r>
            <a:endParaRPr lang="en-US" sz="1400" dirty="0">
              <a:ea typeface="MS PGothic" charset="0"/>
            </a:endParaRPr>
          </a:p>
          <a:p>
            <a:pPr>
              <a:spcBef>
                <a:spcPct val="0"/>
              </a:spcBef>
              <a:buNone/>
              <a:tabLst>
                <a:tab pos="5029200" algn="l"/>
              </a:tabLst>
            </a:pPr>
            <a:r>
              <a:rPr lang="en-GB" sz="1400" dirty="0">
                <a:ea typeface="MS PGothic" charset="0"/>
              </a:rPr>
              <a:t> 	Net income	?</a:t>
            </a:r>
            <a:endParaRPr lang="en-US" sz="1400" dirty="0">
              <a:ea typeface="MS PGothic" charset="0"/>
            </a:endParaRPr>
          </a:p>
          <a:p>
            <a:pPr marL="0" indent="0">
              <a:spcBef>
                <a:spcPct val="0"/>
              </a:spcBef>
              <a:buNone/>
              <a:tabLst>
                <a:tab pos="5029200" algn="l"/>
              </a:tabLst>
            </a:pPr>
            <a:r>
              <a:rPr lang="en-GB" sz="1400" dirty="0">
                <a:ea typeface="MS PGothic" charset="0"/>
              </a:rPr>
              <a:t>Capital/fin. account balance</a:t>
            </a:r>
            <a:r>
              <a:rPr lang="en-US" sz="1400" dirty="0">
                <a:ea typeface="MS PGothic" charset="0"/>
              </a:rPr>
              <a:t> 	</a:t>
            </a:r>
            <a:r>
              <a:rPr lang="en-GB" sz="1400" dirty="0">
                <a:ea typeface="MS PGothic" charset="0"/>
              </a:rPr>
              <a:t>1150</a:t>
            </a:r>
            <a:endParaRPr lang="en-US" sz="1400" dirty="0">
              <a:ea typeface="MS PGothic" charset="0"/>
            </a:endParaRPr>
          </a:p>
          <a:p>
            <a:pPr>
              <a:spcBef>
                <a:spcPct val="0"/>
              </a:spcBef>
              <a:buNone/>
              <a:tabLst>
                <a:tab pos="5029200" algn="l"/>
              </a:tabLst>
            </a:pPr>
            <a:endParaRPr lang="en-AU" sz="1400" dirty="0">
              <a:ea typeface="MS PGothic" charset="0"/>
            </a:endParaRPr>
          </a:p>
          <a:p>
            <a:pPr>
              <a:spcBef>
                <a:spcPct val="0"/>
              </a:spcBef>
              <a:buNone/>
              <a:tabLst>
                <a:tab pos="5029200" algn="l"/>
              </a:tabLst>
            </a:pPr>
            <a:r>
              <a:rPr lang="en-AU" sz="1400" dirty="0">
                <a:ea typeface="MS PGothic" charset="0"/>
              </a:rPr>
              <a:t>What is the current account balance?</a:t>
            </a:r>
          </a:p>
          <a:p>
            <a:pPr>
              <a:buNone/>
              <a:tabLst>
                <a:tab pos="5029200" algn="l"/>
              </a:tabLst>
            </a:pPr>
            <a:r>
              <a:rPr lang="en-AU" sz="1400" dirty="0">
                <a:ea typeface="MS PGothic" charset="0"/>
              </a:rPr>
              <a:t>What is the value of net income?</a:t>
            </a:r>
            <a:endParaRPr lang="en-US" sz="1400" dirty="0">
              <a:ea typeface="MS PGothic" charset="0"/>
            </a:endParaRPr>
          </a:p>
        </p:txBody>
      </p:sp>
      <p:sp>
        <p:nvSpPr>
          <p:cNvPr id="4" name="TextBox 3">
            <a:extLst>
              <a:ext uri="{FF2B5EF4-FFF2-40B4-BE49-F238E27FC236}">
                <a16:creationId xmlns:a16="http://schemas.microsoft.com/office/drawing/2014/main" id="{914B2E59-4A6C-6603-B759-7FB73EFE50A6}"/>
              </a:ext>
            </a:extLst>
          </p:cNvPr>
          <p:cNvSpPr txBox="1"/>
          <p:nvPr/>
        </p:nvSpPr>
        <p:spPr>
          <a:xfrm>
            <a:off x="1894490" y="4023394"/>
            <a:ext cx="8403020" cy="461665"/>
          </a:xfrm>
          <a:prstGeom prst="rect">
            <a:avLst/>
          </a:prstGeom>
          <a:noFill/>
        </p:spPr>
        <p:txBody>
          <a:bodyPr wrap="square" rtlCol="0">
            <a:spAutoFit/>
          </a:bodyPr>
          <a:lstStyle/>
          <a:p>
            <a:pPr>
              <a:spcBef>
                <a:spcPct val="0"/>
              </a:spcBef>
              <a:buNone/>
              <a:tabLst>
                <a:tab pos="5029200" algn="l"/>
              </a:tabLst>
            </a:pPr>
            <a:r>
              <a:rPr lang="en-AU" sz="2400" dirty="0">
                <a:ea typeface="MS PGothic" charset="0"/>
              </a:rPr>
              <a:t>What is the current account balance?</a:t>
            </a:r>
          </a:p>
        </p:txBody>
      </p:sp>
      <p:sp>
        <p:nvSpPr>
          <p:cNvPr id="5" name="TextBox 4">
            <a:extLst>
              <a:ext uri="{FF2B5EF4-FFF2-40B4-BE49-F238E27FC236}">
                <a16:creationId xmlns:a16="http://schemas.microsoft.com/office/drawing/2014/main" id="{8157007A-22D2-175A-DF50-1654DFA8A8AE}"/>
              </a:ext>
            </a:extLst>
          </p:cNvPr>
          <p:cNvSpPr txBox="1"/>
          <p:nvPr/>
        </p:nvSpPr>
        <p:spPr>
          <a:xfrm>
            <a:off x="1894490" y="4485059"/>
            <a:ext cx="8403020" cy="400110"/>
          </a:xfrm>
          <a:prstGeom prst="rect">
            <a:avLst/>
          </a:prstGeom>
          <a:noFill/>
        </p:spPr>
        <p:txBody>
          <a:bodyPr wrap="square" rtlCol="0">
            <a:spAutoFit/>
          </a:bodyPr>
          <a:lstStyle/>
          <a:p>
            <a:r>
              <a:rPr lang="en-AU" sz="2000" dirty="0"/>
              <a:t>Current Account Balance + Capital and Financial Account Balance = 0 </a:t>
            </a:r>
            <a:endParaRPr lang="en-US" sz="2000" dirty="0"/>
          </a:p>
        </p:txBody>
      </p:sp>
      <p:sp>
        <p:nvSpPr>
          <p:cNvPr id="3" name="TextBox 2">
            <a:extLst>
              <a:ext uri="{FF2B5EF4-FFF2-40B4-BE49-F238E27FC236}">
                <a16:creationId xmlns:a16="http://schemas.microsoft.com/office/drawing/2014/main" id="{EBA2ECC4-53AA-D76A-9C42-C131FFF852F5}"/>
              </a:ext>
            </a:extLst>
          </p:cNvPr>
          <p:cNvSpPr txBox="1"/>
          <p:nvPr/>
        </p:nvSpPr>
        <p:spPr>
          <a:xfrm>
            <a:off x="1894490" y="4946724"/>
            <a:ext cx="9125607" cy="1631216"/>
          </a:xfrm>
          <a:prstGeom prst="rect">
            <a:avLst/>
          </a:prstGeom>
          <a:noFill/>
        </p:spPr>
        <p:txBody>
          <a:bodyPr wrap="square" rtlCol="0">
            <a:spAutoFit/>
          </a:bodyPr>
          <a:lstStyle/>
          <a:p>
            <a:r>
              <a:rPr lang="en-AU" sz="2000" dirty="0"/>
              <a:t>∴ If Capital and Financial Account Balance = +1150, then:</a:t>
            </a:r>
          </a:p>
          <a:p>
            <a:r>
              <a:rPr lang="en-AU" sz="2000" dirty="0"/>
              <a:t>Current Account Balance must be </a:t>
            </a:r>
            <a:r>
              <a:rPr lang="en-AU" sz="2000" b="1" dirty="0">
                <a:solidFill>
                  <a:srgbClr val="FF0000"/>
                </a:solidFill>
              </a:rPr>
              <a:t>–1150</a:t>
            </a:r>
          </a:p>
          <a:p>
            <a:endParaRPr lang="en-AU" sz="2000" b="1" dirty="0">
              <a:solidFill>
                <a:srgbClr val="92D050"/>
              </a:solidFill>
            </a:endParaRPr>
          </a:p>
          <a:p>
            <a:r>
              <a:rPr lang="en-AU" sz="2000" dirty="0"/>
              <a:t>So that the accounts balance, as required by the Balance of Payments framework</a:t>
            </a:r>
            <a:endParaRPr lang="en-US" sz="2000" dirty="0"/>
          </a:p>
        </p:txBody>
      </p:sp>
    </p:spTree>
    <p:extLst>
      <p:ext uri="{BB962C8B-B14F-4D97-AF65-F5344CB8AC3E}">
        <p14:creationId xmlns:p14="http://schemas.microsoft.com/office/powerpoint/2010/main" val="2943613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7128B-9165-5CB7-5C20-E715CFE74390}"/>
              </a:ext>
            </a:extLst>
          </p:cNvPr>
          <p:cNvSpPr>
            <a:spLocks noGrp="1"/>
          </p:cNvSpPr>
          <p:nvPr>
            <p:ph type="title"/>
          </p:nvPr>
        </p:nvSpPr>
        <p:spPr>
          <a:xfrm>
            <a:off x="838200" y="0"/>
            <a:ext cx="10515600" cy="1325563"/>
          </a:xfrm>
        </p:spPr>
        <p:txBody>
          <a:bodyPr/>
          <a:lstStyle/>
          <a:p>
            <a:pPr algn="ctr"/>
            <a:r>
              <a:rPr lang="en-US" dirty="0"/>
              <a:t>BOP IN PRACTICE</a:t>
            </a:r>
          </a:p>
        </p:txBody>
      </p:sp>
      <p:sp>
        <p:nvSpPr>
          <p:cNvPr id="3" name="TextBox 2">
            <a:extLst>
              <a:ext uri="{FF2B5EF4-FFF2-40B4-BE49-F238E27FC236}">
                <a16:creationId xmlns:a16="http://schemas.microsoft.com/office/drawing/2014/main" id="{6C22C351-E497-CCBD-D996-DEE477D1E72B}"/>
              </a:ext>
            </a:extLst>
          </p:cNvPr>
          <p:cNvSpPr txBox="1"/>
          <p:nvPr/>
        </p:nvSpPr>
        <p:spPr>
          <a:xfrm>
            <a:off x="838200" y="1325563"/>
            <a:ext cx="10515600" cy="5632311"/>
          </a:xfrm>
          <a:prstGeom prst="rect">
            <a:avLst/>
          </a:prstGeom>
          <a:noFill/>
        </p:spPr>
        <p:txBody>
          <a:bodyPr wrap="square" rtlCol="0">
            <a:spAutoFit/>
          </a:bodyPr>
          <a:lstStyle/>
          <a:p>
            <a:r>
              <a:rPr lang="en-AU" b="1" dirty="0"/>
              <a:t>Think of Australia like a person with two wallets:</a:t>
            </a:r>
          </a:p>
          <a:p>
            <a:endParaRPr lang="en-AU" b="1" dirty="0"/>
          </a:p>
          <a:p>
            <a:r>
              <a:rPr lang="en-AU" b="1" dirty="0"/>
              <a:t>💼 Current Account = Spending and Earning Wallet</a:t>
            </a:r>
          </a:p>
          <a:p>
            <a:r>
              <a:rPr lang="en-AU" b="1" dirty="0"/>
              <a:t>Money In</a:t>
            </a:r>
            <a:r>
              <a:rPr lang="en-AU" dirty="0"/>
              <a:t> = Exports, foreign income (credits)</a:t>
            </a:r>
          </a:p>
          <a:p>
            <a:r>
              <a:rPr lang="en-AU" b="1" dirty="0"/>
              <a:t>Money Out</a:t>
            </a:r>
            <a:r>
              <a:rPr lang="en-AU" dirty="0"/>
              <a:t> = Imports, paying income to foreigners (debits)</a:t>
            </a:r>
          </a:p>
          <a:p>
            <a:r>
              <a:rPr lang="en-AU" dirty="0"/>
              <a:t>If you’re spending more than you’re earning → you have a </a:t>
            </a:r>
            <a:r>
              <a:rPr lang="en-AU" b="1" dirty="0"/>
              <a:t>current account deficit</a:t>
            </a:r>
            <a:r>
              <a:rPr lang="en-AU" dirty="0"/>
              <a:t> (net debit).</a:t>
            </a:r>
          </a:p>
          <a:p>
            <a:endParaRPr lang="en-US" dirty="0"/>
          </a:p>
          <a:p>
            <a:r>
              <a:rPr lang="en-AU" b="1" dirty="0"/>
              <a:t>🏦 Financial Account = Borrowing and Investing Wallet</a:t>
            </a:r>
          </a:p>
          <a:p>
            <a:r>
              <a:rPr lang="en-AU" dirty="0"/>
              <a:t>To keep your bank balance stable, you borrow money or attract investment from others </a:t>
            </a:r>
          </a:p>
          <a:p>
            <a:r>
              <a:rPr lang="en-AU" dirty="0"/>
              <a:t>(capital inflow = credit).</a:t>
            </a:r>
          </a:p>
          <a:p>
            <a:r>
              <a:rPr lang="en-AU" dirty="0"/>
              <a:t>That gives you a </a:t>
            </a:r>
            <a:r>
              <a:rPr lang="en-AU" b="1" dirty="0"/>
              <a:t>financial account surplus</a:t>
            </a:r>
            <a:r>
              <a:rPr lang="en-AU" dirty="0"/>
              <a:t> (net credit).</a:t>
            </a:r>
          </a:p>
          <a:p>
            <a:endParaRPr lang="en-AU" dirty="0"/>
          </a:p>
          <a:p>
            <a:r>
              <a:rPr lang="en-AU" b="1" dirty="0"/>
              <a:t>⚖️ Why They Must Balance</a:t>
            </a:r>
          </a:p>
          <a:p>
            <a:r>
              <a:rPr lang="en-AU" dirty="0"/>
              <a:t>If Australia is </a:t>
            </a:r>
            <a:r>
              <a:rPr lang="en-AU" b="1" dirty="0"/>
              <a:t>spending more than it earns</a:t>
            </a:r>
            <a:r>
              <a:rPr lang="en-AU" dirty="0"/>
              <a:t> in trade and income (Current Account Deficit of –$1150),</a:t>
            </a:r>
            <a:br>
              <a:rPr lang="en-AU" dirty="0"/>
            </a:br>
            <a:endParaRPr lang="en-AU" dirty="0"/>
          </a:p>
          <a:p>
            <a:r>
              <a:rPr lang="en-AU" dirty="0"/>
              <a:t>then it must be </a:t>
            </a:r>
            <a:r>
              <a:rPr lang="en-AU" b="1" dirty="0"/>
              <a:t>borrowing or attracting investment</a:t>
            </a:r>
            <a:r>
              <a:rPr lang="en-AU" dirty="0"/>
              <a:t> from overseas (Financial Account Surplus of +$1150) to cover the gap.</a:t>
            </a:r>
          </a:p>
          <a:p>
            <a:endParaRPr lang="en-AU" dirty="0"/>
          </a:p>
          <a:p>
            <a:endParaRPr lang="en-US" dirty="0"/>
          </a:p>
        </p:txBody>
      </p:sp>
    </p:spTree>
    <p:extLst>
      <p:ext uri="{BB962C8B-B14F-4D97-AF65-F5344CB8AC3E}">
        <p14:creationId xmlns:p14="http://schemas.microsoft.com/office/powerpoint/2010/main" val="7859603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90A617ED-9527-CAF3-C7F1-3DD3FAEC2F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58217F-D46C-745A-62B9-D83F1A4211F9}"/>
              </a:ext>
            </a:extLst>
          </p:cNvPr>
          <p:cNvSpPr>
            <a:spLocks noGrp="1"/>
          </p:cNvSpPr>
          <p:nvPr>
            <p:ph type="title"/>
          </p:nvPr>
        </p:nvSpPr>
        <p:spPr>
          <a:xfrm>
            <a:off x="3530020" y="0"/>
            <a:ext cx="6473952" cy="1901952"/>
          </a:xfrm>
        </p:spPr>
        <p:txBody>
          <a:bodyPr>
            <a:normAutofit/>
          </a:bodyPr>
          <a:lstStyle/>
          <a:p>
            <a:pPr>
              <a:defRPr/>
            </a:pPr>
            <a:r>
              <a:rPr lang="en-US" sz="4900" dirty="0"/>
              <a:t>BOP IN PRACTICE</a:t>
            </a:r>
          </a:p>
        </p:txBody>
      </p:sp>
      <p:sp>
        <p:nvSpPr>
          <p:cNvPr id="57347" name="Content Placeholder 2">
            <a:extLst>
              <a:ext uri="{FF2B5EF4-FFF2-40B4-BE49-F238E27FC236}">
                <a16:creationId xmlns:a16="http://schemas.microsoft.com/office/drawing/2014/main" id="{3DC48E24-948D-D51A-1EDB-B1DE8E93FBAA}"/>
              </a:ext>
            </a:extLst>
          </p:cNvPr>
          <p:cNvSpPr>
            <a:spLocks noGrp="1"/>
          </p:cNvSpPr>
          <p:nvPr>
            <p:ph idx="1"/>
          </p:nvPr>
        </p:nvSpPr>
        <p:spPr>
          <a:xfrm>
            <a:off x="2405734" y="1772803"/>
            <a:ext cx="7009757" cy="2278935"/>
          </a:xfrm>
          <a:solidFill>
            <a:schemeClr val="accent2">
              <a:lumMod val="20000"/>
              <a:lumOff val="80000"/>
            </a:schemeClr>
          </a:solidFill>
        </p:spPr>
        <p:txBody>
          <a:bodyPr>
            <a:noAutofit/>
          </a:bodyPr>
          <a:lstStyle/>
          <a:p>
            <a:pPr marL="0" indent="0">
              <a:spcBef>
                <a:spcPct val="0"/>
              </a:spcBef>
              <a:buNone/>
              <a:tabLst>
                <a:tab pos="5029200" algn="l"/>
              </a:tabLst>
            </a:pPr>
            <a:r>
              <a:rPr lang="en-GB" sz="1400" b="1" dirty="0">
                <a:ea typeface="MS PGothic" charset="0"/>
              </a:rPr>
              <a:t>Balance of Payments</a:t>
            </a:r>
            <a:r>
              <a:rPr lang="en-US" sz="1400" dirty="0">
                <a:ea typeface="MS PGothic" charset="0"/>
              </a:rPr>
              <a:t>  	</a:t>
            </a:r>
            <a:r>
              <a:rPr lang="en-GB" sz="1400" b="1" dirty="0">
                <a:ea typeface="MS PGothic" charset="0"/>
              </a:rPr>
              <a:t>$m</a:t>
            </a:r>
            <a:endParaRPr lang="en-US" sz="1400" dirty="0">
              <a:ea typeface="MS PGothic" charset="0"/>
            </a:endParaRPr>
          </a:p>
          <a:p>
            <a:pPr marL="0" indent="0">
              <a:spcBef>
                <a:spcPct val="0"/>
              </a:spcBef>
              <a:buNone/>
              <a:tabLst>
                <a:tab pos="5029200" algn="l"/>
              </a:tabLst>
            </a:pPr>
            <a:r>
              <a:rPr lang="en-GB" sz="1400" dirty="0">
                <a:ea typeface="MS PGothic" charset="0"/>
              </a:rPr>
              <a:t>Current account</a:t>
            </a:r>
            <a:endParaRPr lang="en-US" sz="1400" dirty="0">
              <a:ea typeface="MS PGothic" charset="0"/>
            </a:endParaRPr>
          </a:p>
          <a:p>
            <a:pPr>
              <a:spcBef>
                <a:spcPct val="0"/>
              </a:spcBef>
              <a:buNone/>
              <a:tabLst>
                <a:tab pos="5029200" algn="l"/>
              </a:tabLst>
            </a:pPr>
            <a:r>
              <a:rPr lang="en-GB" sz="1400" dirty="0">
                <a:ea typeface="MS PGothic" charset="0"/>
              </a:rPr>
              <a:t>  	Goods credits	600</a:t>
            </a:r>
            <a:endParaRPr lang="en-US" sz="1400" dirty="0">
              <a:ea typeface="MS PGothic" charset="0"/>
            </a:endParaRPr>
          </a:p>
          <a:p>
            <a:pPr>
              <a:spcBef>
                <a:spcPct val="0"/>
              </a:spcBef>
              <a:buNone/>
              <a:tabLst>
                <a:tab pos="5029200" algn="l"/>
              </a:tabLst>
            </a:pPr>
            <a:r>
              <a:rPr lang="en-US" sz="1400" dirty="0">
                <a:ea typeface="MS PGothic" charset="0"/>
              </a:rPr>
              <a:t> 	</a:t>
            </a:r>
            <a:r>
              <a:rPr lang="en-GB" sz="1400" dirty="0">
                <a:ea typeface="MS PGothic" charset="0"/>
              </a:rPr>
              <a:t>Goods debits	500</a:t>
            </a:r>
            <a:endParaRPr lang="en-US" sz="1400" dirty="0">
              <a:ea typeface="MS PGothic" charset="0"/>
            </a:endParaRPr>
          </a:p>
          <a:p>
            <a:pPr>
              <a:spcBef>
                <a:spcPct val="0"/>
              </a:spcBef>
              <a:buNone/>
              <a:tabLst>
                <a:tab pos="5029200" algn="l"/>
              </a:tabLst>
            </a:pPr>
            <a:r>
              <a:rPr lang="en-GB" sz="1400" dirty="0">
                <a:ea typeface="MS PGothic" charset="0"/>
              </a:rPr>
              <a:t> 	Net services	–300</a:t>
            </a:r>
            <a:endParaRPr lang="en-US" sz="1400" dirty="0">
              <a:ea typeface="MS PGothic" charset="0"/>
            </a:endParaRPr>
          </a:p>
          <a:p>
            <a:pPr>
              <a:spcBef>
                <a:spcPct val="0"/>
              </a:spcBef>
              <a:buNone/>
              <a:tabLst>
                <a:tab pos="5029200" algn="l"/>
              </a:tabLst>
            </a:pPr>
            <a:r>
              <a:rPr lang="en-GB" sz="1400" dirty="0">
                <a:ea typeface="MS PGothic" charset="0"/>
              </a:rPr>
              <a:t> 	Net income	?</a:t>
            </a:r>
            <a:endParaRPr lang="en-US" sz="1400" dirty="0">
              <a:ea typeface="MS PGothic" charset="0"/>
            </a:endParaRPr>
          </a:p>
          <a:p>
            <a:pPr marL="0" indent="0">
              <a:spcBef>
                <a:spcPct val="0"/>
              </a:spcBef>
              <a:buNone/>
              <a:tabLst>
                <a:tab pos="5029200" algn="l"/>
              </a:tabLst>
            </a:pPr>
            <a:r>
              <a:rPr lang="en-GB" sz="1400" dirty="0">
                <a:ea typeface="MS PGothic" charset="0"/>
              </a:rPr>
              <a:t>Capital/fin. account balance</a:t>
            </a:r>
            <a:r>
              <a:rPr lang="en-US" sz="1400" dirty="0">
                <a:ea typeface="MS PGothic" charset="0"/>
              </a:rPr>
              <a:t> 	</a:t>
            </a:r>
            <a:r>
              <a:rPr lang="en-GB" sz="1400" dirty="0">
                <a:ea typeface="MS PGothic" charset="0"/>
              </a:rPr>
              <a:t>1150</a:t>
            </a:r>
            <a:endParaRPr lang="en-US" sz="1400" dirty="0">
              <a:ea typeface="MS PGothic" charset="0"/>
            </a:endParaRPr>
          </a:p>
          <a:p>
            <a:pPr>
              <a:spcBef>
                <a:spcPct val="0"/>
              </a:spcBef>
              <a:buNone/>
              <a:tabLst>
                <a:tab pos="5029200" algn="l"/>
              </a:tabLst>
            </a:pPr>
            <a:endParaRPr lang="en-AU" sz="1400" dirty="0">
              <a:ea typeface="MS PGothic" charset="0"/>
            </a:endParaRPr>
          </a:p>
          <a:p>
            <a:pPr>
              <a:spcBef>
                <a:spcPct val="0"/>
              </a:spcBef>
              <a:buNone/>
              <a:tabLst>
                <a:tab pos="5029200" algn="l"/>
              </a:tabLst>
            </a:pPr>
            <a:r>
              <a:rPr lang="en-AU" sz="1400" dirty="0">
                <a:ea typeface="MS PGothic" charset="0"/>
              </a:rPr>
              <a:t>What is the current account balance?</a:t>
            </a:r>
          </a:p>
          <a:p>
            <a:pPr>
              <a:buNone/>
              <a:tabLst>
                <a:tab pos="5029200" algn="l"/>
              </a:tabLst>
            </a:pPr>
            <a:r>
              <a:rPr lang="en-AU" sz="1400" dirty="0">
                <a:ea typeface="MS PGothic" charset="0"/>
              </a:rPr>
              <a:t>What is the value of net income?</a:t>
            </a:r>
            <a:endParaRPr lang="en-US" sz="1400" dirty="0">
              <a:ea typeface="MS PGothic" charset="0"/>
            </a:endParaRPr>
          </a:p>
        </p:txBody>
      </p:sp>
      <p:sp>
        <p:nvSpPr>
          <p:cNvPr id="4" name="TextBox 3">
            <a:extLst>
              <a:ext uri="{FF2B5EF4-FFF2-40B4-BE49-F238E27FC236}">
                <a16:creationId xmlns:a16="http://schemas.microsoft.com/office/drawing/2014/main" id="{5EBD644B-D6C5-4B00-0C6C-1E515F8C6C0F}"/>
              </a:ext>
            </a:extLst>
          </p:cNvPr>
          <p:cNvSpPr txBox="1"/>
          <p:nvPr/>
        </p:nvSpPr>
        <p:spPr>
          <a:xfrm>
            <a:off x="1894490" y="4254881"/>
            <a:ext cx="8403020" cy="1569660"/>
          </a:xfrm>
          <a:prstGeom prst="rect">
            <a:avLst/>
          </a:prstGeom>
          <a:noFill/>
        </p:spPr>
        <p:txBody>
          <a:bodyPr wrap="square" rtlCol="0">
            <a:spAutoFit/>
          </a:bodyPr>
          <a:lstStyle/>
          <a:p>
            <a:r>
              <a:rPr lang="en-AU" sz="2400" dirty="0">
                <a:ea typeface="MS PGothic" charset="0"/>
              </a:rPr>
              <a:t>What is the value of net income?</a:t>
            </a:r>
            <a:endParaRPr lang="en-US" sz="2400" dirty="0"/>
          </a:p>
          <a:p>
            <a:r>
              <a:rPr lang="en-US" sz="2400" dirty="0"/>
              <a:t>Step 1: </a:t>
            </a:r>
            <a:r>
              <a:rPr lang="en-AU" sz="2400" dirty="0"/>
              <a:t>Calculate </a:t>
            </a:r>
            <a:r>
              <a:rPr lang="en-AU" sz="2400" b="1" dirty="0"/>
              <a:t>Net Goods</a:t>
            </a:r>
          </a:p>
          <a:p>
            <a:r>
              <a:rPr lang="en-AU" sz="2400" dirty="0"/>
              <a:t>(Goods credits – Goods debits)</a:t>
            </a:r>
          </a:p>
          <a:p>
            <a:endParaRPr lang="en-AU" sz="2400" b="1" dirty="0"/>
          </a:p>
        </p:txBody>
      </p:sp>
      <p:sp>
        <p:nvSpPr>
          <p:cNvPr id="5" name="TextBox 4">
            <a:extLst>
              <a:ext uri="{FF2B5EF4-FFF2-40B4-BE49-F238E27FC236}">
                <a16:creationId xmlns:a16="http://schemas.microsoft.com/office/drawing/2014/main" id="{A0A208CD-3F5C-8D50-B1EF-B90BA57E56B2}"/>
              </a:ext>
            </a:extLst>
          </p:cNvPr>
          <p:cNvSpPr txBox="1"/>
          <p:nvPr/>
        </p:nvSpPr>
        <p:spPr>
          <a:xfrm>
            <a:off x="1894490" y="5612185"/>
            <a:ext cx="6700345" cy="830997"/>
          </a:xfrm>
          <a:prstGeom prst="rect">
            <a:avLst/>
          </a:prstGeom>
          <a:noFill/>
        </p:spPr>
        <p:txBody>
          <a:bodyPr wrap="square" rtlCol="0">
            <a:spAutoFit/>
          </a:bodyPr>
          <a:lstStyle/>
          <a:p>
            <a:r>
              <a:rPr lang="en-AU" sz="2400" dirty="0"/>
              <a:t>Net Goods = 600 – 500 = </a:t>
            </a:r>
            <a:r>
              <a:rPr lang="en-AU" sz="2400" b="1" dirty="0"/>
              <a:t>+100</a:t>
            </a:r>
            <a:endParaRPr lang="en-US" sz="2400" dirty="0"/>
          </a:p>
          <a:p>
            <a:endParaRPr lang="en-US" sz="2400" dirty="0"/>
          </a:p>
        </p:txBody>
      </p:sp>
    </p:spTree>
    <p:extLst>
      <p:ext uri="{BB962C8B-B14F-4D97-AF65-F5344CB8AC3E}">
        <p14:creationId xmlns:p14="http://schemas.microsoft.com/office/powerpoint/2010/main" val="3909592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6032B079-14AF-3B86-C096-91FFC63D22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24EC10-1784-5210-9E04-4E766CCA9A86}"/>
              </a:ext>
            </a:extLst>
          </p:cNvPr>
          <p:cNvSpPr>
            <a:spLocks noGrp="1"/>
          </p:cNvSpPr>
          <p:nvPr>
            <p:ph type="title"/>
          </p:nvPr>
        </p:nvSpPr>
        <p:spPr>
          <a:xfrm>
            <a:off x="3530020" y="0"/>
            <a:ext cx="6473952" cy="1901952"/>
          </a:xfrm>
        </p:spPr>
        <p:txBody>
          <a:bodyPr>
            <a:normAutofit/>
          </a:bodyPr>
          <a:lstStyle/>
          <a:p>
            <a:pPr>
              <a:defRPr/>
            </a:pPr>
            <a:r>
              <a:rPr lang="en-US" sz="4900" dirty="0"/>
              <a:t>BOP IN PRACTICE</a:t>
            </a:r>
          </a:p>
        </p:txBody>
      </p:sp>
      <p:sp>
        <p:nvSpPr>
          <p:cNvPr id="57347" name="Content Placeholder 2">
            <a:extLst>
              <a:ext uri="{FF2B5EF4-FFF2-40B4-BE49-F238E27FC236}">
                <a16:creationId xmlns:a16="http://schemas.microsoft.com/office/drawing/2014/main" id="{56114715-1298-62D9-9ECF-9DD842D5B631}"/>
              </a:ext>
            </a:extLst>
          </p:cNvPr>
          <p:cNvSpPr>
            <a:spLocks noGrp="1"/>
          </p:cNvSpPr>
          <p:nvPr>
            <p:ph idx="1"/>
          </p:nvPr>
        </p:nvSpPr>
        <p:spPr>
          <a:xfrm>
            <a:off x="2405734" y="1772803"/>
            <a:ext cx="7009757" cy="2278935"/>
          </a:xfrm>
          <a:solidFill>
            <a:schemeClr val="accent2">
              <a:lumMod val="20000"/>
              <a:lumOff val="80000"/>
            </a:schemeClr>
          </a:solidFill>
        </p:spPr>
        <p:txBody>
          <a:bodyPr>
            <a:noAutofit/>
          </a:bodyPr>
          <a:lstStyle/>
          <a:p>
            <a:pPr marL="0" indent="0">
              <a:spcBef>
                <a:spcPct val="0"/>
              </a:spcBef>
              <a:buNone/>
              <a:tabLst>
                <a:tab pos="5029200" algn="l"/>
              </a:tabLst>
            </a:pPr>
            <a:r>
              <a:rPr lang="en-GB" sz="1400" b="1" dirty="0">
                <a:ea typeface="MS PGothic" charset="0"/>
              </a:rPr>
              <a:t>Balance of Payments</a:t>
            </a:r>
            <a:r>
              <a:rPr lang="en-US" sz="1400" dirty="0">
                <a:ea typeface="MS PGothic" charset="0"/>
              </a:rPr>
              <a:t>  	</a:t>
            </a:r>
            <a:r>
              <a:rPr lang="en-GB" sz="1400" b="1" dirty="0">
                <a:ea typeface="MS PGothic" charset="0"/>
              </a:rPr>
              <a:t>$m</a:t>
            </a:r>
            <a:endParaRPr lang="en-US" sz="1400" dirty="0">
              <a:ea typeface="MS PGothic" charset="0"/>
            </a:endParaRPr>
          </a:p>
          <a:p>
            <a:pPr marL="0" indent="0">
              <a:spcBef>
                <a:spcPct val="0"/>
              </a:spcBef>
              <a:buNone/>
              <a:tabLst>
                <a:tab pos="5029200" algn="l"/>
              </a:tabLst>
            </a:pPr>
            <a:r>
              <a:rPr lang="en-GB" sz="1400" dirty="0">
                <a:ea typeface="MS PGothic" charset="0"/>
              </a:rPr>
              <a:t>Current account</a:t>
            </a:r>
            <a:endParaRPr lang="en-US" sz="1400" dirty="0">
              <a:ea typeface="MS PGothic" charset="0"/>
            </a:endParaRPr>
          </a:p>
          <a:p>
            <a:pPr>
              <a:spcBef>
                <a:spcPct val="0"/>
              </a:spcBef>
              <a:buNone/>
              <a:tabLst>
                <a:tab pos="5029200" algn="l"/>
              </a:tabLst>
            </a:pPr>
            <a:r>
              <a:rPr lang="en-GB" sz="1400" dirty="0">
                <a:ea typeface="MS PGothic" charset="0"/>
              </a:rPr>
              <a:t>  	Goods credits	600</a:t>
            </a:r>
            <a:endParaRPr lang="en-US" sz="1400" dirty="0">
              <a:ea typeface="MS PGothic" charset="0"/>
            </a:endParaRPr>
          </a:p>
          <a:p>
            <a:pPr>
              <a:spcBef>
                <a:spcPct val="0"/>
              </a:spcBef>
              <a:buNone/>
              <a:tabLst>
                <a:tab pos="5029200" algn="l"/>
              </a:tabLst>
            </a:pPr>
            <a:r>
              <a:rPr lang="en-US" sz="1400" dirty="0">
                <a:ea typeface="MS PGothic" charset="0"/>
              </a:rPr>
              <a:t> 	</a:t>
            </a:r>
            <a:r>
              <a:rPr lang="en-GB" sz="1400" dirty="0">
                <a:ea typeface="MS PGothic" charset="0"/>
              </a:rPr>
              <a:t>Goods debits	500</a:t>
            </a:r>
            <a:endParaRPr lang="en-US" sz="1400" dirty="0">
              <a:ea typeface="MS PGothic" charset="0"/>
            </a:endParaRPr>
          </a:p>
          <a:p>
            <a:pPr>
              <a:spcBef>
                <a:spcPct val="0"/>
              </a:spcBef>
              <a:buNone/>
              <a:tabLst>
                <a:tab pos="5029200" algn="l"/>
              </a:tabLst>
            </a:pPr>
            <a:r>
              <a:rPr lang="en-GB" sz="1400" dirty="0">
                <a:ea typeface="MS PGothic" charset="0"/>
              </a:rPr>
              <a:t> 	Net services	–300</a:t>
            </a:r>
            <a:endParaRPr lang="en-US" sz="1400" dirty="0">
              <a:ea typeface="MS PGothic" charset="0"/>
            </a:endParaRPr>
          </a:p>
          <a:p>
            <a:pPr>
              <a:spcBef>
                <a:spcPct val="0"/>
              </a:spcBef>
              <a:buNone/>
              <a:tabLst>
                <a:tab pos="5029200" algn="l"/>
              </a:tabLst>
            </a:pPr>
            <a:r>
              <a:rPr lang="en-GB" sz="1400" dirty="0">
                <a:ea typeface="MS PGothic" charset="0"/>
              </a:rPr>
              <a:t> 	Net income	?</a:t>
            </a:r>
            <a:endParaRPr lang="en-US" sz="1400" dirty="0">
              <a:ea typeface="MS PGothic" charset="0"/>
            </a:endParaRPr>
          </a:p>
          <a:p>
            <a:pPr marL="0" indent="0">
              <a:spcBef>
                <a:spcPct val="0"/>
              </a:spcBef>
              <a:buNone/>
              <a:tabLst>
                <a:tab pos="5029200" algn="l"/>
              </a:tabLst>
            </a:pPr>
            <a:r>
              <a:rPr lang="en-GB" sz="1400" dirty="0">
                <a:ea typeface="MS PGothic" charset="0"/>
              </a:rPr>
              <a:t>Capital/fin. account balance</a:t>
            </a:r>
            <a:r>
              <a:rPr lang="en-US" sz="1400" dirty="0">
                <a:ea typeface="MS PGothic" charset="0"/>
              </a:rPr>
              <a:t> 	</a:t>
            </a:r>
            <a:r>
              <a:rPr lang="en-GB" sz="1400" dirty="0">
                <a:ea typeface="MS PGothic" charset="0"/>
              </a:rPr>
              <a:t>1150</a:t>
            </a:r>
            <a:endParaRPr lang="en-US" sz="1400" dirty="0">
              <a:ea typeface="MS PGothic" charset="0"/>
            </a:endParaRPr>
          </a:p>
          <a:p>
            <a:pPr>
              <a:spcBef>
                <a:spcPct val="0"/>
              </a:spcBef>
              <a:buNone/>
              <a:tabLst>
                <a:tab pos="5029200" algn="l"/>
              </a:tabLst>
            </a:pPr>
            <a:endParaRPr lang="en-AU" sz="1400" dirty="0">
              <a:ea typeface="MS PGothic" charset="0"/>
            </a:endParaRPr>
          </a:p>
          <a:p>
            <a:pPr>
              <a:spcBef>
                <a:spcPct val="0"/>
              </a:spcBef>
              <a:buNone/>
              <a:tabLst>
                <a:tab pos="5029200" algn="l"/>
              </a:tabLst>
            </a:pPr>
            <a:r>
              <a:rPr lang="en-AU" sz="1400" dirty="0">
                <a:ea typeface="MS PGothic" charset="0"/>
              </a:rPr>
              <a:t>What is the current account balance?</a:t>
            </a:r>
          </a:p>
          <a:p>
            <a:pPr>
              <a:buNone/>
              <a:tabLst>
                <a:tab pos="5029200" algn="l"/>
              </a:tabLst>
            </a:pPr>
            <a:r>
              <a:rPr lang="en-AU" sz="1400" dirty="0">
                <a:ea typeface="MS PGothic" charset="0"/>
              </a:rPr>
              <a:t>What is the value of net income?</a:t>
            </a:r>
            <a:endParaRPr lang="en-US" sz="1400" dirty="0">
              <a:ea typeface="MS PGothic" charset="0"/>
            </a:endParaRPr>
          </a:p>
        </p:txBody>
      </p:sp>
      <p:sp>
        <p:nvSpPr>
          <p:cNvPr id="4" name="TextBox 3">
            <a:extLst>
              <a:ext uri="{FF2B5EF4-FFF2-40B4-BE49-F238E27FC236}">
                <a16:creationId xmlns:a16="http://schemas.microsoft.com/office/drawing/2014/main" id="{B92CD394-944C-CB27-2A4B-B5AD2675F55A}"/>
              </a:ext>
            </a:extLst>
          </p:cNvPr>
          <p:cNvSpPr txBox="1"/>
          <p:nvPr/>
        </p:nvSpPr>
        <p:spPr>
          <a:xfrm>
            <a:off x="1894490" y="4230808"/>
            <a:ext cx="8403020" cy="1200329"/>
          </a:xfrm>
          <a:prstGeom prst="rect">
            <a:avLst/>
          </a:prstGeom>
          <a:noFill/>
        </p:spPr>
        <p:txBody>
          <a:bodyPr wrap="square" rtlCol="0">
            <a:spAutoFit/>
          </a:bodyPr>
          <a:lstStyle/>
          <a:p>
            <a:r>
              <a:rPr lang="en-AU" sz="2400" dirty="0">
                <a:ea typeface="MS PGothic" charset="0"/>
              </a:rPr>
              <a:t>What is the value of net income?</a:t>
            </a:r>
            <a:endParaRPr lang="en-US" sz="2400" dirty="0"/>
          </a:p>
          <a:p>
            <a:r>
              <a:rPr lang="en-US" sz="2400" dirty="0"/>
              <a:t>Step 2: </a:t>
            </a:r>
            <a:r>
              <a:rPr lang="en-AU" sz="2400" dirty="0"/>
              <a:t>Current Account Balance (CAB) =</a:t>
            </a:r>
          </a:p>
          <a:p>
            <a:r>
              <a:rPr lang="en-AU" sz="2400" dirty="0"/>
              <a:t>Net Goods + Net Services + Net Income</a:t>
            </a:r>
            <a:endParaRPr lang="en-AU" sz="2400" b="1" dirty="0"/>
          </a:p>
        </p:txBody>
      </p:sp>
      <p:sp>
        <p:nvSpPr>
          <p:cNvPr id="5" name="TextBox 4">
            <a:extLst>
              <a:ext uri="{FF2B5EF4-FFF2-40B4-BE49-F238E27FC236}">
                <a16:creationId xmlns:a16="http://schemas.microsoft.com/office/drawing/2014/main" id="{339B8559-ACE0-DC66-EBF4-A990F1B9746A}"/>
              </a:ext>
            </a:extLst>
          </p:cNvPr>
          <p:cNvSpPr txBox="1"/>
          <p:nvPr/>
        </p:nvSpPr>
        <p:spPr>
          <a:xfrm>
            <a:off x="1894490" y="5379375"/>
            <a:ext cx="6700345" cy="830997"/>
          </a:xfrm>
          <a:prstGeom prst="rect">
            <a:avLst/>
          </a:prstGeom>
          <a:noFill/>
        </p:spPr>
        <p:txBody>
          <a:bodyPr wrap="square" rtlCol="0">
            <a:spAutoFit/>
          </a:bodyPr>
          <a:lstStyle/>
          <a:p>
            <a:r>
              <a:rPr lang="en-AU" sz="2400" dirty="0"/>
              <a:t>= 100 + (–300) + Net Income</a:t>
            </a:r>
            <a:br>
              <a:rPr lang="en-AU" sz="2400" dirty="0"/>
            </a:br>
            <a:r>
              <a:rPr lang="en-AU" sz="2400" dirty="0"/>
              <a:t>= –200 + Net Income</a:t>
            </a:r>
            <a:endParaRPr lang="en-US" sz="2400" dirty="0"/>
          </a:p>
        </p:txBody>
      </p:sp>
    </p:spTree>
    <p:extLst>
      <p:ext uri="{BB962C8B-B14F-4D97-AF65-F5344CB8AC3E}">
        <p14:creationId xmlns:p14="http://schemas.microsoft.com/office/powerpoint/2010/main" val="2312312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65942A95-DF27-0B05-C674-267B8B399C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6B1693-681D-AB73-C08F-5A829049F024}"/>
              </a:ext>
            </a:extLst>
          </p:cNvPr>
          <p:cNvSpPr>
            <a:spLocks noGrp="1"/>
          </p:cNvSpPr>
          <p:nvPr>
            <p:ph type="title"/>
          </p:nvPr>
        </p:nvSpPr>
        <p:spPr>
          <a:xfrm>
            <a:off x="3530020" y="0"/>
            <a:ext cx="6473952" cy="1901952"/>
          </a:xfrm>
        </p:spPr>
        <p:txBody>
          <a:bodyPr>
            <a:normAutofit/>
          </a:bodyPr>
          <a:lstStyle/>
          <a:p>
            <a:pPr>
              <a:defRPr/>
            </a:pPr>
            <a:r>
              <a:rPr lang="en-US" sz="4900" dirty="0"/>
              <a:t>BOP IN PRACTICE</a:t>
            </a:r>
          </a:p>
        </p:txBody>
      </p:sp>
      <p:sp>
        <p:nvSpPr>
          <p:cNvPr id="57347" name="Content Placeholder 2">
            <a:extLst>
              <a:ext uri="{FF2B5EF4-FFF2-40B4-BE49-F238E27FC236}">
                <a16:creationId xmlns:a16="http://schemas.microsoft.com/office/drawing/2014/main" id="{507039B3-3E27-BCF7-5499-B5CE29E410DF}"/>
              </a:ext>
            </a:extLst>
          </p:cNvPr>
          <p:cNvSpPr>
            <a:spLocks noGrp="1"/>
          </p:cNvSpPr>
          <p:nvPr>
            <p:ph idx="1"/>
          </p:nvPr>
        </p:nvSpPr>
        <p:spPr>
          <a:xfrm>
            <a:off x="2405734" y="1772803"/>
            <a:ext cx="7009757" cy="2278935"/>
          </a:xfrm>
          <a:solidFill>
            <a:schemeClr val="accent2">
              <a:lumMod val="20000"/>
              <a:lumOff val="80000"/>
            </a:schemeClr>
          </a:solidFill>
        </p:spPr>
        <p:txBody>
          <a:bodyPr>
            <a:noAutofit/>
          </a:bodyPr>
          <a:lstStyle/>
          <a:p>
            <a:pPr marL="0" indent="0">
              <a:spcBef>
                <a:spcPct val="0"/>
              </a:spcBef>
              <a:buNone/>
              <a:tabLst>
                <a:tab pos="5029200" algn="l"/>
              </a:tabLst>
            </a:pPr>
            <a:r>
              <a:rPr lang="en-GB" sz="1400" b="1" dirty="0">
                <a:ea typeface="MS PGothic" charset="0"/>
              </a:rPr>
              <a:t>Balance of Payments</a:t>
            </a:r>
            <a:r>
              <a:rPr lang="en-US" sz="1400" dirty="0">
                <a:ea typeface="MS PGothic" charset="0"/>
              </a:rPr>
              <a:t>  	</a:t>
            </a:r>
            <a:r>
              <a:rPr lang="en-GB" sz="1400" b="1" dirty="0">
                <a:ea typeface="MS PGothic" charset="0"/>
              </a:rPr>
              <a:t>$m</a:t>
            </a:r>
            <a:endParaRPr lang="en-US" sz="1400" dirty="0">
              <a:ea typeface="MS PGothic" charset="0"/>
            </a:endParaRPr>
          </a:p>
          <a:p>
            <a:pPr marL="0" indent="0">
              <a:spcBef>
                <a:spcPct val="0"/>
              </a:spcBef>
              <a:buNone/>
              <a:tabLst>
                <a:tab pos="5029200" algn="l"/>
              </a:tabLst>
            </a:pPr>
            <a:r>
              <a:rPr lang="en-GB" sz="1400" dirty="0">
                <a:ea typeface="MS PGothic" charset="0"/>
              </a:rPr>
              <a:t>Current account</a:t>
            </a:r>
            <a:endParaRPr lang="en-US" sz="1400" dirty="0">
              <a:ea typeface="MS PGothic" charset="0"/>
            </a:endParaRPr>
          </a:p>
          <a:p>
            <a:pPr>
              <a:spcBef>
                <a:spcPct val="0"/>
              </a:spcBef>
              <a:buNone/>
              <a:tabLst>
                <a:tab pos="5029200" algn="l"/>
              </a:tabLst>
            </a:pPr>
            <a:r>
              <a:rPr lang="en-GB" sz="1400" dirty="0">
                <a:ea typeface="MS PGothic" charset="0"/>
              </a:rPr>
              <a:t>  	Goods credits	600</a:t>
            </a:r>
            <a:endParaRPr lang="en-US" sz="1400" dirty="0">
              <a:ea typeface="MS PGothic" charset="0"/>
            </a:endParaRPr>
          </a:p>
          <a:p>
            <a:pPr>
              <a:spcBef>
                <a:spcPct val="0"/>
              </a:spcBef>
              <a:buNone/>
              <a:tabLst>
                <a:tab pos="5029200" algn="l"/>
              </a:tabLst>
            </a:pPr>
            <a:r>
              <a:rPr lang="en-US" sz="1400" dirty="0">
                <a:ea typeface="MS PGothic" charset="0"/>
              </a:rPr>
              <a:t> 	</a:t>
            </a:r>
            <a:r>
              <a:rPr lang="en-GB" sz="1400" dirty="0">
                <a:ea typeface="MS PGothic" charset="0"/>
              </a:rPr>
              <a:t>Goods debits	500</a:t>
            </a:r>
            <a:endParaRPr lang="en-US" sz="1400" dirty="0">
              <a:ea typeface="MS PGothic" charset="0"/>
            </a:endParaRPr>
          </a:p>
          <a:p>
            <a:pPr>
              <a:spcBef>
                <a:spcPct val="0"/>
              </a:spcBef>
              <a:buNone/>
              <a:tabLst>
                <a:tab pos="5029200" algn="l"/>
              </a:tabLst>
            </a:pPr>
            <a:r>
              <a:rPr lang="en-GB" sz="1400" dirty="0">
                <a:ea typeface="MS PGothic" charset="0"/>
              </a:rPr>
              <a:t> 	Net services	–300</a:t>
            </a:r>
            <a:endParaRPr lang="en-US" sz="1400" dirty="0">
              <a:ea typeface="MS PGothic" charset="0"/>
            </a:endParaRPr>
          </a:p>
          <a:p>
            <a:pPr>
              <a:spcBef>
                <a:spcPct val="0"/>
              </a:spcBef>
              <a:buNone/>
              <a:tabLst>
                <a:tab pos="5029200" algn="l"/>
              </a:tabLst>
            </a:pPr>
            <a:r>
              <a:rPr lang="en-GB" sz="1400" dirty="0">
                <a:ea typeface="MS PGothic" charset="0"/>
              </a:rPr>
              <a:t> 	Net income	?</a:t>
            </a:r>
            <a:endParaRPr lang="en-US" sz="1400" dirty="0">
              <a:ea typeface="MS PGothic" charset="0"/>
            </a:endParaRPr>
          </a:p>
          <a:p>
            <a:pPr marL="0" indent="0">
              <a:spcBef>
                <a:spcPct val="0"/>
              </a:spcBef>
              <a:buNone/>
              <a:tabLst>
                <a:tab pos="5029200" algn="l"/>
              </a:tabLst>
            </a:pPr>
            <a:r>
              <a:rPr lang="en-GB" sz="1400" dirty="0">
                <a:ea typeface="MS PGothic" charset="0"/>
              </a:rPr>
              <a:t>Capital/fin. account balance</a:t>
            </a:r>
            <a:r>
              <a:rPr lang="en-US" sz="1400" dirty="0">
                <a:ea typeface="MS PGothic" charset="0"/>
              </a:rPr>
              <a:t> 	</a:t>
            </a:r>
            <a:r>
              <a:rPr lang="en-GB" sz="1400" dirty="0">
                <a:ea typeface="MS PGothic" charset="0"/>
              </a:rPr>
              <a:t>1150</a:t>
            </a:r>
            <a:endParaRPr lang="en-US" sz="1400" dirty="0">
              <a:ea typeface="MS PGothic" charset="0"/>
            </a:endParaRPr>
          </a:p>
          <a:p>
            <a:pPr>
              <a:spcBef>
                <a:spcPct val="0"/>
              </a:spcBef>
              <a:buNone/>
              <a:tabLst>
                <a:tab pos="5029200" algn="l"/>
              </a:tabLst>
            </a:pPr>
            <a:endParaRPr lang="en-AU" sz="1400" dirty="0">
              <a:ea typeface="MS PGothic" charset="0"/>
            </a:endParaRPr>
          </a:p>
          <a:p>
            <a:pPr>
              <a:spcBef>
                <a:spcPct val="0"/>
              </a:spcBef>
              <a:buNone/>
              <a:tabLst>
                <a:tab pos="5029200" algn="l"/>
              </a:tabLst>
            </a:pPr>
            <a:r>
              <a:rPr lang="en-AU" sz="1400" dirty="0">
                <a:ea typeface="MS PGothic" charset="0"/>
              </a:rPr>
              <a:t>What is the current account balance?</a:t>
            </a:r>
          </a:p>
          <a:p>
            <a:pPr>
              <a:buNone/>
              <a:tabLst>
                <a:tab pos="5029200" algn="l"/>
              </a:tabLst>
            </a:pPr>
            <a:r>
              <a:rPr lang="en-AU" sz="1400" dirty="0">
                <a:ea typeface="MS PGothic" charset="0"/>
              </a:rPr>
              <a:t>What is the value of net income?</a:t>
            </a:r>
            <a:endParaRPr lang="en-US" sz="1400" dirty="0">
              <a:ea typeface="MS PGothic" charset="0"/>
            </a:endParaRPr>
          </a:p>
        </p:txBody>
      </p:sp>
      <p:sp>
        <p:nvSpPr>
          <p:cNvPr id="4" name="TextBox 3">
            <a:extLst>
              <a:ext uri="{FF2B5EF4-FFF2-40B4-BE49-F238E27FC236}">
                <a16:creationId xmlns:a16="http://schemas.microsoft.com/office/drawing/2014/main" id="{D73B4EAF-063D-3BBA-A76F-923C21E83F8E}"/>
              </a:ext>
            </a:extLst>
          </p:cNvPr>
          <p:cNvSpPr txBox="1"/>
          <p:nvPr/>
        </p:nvSpPr>
        <p:spPr>
          <a:xfrm>
            <a:off x="1894490" y="4461641"/>
            <a:ext cx="9661634" cy="1200329"/>
          </a:xfrm>
          <a:prstGeom prst="rect">
            <a:avLst/>
          </a:prstGeom>
          <a:noFill/>
        </p:spPr>
        <p:txBody>
          <a:bodyPr wrap="square" rtlCol="0">
            <a:spAutoFit/>
          </a:bodyPr>
          <a:lstStyle/>
          <a:p>
            <a:r>
              <a:rPr lang="en-AU" sz="2400" dirty="0">
                <a:ea typeface="MS PGothic" charset="0"/>
              </a:rPr>
              <a:t>What is the value of net income?</a:t>
            </a:r>
            <a:endParaRPr lang="en-US" sz="2400" dirty="0"/>
          </a:p>
          <a:p>
            <a:r>
              <a:rPr lang="en-US" sz="2400" dirty="0"/>
              <a:t>Step 3: </a:t>
            </a:r>
            <a:r>
              <a:rPr lang="en-AU" sz="2400" dirty="0"/>
              <a:t>Use the Balance of Payments identity:</a:t>
            </a:r>
            <a:br>
              <a:rPr lang="en-AU" sz="2400" dirty="0"/>
            </a:br>
            <a:r>
              <a:rPr lang="en-AU" sz="2400" dirty="0"/>
              <a:t>Current Account + Capital/Financial Account = 0</a:t>
            </a:r>
            <a:endParaRPr lang="en-AU" sz="2400" b="1" dirty="0"/>
          </a:p>
        </p:txBody>
      </p:sp>
      <p:sp>
        <p:nvSpPr>
          <p:cNvPr id="5" name="TextBox 4">
            <a:extLst>
              <a:ext uri="{FF2B5EF4-FFF2-40B4-BE49-F238E27FC236}">
                <a16:creationId xmlns:a16="http://schemas.microsoft.com/office/drawing/2014/main" id="{8EA78034-97AE-7573-16B8-32DE3F545D13}"/>
              </a:ext>
            </a:extLst>
          </p:cNvPr>
          <p:cNvSpPr txBox="1"/>
          <p:nvPr/>
        </p:nvSpPr>
        <p:spPr>
          <a:xfrm>
            <a:off x="1894490" y="5766814"/>
            <a:ext cx="6700345" cy="830997"/>
          </a:xfrm>
          <a:prstGeom prst="rect">
            <a:avLst/>
          </a:prstGeom>
          <a:noFill/>
        </p:spPr>
        <p:txBody>
          <a:bodyPr wrap="square" rtlCol="0">
            <a:spAutoFit/>
          </a:bodyPr>
          <a:lstStyle/>
          <a:p>
            <a:r>
              <a:rPr lang="en-AU" sz="2400" dirty="0"/>
              <a:t>∴  –200 + Net Income + 1150 = 0</a:t>
            </a:r>
            <a:endParaRPr lang="en-AU" sz="2400" b="1" dirty="0"/>
          </a:p>
          <a:p>
            <a:r>
              <a:rPr lang="en-AU" sz="2400" b="1" dirty="0"/>
              <a:t>∴  Net Income = </a:t>
            </a:r>
            <a:r>
              <a:rPr lang="en-AU" sz="2400" b="1" dirty="0">
                <a:solidFill>
                  <a:srgbClr val="FF0000"/>
                </a:solidFill>
              </a:rPr>
              <a:t>–950</a:t>
            </a:r>
          </a:p>
        </p:txBody>
      </p:sp>
    </p:spTree>
    <p:extLst>
      <p:ext uri="{BB962C8B-B14F-4D97-AF65-F5344CB8AC3E}">
        <p14:creationId xmlns:p14="http://schemas.microsoft.com/office/powerpoint/2010/main" val="2076318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A53688EE-A22C-86ED-8729-CBCE713211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EB1293-9DA3-D9D0-51F7-C39D7147FA5B}"/>
              </a:ext>
            </a:extLst>
          </p:cNvPr>
          <p:cNvSpPr>
            <a:spLocks noGrp="1"/>
          </p:cNvSpPr>
          <p:nvPr>
            <p:ph type="title"/>
          </p:nvPr>
        </p:nvSpPr>
        <p:spPr>
          <a:xfrm>
            <a:off x="3786921" y="0"/>
            <a:ext cx="7469657" cy="1901952"/>
          </a:xfrm>
        </p:spPr>
        <p:txBody>
          <a:bodyPr>
            <a:normAutofit/>
          </a:bodyPr>
          <a:lstStyle/>
          <a:p>
            <a:pPr>
              <a:defRPr/>
            </a:pPr>
            <a:r>
              <a:rPr lang="en-US" sz="4900" dirty="0"/>
              <a:t>BOP IN PRACTICE</a:t>
            </a:r>
          </a:p>
        </p:txBody>
      </p:sp>
      <p:sp>
        <p:nvSpPr>
          <p:cNvPr id="57347" name="Content Placeholder 2">
            <a:extLst>
              <a:ext uri="{FF2B5EF4-FFF2-40B4-BE49-F238E27FC236}">
                <a16:creationId xmlns:a16="http://schemas.microsoft.com/office/drawing/2014/main" id="{24008010-325F-6607-2B1A-F29375F83954}"/>
              </a:ext>
            </a:extLst>
          </p:cNvPr>
          <p:cNvSpPr>
            <a:spLocks noGrp="1"/>
          </p:cNvSpPr>
          <p:nvPr>
            <p:ph idx="1"/>
          </p:nvPr>
        </p:nvSpPr>
        <p:spPr>
          <a:xfrm>
            <a:off x="1519646" y="1756520"/>
            <a:ext cx="8484326" cy="585216"/>
          </a:xfrm>
        </p:spPr>
        <p:txBody>
          <a:bodyPr>
            <a:noAutofit/>
          </a:bodyPr>
          <a:lstStyle/>
          <a:p>
            <a:pPr marL="0" indent="0">
              <a:spcBef>
                <a:spcPct val="0"/>
              </a:spcBef>
              <a:buNone/>
              <a:tabLst>
                <a:tab pos="5029200" algn="l"/>
              </a:tabLst>
            </a:pPr>
            <a:r>
              <a:rPr lang="en-GB" sz="2400" b="1" dirty="0">
                <a:ea typeface="MS PGothic" charset="0"/>
              </a:rPr>
              <a:t>Balance of Payments</a:t>
            </a:r>
            <a:r>
              <a:rPr lang="en-US" sz="2400" dirty="0">
                <a:ea typeface="MS PGothic" charset="0"/>
              </a:rPr>
              <a:t>  	</a:t>
            </a:r>
            <a:r>
              <a:rPr lang="en-GB" sz="2400" b="1" dirty="0">
                <a:ea typeface="MS PGothic" charset="0"/>
              </a:rPr>
              <a:t>$m</a:t>
            </a:r>
            <a:endParaRPr lang="en-US" sz="2400" dirty="0">
              <a:ea typeface="MS PGothic" charset="0"/>
            </a:endParaRPr>
          </a:p>
          <a:p>
            <a:pPr marL="0" indent="0">
              <a:spcBef>
                <a:spcPct val="0"/>
              </a:spcBef>
              <a:buNone/>
              <a:tabLst>
                <a:tab pos="5029200" algn="l"/>
              </a:tabLst>
            </a:pPr>
            <a:r>
              <a:rPr lang="en-GB" sz="2400" dirty="0">
                <a:ea typeface="MS PGothic" charset="0"/>
              </a:rPr>
              <a:t>Current account</a:t>
            </a:r>
            <a:endParaRPr lang="en-US" sz="2400" dirty="0">
              <a:ea typeface="MS PGothic" charset="0"/>
            </a:endParaRPr>
          </a:p>
          <a:p>
            <a:pPr>
              <a:spcBef>
                <a:spcPct val="0"/>
              </a:spcBef>
              <a:buNone/>
              <a:tabLst>
                <a:tab pos="5029200" algn="l"/>
              </a:tabLst>
            </a:pPr>
            <a:r>
              <a:rPr lang="en-GB" sz="2400" dirty="0">
                <a:ea typeface="MS PGothic" charset="0"/>
              </a:rPr>
              <a:t>  	Goods credits	600</a:t>
            </a:r>
            <a:endParaRPr lang="en-US" sz="2400" dirty="0">
              <a:ea typeface="MS PGothic" charset="0"/>
            </a:endParaRPr>
          </a:p>
          <a:p>
            <a:pPr>
              <a:spcBef>
                <a:spcPct val="0"/>
              </a:spcBef>
              <a:buNone/>
              <a:tabLst>
                <a:tab pos="5029200" algn="l"/>
              </a:tabLst>
            </a:pPr>
            <a:r>
              <a:rPr lang="en-US" sz="2400" dirty="0">
                <a:ea typeface="MS PGothic" charset="0"/>
              </a:rPr>
              <a:t> 	</a:t>
            </a:r>
            <a:r>
              <a:rPr lang="en-GB" sz="2400" dirty="0">
                <a:ea typeface="MS PGothic" charset="0"/>
              </a:rPr>
              <a:t>Goods debits	500</a:t>
            </a:r>
            <a:endParaRPr lang="en-US" sz="2400" dirty="0">
              <a:ea typeface="MS PGothic" charset="0"/>
            </a:endParaRPr>
          </a:p>
          <a:p>
            <a:pPr>
              <a:spcBef>
                <a:spcPct val="0"/>
              </a:spcBef>
              <a:buNone/>
              <a:tabLst>
                <a:tab pos="5029200" algn="l"/>
              </a:tabLst>
            </a:pPr>
            <a:r>
              <a:rPr lang="en-GB" sz="2400" dirty="0">
                <a:ea typeface="MS PGothic" charset="0"/>
              </a:rPr>
              <a:t> 	Net services	–300</a:t>
            </a:r>
            <a:endParaRPr lang="en-US" sz="2400" dirty="0">
              <a:ea typeface="MS PGothic" charset="0"/>
            </a:endParaRPr>
          </a:p>
          <a:p>
            <a:pPr>
              <a:spcBef>
                <a:spcPct val="0"/>
              </a:spcBef>
              <a:buNone/>
              <a:tabLst>
                <a:tab pos="5029200" algn="l"/>
              </a:tabLst>
            </a:pPr>
            <a:r>
              <a:rPr lang="en-GB" sz="2400" dirty="0">
                <a:ea typeface="MS PGothic" charset="0"/>
              </a:rPr>
              <a:t> 	Net income	?</a:t>
            </a:r>
            <a:endParaRPr lang="en-US" sz="2400" dirty="0">
              <a:ea typeface="MS PGothic" charset="0"/>
            </a:endParaRPr>
          </a:p>
          <a:p>
            <a:pPr marL="0" indent="0">
              <a:spcBef>
                <a:spcPct val="0"/>
              </a:spcBef>
              <a:buNone/>
              <a:tabLst>
                <a:tab pos="5029200" algn="l"/>
              </a:tabLst>
            </a:pPr>
            <a:r>
              <a:rPr lang="en-GB" sz="2400" dirty="0">
                <a:ea typeface="MS PGothic" charset="0"/>
              </a:rPr>
              <a:t>Capital/fin. account balance</a:t>
            </a:r>
            <a:r>
              <a:rPr lang="en-US" sz="2400" dirty="0">
                <a:ea typeface="MS PGothic" charset="0"/>
              </a:rPr>
              <a:t> 	</a:t>
            </a:r>
            <a:r>
              <a:rPr lang="en-GB" sz="2400" dirty="0">
                <a:ea typeface="MS PGothic" charset="0"/>
              </a:rPr>
              <a:t>1150</a:t>
            </a:r>
            <a:endParaRPr lang="en-US" sz="2400" dirty="0">
              <a:ea typeface="MS PGothic" charset="0"/>
            </a:endParaRPr>
          </a:p>
          <a:p>
            <a:pPr>
              <a:spcBef>
                <a:spcPct val="0"/>
              </a:spcBef>
              <a:buNone/>
              <a:tabLst>
                <a:tab pos="5029200" algn="l"/>
              </a:tabLst>
            </a:pPr>
            <a:endParaRPr lang="en-AU" sz="2400" dirty="0">
              <a:ea typeface="MS PGothic" charset="0"/>
            </a:endParaRPr>
          </a:p>
          <a:p>
            <a:pPr>
              <a:spcBef>
                <a:spcPct val="0"/>
              </a:spcBef>
              <a:buNone/>
              <a:tabLst>
                <a:tab pos="5029200" algn="l"/>
              </a:tabLst>
            </a:pPr>
            <a:r>
              <a:rPr lang="en-AU" sz="2400" dirty="0">
                <a:ea typeface="MS PGothic" charset="0"/>
              </a:rPr>
              <a:t>What is the current account balance? </a:t>
            </a:r>
            <a:r>
              <a:rPr lang="en-AU" sz="2400" b="1" dirty="0">
                <a:solidFill>
                  <a:srgbClr val="FF0000"/>
                </a:solidFill>
                <a:ea typeface="MS PGothic" charset="0"/>
              </a:rPr>
              <a:t>-1150</a:t>
            </a:r>
          </a:p>
          <a:p>
            <a:pPr>
              <a:buNone/>
              <a:tabLst>
                <a:tab pos="5029200" algn="l"/>
              </a:tabLst>
            </a:pPr>
            <a:r>
              <a:rPr lang="en-AU" sz="2400" dirty="0">
                <a:ea typeface="MS PGothic" charset="0"/>
              </a:rPr>
              <a:t>What is the value of net income? </a:t>
            </a:r>
            <a:r>
              <a:rPr lang="en-AU" sz="2400" b="1" dirty="0">
                <a:solidFill>
                  <a:srgbClr val="FF0000"/>
                </a:solidFill>
                <a:ea typeface="MS PGothic" charset="0"/>
              </a:rPr>
              <a:t>-950</a:t>
            </a:r>
            <a:endParaRPr lang="en-US" sz="2400" b="1" dirty="0">
              <a:solidFill>
                <a:srgbClr val="FF0000"/>
              </a:solidFill>
              <a:ea typeface="MS PGothic" charset="0"/>
            </a:endParaRPr>
          </a:p>
        </p:txBody>
      </p:sp>
    </p:spTree>
    <p:extLst>
      <p:ext uri="{BB962C8B-B14F-4D97-AF65-F5344CB8AC3E}">
        <p14:creationId xmlns:p14="http://schemas.microsoft.com/office/powerpoint/2010/main" val="35384478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1A327-2C23-1645-BAE0-CCCA0C51D3E0}"/>
              </a:ext>
            </a:extLst>
          </p:cNvPr>
          <p:cNvSpPr>
            <a:spLocks noGrp="1"/>
          </p:cNvSpPr>
          <p:nvPr>
            <p:ph type="title"/>
          </p:nvPr>
        </p:nvSpPr>
        <p:spPr>
          <a:xfrm>
            <a:off x="838200" y="365125"/>
            <a:ext cx="10515600" cy="1522631"/>
          </a:xfrm>
        </p:spPr>
        <p:txBody>
          <a:bodyPr>
            <a:normAutofit fontScale="90000"/>
          </a:bodyPr>
          <a:lstStyle/>
          <a:p>
            <a:pPr marL="395478" indent="-285750"/>
            <a:r>
              <a:rPr lang="en-US" sz="2400" b="1" dirty="0">
                <a:solidFill>
                  <a:schemeClr val="tx1"/>
                </a:solidFill>
                <a:latin typeface="+mn-lt"/>
              </a:rPr>
              <a:t>Remember from earlier**</a:t>
            </a:r>
            <a:br>
              <a:rPr lang="en-US" sz="2400" b="1" dirty="0">
                <a:solidFill>
                  <a:schemeClr val="tx1"/>
                </a:solidFill>
                <a:latin typeface="+mn-lt"/>
              </a:rPr>
            </a:br>
            <a:br>
              <a:rPr lang="en-US" sz="2400" b="1" dirty="0">
                <a:solidFill>
                  <a:schemeClr val="tx1"/>
                </a:solidFill>
                <a:latin typeface="+mn-lt"/>
              </a:rPr>
            </a:br>
            <a:r>
              <a:rPr lang="en-US" sz="2400" dirty="0">
                <a:solidFill>
                  <a:schemeClr val="tx1"/>
                </a:solidFill>
                <a:latin typeface="+mn-lt"/>
              </a:rPr>
              <a:t>The BOP balances thanks to double entry book-keeping. </a:t>
            </a:r>
            <a:br>
              <a:rPr lang="en-US" sz="2400" dirty="0">
                <a:solidFill>
                  <a:schemeClr val="tx1"/>
                </a:solidFill>
                <a:latin typeface="+mn-lt"/>
              </a:rPr>
            </a:br>
            <a:r>
              <a:rPr lang="en-US" sz="2400" dirty="0">
                <a:solidFill>
                  <a:schemeClr val="tx1"/>
                </a:solidFill>
                <a:latin typeface="+mn-lt"/>
              </a:rPr>
              <a:t>This means, for every transaction there is a matching offsetting entry. </a:t>
            </a:r>
            <a:br>
              <a:rPr lang="en-US" sz="2400" dirty="0">
                <a:solidFill>
                  <a:schemeClr val="tx1"/>
                </a:solidFill>
                <a:latin typeface="+mn-lt"/>
              </a:rPr>
            </a:br>
            <a:r>
              <a:rPr lang="en-US" sz="2400" dirty="0">
                <a:solidFill>
                  <a:schemeClr val="tx1"/>
                </a:solidFill>
                <a:latin typeface="+mn-lt"/>
              </a:rPr>
              <a:t>     </a:t>
            </a:r>
            <a:r>
              <a:rPr lang="en-US" sz="2400" dirty="0" err="1">
                <a:solidFill>
                  <a:schemeClr val="tx1"/>
                </a:solidFill>
                <a:latin typeface="+mn-lt"/>
              </a:rPr>
              <a:t>i.e</a:t>
            </a:r>
            <a:r>
              <a:rPr lang="en-US" sz="2400" dirty="0">
                <a:solidFill>
                  <a:schemeClr val="tx1"/>
                </a:solidFill>
                <a:latin typeface="+mn-lt"/>
              </a:rPr>
              <a:t> - two entries for each transaction – money and currency</a:t>
            </a:r>
          </a:p>
        </p:txBody>
      </p:sp>
      <p:sp>
        <p:nvSpPr>
          <p:cNvPr id="4" name="Text Placeholder 3">
            <a:extLst>
              <a:ext uri="{FF2B5EF4-FFF2-40B4-BE49-F238E27FC236}">
                <a16:creationId xmlns:a16="http://schemas.microsoft.com/office/drawing/2014/main" id="{B50C829E-80EC-B038-A3E0-D8FE840A4D0F}"/>
              </a:ext>
            </a:extLst>
          </p:cNvPr>
          <p:cNvSpPr>
            <a:spLocks noGrp="1"/>
          </p:cNvSpPr>
          <p:nvPr>
            <p:ph type="body" sz="quarter" idx="14"/>
          </p:nvPr>
        </p:nvSpPr>
        <p:spPr>
          <a:solidFill>
            <a:schemeClr val="accent2">
              <a:lumMod val="20000"/>
              <a:lumOff val="80000"/>
            </a:schemeClr>
          </a:solidFill>
        </p:spPr>
        <p:txBody>
          <a:bodyPr/>
          <a:lstStyle/>
          <a:p>
            <a:r>
              <a:rPr lang="en-GB" sz="2800" dirty="0"/>
              <a:t>CAB</a:t>
            </a:r>
            <a:endParaRPr lang="en-AU" sz="2800" dirty="0"/>
          </a:p>
        </p:txBody>
      </p:sp>
      <p:sp>
        <p:nvSpPr>
          <p:cNvPr id="3" name="Content Placeholder 2">
            <a:extLst>
              <a:ext uri="{FF2B5EF4-FFF2-40B4-BE49-F238E27FC236}">
                <a16:creationId xmlns:a16="http://schemas.microsoft.com/office/drawing/2014/main" id="{8CEB3A1D-1A2C-4942-B92E-FAA9669A493C}"/>
              </a:ext>
            </a:extLst>
          </p:cNvPr>
          <p:cNvSpPr>
            <a:spLocks noGrp="1"/>
          </p:cNvSpPr>
          <p:nvPr>
            <p:ph sz="half" idx="2"/>
          </p:nvPr>
        </p:nvSpPr>
        <p:spPr>
          <a:xfrm>
            <a:off x="932688" y="2944368"/>
            <a:ext cx="4604512" cy="598932"/>
          </a:xfrm>
        </p:spPr>
        <p:txBody>
          <a:bodyPr>
            <a:normAutofit fontScale="92500"/>
          </a:bodyPr>
          <a:lstStyle/>
          <a:p>
            <a:pPr marL="395478" indent="-285750"/>
            <a:r>
              <a:rPr lang="en-US" sz="2400" dirty="0"/>
              <a:t>- Value of the transaction of G/S</a:t>
            </a:r>
          </a:p>
          <a:p>
            <a:pPr marL="109728" indent="0" algn="ctr">
              <a:buNone/>
            </a:pPr>
            <a:endParaRPr lang="en-US" sz="2400" dirty="0"/>
          </a:p>
          <a:p>
            <a:pPr marL="109728" indent="0" algn="ctr">
              <a:buNone/>
            </a:pPr>
            <a:endParaRPr lang="en-US" sz="2400" dirty="0"/>
          </a:p>
          <a:p>
            <a:endParaRPr lang="en-US" sz="2400" dirty="0"/>
          </a:p>
        </p:txBody>
      </p:sp>
      <p:sp>
        <p:nvSpPr>
          <p:cNvPr id="5" name="Text Placeholder 4">
            <a:extLst>
              <a:ext uri="{FF2B5EF4-FFF2-40B4-BE49-F238E27FC236}">
                <a16:creationId xmlns:a16="http://schemas.microsoft.com/office/drawing/2014/main" id="{F6C37172-A842-BEA4-9BA6-C3BCCC246AC5}"/>
              </a:ext>
            </a:extLst>
          </p:cNvPr>
          <p:cNvSpPr>
            <a:spLocks noGrp="1"/>
          </p:cNvSpPr>
          <p:nvPr>
            <p:ph type="body" sz="quarter" idx="19"/>
          </p:nvPr>
        </p:nvSpPr>
        <p:spPr>
          <a:solidFill>
            <a:schemeClr val="accent2">
              <a:lumMod val="20000"/>
              <a:lumOff val="80000"/>
            </a:schemeClr>
          </a:solidFill>
        </p:spPr>
        <p:txBody>
          <a:bodyPr/>
          <a:lstStyle/>
          <a:p>
            <a:r>
              <a:rPr lang="en-GB" sz="2800" dirty="0"/>
              <a:t>KAFA</a:t>
            </a:r>
            <a:endParaRPr lang="en-AU" sz="2800" dirty="0"/>
          </a:p>
        </p:txBody>
      </p:sp>
      <p:sp>
        <p:nvSpPr>
          <p:cNvPr id="6" name="Content Placeholder 5">
            <a:extLst>
              <a:ext uri="{FF2B5EF4-FFF2-40B4-BE49-F238E27FC236}">
                <a16:creationId xmlns:a16="http://schemas.microsoft.com/office/drawing/2014/main" id="{09006DA9-B216-35E8-9A5F-520BEBABDB86}"/>
              </a:ext>
            </a:extLst>
          </p:cNvPr>
          <p:cNvSpPr>
            <a:spLocks noGrp="1"/>
          </p:cNvSpPr>
          <p:nvPr>
            <p:ph sz="half" idx="20"/>
          </p:nvPr>
        </p:nvSpPr>
        <p:spPr/>
        <p:txBody>
          <a:bodyPr/>
          <a:lstStyle/>
          <a:p>
            <a:r>
              <a:rPr lang="en-US" sz="2400" dirty="0"/>
              <a:t>The offsetting entry (movement of currency transaction) is always in the FA.</a:t>
            </a:r>
          </a:p>
          <a:p>
            <a:endParaRPr lang="en-AU" sz="2400" dirty="0"/>
          </a:p>
        </p:txBody>
      </p:sp>
      <p:pic>
        <p:nvPicPr>
          <p:cNvPr id="3074" name="Picture 2" descr="Exchange Rates: What They Are And How They Can Impact Your Business |  Statrys">
            <a:extLst>
              <a:ext uri="{FF2B5EF4-FFF2-40B4-BE49-F238E27FC236}">
                <a16:creationId xmlns:a16="http://schemas.microsoft.com/office/drawing/2014/main" id="{E04E75A6-6214-7730-63E4-AD6A3BDEA4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32206" y="4199128"/>
            <a:ext cx="1744472" cy="174447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Concept of services in delivery goods Royalty Free Vector">
            <a:extLst>
              <a:ext uri="{FF2B5EF4-FFF2-40B4-BE49-F238E27FC236}">
                <a16:creationId xmlns:a16="http://schemas.microsoft.com/office/drawing/2014/main" id="{8EA51780-9414-ABD3-109E-1E96D22094E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0972"/>
          <a:stretch/>
        </p:blipFill>
        <p:spPr bwMode="auto">
          <a:xfrm>
            <a:off x="2152148" y="4593442"/>
            <a:ext cx="1830921" cy="128287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7A98E9A-A41B-90BB-A2DB-C2329C366202}"/>
              </a:ext>
            </a:extLst>
          </p:cNvPr>
          <p:cNvSpPr txBox="1"/>
          <p:nvPr/>
        </p:nvSpPr>
        <p:spPr>
          <a:xfrm>
            <a:off x="932688" y="3547002"/>
            <a:ext cx="6100762" cy="523220"/>
          </a:xfrm>
          <a:prstGeom prst="rect">
            <a:avLst/>
          </a:prstGeom>
          <a:noFill/>
        </p:spPr>
        <p:txBody>
          <a:bodyPr wrap="square">
            <a:spAutoFit/>
          </a:bodyPr>
          <a:lstStyle/>
          <a:p>
            <a:r>
              <a:rPr lang="en-GB" sz="2800" dirty="0">
                <a:latin typeface="+mj-lt"/>
              </a:rPr>
              <a:t>KAFA</a:t>
            </a:r>
            <a:endParaRPr lang="en-AU" sz="2800" dirty="0">
              <a:latin typeface="+mj-lt"/>
            </a:endParaRPr>
          </a:p>
        </p:txBody>
      </p:sp>
      <p:sp>
        <p:nvSpPr>
          <p:cNvPr id="9" name="Content Placeholder 5">
            <a:extLst>
              <a:ext uri="{FF2B5EF4-FFF2-40B4-BE49-F238E27FC236}">
                <a16:creationId xmlns:a16="http://schemas.microsoft.com/office/drawing/2014/main" id="{C6DDEB0F-B546-2A97-E643-2863C494FA5E}"/>
              </a:ext>
            </a:extLst>
          </p:cNvPr>
          <p:cNvSpPr txBox="1">
            <a:spLocks/>
          </p:cNvSpPr>
          <p:nvPr/>
        </p:nvSpPr>
        <p:spPr>
          <a:xfrm>
            <a:off x="1032247" y="4070222"/>
            <a:ext cx="4608576" cy="2785100"/>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0"/>
              </a:spcBef>
              <a:buSzPct val="50000"/>
              <a:buFont typeface="Arial" panose="020B0604020202020204" pitchFamily="34" charset="0"/>
              <a:buNone/>
              <a:defRPr sz="1600" kern="1200">
                <a:solidFill>
                  <a:schemeClr val="tx1"/>
                </a:solidFill>
                <a:latin typeface="+mn-lt"/>
                <a:ea typeface="+mn-ea"/>
                <a:cs typeface="+mn-cs"/>
              </a:defRPr>
            </a:lvl1pPr>
            <a:lvl2pPr marL="274320" indent="-137160" algn="l" defTabSz="914400" rtl="0" eaLnBrk="1" latinLnBrk="0" hangingPunct="1">
              <a:lnSpc>
                <a:spcPct val="100000"/>
              </a:lnSpc>
              <a:spcBef>
                <a:spcPts val="0"/>
              </a:spcBef>
              <a:buSzPct val="50000"/>
              <a:buFont typeface="Arial" panose="020B0604020202020204" pitchFamily="34" charset="0"/>
              <a:buChar char="•"/>
              <a:defRPr sz="1400" kern="1200">
                <a:solidFill>
                  <a:schemeClr val="tx1"/>
                </a:solidFill>
                <a:latin typeface="+mn-lt"/>
                <a:ea typeface="+mn-ea"/>
                <a:cs typeface="+mn-cs"/>
              </a:defRPr>
            </a:lvl2pPr>
            <a:lvl3pPr marL="411480" indent="-137160" algn="l" defTabSz="914400" rtl="0" eaLnBrk="1" latinLnBrk="0" hangingPunct="1">
              <a:lnSpc>
                <a:spcPct val="100000"/>
              </a:lnSpc>
              <a:spcBef>
                <a:spcPts val="0"/>
              </a:spcBef>
              <a:buSzPct val="50000"/>
              <a:buFont typeface="Arial" panose="020B0604020202020204" pitchFamily="34" charset="0"/>
              <a:buChar char="•"/>
              <a:defRPr sz="1200" kern="1200">
                <a:solidFill>
                  <a:schemeClr val="tx1"/>
                </a:solidFill>
                <a:latin typeface="+mn-lt"/>
                <a:ea typeface="+mn-ea"/>
                <a:cs typeface="+mn-cs"/>
              </a:defRPr>
            </a:lvl3pPr>
            <a:lvl4pPr marL="548640" indent="-137160" algn="l" defTabSz="914400" rtl="0" eaLnBrk="1" latinLnBrk="0" hangingPunct="1">
              <a:lnSpc>
                <a:spcPct val="100000"/>
              </a:lnSpc>
              <a:spcBef>
                <a:spcPts val="0"/>
              </a:spcBef>
              <a:buSzPct val="50000"/>
              <a:buFont typeface="Arial" panose="020B0604020202020204" pitchFamily="34" charset="0"/>
              <a:buChar char="•"/>
              <a:defRPr sz="1100" kern="1200">
                <a:solidFill>
                  <a:schemeClr val="tx1"/>
                </a:solidFill>
                <a:latin typeface="+mn-lt"/>
                <a:ea typeface="+mn-ea"/>
                <a:cs typeface="+mn-cs"/>
              </a:defRPr>
            </a:lvl4pPr>
            <a:lvl5pPr marL="2057400" indent="-137160" algn="l" defTabSz="914400" rtl="0" eaLnBrk="1" latinLnBrk="0" hangingPunct="1">
              <a:lnSpc>
                <a:spcPct val="90000"/>
              </a:lnSpc>
              <a:spcBef>
                <a:spcPts val="500"/>
              </a:spcBef>
              <a:buSzPct val="5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-Value of the financial asset</a:t>
            </a:r>
          </a:p>
          <a:p>
            <a:endParaRPr lang="en-AU" sz="2400" dirty="0"/>
          </a:p>
        </p:txBody>
      </p:sp>
    </p:spTree>
    <p:extLst>
      <p:ext uri="{BB962C8B-B14F-4D97-AF65-F5344CB8AC3E}">
        <p14:creationId xmlns:p14="http://schemas.microsoft.com/office/powerpoint/2010/main" val="34932678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44076-F41C-2531-40C7-5289D123E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D60A3A-1303-6693-1E46-BE70664B8756}"/>
              </a:ext>
            </a:extLst>
          </p:cNvPr>
          <p:cNvSpPr>
            <a:spLocks noGrp="1"/>
          </p:cNvSpPr>
          <p:nvPr>
            <p:ph type="title"/>
          </p:nvPr>
        </p:nvSpPr>
        <p:spPr>
          <a:xfrm>
            <a:off x="712076" y="300001"/>
            <a:ext cx="10515600" cy="1325563"/>
          </a:xfrm>
        </p:spPr>
        <p:txBody>
          <a:bodyPr>
            <a:normAutofit/>
          </a:bodyPr>
          <a:lstStyle/>
          <a:p>
            <a:pPr algn="ctr"/>
            <a:r>
              <a:rPr lang="en-US" dirty="0"/>
              <a:t>CREDITS &amp; DEBITS IN THE KAFA</a:t>
            </a:r>
          </a:p>
        </p:txBody>
      </p:sp>
      <p:sp>
        <p:nvSpPr>
          <p:cNvPr id="3" name="Content Placeholder 2">
            <a:extLst>
              <a:ext uri="{FF2B5EF4-FFF2-40B4-BE49-F238E27FC236}">
                <a16:creationId xmlns:a16="http://schemas.microsoft.com/office/drawing/2014/main" id="{37ECA617-B7DD-E85F-4E91-B8487A17EF40}"/>
              </a:ext>
            </a:extLst>
          </p:cNvPr>
          <p:cNvSpPr>
            <a:spLocks noGrp="1"/>
          </p:cNvSpPr>
          <p:nvPr>
            <p:ph idx="1"/>
          </p:nvPr>
        </p:nvSpPr>
        <p:spPr>
          <a:xfrm>
            <a:off x="838200" y="1880477"/>
            <a:ext cx="10515600" cy="4236087"/>
          </a:xfrm>
        </p:spPr>
        <p:txBody>
          <a:bodyPr>
            <a:normAutofit fontScale="92500"/>
          </a:bodyPr>
          <a:lstStyle/>
          <a:p>
            <a:pPr marL="0" indent="0">
              <a:buNone/>
            </a:pPr>
            <a:r>
              <a:rPr lang="en-AU" dirty="0"/>
              <a:t>In Balance of Payments (BOP) accounting, credits and debits don't just mean money coming in or going out like in a bank statement. Instead, they reflect changes in ownership of assets and liabilities between residents and non-residents.</a:t>
            </a:r>
          </a:p>
          <a:p>
            <a:pPr marL="0" indent="0">
              <a:buNone/>
            </a:pPr>
            <a:endParaRPr lang="en-AU" b="1" dirty="0"/>
          </a:p>
          <a:p>
            <a:pPr marL="0" indent="0">
              <a:buNone/>
            </a:pPr>
            <a:r>
              <a:rPr lang="en-AU" dirty="0"/>
              <a:t>Because the Current Account (CAB) records trade in goods and services (exports and imports), credits and debits there reflect actual inflows and outflows of goods and services. </a:t>
            </a:r>
          </a:p>
          <a:p>
            <a:pPr marL="0" indent="0">
              <a:buNone/>
            </a:pPr>
            <a:endParaRPr lang="en-AU" dirty="0"/>
          </a:p>
          <a:p>
            <a:pPr marL="0" indent="0">
              <a:buNone/>
            </a:pPr>
            <a:r>
              <a:rPr lang="en-AU" dirty="0"/>
              <a:t>The Capital and Financial Account (KAFA) records changes in ownership of financial assets or liabilities. In the KAFA credits represent increases in Australia’s liabilities or decreases in its assets abroad, while debits represent increases in assets or decreases in liabilities.</a:t>
            </a:r>
            <a:endParaRPr lang="en-US" dirty="0"/>
          </a:p>
        </p:txBody>
      </p:sp>
    </p:spTree>
    <p:extLst>
      <p:ext uri="{BB962C8B-B14F-4D97-AF65-F5344CB8AC3E}">
        <p14:creationId xmlns:p14="http://schemas.microsoft.com/office/powerpoint/2010/main" val="32866567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AA104-DFB5-6D18-D04E-24A26C416B89}"/>
              </a:ext>
            </a:extLst>
          </p:cNvPr>
          <p:cNvSpPr>
            <a:spLocks noGrp="1"/>
          </p:cNvSpPr>
          <p:nvPr>
            <p:ph type="title"/>
          </p:nvPr>
        </p:nvSpPr>
        <p:spPr/>
        <p:txBody>
          <a:bodyPr/>
          <a:lstStyle/>
          <a:p>
            <a:pPr algn="ctr"/>
            <a:r>
              <a:rPr lang="en-US" dirty="0">
                <a:solidFill>
                  <a:srgbClr val="92D050"/>
                </a:solidFill>
              </a:rPr>
              <a:t>CREDITS</a:t>
            </a:r>
            <a:r>
              <a:rPr lang="en-US" dirty="0"/>
              <a:t> IN THE KAFA</a:t>
            </a:r>
          </a:p>
        </p:txBody>
      </p:sp>
      <p:sp>
        <p:nvSpPr>
          <p:cNvPr id="3" name="Content Placeholder 2">
            <a:extLst>
              <a:ext uri="{FF2B5EF4-FFF2-40B4-BE49-F238E27FC236}">
                <a16:creationId xmlns:a16="http://schemas.microsoft.com/office/drawing/2014/main" id="{65C44453-79E3-BCDC-7B9F-917C8AAD2383}"/>
              </a:ext>
            </a:extLst>
          </p:cNvPr>
          <p:cNvSpPr>
            <a:spLocks noGrp="1"/>
          </p:cNvSpPr>
          <p:nvPr>
            <p:ph idx="1"/>
          </p:nvPr>
        </p:nvSpPr>
        <p:spPr>
          <a:xfrm>
            <a:off x="838199" y="1690689"/>
            <a:ext cx="10764187" cy="4590190"/>
          </a:xfrm>
        </p:spPr>
        <p:txBody>
          <a:bodyPr>
            <a:normAutofit fontScale="92500" lnSpcReduction="20000"/>
          </a:bodyPr>
          <a:lstStyle/>
          <a:p>
            <a:pPr marL="0" indent="0">
              <a:buNone/>
            </a:pPr>
            <a:r>
              <a:rPr lang="en-AU" b="1" dirty="0">
                <a:solidFill>
                  <a:srgbClr val="92D050"/>
                </a:solidFill>
              </a:rPr>
              <a:t>Credit (+</a:t>
            </a:r>
            <a:r>
              <a:rPr lang="en-AU" b="1" dirty="0" err="1">
                <a:solidFill>
                  <a:srgbClr val="92D050"/>
                </a:solidFill>
              </a:rPr>
              <a:t>ve</a:t>
            </a:r>
            <a:r>
              <a:rPr lang="en-AU" b="1" dirty="0">
                <a:solidFill>
                  <a:srgbClr val="92D050"/>
                </a:solidFill>
              </a:rPr>
              <a:t>) = A transaction that increases Australia’s liabilities to the rest of the world or reduces Australia’s assets</a:t>
            </a:r>
          </a:p>
          <a:p>
            <a:pPr marL="0" indent="0">
              <a:buNone/>
            </a:pPr>
            <a:endParaRPr lang="en-AU" b="1" dirty="0">
              <a:solidFill>
                <a:srgbClr val="FF0000"/>
              </a:solidFill>
            </a:endParaRPr>
          </a:p>
          <a:p>
            <a:pPr marL="0" indent="0">
              <a:buNone/>
            </a:pPr>
            <a:r>
              <a:rPr lang="en-AU" b="1" dirty="0"/>
              <a:t>Australia takes on more liabilities (owes more to foreigners)</a:t>
            </a:r>
            <a:br>
              <a:rPr lang="en-AU" dirty="0"/>
            </a:br>
            <a:r>
              <a:rPr lang="en-AU" dirty="0"/>
              <a:t>→ e.g. borrowing money from overseas</a:t>
            </a:r>
          </a:p>
          <a:p>
            <a:pPr marL="0" indent="0">
              <a:buNone/>
            </a:pPr>
            <a:endParaRPr lang="en-AU" dirty="0"/>
          </a:p>
          <a:p>
            <a:pPr marL="0" indent="0">
              <a:buNone/>
            </a:pPr>
            <a:r>
              <a:rPr lang="en-AU" b="1" dirty="0"/>
              <a:t>OR Australia gives up/reduces its assets</a:t>
            </a:r>
            <a:br>
              <a:rPr lang="en-AU" dirty="0"/>
            </a:br>
            <a:r>
              <a:rPr lang="en-AU" dirty="0"/>
              <a:t>→ e.g. sells foreign shares, withdraws money from a foreign bank account, or money leaves an Australian resident’s bank account to pay overseas</a:t>
            </a:r>
          </a:p>
          <a:p>
            <a:pPr marL="0" indent="0">
              <a:buNone/>
            </a:pPr>
            <a:endParaRPr lang="en-AU" dirty="0"/>
          </a:p>
          <a:p>
            <a:pPr marL="0" indent="0">
              <a:buNone/>
            </a:pPr>
            <a:r>
              <a:rPr lang="en-AU" dirty="0"/>
              <a:t>A decrease in assets happens when Australians give up ownership of something they previously owned, which is considered as supplying financial assets to the rest of the world and that’s why it’s recorded as a </a:t>
            </a:r>
            <a:r>
              <a:rPr lang="en-AU" b="1" dirty="0">
                <a:solidFill>
                  <a:srgbClr val="92D050"/>
                </a:solidFill>
              </a:rPr>
              <a:t>credit</a:t>
            </a:r>
            <a:r>
              <a:rPr lang="en-AU" b="1" dirty="0"/>
              <a:t> </a:t>
            </a:r>
            <a:r>
              <a:rPr lang="en-AU" dirty="0"/>
              <a:t>in the </a:t>
            </a:r>
            <a:r>
              <a:rPr lang="en-AU" b="1" dirty="0"/>
              <a:t>KAFA</a:t>
            </a:r>
          </a:p>
          <a:p>
            <a:endParaRPr lang="en-US" dirty="0"/>
          </a:p>
        </p:txBody>
      </p:sp>
    </p:spTree>
    <p:extLst>
      <p:ext uri="{BB962C8B-B14F-4D97-AF65-F5344CB8AC3E}">
        <p14:creationId xmlns:p14="http://schemas.microsoft.com/office/powerpoint/2010/main" val="7551970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1EF91-23A4-6E59-D9FE-7686AF3F16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A5B9E6-91A9-83F4-8EF3-AC9DA8D6B818}"/>
              </a:ext>
            </a:extLst>
          </p:cNvPr>
          <p:cNvSpPr>
            <a:spLocks noGrp="1"/>
          </p:cNvSpPr>
          <p:nvPr>
            <p:ph type="title"/>
          </p:nvPr>
        </p:nvSpPr>
        <p:spPr/>
        <p:txBody>
          <a:bodyPr/>
          <a:lstStyle/>
          <a:p>
            <a:pPr algn="ctr"/>
            <a:r>
              <a:rPr lang="en-US" dirty="0">
                <a:solidFill>
                  <a:srgbClr val="FF0000"/>
                </a:solidFill>
              </a:rPr>
              <a:t>DEBITS</a:t>
            </a:r>
            <a:r>
              <a:rPr lang="en-US" dirty="0"/>
              <a:t> IN THE KAFA</a:t>
            </a:r>
          </a:p>
        </p:txBody>
      </p:sp>
      <p:sp>
        <p:nvSpPr>
          <p:cNvPr id="3" name="Content Placeholder 2">
            <a:extLst>
              <a:ext uri="{FF2B5EF4-FFF2-40B4-BE49-F238E27FC236}">
                <a16:creationId xmlns:a16="http://schemas.microsoft.com/office/drawing/2014/main" id="{6425815F-170D-597E-B7D3-C664B1CB14F2}"/>
              </a:ext>
            </a:extLst>
          </p:cNvPr>
          <p:cNvSpPr>
            <a:spLocks noGrp="1"/>
          </p:cNvSpPr>
          <p:nvPr>
            <p:ph idx="1"/>
          </p:nvPr>
        </p:nvSpPr>
        <p:spPr>
          <a:xfrm>
            <a:off x="838199" y="1690689"/>
            <a:ext cx="10764187" cy="4590190"/>
          </a:xfrm>
        </p:spPr>
        <p:txBody>
          <a:bodyPr>
            <a:normAutofit fontScale="92500" lnSpcReduction="20000"/>
          </a:bodyPr>
          <a:lstStyle/>
          <a:p>
            <a:pPr marL="0" indent="0">
              <a:buNone/>
            </a:pPr>
            <a:r>
              <a:rPr lang="en-AU" b="1" dirty="0">
                <a:solidFill>
                  <a:srgbClr val="FF0000"/>
                </a:solidFill>
              </a:rPr>
              <a:t>Debit (–</a:t>
            </a:r>
            <a:r>
              <a:rPr lang="en-AU" b="1" dirty="0" err="1">
                <a:solidFill>
                  <a:srgbClr val="FF0000"/>
                </a:solidFill>
              </a:rPr>
              <a:t>ve</a:t>
            </a:r>
            <a:r>
              <a:rPr lang="en-AU" b="1" dirty="0">
                <a:solidFill>
                  <a:srgbClr val="FF0000"/>
                </a:solidFill>
              </a:rPr>
              <a:t>) = A transaction that increases Australia’s assets abroad or reduces Australia’s liabilities</a:t>
            </a:r>
          </a:p>
          <a:p>
            <a:pPr marL="0" indent="0">
              <a:buNone/>
            </a:pPr>
            <a:endParaRPr lang="en-AU" b="1" dirty="0">
              <a:solidFill>
                <a:srgbClr val="FF0000"/>
              </a:solidFill>
            </a:endParaRPr>
          </a:p>
          <a:p>
            <a:pPr marL="0" indent="0">
              <a:buNone/>
            </a:pPr>
            <a:r>
              <a:rPr lang="en-AU" b="1" dirty="0"/>
              <a:t>Australia increases its ownership of financial assets overseas</a:t>
            </a:r>
            <a:br>
              <a:rPr lang="en-AU" dirty="0"/>
            </a:br>
            <a:r>
              <a:rPr lang="en-AU" dirty="0"/>
              <a:t>→ e.g. buys foreign shares, invests in property overseas, deposits money in a foreign bank account</a:t>
            </a:r>
          </a:p>
          <a:p>
            <a:pPr marL="0" indent="0">
              <a:buNone/>
            </a:pPr>
            <a:endParaRPr lang="en-AU" dirty="0"/>
          </a:p>
          <a:p>
            <a:pPr marL="0" indent="0">
              <a:buNone/>
            </a:pPr>
            <a:r>
              <a:rPr lang="en-AU" b="1" dirty="0"/>
              <a:t>OR Australia pays off or reduces its liabilities to the rest of the world</a:t>
            </a:r>
            <a:br>
              <a:rPr lang="en-AU" dirty="0"/>
            </a:br>
            <a:r>
              <a:rPr lang="en-AU" dirty="0"/>
              <a:t>→ e.g. repays a loan to a foreign lender</a:t>
            </a:r>
          </a:p>
          <a:p>
            <a:pPr marL="0" indent="0">
              <a:buNone/>
            </a:pPr>
            <a:endParaRPr lang="en-AU" dirty="0"/>
          </a:p>
          <a:p>
            <a:pPr marL="0" indent="0">
              <a:buNone/>
            </a:pPr>
            <a:r>
              <a:rPr lang="en-AU" dirty="0"/>
              <a:t>An increase in assets happens when Australians purchase or build up financial claims overseas, which is considered as acquiring financial assets from the rest of the world — and that’s why it’s recorded as a </a:t>
            </a:r>
            <a:r>
              <a:rPr lang="en-AU" b="1" dirty="0">
                <a:solidFill>
                  <a:srgbClr val="FF0000"/>
                </a:solidFill>
              </a:rPr>
              <a:t>debit</a:t>
            </a:r>
            <a:r>
              <a:rPr lang="en-AU" dirty="0"/>
              <a:t> in the </a:t>
            </a:r>
            <a:r>
              <a:rPr lang="en-AU" b="1" dirty="0"/>
              <a:t>KAFA.</a:t>
            </a:r>
          </a:p>
          <a:p>
            <a:endParaRPr lang="en-US" dirty="0"/>
          </a:p>
        </p:txBody>
      </p:sp>
    </p:spTree>
    <p:extLst>
      <p:ext uri="{BB962C8B-B14F-4D97-AF65-F5344CB8AC3E}">
        <p14:creationId xmlns:p14="http://schemas.microsoft.com/office/powerpoint/2010/main" val="11521923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ED527-52D1-6C39-3BDF-36D97D1D37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2E8E7B-E4BA-1571-6D76-DD8BA96FBBF0}"/>
              </a:ext>
            </a:extLst>
          </p:cNvPr>
          <p:cNvSpPr>
            <a:spLocks noGrp="1"/>
          </p:cNvSpPr>
          <p:nvPr>
            <p:ph type="title"/>
          </p:nvPr>
        </p:nvSpPr>
        <p:spPr>
          <a:xfrm>
            <a:off x="712076" y="166371"/>
            <a:ext cx="10515600" cy="1325563"/>
          </a:xfrm>
        </p:spPr>
        <p:txBody>
          <a:bodyPr>
            <a:normAutofit/>
          </a:bodyPr>
          <a:lstStyle/>
          <a:p>
            <a:pPr algn="ctr"/>
            <a:r>
              <a:rPr lang="en-US" dirty="0"/>
              <a:t>CREDITS &amp; DEBITS IN THE KAFA</a:t>
            </a:r>
          </a:p>
        </p:txBody>
      </p:sp>
      <p:sp>
        <p:nvSpPr>
          <p:cNvPr id="3" name="Content Placeholder 2">
            <a:extLst>
              <a:ext uri="{FF2B5EF4-FFF2-40B4-BE49-F238E27FC236}">
                <a16:creationId xmlns:a16="http://schemas.microsoft.com/office/drawing/2014/main" id="{B279D29A-4EB9-B9B3-D96F-F6649D24FA0C}"/>
              </a:ext>
            </a:extLst>
          </p:cNvPr>
          <p:cNvSpPr>
            <a:spLocks noGrp="1"/>
          </p:cNvSpPr>
          <p:nvPr>
            <p:ph idx="1"/>
          </p:nvPr>
        </p:nvSpPr>
        <p:spPr>
          <a:xfrm>
            <a:off x="838200" y="1990836"/>
            <a:ext cx="10515600" cy="4236087"/>
          </a:xfrm>
        </p:spPr>
        <p:txBody>
          <a:bodyPr/>
          <a:lstStyle/>
          <a:p>
            <a:pPr marL="0" indent="0">
              <a:buNone/>
            </a:pPr>
            <a:r>
              <a:rPr lang="en-AU" b="1" dirty="0">
                <a:solidFill>
                  <a:srgbClr val="92D050"/>
                </a:solidFill>
              </a:rPr>
              <a:t>Credit</a:t>
            </a:r>
            <a:r>
              <a:rPr lang="en-AU" dirty="0">
                <a:solidFill>
                  <a:srgbClr val="92D050"/>
                </a:solidFill>
              </a:rPr>
              <a:t> </a:t>
            </a:r>
            <a:r>
              <a:rPr lang="en-AU" dirty="0"/>
              <a:t>= A transaction that increases Australia's liabilities to the rest of the world or decreases Australia's assets</a:t>
            </a:r>
          </a:p>
          <a:p>
            <a:pPr marL="0" indent="0">
              <a:buNone/>
            </a:pPr>
            <a:endParaRPr lang="en-AU" dirty="0"/>
          </a:p>
          <a:p>
            <a:pPr marL="0" indent="0">
              <a:buNone/>
            </a:pPr>
            <a:r>
              <a:rPr lang="en-AU" b="1" dirty="0">
                <a:solidFill>
                  <a:srgbClr val="FF0000"/>
                </a:solidFill>
              </a:rPr>
              <a:t>Debit</a:t>
            </a:r>
            <a:r>
              <a:rPr lang="en-AU" dirty="0"/>
              <a:t> = A transaction that increases Australia's assets abroad or decreases Australia's liabilities.</a:t>
            </a:r>
          </a:p>
          <a:p>
            <a:pPr marL="0" indent="0">
              <a:buNone/>
            </a:pPr>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622EA99E-ECF9-24E7-67F0-B7D1FB8BF6FA}"/>
              </a:ext>
            </a:extLst>
          </p:cNvPr>
          <p:cNvGraphicFramePr>
            <a:graphicFrameLocks noGrp="1"/>
          </p:cNvGraphicFramePr>
          <p:nvPr/>
        </p:nvGraphicFramePr>
        <p:xfrm>
          <a:off x="712076" y="4314204"/>
          <a:ext cx="10844049" cy="1849416"/>
        </p:xfrm>
        <a:graphic>
          <a:graphicData uri="http://schemas.openxmlformats.org/drawingml/2006/table">
            <a:tbl>
              <a:tblPr firstRow="1" bandRow="1">
                <a:tableStyleId>{5C22544A-7EE6-4342-B048-85BDC9FD1C3A}</a:tableStyleId>
              </a:tblPr>
              <a:tblGrid>
                <a:gridCol w="4522076">
                  <a:extLst>
                    <a:ext uri="{9D8B030D-6E8A-4147-A177-3AD203B41FA5}">
                      <a16:colId xmlns:a16="http://schemas.microsoft.com/office/drawing/2014/main" val="1581231083"/>
                    </a:ext>
                  </a:extLst>
                </a:gridCol>
                <a:gridCol w="3436882">
                  <a:extLst>
                    <a:ext uri="{9D8B030D-6E8A-4147-A177-3AD203B41FA5}">
                      <a16:colId xmlns:a16="http://schemas.microsoft.com/office/drawing/2014/main" val="3466442610"/>
                    </a:ext>
                  </a:extLst>
                </a:gridCol>
                <a:gridCol w="2885091">
                  <a:extLst>
                    <a:ext uri="{9D8B030D-6E8A-4147-A177-3AD203B41FA5}">
                      <a16:colId xmlns:a16="http://schemas.microsoft.com/office/drawing/2014/main" val="979054472"/>
                    </a:ext>
                  </a:extLst>
                </a:gridCol>
              </a:tblGrid>
              <a:tr h="569256">
                <a:tc>
                  <a:txBody>
                    <a:bodyPr/>
                    <a:lstStyle/>
                    <a:p>
                      <a:pPr algn="ctr">
                        <a:buNone/>
                      </a:pPr>
                      <a:r>
                        <a:rPr lang="en-AU" dirty="0"/>
                        <a:t>Transaction</a:t>
                      </a:r>
                    </a:p>
                  </a:txBody>
                  <a:tcPr anchor="ctr"/>
                </a:tc>
                <a:tc>
                  <a:txBody>
                    <a:bodyPr/>
                    <a:lstStyle/>
                    <a:p>
                      <a:pPr algn="ctr">
                        <a:buNone/>
                      </a:pPr>
                      <a:r>
                        <a:rPr lang="en-AU" dirty="0"/>
                        <a:t>What changes?</a:t>
                      </a:r>
                    </a:p>
                  </a:txBody>
                  <a:tcPr anchor="ctr"/>
                </a:tc>
                <a:tc>
                  <a:txBody>
                    <a:bodyPr/>
                    <a:lstStyle/>
                    <a:p>
                      <a:pPr algn="ctr"/>
                      <a:r>
                        <a:rPr lang="en-US" dirty="0"/>
                        <a:t>KAFA Entry</a:t>
                      </a:r>
                    </a:p>
                  </a:txBody>
                  <a:tcPr/>
                </a:tc>
                <a:extLst>
                  <a:ext uri="{0D108BD9-81ED-4DB2-BD59-A6C34878D82A}">
                    <a16:rowId xmlns:a16="http://schemas.microsoft.com/office/drawing/2014/main" val="3631867864"/>
                  </a:ext>
                </a:extLst>
              </a:tr>
              <a:tr h="569256">
                <a:tc>
                  <a:txBody>
                    <a:bodyPr/>
                    <a:lstStyle/>
                    <a:p>
                      <a:pPr algn="ctr"/>
                      <a:r>
                        <a:rPr lang="en-AU" dirty="0"/>
                        <a:t>Australians buy foreign shares (increasing assets abroad)</a:t>
                      </a:r>
                      <a:endParaRPr lang="en-US" dirty="0"/>
                    </a:p>
                  </a:txBody>
                  <a:tcPr/>
                </a:tc>
                <a:tc>
                  <a:txBody>
                    <a:bodyPr/>
                    <a:lstStyle/>
                    <a:p>
                      <a:pPr algn="ctr"/>
                      <a:r>
                        <a:rPr lang="en-AU" b="0" dirty="0"/>
                        <a:t>Australia </a:t>
                      </a:r>
                      <a:r>
                        <a:rPr lang="en-AU" b="1" dirty="0"/>
                        <a:t>gains</a:t>
                      </a:r>
                      <a:r>
                        <a:rPr lang="en-AU" b="0" dirty="0"/>
                        <a:t> a financial asset</a:t>
                      </a:r>
                      <a:endParaRPr lang="en-US" b="0" dirty="0"/>
                    </a:p>
                  </a:txBody>
                  <a:tcPr/>
                </a:tc>
                <a:tc>
                  <a:txBody>
                    <a:bodyPr/>
                    <a:lstStyle/>
                    <a:p>
                      <a:pPr algn="ctr"/>
                      <a:r>
                        <a:rPr lang="en-US" b="1" dirty="0">
                          <a:solidFill>
                            <a:srgbClr val="FF0000"/>
                          </a:solidFill>
                        </a:rPr>
                        <a:t>Debit</a:t>
                      </a:r>
                    </a:p>
                  </a:txBody>
                  <a:tcPr/>
                </a:tc>
                <a:extLst>
                  <a:ext uri="{0D108BD9-81ED-4DB2-BD59-A6C34878D82A}">
                    <a16:rowId xmlns:a16="http://schemas.microsoft.com/office/drawing/2014/main" val="1396864421"/>
                  </a:ext>
                </a:extLst>
              </a:tr>
              <a:tr h="0">
                <a:tc>
                  <a:txBody>
                    <a:bodyPr/>
                    <a:lstStyle/>
                    <a:p>
                      <a:pPr algn="ctr"/>
                      <a:r>
                        <a:rPr lang="en-AU" dirty="0"/>
                        <a:t>Australians send money overseas to pay for imports (reducing assets)</a:t>
                      </a:r>
                      <a:endParaRPr lang="en-US" dirty="0"/>
                    </a:p>
                  </a:txBody>
                  <a:tcPr/>
                </a:tc>
                <a:tc>
                  <a:txBody>
                    <a:bodyPr/>
                    <a:lstStyle/>
                    <a:p>
                      <a:pPr algn="ctr"/>
                      <a:r>
                        <a:rPr lang="en-AU" b="0" dirty="0"/>
                        <a:t>Australia </a:t>
                      </a:r>
                      <a:r>
                        <a:rPr lang="en-AU" b="1" dirty="0"/>
                        <a:t>loses</a:t>
                      </a:r>
                      <a:r>
                        <a:rPr lang="en-AU" b="0" dirty="0"/>
                        <a:t> a financial asset</a:t>
                      </a:r>
                      <a:endParaRPr lang="en-US" b="0" dirty="0"/>
                    </a:p>
                  </a:txBody>
                  <a:tcPr/>
                </a:tc>
                <a:tc>
                  <a:txBody>
                    <a:bodyPr/>
                    <a:lstStyle/>
                    <a:p>
                      <a:pPr algn="ctr"/>
                      <a:r>
                        <a:rPr lang="en-US" b="1" dirty="0">
                          <a:solidFill>
                            <a:srgbClr val="92D050"/>
                          </a:solidFill>
                        </a:rPr>
                        <a:t>Credit</a:t>
                      </a:r>
                    </a:p>
                  </a:txBody>
                  <a:tcPr/>
                </a:tc>
                <a:extLst>
                  <a:ext uri="{0D108BD9-81ED-4DB2-BD59-A6C34878D82A}">
                    <a16:rowId xmlns:a16="http://schemas.microsoft.com/office/drawing/2014/main" val="3992290649"/>
                  </a:ext>
                </a:extLst>
              </a:tr>
            </a:tbl>
          </a:graphicData>
        </a:graphic>
      </p:graphicFrame>
    </p:spTree>
    <p:extLst>
      <p:ext uri="{BB962C8B-B14F-4D97-AF65-F5344CB8AC3E}">
        <p14:creationId xmlns:p14="http://schemas.microsoft.com/office/powerpoint/2010/main" val="40814081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6C5A8-FB1B-E27D-682C-3D93ACBF9C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990714-13D6-B39D-C14E-94705FF63129}"/>
              </a:ext>
            </a:extLst>
          </p:cNvPr>
          <p:cNvSpPr>
            <a:spLocks noGrp="1"/>
          </p:cNvSpPr>
          <p:nvPr>
            <p:ph type="title"/>
          </p:nvPr>
        </p:nvSpPr>
        <p:spPr>
          <a:xfrm>
            <a:off x="621792" y="1161288"/>
            <a:ext cx="4074386" cy="2518890"/>
          </a:xfrm>
        </p:spPr>
        <p:txBody>
          <a:bodyPr>
            <a:normAutofit fontScale="90000"/>
          </a:bodyPr>
          <a:lstStyle/>
          <a:p>
            <a:r>
              <a:rPr lang="en-US" dirty="0"/>
              <a:t>DOUBLE ENTRY SYSTEM</a:t>
            </a:r>
          </a:p>
        </p:txBody>
      </p:sp>
      <p:sp>
        <p:nvSpPr>
          <p:cNvPr id="3" name="Content Placeholder 2">
            <a:extLst>
              <a:ext uri="{FF2B5EF4-FFF2-40B4-BE49-F238E27FC236}">
                <a16:creationId xmlns:a16="http://schemas.microsoft.com/office/drawing/2014/main" id="{7FC0141A-2703-EF18-C872-4CB56345F961}"/>
              </a:ext>
            </a:extLst>
          </p:cNvPr>
          <p:cNvSpPr>
            <a:spLocks noGrp="1"/>
          </p:cNvSpPr>
          <p:nvPr>
            <p:ph idx="1"/>
          </p:nvPr>
        </p:nvSpPr>
        <p:spPr>
          <a:xfrm>
            <a:off x="3594538" y="441435"/>
            <a:ext cx="8411415" cy="6195848"/>
          </a:xfrm>
        </p:spPr>
        <p:txBody>
          <a:bodyPr anchor="ctr">
            <a:normAutofit/>
          </a:bodyPr>
          <a:lstStyle/>
          <a:p>
            <a:pPr marL="457200" lvl="1" indent="0">
              <a:buNone/>
            </a:pPr>
            <a:r>
              <a:rPr lang="en-AU" sz="2000" b="1" dirty="0"/>
              <a:t>Export transactions - Two entries</a:t>
            </a:r>
          </a:p>
          <a:p>
            <a:pPr marL="457200" lvl="1" indent="0">
              <a:buNone/>
            </a:pPr>
            <a:endParaRPr lang="en-AU" sz="2000" b="1" dirty="0"/>
          </a:p>
          <a:p>
            <a:pPr marL="457200" lvl="1" indent="0">
              <a:buNone/>
            </a:pPr>
            <a:r>
              <a:rPr lang="en-AU" sz="2000" dirty="0"/>
              <a:t>Entry 1 - A </a:t>
            </a:r>
            <a:r>
              <a:rPr lang="en-AU" sz="2000" b="1" dirty="0">
                <a:solidFill>
                  <a:srgbClr val="92D050"/>
                </a:solidFill>
              </a:rPr>
              <a:t>credit entry</a:t>
            </a:r>
            <a:r>
              <a:rPr lang="en-AU" sz="2000" dirty="0">
                <a:solidFill>
                  <a:srgbClr val="92D050"/>
                </a:solidFill>
              </a:rPr>
              <a:t> </a:t>
            </a:r>
            <a:r>
              <a:rPr lang="en-AU" sz="2000" b="1" dirty="0">
                <a:solidFill>
                  <a:srgbClr val="92D050"/>
                </a:solidFill>
              </a:rPr>
              <a:t>(+</a:t>
            </a:r>
            <a:r>
              <a:rPr lang="en-AU" sz="2000" b="1" dirty="0" err="1">
                <a:solidFill>
                  <a:srgbClr val="92D050"/>
                </a:solidFill>
              </a:rPr>
              <a:t>ve</a:t>
            </a:r>
            <a:r>
              <a:rPr lang="en-AU" sz="2000" b="1" dirty="0">
                <a:solidFill>
                  <a:srgbClr val="92D050"/>
                </a:solidFill>
              </a:rPr>
              <a:t>) </a:t>
            </a:r>
            <a:r>
              <a:rPr lang="en-AU" sz="2000" dirty="0"/>
              <a:t>is recorded when a transaction gives rise to a receipt by a domestic resident to a foreign resident. This occurs when Australia provides something of value (like exports or receiving income from overseas for education or tourism).</a:t>
            </a:r>
          </a:p>
          <a:p>
            <a:pPr marL="457200" lvl="1" indent="0">
              <a:buNone/>
            </a:pPr>
            <a:endParaRPr lang="en-AU" sz="2000" dirty="0"/>
          </a:p>
          <a:p>
            <a:pPr marL="457200" lvl="1" indent="0">
              <a:buNone/>
            </a:pPr>
            <a:r>
              <a:rPr lang="en-AU" sz="2000" dirty="0"/>
              <a:t>Entry 2 - A matching </a:t>
            </a:r>
            <a:r>
              <a:rPr lang="en-AU" sz="2000" b="1" dirty="0">
                <a:solidFill>
                  <a:srgbClr val="FF0000"/>
                </a:solidFill>
              </a:rPr>
              <a:t>debit entry  (-</a:t>
            </a:r>
            <a:r>
              <a:rPr lang="en-AU" sz="2000" b="1" dirty="0" err="1">
                <a:solidFill>
                  <a:srgbClr val="FF0000"/>
                </a:solidFill>
              </a:rPr>
              <a:t>ve</a:t>
            </a:r>
            <a:r>
              <a:rPr lang="en-AU" sz="2000" b="1" dirty="0">
                <a:solidFill>
                  <a:srgbClr val="FF0000"/>
                </a:solidFill>
              </a:rPr>
              <a:t>) </a:t>
            </a:r>
            <a:r>
              <a:rPr lang="en-AU" sz="2000" dirty="0"/>
              <a:t> is recorded for the actual payment of this receipt, which shows how the foreign buyer transfers the money (</a:t>
            </a:r>
            <a:r>
              <a:rPr lang="en-AU" sz="2000" dirty="0" err="1"/>
              <a:t>eg.</a:t>
            </a:r>
            <a:r>
              <a:rPr lang="en-AU" sz="2000" dirty="0"/>
              <a:t> transfer of foreign currency to an Australian bank account). </a:t>
            </a:r>
            <a:endParaRPr lang="en-AU" sz="2000" b="1" dirty="0"/>
          </a:p>
          <a:p>
            <a:pPr lvl="1"/>
            <a:endParaRPr lang="en-AU" sz="2000" dirty="0"/>
          </a:p>
          <a:p>
            <a:pPr marL="457200" lvl="1" indent="0">
              <a:buNone/>
            </a:pPr>
            <a:r>
              <a:rPr lang="en-AU" sz="2000" dirty="0"/>
              <a:t>One entry shows what we sold and one entry shows how we got paid.</a:t>
            </a:r>
          </a:p>
          <a:p>
            <a:pPr lvl="1"/>
            <a:endParaRPr lang="en-AU" sz="2000" dirty="0"/>
          </a:p>
          <a:p>
            <a:pPr marL="457200" lvl="1" indent="0">
              <a:buNone/>
            </a:pPr>
            <a:endParaRPr lang="en-AU" sz="2000" dirty="0"/>
          </a:p>
        </p:txBody>
      </p:sp>
      <p:pic>
        <p:nvPicPr>
          <p:cNvPr id="4" name="Picture 2" descr="How to Draw a Boy - Really Easy Drawing Tutorial">
            <a:extLst>
              <a:ext uri="{FF2B5EF4-FFF2-40B4-BE49-F238E27FC236}">
                <a16:creationId xmlns:a16="http://schemas.microsoft.com/office/drawing/2014/main" id="{5D53D6BC-F694-A90B-DC8B-4C5E01263A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792" y="4002141"/>
            <a:ext cx="888625" cy="19526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Premium Vector | Little girl show hand gesture thumb up and thumb down">
            <a:extLst>
              <a:ext uri="{FF2B5EF4-FFF2-40B4-BE49-F238E27FC236}">
                <a16:creationId xmlns:a16="http://schemas.microsoft.com/office/drawing/2014/main" id="{E53D92C1-E581-D4C6-86C6-913C1EF03AB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7328" r="34881"/>
          <a:stretch/>
        </p:blipFill>
        <p:spPr bwMode="auto">
          <a:xfrm>
            <a:off x="2310418" y="4182418"/>
            <a:ext cx="933192" cy="1952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18973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CBCB1-2B2E-0189-2EC1-DD52F77DB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B03B0D-A338-DCDA-D9EA-04E16989F4EC}"/>
              </a:ext>
            </a:extLst>
          </p:cNvPr>
          <p:cNvSpPr>
            <a:spLocks noGrp="1"/>
          </p:cNvSpPr>
          <p:nvPr>
            <p:ph type="title"/>
          </p:nvPr>
        </p:nvSpPr>
        <p:spPr>
          <a:xfrm>
            <a:off x="621792" y="1805865"/>
            <a:ext cx="4074386" cy="2518890"/>
          </a:xfrm>
        </p:spPr>
        <p:txBody>
          <a:bodyPr>
            <a:normAutofit fontScale="90000"/>
          </a:bodyPr>
          <a:lstStyle/>
          <a:p>
            <a:r>
              <a:rPr lang="en-US" dirty="0"/>
              <a:t>DOUBLE ENTRY SYSTEM</a:t>
            </a:r>
            <a:br>
              <a:rPr lang="en-US" dirty="0"/>
            </a:br>
            <a:endParaRPr lang="en-US" dirty="0"/>
          </a:p>
        </p:txBody>
      </p:sp>
      <p:sp>
        <p:nvSpPr>
          <p:cNvPr id="3" name="Content Placeholder 2">
            <a:extLst>
              <a:ext uri="{FF2B5EF4-FFF2-40B4-BE49-F238E27FC236}">
                <a16:creationId xmlns:a16="http://schemas.microsoft.com/office/drawing/2014/main" id="{648BC6D4-4DCC-52B3-FC26-6736F9613905}"/>
              </a:ext>
            </a:extLst>
          </p:cNvPr>
          <p:cNvSpPr>
            <a:spLocks noGrp="1"/>
          </p:cNvSpPr>
          <p:nvPr>
            <p:ph idx="1"/>
          </p:nvPr>
        </p:nvSpPr>
        <p:spPr>
          <a:xfrm>
            <a:off x="3679276" y="816189"/>
            <a:ext cx="7633095" cy="4010644"/>
          </a:xfrm>
        </p:spPr>
        <p:txBody>
          <a:bodyPr anchor="ctr">
            <a:noAutofit/>
          </a:bodyPr>
          <a:lstStyle/>
          <a:p>
            <a:pPr marL="457200" lvl="1" indent="0">
              <a:buNone/>
            </a:pPr>
            <a:endParaRPr lang="en-AU" sz="2000" dirty="0"/>
          </a:p>
          <a:p>
            <a:pPr lvl="1"/>
            <a:endParaRPr lang="en-AU" sz="2000" dirty="0"/>
          </a:p>
          <a:p>
            <a:pPr lvl="1"/>
            <a:endParaRPr lang="en-AU" sz="2000" dirty="0"/>
          </a:p>
          <a:p>
            <a:pPr marL="0" indent="0">
              <a:buNone/>
            </a:pPr>
            <a:r>
              <a:rPr lang="en-AU" b="1" dirty="0"/>
              <a:t>Import transactions - Two entries</a:t>
            </a:r>
          </a:p>
          <a:p>
            <a:pPr marL="0" indent="0">
              <a:buNone/>
            </a:pPr>
            <a:endParaRPr lang="en-AU" dirty="0"/>
          </a:p>
          <a:p>
            <a:pPr marL="0" indent="0">
              <a:buNone/>
            </a:pPr>
            <a:r>
              <a:rPr lang="en-AU" dirty="0"/>
              <a:t>Entry 1 – A </a:t>
            </a:r>
            <a:r>
              <a:rPr lang="en-AU" b="1" dirty="0">
                <a:solidFill>
                  <a:srgbClr val="FF0000"/>
                </a:solidFill>
              </a:rPr>
              <a:t>debit entry (–</a:t>
            </a:r>
            <a:r>
              <a:rPr lang="en-AU" b="1" dirty="0" err="1">
                <a:solidFill>
                  <a:srgbClr val="FF0000"/>
                </a:solidFill>
              </a:rPr>
              <a:t>ve</a:t>
            </a:r>
            <a:r>
              <a:rPr lang="en-AU" b="1" dirty="0">
                <a:solidFill>
                  <a:srgbClr val="FF0000"/>
                </a:solidFill>
              </a:rPr>
              <a:t>)</a:t>
            </a:r>
            <a:r>
              <a:rPr lang="en-AU" dirty="0"/>
              <a:t> is recorded when Australia receives something of value from overseas, such as imported goods or services (Australian student studying or travelling overseas).</a:t>
            </a:r>
          </a:p>
          <a:p>
            <a:pPr marL="0" indent="0">
              <a:buNone/>
            </a:pPr>
            <a:endParaRPr lang="en-AU" dirty="0"/>
          </a:p>
          <a:p>
            <a:pPr marL="0" indent="0">
              <a:buNone/>
            </a:pPr>
            <a:r>
              <a:rPr lang="en-AU" dirty="0"/>
              <a:t>Entry 2 – A matching </a:t>
            </a:r>
            <a:r>
              <a:rPr lang="en-AU" b="1" dirty="0">
                <a:solidFill>
                  <a:srgbClr val="92D050"/>
                </a:solidFill>
              </a:rPr>
              <a:t>credit entry (+</a:t>
            </a:r>
            <a:r>
              <a:rPr lang="en-AU" b="1" dirty="0" err="1">
                <a:solidFill>
                  <a:srgbClr val="92D050"/>
                </a:solidFill>
              </a:rPr>
              <a:t>ve</a:t>
            </a:r>
            <a:r>
              <a:rPr lang="en-AU" b="1" dirty="0">
                <a:solidFill>
                  <a:srgbClr val="92D050"/>
                </a:solidFill>
              </a:rPr>
              <a:t>) </a:t>
            </a:r>
            <a:r>
              <a:rPr lang="en-AU" dirty="0"/>
              <a:t>is recorded for the payment of this transaction, which shows how the Australian buyer transfers money overseas (e.g. transfer of Australian dollars to a foreign bank account).</a:t>
            </a:r>
          </a:p>
          <a:p>
            <a:pPr marL="0" indent="0">
              <a:buNone/>
            </a:pPr>
            <a:endParaRPr lang="en-AU" dirty="0"/>
          </a:p>
          <a:p>
            <a:pPr marL="0" indent="0">
              <a:buNone/>
            </a:pPr>
            <a:r>
              <a:rPr lang="en-AU" dirty="0"/>
              <a:t>One entry shows what we bought, and one entry shows how we paid for it.</a:t>
            </a:r>
          </a:p>
          <a:p>
            <a:pPr marL="457200" lvl="1" indent="0">
              <a:buNone/>
            </a:pPr>
            <a:endParaRPr lang="en-AU" sz="2000" b="1" dirty="0"/>
          </a:p>
        </p:txBody>
      </p:sp>
      <p:pic>
        <p:nvPicPr>
          <p:cNvPr id="4" name="Picture 2" descr="How to Draw a Boy - Really Easy Drawing Tutorial">
            <a:extLst>
              <a:ext uri="{FF2B5EF4-FFF2-40B4-BE49-F238E27FC236}">
                <a16:creationId xmlns:a16="http://schemas.microsoft.com/office/drawing/2014/main" id="{52B0F398-76A1-ED96-3060-E773C914A2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792" y="4002141"/>
            <a:ext cx="888625" cy="19526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Premium Vector | Little girl show hand gesture thumb up and thumb down">
            <a:extLst>
              <a:ext uri="{FF2B5EF4-FFF2-40B4-BE49-F238E27FC236}">
                <a16:creationId xmlns:a16="http://schemas.microsoft.com/office/drawing/2014/main" id="{B6DECD9F-89BA-DBA4-A505-7D19AB60A3B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7328" r="34881"/>
          <a:stretch/>
        </p:blipFill>
        <p:spPr bwMode="auto">
          <a:xfrm>
            <a:off x="2310418" y="4182418"/>
            <a:ext cx="933192" cy="1952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77489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29EE6-9219-518A-8CAF-A4235F8902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5F9D6B-DB48-BEBF-2C2A-B7048E63B484}"/>
              </a:ext>
            </a:extLst>
          </p:cNvPr>
          <p:cNvSpPr>
            <a:spLocks noGrp="1"/>
          </p:cNvSpPr>
          <p:nvPr>
            <p:ph type="title"/>
          </p:nvPr>
        </p:nvSpPr>
        <p:spPr>
          <a:xfrm>
            <a:off x="838200" y="0"/>
            <a:ext cx="10515600" cy="1325563"/>
          </a:xfrm>
        </p:spPr>
        <p:txBody>
          <a:bodyPr>
            <a:normAutofit/>
          </a:bodyPr>
          <a:lstStyle/>
          <a:p>
            <a:r>
              <a:rPr lang="en-US" sz="3000" dirty="0"/>
              <a:t>EXAMPLE: SHIPMENT OF </a:t>
            </a:r>
            <a:r>
              <a:rPr lang="en-US" sz="4000" dirty="0"/>
              <a:t>$2 </a:t>
            </a:r>
            <a:r>
              <a:rPr lang="en-US" sz="3000" dirty="0"/>
              <a:t>MILLION WHEAT EXPORTED FROM AUSTRALIA TO AN OVERSEAS BUYER</a:t>
            </a:r>
          </a:p>
        </p:txBody>
      </p:sp>
      <p:sp>
        <p:nvSpPr>
          <p:cNvPr id="3" name="Content Placeholder 2">
            <a:extLst>
              <a:ext uri="{FF2B5EF4-FFF2-40B4-BE49-F238E27FC236}">
                <a16:creationId xmlns:a16="http://schemas.microsoft.com/office/drawing/2014/main" id="{B990D2F2-20BF-1F8D-FD50-2A25112FC673}"/>
              </a:ext>
            </a:extLst>
          </p:cNvPr>
          <p:cNvSpPr>
            <a:spLocks noGrp="1"/>
          </p:cNvSpPr>
          <p:nvPr>
            <p:ph idx="1"/>
          </p:nvPr>
        </p:nvSpPr>
        <p:spPr>
          <a:xfrm>
            <a:off x="439352" y="1719701"/>
            <a:ext cx="11313295" cy="4618672"/>
          </a:xfrm>
        </p:spPr>
        <p:txBody>
          <a:bodyPr>
            <a:noAutofit/>
          </a:bodyPr>
          <a:lstStyle/>
          <a:p>
            <a:pPr marL="342900" indent="-342900">
              <a:lnSpc>
                <a:spcPct val="100000"/>
              </a:lnSpc>
              <a:buAutoNum type="arabicPeriod"/>
            </a:pPr>
            <a:r>
              <a:rPr lang="en-AU" b="1" dirty="0">
                <a:solidFill>
                  <a:srgbClr val="92D050"/>
                </a:solidFill>
              </a:rPr>
              <a:t>Credit Entry</a:t>
            </a:r>
            <a:br>
              <a:rPr lang="en-AU" dirty="0"/>
            </a:br>
            <a:r>
              <a:rPr lang="en-AU" dirty="0"/>
              <a:t>Australia exports $2 million worth of wheat.</a:t>
            </a:r>
            <a:br>
              <a:rPr lang="en-AU" dirty="0"/>
            </a:br>
            <a:r>
              <a:rPr lang="en-AU" dirty="0"/>
              <a:t>→ This is a </a:t>
            </a:r>
            <a:r>
              <a:rPr lang="en-AU" b="1" dirty="0">
                <a:solidFill>
                  <a:srgbClr val="92D050"/>
                </a:solidFill>
              </a:rPr>
              <a:t>credit</a:t>
            </a:r>
            <a:r>
              <a:rPr lang="en-AU" dirty="0"/>
              <a:t> in the </a:t>
            </a:r>
            <a:r>
              <a:rPr lang="en-AU" b="1" dirty="0"/>
              <a:t>Current Account</a:t>
            </a:r>
            <a:r>
              <a:rPr lang="en-AU" dirty="0"/>
              <a:t> (specifically under </a:t>
            </a:r>
            <a:r>
              <a:rPr lang="en-AU" b="1" dirty="0"/>
              <a:t>goods exports</a:t>
            </a:r>
            <a:r>
              <a:rPr lang="en-AU" dirty="0"/>
              <a:t>) because Australia is providing something of value to the rest of the world.</a:t>
            </a:r>
          </a:p>
          <a:p>
            <a:pPr marL="0" indent="0">
              <a:lnSpc>
                <a:spcPct val="100000"/>
              </a:lnSpc>
              <a:buNone/>
            </a:pPr>
            <a:endParaRPr lang="en-AU" dirty="0"/>
          </a:p>
          <a:p>
            <a:pPr marL="0" indent="0">
              <a:lnSpc>
                <a:spcPct val="100000"/>
              </a:lnSpc>
              <a:buNone/>
            </a:pPr>
            <a:r>
              <a:rPr lang="en-AU" b="1" dirty="0"/>
              <a:t>2.  </a:t>
            </a:r>
            <a:r>
              <a:rPr lang="en-AU" b="1" dirty="0">
                <a:solidFill>
                  <a:srgbClr val="FF0000"/>
                </a:solidFill>
              </a:rPr>
              <a:t>Debit Entry</a:t>
            </a:r>
            <a:br>
              <a:rPr lang="en-AU" dirty="0"/>
            </a:br>
            <a:r>
              <a:rPr lang="en-AU" dirty="0"/>
              <a:t>The overseas buyer pays the Australian exporter in AUD (Australia receives money).</a:t>
            </a:r>
            <a:br>
              <a:rPr lang="en-AU" dirty="0"/>
            </a:br>
            <a:r>
              <a:rPr lang="en-AU" dirty="0"/>
              <a:t>→ This is a</a:t>
            </a:r>
            <a:r>
              <a:rPr lang="en-AU" dirty="0">
                <a:solidFill>
                  <a:srgbClr val="FF0000"/>
                </a:solidFill>
              </a:rPr>
              <a:t> </a:t>
            </a:r>
            <a:r>
              <a:rPr lang="en-AU" b="1" dirty="0">
                <a:solidFill>
                  <a:srgbClr val="FF0000"/>
                </a:solidFill>
              </a:rPr>
              <a:t>debit</a:t>
            </a:r>
            <a:r>
              <a:rPr lang="en-AU" dirty="0">
                <a:solidFill>
                  <a:srgbClr val="FF0000"/>
                </a:solidFill>
              </a:rPr>
              <a:t> </a:t>
            </a:r>
            <a:r>
              <a:rPr lang="en-AU" dirty="0"/>
              <a:t>in the </a:t>
            </a:r>
            <a:r>
              <a:rPr lang="en-AU" b="1" dirty="0"/>
              <a:t>Financial Account</a:t>
            </a:r>
            <a:r>
              <a:rPr lang="en-AU" dirty="0"/>
              <a:t>. Why?</a:t>
            </a:r>
          </a:p>
          <a:p>
            <a:pPr>
              <a:lnSpc>
                <a:spcPct val="100000"/>
              </a:lnSpc>
            </a:pPr>
            <a:r>
              <a:rPr lang="en-AU" dirty="0"/>
              <a:t>The overseas buyer needs to obtain Australian dollars.</a:t>
            </a:r>
          </a:p>
          <a:p>
            <a:pPr>
              <a:lnSpc>
                <a:spcPct val="100000"/>
              </a:lnSpc>
            </a:pPr>
            <a:r>
              <a:rPr lang="en-AU" dirty="0"/>
              <a:t>They might:</a:t>
            </a:r>
          </a:p>
          <a:p>
            <a:pPr lvl="1">
              <a:lnSpc>
                <a:spcPct val="100000"/>
              </a:lnSpc>
            </a:pPr>
            <a:r>
              <a:rPr lang="en-AU" sz="2000" dirty="0"/>
              <a:t>Use AUD they already hold (in reserves or Australian bank accounts), or</a:t>
            </a:r>
          </a:p>
          <a:p>
            <a:pPr lvl="1">
              <a:lnSpc>
                <a:spcPct val="100000"/>
              </a:lnSpc>
            </a:pPr>
            <a:r>
              <a:rPr lang="en-AU" sz="2000" b="1" dirty="0"/>
              <a:t>Exchange their own currency for AUD on the foreign exchange market</a:t>
            </a:r>
            <a:r>
              <a:rPr lang="en-AU" sz="2000" dirty="0"/>
              <a:t>.</a:t>
            </a:r>
          </a:p>
        </p:txBody>
      </p:sp>
    </p:spTree>
    <p:extLst>
      <p:ext uri="{BB962C8B-B14F-4D97-AF65-F5344CB8AC3E}">
        <p14:creationId xmlns:p14="http://schemas.microsoft.com/office/powerpoint/2010/main" val="37205385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66A47-1B03-CA18-07D9-8D1EEEF89FB1}"/>
              </a:ext>
            </a:extLst>
          </p:cNvPr>
          <p:cNvSpPr>
            <a:spLocks noGrp="1"/>
          </p:cNvSpPr>
          <p:nvPr>
            <p:ph type="title"/>
          </p:nvPr>
        </p:nvSpPr>
        <p:spPr>
          <a:xfrm>
            <a:off x="838200" y="0"/>
            <a:ext cx="10515600" cy="1325563"/>
          </a:xfrm>
        </p:spPr>
        <p:txBody>
          <a:bodyPr>
            <a:normAutofit/>
          </a:bodyPr>
          <a:lstStyle/>
          <a:p>
            <a:r>
              <a:rPr lang="en-US" sz="3000" dirty="0"/>
              <a:t>EXAMPLE: SHIPMENT OF </a:t>
            </a:r>
            <a:r>
              <a:rPr lang="en-US" sz="4000" dirty="0"/>
              <a:t>$2 </a:t>
            </a:r>
            <a:r>
              <a:rPr lang="en-US" sz="3000" dirty="0"/>
              <a:t>MILLION WHEAT EXPORTED FROM AUSTRALIA TO AN OVERSEAS BUYER</a:t>
            </a:r>
          </a:p>
        </p:txBody>
      </p:sp>
      <p:sp>
        <p:nvSpPr>
          <p:cNvPr id="3" name="Content Placeholder 2">
            <a:extLst>
              <a:ext uri="{FF2B5EF4-FFF2-40B4-BE49-F238E27FC236}">
                <a16:creationId xmlns:a16="http://schemas.microsoft.com/office/drawing/2014/main" id="{588EA51C-9026-9E15-8AF8-EF5E0C1A12AD}"/>
              </a:ext>
            </a:extLst>
          </p:cNvPr>
          <p:cNvSpPr>
            <a:spLocks noGrp="1"/>
          </p:cNvSpPr>
          <p:nvPr>
            <p:ph idx="1"/>
          </p:nvPr>
        </p:nvSpPr>
        <p:spPr>
          <a:xfrm>
            <a:off x="439352" y="1609343"/>
            <a:ext cx="11313295" cy="4618672"/>
          </a:xfrm>
        </p:spPr>
        <p:txBody>
          <a:bodyPr>
            <a:noAutofit/>
          </a:bodyPr>
          <a:lstStyle/>
          <a:p>
            <a:pPr marL="0" indent="0">
              <a:lnSpc>
                <a:spcPct val="100000"/>
              </a:lnSpc>
              <a:buNone/>
            </a:pPr>
            <a:r>
              <a:rPr lang="en-AU" dirty="0"/>
              <a:t>Either way, this results in </a:t>
            </a:r>
            <a:r>
              <a:rPr lang="en-AU" b="1" dirty="0"/>
              <a:t>an inflow of AUD and an outflow of foreign currency</a:t>
            </a:r>
            <a:r>
              <a:rPr lang="en-AU" dirty="0"/>
              <a:t> into Australia's financial system — this is recorded as a </a:t>
            </a:r>
            <a:r>
              <a:rPr lang="en-AU" b="1" dirty="0">
                <a:solidFill>
                  <a:srgbClr val="FF0000"/>
                </a:solidFill>
              </a:rPr>
              <a:t>debit (negative entry)</a:t>
            </a:r>
            <a:r>
              <a:rPr lang="en-AU" dirty="0">
                <a:solidFill>
                  <a:srgbClr val="FF0000"/>
                </a:solidFill>
              </a:rPr>
              <a:t> </a:t>
            </a:r>
            <a:r>
              <a:rPr lang="en-AU" dirty="0"/>
              <a:t>in the Financial Account, because it reflects either:</a:t>
            </a:r>
          </a:p>
          <a:p>
            <a:pPr marL="0" indent="0">
              <a:lnSpc>
                <a:spcPct val="100000"/>
              </a:lnSpc>
              <a:buNone/>
            </a:pPr>
            <a:endParaRPr lang="en-AU" dirty="0"/>
          </a:p>
          <a:p>
            <a:pPr>
              <a:lnSpc>
                <a:spcPct val="100000"/>
              </a:lnSpc>
            </a:pPr>
            <a:r>
              <a:rPr lang="en-AU" dirty="0"/>
              <a:t>An increase in Australia’s foreign assets (e.g. more foreign currency held), or</a:t>
            </a:r>
          </a:p>
          <a:p>
            <a:pPr>
              <a:lnSpc>
                <a:spcPct val="100000"/>
              </a:lnSpc>
            </a:pPr>
            <a:r>
              <a:rPr lang="en-AU" dirty="0"/>
              <a:t>A decrease in Australia’s foreign liabilities (less AUD owed to foreigners).</a:t>
            </a:r>
          </a:p>
          <a:p>
            <a:pPr>
              <a:lnSpc>
                <a:spcPct val="100000"/>
              </a:lnSpc>
            </a:pPr>
            <a:endParaRPr lang="en-AU" dirty="0"/>
          </a:p>
          <a:p>
            <a:pPr marL="0" indent="0">
              <a:buNone/>
            </a:pPr>
            <a:r>
              <a:rPr lang="en-AU" b="1" dirty="0"/>
              <a:t>Summary</a:t>
            </a:r>
          </a:p>
          <a:p>
            <a:pPr marL="0" indent="0">
              <a:buNone/>
            </a:pPr>
            <a:r>
              <a:rPr lang="en-AU" b="1" dirty="0">
                <a:solidFill>
                  <a:srgbClr val="92D050"/>
                </a:solidFill>
              </a:rPr>
              <a:t>Credit:</a:t>
            </a:r>
            <a:r>
              <a:rPr lang="en-AU" dirty="0">
                <a:solidFill>
                  <a:srgbClr val="92D050"/>
                </a:solidFill>
              </a:rPr>
              <a:t> </a:t>
            </a:r>
            <a:r>
              <a:rPr lang="en-AU" dirty="0"/>
              <a:t>$2 million in wheat exports (Current Account)</a:t>
            </a:r>
          </a:p>
          <a:p>
            <a:pPr marL="0" indent="0">
              <a:buNone/>
            </a:pPr>
            <a:r>
              <a:rPr lang="en-AU" b="1" dirty="0">
                <a:solidFill>
                  <a:srgbClr val="FF0000"/>
                </a:solidFill>
              </a:rPr>
              <a:t>Debit:</a:t>
            </a:r>
            <a:r>
              <a:rPr lang="en-AU" dirty="0">
                <a:solidFill>
                  <a:srgbClr val="FF0000"/>
                </a:solidFill>
              </a:rPr>
              <a:t> </a:t>
            </a:r>
            <a:r>
              <a:rPr lang="en-AU" dirty="0"/>
              <a:t>$2 million offset in Financial Account (foreign exchange/payment)</a:t>
            </a:r>
          </a:p>
          <a:p>
            <a:pPr marL="0" indent="0">
              <a:buNone/>
            </a:pPr>
            <a:r>
              <a:rPr lang="en-AU" dirty="0"/>
              <a:t>Because every transaction has two equal and opposite entries, </a:t>
            </a:r>
            <a:r>
              <a:rPr lang="en-AU" b="1" dirty="0"/>
              <a:t>the balance of payments stays in balance (net = 0)</a:t>
            </a:r>
            <a:r>
              <a:rPr lang="en-AU" dirty="0"/>
              <a:t>.</a:t>
            </a:r>
          </a:p>
          <a:p>
            <a:pPr>
              <a:lnSpc>
                <a:spcPct val="100000"/>
              </a:lnSpc>
            </a:pPr>
            <a:endParaRPr lang="en-AU" dirty="0"/>
          </a:p>
        </p:txBody>
      </p:sp>
    </p:spTree>
    <p:extLst>
      <p:ext uri="{BB962C8B-B14F-4D97-AF65-F5344CB8AC3E}">
        <p14:creationId xmlns:p14="http://schemas.microsoft.com/office/powerpoint/2010/main" val="41536358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EE19B-3215-36C0-05B5-F36F079248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0F0EFB-B9ED-7A7A-AF3E-2D848073C63D}"/>
              </a:ext>
            </a:extLst>
          </p:cNvPr>
          <p:cNvSpPr>
            <a:spLocks noGrp="1"/>
          </p:cNvSpPr>
          <p:nvPr>
            <p:ph type="title"/>
          </p:nvPr>
        </p:nvSpPr>
        <p:spPr>
          <a:xfrm>
            <a:off x="638775" y="394138"/>
            <a:ext cx="11113871" cy="1325563"/>
          </a:xfrm>
        </p:spPr>
        <p:txBody>
          <a:bodyPr>
            <a:noAutofit/>
          </a:bodyPr>
          <a:lstStyle/>
          <a:p>
            <a:r>
              <a:rPr lang="en-US" sz="3000" dirty="0"/>
              <a:t>EXAMPLE: </a:t>
            </a:r>
            <a:r>
              <a:rPr lang="en-AU" sz="3000" dirty="0"/>
              <a:t>AN AUSTRALIAN FARMER EXPORTS </a:t>
            </a:r>
            <a:r>
              <a:rPr lang="en-AU" sz="4000" dirty="0"/>
              <a:t>$100 </a:t>
            </a:r>
            <a:r>
              <a:rPr lang="en-AU" sz="3000" dirty="0"/>
              <a:t>MILLION OF WOOL TO A CLOTHING MANUFACTURER IN INDIA.</a:t>
            </a:r>
            <a:br>
              <a:rPr lang="en-AU" sz="3000" dirty="0"/>
            </a:br>
            <a:endParaRPr lang="en-US" sz="3000" dirty="0"/>
          </a:p>
        </p:txBody>
      </p:sp>
      <p:graphicFrame>
        <p:nvGraphicFramePr>
          <p:cNvPr id="5" name="Content Placeholder 4">
            <a:extLst>
              <a:ext uri="{FF2B5EF4-FFF2-40B4-BE49-F238E27FC236}">
                <a16:creationId xmlns:a16="http://schemas.microsoft.com/office/drawing/2014/main" id="{862F2113-3628-0C0D-E3A2-78DE25136D8F}"/>
              </a:ext>
            </a:extLst>
          </p:cNvPr>
          <p:cNvGraphicFramePr>
            <a:graphicFrameLocks noGrp="1"/>
          </p:cNvGraphicFramePr>
          <p:nvPr>
            <p:ph idx="1"/>
            <p:extLst>
              <p:ext uri="{D42A27DB-BD31-4B8C-83A1-F6EECF244321}">
                <p14:modId xmlns:p14="http://schemas.microsoft.com/office/powerpoint/2010/main" val="4088310086"/>
              </p:ext>
            </p:extLst>
          </p:nvPr>
        </p:nvGraphicFramePr>
        <p:xfrm>
          <a:off x="838200" y="1941513"/>
          <a:ext cx="10515600" cy="3108960"/>
        </p:xfrm>
        <a:graphic>
          <a:graphicData uri="http://schemas.openxmlformats.org/drawingml/2006/table">
            <a:tbl>
              <a:tblPr firstRow="1" bandRow="1">
                <a:tableStyleId>{5C22544A-7EE6-4342-B048-85BDC9FD1C3A}</a:tableStyleId>
              </a:tblPr>
              <a:tblGrid>
                <a:gridCol w="6222167">
                  <a:extLst>
                    <a:ext uri="{9D8B030D-6E8A-4147-A177-3AD203B41FA5}">
                      <a16:colId xmlns:a16="http://schemas.microsoft.com/office/drawing/2014/main" val="3095005098"/>
                    </a:ext>
                  </a:extLst>
                </a:gridCol>
                <a:gridCol w="4293433">
                  <a:extLst>
                    <a:ext uri="{9D8B030D-6E8A-4147-A177-3AD203B41FA5}">
                      <a16:colId xmlns:a16="http://schemas.microsoft.com/office/drawing/2014/main" val="1196933305"/>
                    </a:ext>
                  </a:extLst>
                </a:gridCol>
              </a:tblGrid>
              <a:tr h="370840">
                <a:tc>
                  <a:txBody>
                    <a:bodyPr/>
                    <a:lstStyle/>
                    <a:p>
                      <a:r>
                        <a:rPr lang="en-US" sz="2000" dirty="0"/>
                        <a:t>Question</a:t>
                      </a:r>
                    </a:p>
                  </a:txBody>
                  <a:tcPr/>
                </a:tc>
                <a:tc>
                  <a:txBody>
                    <a:bodyPr/>
                    <a:lstStyle/>
                    <a:p>
                      <a:r>
                        <a:rPr lang="en-US" sz="2000" dirty="0"/>
                        <a:t>Answer</a:t>
                      </a:r>
                    </a:p>
                  </a:txBody>
                  <a:tcPr/>
                </a:tc>
                <a:extLst>
                  <a:ext uri="{0D108BD9-81ED-4DB2-BD59-A6C34878D82A}">
                    <a16:rowId xmlns:a16="http://schemas.microsoft.com/office/drawing/2014/main" val="981220027"/>
                  </a:ext>
                </a:extLst>
              </a:tr>
              <a:tr h="370840">
                <a:tc>
                  <a:txBody>
                    <a:bodyPr/>
                    <a:lstStyle/>
                    <a:p>
                      <a:r>
                        <a:rPr lang="en-US" sz="2000" dirty="0"/>
                        <a:t>What are the two offsetting items? </a:t>
                      </a:r>
                    </a:p>
                    <a:p>
                      <a:r>
                        <a:rPr lang="en-US" sz="2000" dirty="0"/>
                        <a:t>(</a:t>
                      </a:r>
                      <a:r>
                        <a:rPr lang="en-AU" sz="2000" dirty="0"/>
                        <a:t>hint: one of them is often money!)</a:t>
                      </a:r>
                      <a:br>
                        <a:rPr lang="en-AU" sz="2000" dirty="0"/>
                      </a:br>
                      <a:endParaRPr lang="en-US" sz="2000" dirty="0"/>
                    </a:p>
                  </a:txBody>
                  <a:tcPr/>
                </a:tc>
                <a:tc>
                  <a:txBody>
                    <a:bodyPr/>
                    <a:lstStyle/>
                    <a:p>
                      <a:endParaRPr lang="en-US" sz="2000" dirty="0"/>
                    </a:p>
                  </a:txBody>
                  <a:tcPr/>
                </a:tc>
                <a:extLst>
                  <a:ext uri="{0D108BD9-81ED-4DB2-BD59-A6C34878D82A}">
                    <a16:rowId xmlns:a16="http://schemas.microsoft.com/office/drawing/2014/main" val="233625943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dirty="0"/>
                        <a:t>Which accounts does each transaction belong in?</a:t>
                      </a:r>
                    </a:p>
                    <a:p>
                      <a:endParaRPr lang="en-US" sz="2000" dirty="0"/>
                    </a:p>
                  </a:txBody>
                  <a:tcPr/>
                </a:tc>
                <a:tc>
                  <a:txBody>
                    <a:bodyPr/>
                    <a:lstStyle/>
                    <a:p>
                      <a:endParaRPr lang="en-US" sz="2000" dirty="0"/>
                    </a:p>
                  </a:txBody>
                  <a:tcPr/>
                </a:tc>
                <a:extLst>
                  <a:ext uri="{0D108BD9-81ED-4DB2-BD59-A6C34878D82A}">
                    <a16:rowId xmlns:a16="http://schemas.microsoft.com/office/drawing/2014/main" val="228333806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b="0" dirty="0">
                          <a:solidFill>
                            <a:schemeClr val="tx1"/>
                          </a:solidFill>
                        </a:rPr>
                        <a:t>Which item is being provided by Australia and which is being received by Australia?</a:t>
                      </a:r>
                    </a:p>
                    <a:p>
                      <a:endParaRPr lang="en-US" sz="2000" dirty="0"/>
                    </a:p>
                  </a:txBody>
                  <a:tcPr/>
                </a:tc>
                <a:tc>
                  <a:txBody>
                    <a:bodyPr/>
                    <a:lstStyle/>
                    <a:p>
                      <a:endParaRPr lang="en-US" sz="2000" dirty="0"/>
                    </a:p>
                  </a:txBody>
                  <a:tcPr/>
                </a:tc>
                <a:extLst>
                  <a:ext uri="{0D108BD9-81ED-4DB2-BD59-A6C34878D82A}">
                    <a16:rowId xmlns:a16="http://schemas.microsoft.com/office/drawing/2014/main" val="3085815008"/>
                  </a:ext>
                </a:extLst>
              </a:tr>
            </a:tbl>
          </a:graphicData>
        </a:graphic>
      </p:graphicFrame>
    </p:spTree>
    <p:extLst>
      <p:ext uri="{BB962C8B-B14F-4D97-AF65-F5344CB8AC3E}">
        <p14:creationId xmlns:p14="http://schemas.microsoft.com/office/powerpoint/2010/main" val="33288932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9FCE0-57DE-7C8F-CD40-B3A9D2EE46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028C93-9916-E12D-9C58-C29202246AA6}"/>
              </a:ext>
            </a:extLst>
          </p:cNvPr>
          <p:cNvSpPr>
            <a:spLocks noGrp="1"/>
          </p:cNvSpPr>
          <p:nvPr>
            <p:ph type="title"/>
          </p:nvPr>
        </p:nvSpPr>
        <p:spPr>
          <a:xfrm>
            <a:off x="638775" y="394138"/>
            <a:ext cx="11113871" cy="1325563"/>
          </a:xfrm>
        </p:spPr>
        <p:txBody>
          <a:bodyPr>
            <a:noAutofit/>
          </a:bodyPr>
          <a:lstStyle/>
          <a:p>
            <a:r>
              <a:rPr lang="en-US" sz="3000" dirty="0"/>
              <a:t>EXAMPLE: </a:t>
            </a:r>
            <a:r>
              <a:rPr lang="en-AU" sz="3000" dirty="0"/>
              <a:t>AN AUSTRALIAN FARMER EXPORTS </a:t>
            </a:r>
            <a:r>
              <a:rPr lang="en-AU" sz="4000" dirty="0"/>
              <a:t>$100 </a:t>
            </a:r>
            <a:r>
              <a:rPr lang="en-AU" sz="3000" dirty="0"/>
              <a:t>MILLION OF WOOL TO A CLOTHING MANUFACTURER IN INDIA.</a:t>
            </a:r>
            <a:br>
              <a:rPr lang="en-AU" sz="3000" dirty="0"/>
            </a:br>
            <a:endParaRPr lang="en-US" sz="3000" dirty="0"/>
          </a:p>
        </p:txBody>
      </p:sp>
      <p:graphicFrame>
        <p:nvGraphicFramePr>
          <p:cNvPr id="5" name="Content Placeholder 4">
            <a:extLst>
              <a:ext uri="{FF2B5EF4-FFF2-40B4-BE49-F238E27FC236}">
                <a16:creationId xmlns:a16="http://schemas.microsoft.com/office/drawing/2014/main" id="{27043FF2-511E-8089-0690-A0C2215733FD}"/>
              </a:ext>
            </a:extLst>
          </p:cNvPr>
          <p:cNvGraphicFramePr>
            <a:graphicFrameLocks noGrp="1"/>
          </p:cNvGraphicFramePr>
          <p:nvPr>
            <p:ph idx="1"/>
            <p:extLst>
              <p:ext uri="{D42A27DB-BD31-4B8C-83A1-F6EECF244321}">
                <p14:modId xmlns:p14="http://schemas.microsoft.com/office/powerpoint/2010/main" val="4189104639"/>
              </p:ext>
            </p:extLst>
          </p:nvPr>
        </p:nvGraphicFramePr>
        <p:xfrm>
          <a:off x="838200" y="1941513"/>
          <a:ext cx="10515600" cy="4602480"/>
        </p:xfrm>
        <a:graphic>
          <a:graphicData uri="http://schemas.openxmlformats.org/drawingml/2006/table">
            <a:tbl>
              <a:tblPr firstRow="1" bandRow="1">
                <a:tableStyleId>{5C22544A-7EE6-4342-B048-85BDC9FD1C3A}</a:tableStyleId>
              </a:tblPr>
              <a:tblGrid>
                <a:gridCol w="6222167">
                  <a:extLst>
                    <a:ext uri="{9D8B030D-6E8A-4147-A177-3AD203B41FA5}">
                      <a16:colId xmlns:a16="http://schemas.microsoft.com/office/drawing/2014/main" val="3095005098"/>
                    </a:ext>
                  </a:extLst>
                </a:gridCol>
                <a:gridCol w="4293433">
                  <a:extLst>
                    <a:ext uri="{9D8B030D-6E8A-4147-A177-3AD203B41FA5}">
                      <a16:colId xmlns:a16="http://schemas.microsoft.com/office/drawing/2014/main" val="1196933305"/>
                    </a:ext>
                  </a:extLst>
                </a:gridCol>
              </a:tblGrid>
              <a:tr h="370840">
                <a:tc>
                  <a:txBody>
                    <a:bodyPr/>
                    <a:lstStyle/>
                    <a:p>
                      <a:r>
                        <a:rPr lang="en-US" sz="2000" dirty="0"/>
                        <a:t>Question</a:t>
                      </a:r>
                    </a:p>
                  </a:txBody>
                  <a:tcPr/>
                </a:tc>
                <a:tc>
                  <a:txBody>
                    <a:bodyPr/>
                    <a:lstStyle/>
                    <a:p>
                      <a:r>
                        <a:rPr lang="en-US" sz="2000" dirty="0"/>
                        <a:t>Answer</a:t>
                      </a:r>
                    </a:p>
                  </a:txBody>
                  <a:tcPr/>
                </a:tc>
                <a:extLst>
                  <a:ext uri="{0D108BD9-81ED-4DB2-BD59-A6C34878D82A}">
                    <a16:rowId xmlns:a16="http://schemas.microsoft.com/office/drawing/2014/main" val="981220027"/>
                  </a:ext>
                </a:extLst>
              </a:tr>
              <a:tr h="370840">
                <a:tc>
                  <a:txBody>
                    <a:bodyPr/>
                    <a:lstStyle/>
                    <a:p>
                      <a:r>
                        <a:rPr lang="en-US" sz="2000" dirty="0"/>
                        <a:t>What are the two offsetting items? </a:t>
                      </a:r>
                    </a:p>
                    <a:p>
                      <a:r>
                        <a:rPr lang="en-US" sz="2000" dirty="0"/>
                        <a:t>(</a:t>
                      </a:r>
                      <a:r>
                        <a:rPr lang="en-AU" sz="2000" dirty="0"/>
                        <a:t>hint: one of them is often money!)</a:t>
                      </a:r>
                      <a:endParaRPr lang="en-US" sz="2000" dirty="0"/>
                    </a:p>
                  </a:txBody>
                  <a:tcPr/>
                </a:tc>
                <a:tc>
                  <a:txBody>
                    <a:bodyPr/>
                    <a:lstStyle/>
                    <a:p>
                      <a:pPr marL="400050" lvl="1" indent="0">
                        <a:buNone/>
                      </a:pPr>
                      <a:r>
                        <a:rPr lang="en-AU" sz="2200" b="1" dirty="0">
                          <a:solidFill>
                            <a:srgbClr val="00B050"/>
                          </a:solidFill>
                        </a:rPr>
                        <a:t>Wool	</a:t>
                      </a:r>
                      <a:r>
                        <a:rPr lang="en-AU" sz="2200" b="1" dirty="0"/>
                        <a:t>	</a:t>
                      </a:r>
                    </a:p>
                    <a:p>
                      <a:pPr marL="400050" lvl="1" indent="0">
                        <a:buNone/>
                      </a:pPr>
                      <a:r>
                        <a:rPr lang="en-AU" sz="2200" b="1" dirty="0">
                          <a:solidFill>
                            <a:srgbClr val="FF0000"/>
                          </a:solidFill>
                        </a:rPr>
                        <a:t>Money</a:t>
                      </a:r>
                    </a:p>
                    <a:p>
                      <a:endParaRPr lang="en-US" sz="2000" dirty="0"/>
                    </a:p>
                  </a:txBody>
                  <a:tcPr/>
                </a:tc>
                <a:extLst>
                  <a:ext uri="{0D108BD9-81ED-4DB2-BD59-A6C34878D82A}">
                    <a16:rowId xmlns:a16="http://schemas.microsoft.com/office/drawing/2014/main" val="233625943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dirty="0"/>
                        <a:t>Which accounts does each transaction belong in?</a:t>
                      </a:r>
                    </a:p>
                    <a:p>
                      <a:endParaRPr lang="en-US" sz="2000" dirty="0"/>
                    </a:p>
                  </a:txBody>
                  <a:tcPr/>
                </a:tc>
                <a:tc>
                  <a:txBody>
                    <a:bodyPr/>
                    <a:lstStyle/>
                    <a:p>
                      <a:pPr marL="400050" lvl="1" indent="0">
                        <a:buNone/>
                      </a:pPr>
                      <a:r>
                        <a:rPr lang="en-AU" sz="2200" b="1" dirty="0">
                          <a:solidFill>
                            <a:srgbClr val="00B050"/>
                          </a:solidFill>
                        </a:rPr>
                        <a:t>BOGS (current account)</a:t>
                      </a:r>
                    </a:p>
                    <a:p>
                      <a:pPr marL="400050" lvl="1" indent="0">
                        <a:buNone/>
                      </a:pPr>
                      <a:r>
                        <a:rPr lang="en-AU" sz="2200" b="1" dirty="0">
                          <a:solidFill>
                            <a:srgbClr val="FF0000"/>
                          </a:solidFill>
                        </a:rPr>
                        <a:t>Other investment (financial account)</a:t>
                      </a:r>
                    </a:p>
                    <a:p>
                      <a:endParaRPr lang="en-US" sz="2000" dirty="0"/>
                    </a:p>
                  </a:txBody>
                  <a:tcPr/>
                </a:tc>
                <a:extLst>
                  <a:ext uri="{0D108BD9-81ED-4DB2-BD59-A6C34878D82A}">
                    <a16:rowId xmlns:a16="http://schemas.microsoft.com/office/drawing/2014/main" val="228333806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b="0" dirty="0">
                          <a:solidFill>
                            <a:schemeClr val="tx1"/>
                          </a:solidFill>
                        </a:rPr>
                        <a:t>Which item is being provided by Australia and which is being received by Australia?</a:t>
                      </a:r>
                    </a:p>
                    <a:p>
                      <a:endParaRPr lang="en-US" sz="2000" dirty="0"/>
                    </a:p>
                  </a:txBody>
                  <a:tcPr/>
                </a:tc>
                <a:tc>
                  <a:txBody>
                    <a:bodyPr/>
                    <a:lstStyle/>
                    <a:p>
                      <a:pPr marL="400050" lvl="1" indent="0">
                        <a:buNone/>
                      </a:pPr>
                      <a:r>
                        <a:rPr lang="en-AU" sz="2200" b="1" dirty="0">
                          <a:solidFill>
                            <a:srgbClr val="00B050"/>
                          </a:solidFill>
                        </a:rPr>
                        <a:t>Wool provided by Australia (credit)</a:t>
                      </a:r>
                    </a:p>
                    <a:p>
                      <a:pPr marL="400050" lvl="1" indent="0">
                        <a:buNone/>
                      </a:pPr>
                      <a:r>
                        <a:rPr lang="en-AU" sz="2200" b="1" dirty="0">
                          <a:solidFill>
                            <a:srgbClr val="FF0000"/>
                          </a:solidFill>
                        </a:rPr>
                        <a:t>Money received by Australia (debit)</a:t>
                      </a:r>
                    </a:p>
                    <a:p>
                      <a:endParaRPr lang="en-US" sz="2000" dirty="0"/>
                    </a:p>
                  </a:txBody>
                  <a:tcPr/>
                </a:tc>
                <a:extLst>
                  <a:ext uri="{0D108BD9-81ED-4DB2-BD59-A6C34878D82A}">
                    <a16:rowId xmlns:a16="http://schemas.microsoft.com/office/drawing/2014/main" val="3085815008"/>
                  </a:ext>
                </a:extLst>
              </a:tr>
            </a:tbl>
          </a:graphicData>
        </a:graphic>
      </p:graphicFrame>
      <p:sp>
        <p:nvSpPr>
          <p:cNvPr id="6" name="TextBox 5">
            <a:extLst>
              <a:ext uri="{FF2B5EF4-FFF2-40B4-BE49-F238E27FC236}">
                <a16:creationId xmlns:a16="http://schemas.microsoft.com/office/drawing/2014/main" id="{2B245417-DF46-BCEC-1AC3-8E71B8FD2D2F}"/>
              </a:ext>
            </a:extLst>
          </p:cNvPr>
          <p:cNvSpPr txBox="1"/>
          <p:nvPr/>
        </p:nvSpPr>
        <p:spPr>
          <a:xfrm>
            <a:off x="464695" y="2068643"/>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40850180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F04F97A-22F3-BFE5-2F9B-F7C8B52FBEE6}"/>
              </a:ext>
            </a:extLst>
          </p:cNvPr>
          <p:cNvPicPr>
            <a:picLocks noGrp="1" noChangeAspect="1"/>
          </p:cNvPicPr>
          <p:nvPr>
            <p:ph idx="1"/>
          </p:nvPr>
        </p:nvPicPr>
        <p:blipFill>
          <a:blip r:embed="rId2"/>
          <a:stretch>
            <a:fillRect/>
          </a:stretch>
        </p:blipFill>
        <p:spPr>
          <a:xfrm>
            <a:off x="1252702" y="433282"/>
            <a:ext cx="9686596" cy="5991436"/>
          </a:xfrm>
          <a:prstGeom prst="rect">
            <a:avLst/>
          </a:prstGeom>
        </p:spPr>
      </p:pic>
    </p:spTree>
    <p:extLst>
      <p:ext uri="{BB962C8B-B14F-4D97-AF65-F5344CB8AC3E}">
        <p14:creationId xmlns:p14="http://schemas.microsoft.com/office/powerpoint/2010/main" val="33838237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A6B48-CB25-C957-BE2B-57ACFCB8DB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1A28C1-BDB6-02AB-08B0-6361A2D46AF0}"/>
              </a:ext>
            </a:extLst>
          </p:cNvPr>
          <p:cNvSpPr>
            <a:spLocks noGrp="1"/>
          </p:cNvSpPr>
          <p:nvPr>
            <p:ph type="title"/>
          </p:nvPr>
        </p:nvSpPr>
        <p:spPr>
          <a:xfrm>
            <a:off x="838200" y="1060888"/>
            <a:ext cx="11113871" cy="1325563"/>
          </a:xfrm>
        </p:spPr>
        <p:txBody>
          <a:bodyPr>
            <a:noAutofit/>
          </a:bodyPr>
          <a:lstStyle/>
          <a:p>
            <a:r>
              <a:rPr lang="en-US" sz="3000" dirty="0"/>
              <a:t>EXAMPLE: </a:t>
            </a:r>
            <a:r>
              <a:rPr lang="en-AU" sz="3200" dirty="0"/>
              <a:t>AN AUSTRALIAN BUYS </a:t>
            </a:r>
            <a:r>
              <a:rPr lang="en-AU" sz="4000" dirty="0"/>
              <a:t>$2,000 </a:t>
            </a:r>
            <a:r>
              <a:rPr lang="en-AU" sz="3200" dirty="0"/>
              <a:t>AUD OF SHARES IN A FRENCH COMPANY</a:t>
            </a:r>
            <a:br>
              <a:rPr lang="en-AU" sz="3200" dirty="0"/>
            </a:br>
            <a:br>
              <a:rPr lang="en-AU" sz="3000" dirty="0"/>
            </a:br>
            <a:endParaRPr lang="en-US" sz="3000" dirty="0"/>
          </a:p>
        </p:txBody>
      </p:sp>
      <p:graphicFrame>
        <p:nvGraphicFramePr>
          <p:cNvPr id="5" name="Content Placeholder 4">
            <a:extLst>
              <a:ext uri="{FF2B5EF4-FFF2-40B4-BE49-F238E27FC236}">
                <a16:creationId xmlns:a16="http://schemas.microsoft.com/office/drawing/2014/main" id="{C41F96B5-A856-C426-1D7D-BA8E3CCDC2CF}"/>
              </a:ext>
            </a:extLst>
          </p:cNvPr>
          <p:cNvGraphicFramePr>
            <a:graphicFrameLocks noGrp="1"/>
          </p:cNvGraphicFramePr>
          <p:nvPr>
            <p:ph idx="1"/>
            <p:extLst>
              <p:ext uri="{D42A27DB-BD31-4B8C-83A1-F6EECF244321}">
                <p14:modId xmlns:p14="http://schemas.microsoft.com/office/powerpoint/2010/main" val="1620725607"/>
              </p:ext>
            </p:extLst>
          </p:nvPr>
        </p:nvGraphicFramePr>
        <p:xfrm>
          <a:off x="838200" y="1941513"/>
          <a:ext cx="10515600" cy="3108960"/>
        </p:xfrm>
        <a:graphic>
          <a:graphicData uri="http://schemas.openxmlformats.org/drawingml/2006/table">
            <a:tbl>
              <a:tblPr firstRow="1" bandRow="1">
                <a:tableStyleId>{5C22544A-7EE6-4342-B048-85BDC9FD1C3A}</a:tableStyleId>
              </a:tblPr>
              <a:tblGrid>
                <a:gridCol w="6222167">
                  <a:extLst>
                    <a:ext uri="{9D8B030D-6E8A-4147-A177-3AD203B41FA5}">
                      <a16:colId xmlns:a16="http://schemas.microsoft.com/office/drawing/2014/main" val="3095005098"/>
                    </a:ext>
                  </a:extLst>
                </a:gridCol>
                <a:gridCol w="4293433">
                  <a:extLst>
                    <a:ext uri="{9D8B030D-6E8A-4147-A177-3AD203B41FA5}">
                      <a16:colId xmlns:a16="http://schemas.microsoft.com/office/drawing/2014/main" val="1196933305"/>
                    </a:ext>
                  </a:extLst>
                </a:gridCol>
              </a:tblGrid>
              <a:tr h="370840">
                <a:tc>
                  <a:txBody>
                    <a:bodyPr/>
                    <a:lstStyle/>
                    <a:p>
                      <a:r>
                        <a:rPr lang="en-US" sz="2000" dirty="0"/>
                        <a:t>Question</a:t>
                      </a:r>
                    </a:p>
                  </a:txBody>
                  <a:tcPr/>
                </a:tc>
                <a:tc>
                  <a:txBody>
                    <a:bodyPr/>
                    <a:lstStyle/>
                    <a:p>
                      <a:r>
                        <a:rPr lang="en-US" sz="2000" dirty="0"/>
                        <a:t>Answer</a:t>
                      </a:r>
                    </a:p>
                  </a:txBody>
                  <a:tcPr/>
                </a:tc>
                <a:extLst>
                  <a:ext uri="{0D108BD9-81ED-4DB2-BD59-A6C34878D82A}">
                    <a16:rowId xmlns:a16="http://schemas.microsoft.com/office/drawing/2014/main" val="981220027"/>
                  </a:ext>
                </a:extLst>
              </a:tr>
              <a:tr h="370840">
                <a:tc>
                  <a:txBody>
                    <a:bodyPr/>
                    <a:lstStyle/>
                    <a:p>
                      <a:r>
                        <a:rPr lang="en-US" sz="2000" dirty="0"/>
                        <a:t>What are the two offsetting items? </a:t>
                      </a:r>
                    </a:p>
                    <a:p>
                      <a:r>
                        <a:rPr lang="en-US" sz="2000" dirty="0"/>
                        <a:t>(</a:t>
                      </a:r>
                      <a:r>
                        <a:rPr lang="en-AU" sz="2000" dirty="0"/>
                        <a:t>hint: one of them is often money!)</a:t>
                      </a:r>
                      <a:br>
                        <a:rPr lang="en-AU" sz="2000" dirty="0"/>
                      </a:br>
                      <a:endParaRPr lang="en-US" sz="2000" dirty="0"/>
                    </a:p>
                  </a:txBody>
                  <a:tcPr/>
                </a:tc>
                <a:tc>
                  <a:txBody>
                    <a:bodyPr/>
                    <a:lstStyle/>
                    <a:p>
                      <a:endParaRPr lang="en-US" sz="2000" dirty="0"/>
                    </a:p>
                  </a:txBody>
                  <a:tcPr/>
                </a:tc>
                <a:extLst>
                  <a:ext uri="{0D108BD9-81ED-4DB2-BD59-A6C34878D82A}">
                    <a16:rowId xmlns:a16="http://schemas.microsoft.com/office/drawing/2014/main" val="233625943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dirty="0"/>
                        <a:t>Which accounts does each transaction belong in?</a:t>
                      </a:r>
                    </a:p>
                    <a:p>
                      <a:endParaRPr lang="en-US" sz="2000" dirty="0"/>
                    </a:p>
                  </a:txBody>
                  <a:tcPr/>
                </a:tc>
                <a:tc>
                  <a:txBody>
                    <a:bodyPr/>
                    <a:lstStyle/>
                    <a:p>
                      <a:endParaRPr lang="en-US" sz="2000" dirty="0"/>
                    </a:p>
                  </a:txBody>
                  <a:tcPr/>
                </a:tc>
                <a:extLst>
                  <a:ext uri="{0D108BD9-81ED-4DB2-BD59-A6C34878D82A}">
                    <a16:rowId xmlns:a16="http://schemas.microsoft.com/office/drawing/2014/main" val="228333806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b="0" dirty="0">
                          <a:solidFill>
                            <a:schemeClr val="tx1"/>
                          </a:solidFill>
                        </a:rPr>
                        <a:t>Which item is being provided by Australia and which is being received by Australia?</a:t>
                      </a:r>
                    </a:p>
                    <a:p>
                      <a:endParaRPr lang="en-US" sz="2000" dirty="0"/>
                    </a:p>
                  </a:txBody>
                  <a:tcPr/>
                </a:tc>
                <a:tc>
                  <a:txBody>
                    <a:bodyPr/>
                    <a:lstStyle/>
                    <a:p>
                      <a:endParaRPr lang="en-US" sz="2000" dirty="0"/>
                    </a:p>
                  </a:txBody>
                  <a:tcPr/>
                </a:tc>
                <a:extLst>
                  <a:ext uri="{0D108BD9-81ED-4DB2-BD59-A6C34878D82A}">
                    <a16:rowId xmlns:a16="http://schemas.microsoft.com/office/drawing/2014/main" val="3085815008"/>
                  </a:ext>
                </a:extLst>
              </a:tr>
            </a:tbl>
          </a:graphicData>
        </a:graphic>
      </p:graphicFrame>
    </p:spTree>
    <p:extLst>
      <p:ext uri="{BB962C8B-B14F-4D97-AF65-F5344CB8AC3E}">
        <p14:creationId xmlns:p14="http://schemas.microsoft.com/office/powerpoint/2010/main" val="16312056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05625-288A-5D23-3A74-B173D3C415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6D29C-03DD-554F-6C68-E0A683BA0605}"/>
              </a:ext>
            </a:extLst>
          </p:cNvPr>
          <p:cNvSpPr>
            <a:spLocks noGrp="1"/>
          </p:cNvSpPr>
          <p:nvPr>
            <p:ph type="title"/>
          </p:nvPr>
        </p:nvSpPr>
        <p:spPr>
          <a:xfrm>
            <a:off x="838200" y="1060888"/>
            <a:ext cx="11113871" cy="1325563"/>
          </a:xfrm>
        </p:spPr>
        <p:txBody>
          <a:bodyPr>
            <a:noAutofit/>
          </a:bodyPr>
          <a:lstStyle/>
          <a:p>
            <a:r>
              <a:rPr lang="en-US" sz="3000" dirty="0"/>
              <a:t>EXAMPLE: </a:t>
            </a:r>
            <a:r>
              <a:rPr lang="en-AU" sz="3200" dirty="0"/>
              <a:t>AN AUSTRALIAN BUYS </a:t>
            </a:r>
            <a:r>
              <a:rPr lang="en-AU" sz="4000" dirty="0"/>
              <a:t>$2,000 </a:t>
            </a:r>
            <a:r>
              <a:rPr lang="en-AU" sz="3200" dirty="0"/>
              <a:t>AUD OF SHARES IN A FRENCH COMPANY</a:t>
            </a:r>
            <a:br>
              <a:rPr lang="en-AU" sz="3200" dirty="0"/>
            </a:br>
            <a:br>
              <a:rPr lang="en-AU" sz="3000" dirty="0"/>
            </a:br>
            <a:endParaRPr lang="en-US" sz="3000" dirty="0"/>
          </a:p>
        </p:txBody>
      </p:sp>
      <p:graphicFrame>
        <p:nvGraphicFramePr>
          <p:cNvPr id="5" name="Content Placeholder 4">
            <a:extLst>
              <a:ext uri="{FF2B5EF4-FFF2-40B4-BE49-F238E27FC236}">
                <a16:creationId xmlns:a16="http://schemas.microsoft.com/office/drawing/2014/main" id="{6AA2C2BE-947B-B226-225B-FD598EE4EDE0}"/>
              </a:ext>
            </a:extLst>
          </p:cNvPr>
          <p:cNvGraphicFramePr>
            <a:graphicFrameLocks noGrp="1"/>
          </p:cNvGraphicFramePr>
          <p:nvPr>
            <p:ph idx="1"/>
          </p:nvPr>
        </p:nvGraphicFramePr>
        <p:xfrm>
          <a:off x="838200" y="1941513"/>
          <a:ext cx="10515600" cy="4389120"/>
        </p:xfrm>
        <a:graphic>
          <a:graphicData uri="http://schemas.openxmlformats.org/drawingml/2006/table">
            <a:tbl>
              <a:tblPr firstRow="1" bandRow="1">
                <a:tableStyleId>{5C22544A-7EE6-4342-B048-85BDC9FD1C3A}</a:tableStyleId>
              </a:tblPr>
              <a:tblGrid>
                <a:gridCol w="6222167">
                  <a:extLst>
                    <a:ext uri="{9D8B030D-6E8A-4147-A177-3AD203B41FA5}">
                      <a16:colId xmlns:a16="http://schemas.microsoft.com/office/drawing/2014/main" val="3095005098"/>
                    </a:ext>
                  </a:extLst>
                </a:gridCol>
                <a:gridCol w="4293433">
                  <a:extLst>
                    <a:ext uri="{9D8B030D-6E8A-4147-A177-3AD203B41FA5}">
                      <a16:colId xmlns:a16="http://schemas.microsoft.com/office/drawing/2014/main" val="1196933305"/>
                    </a:ext>
                  </a:extLst>
                </a:gridCol>
              </a:tblGrid>
              <a:tr h="370840">
                <a:tc>
                  <a:txBody>
                    <a:bodyPr/>
                    <a:lstStyle/>
                    <a:p>
                      <a:r>
                        <a:rPr lang="en-US" sz="2000" dirty="0"/>
                        <a:t>Question</a:t>
                      </a:r>
                    </a:p>
                  </a:txBody>
                  <a:tcPr/>
                </a:tc>
                <a:tc>
                  <a:txBody>
                    <a:bodyPr/>
                    <a:lstStyle/>
                    <a:p>
                      <a:r>
                        <a:rPr lang="en-US" sz="2000" dirty="0"/>
                        <a:t>Answer</a:t>
                      </a:r>
                    </a:p>
                  </a:txBody>
                  <a:tcPr/>
                </a:tc>
                <a:extLst>
                  <a:ext uri="{0D108BD9-81ED-4DB2-BD59-A6C34878D82A}">
                    <a16:rowId xmlns:a16="http://schemas.microsoft.com/office/drawing/2014/main" val="981220027"/>
                  </a:ext>
                </a:extLst>
              </a:tr>
              <a:tr h="370840">
                <a:tc>
                  <a:txBody>
                    <a:bodyPr/>
                    <a:lstStyle/>
                    <a:p>
                      <a:r>
                        <a:rPr lang="en-US" sz="2000" dirty="0"/>
                        <a:t>What are the two offsetting items? </a:t>
                      </a:r>
                    </a:p>
                    <a:p>
                      <a:r>
                        <a:rPr lang="en-US" sz="2000" dirty="0"/>
                        <a:t>(</a:t>
                      </a:r>
                      <a:r>
                        <a:rPr lang="en-AU" sz="2000" dirty="0"/>
                        <a:t>hint: one of them is often money!)</a:t>
                      </a:r>
                      <a:br>
                        <a:rPr lang="en-AU" sz="2000" dirty="0"/>
                      </a:br>
                      <a:endParaRPr lang="en-US" sz="2000" dirty="0"/>
                    </a:p>
                  </a:txBody>
                  <a:tcPr/>
                </a:tc>
                <a:tc>
                  <a:txBody>
                    <a:bodyPr/>
                    <a:lstStyle/>
                    <a:p>
                      <a:pPr marL="400050" lvl="1" indent="0">
                        <a:buNone/>
                      </a:pPr>
                      <a:r>
                        <a:rPr lang="en-AU" b="1" dirty="0">
                          <a:solidFill>
                            <a:srgbClr val="FF0000"/>
                          </a:solidFill>
                        </a:rPr>
                        <a:t>French company shares</a:t>
                      </a:r>
                      <a:r>
                        <a:rPr lang="en-AU" b="1" dirty="0"/>
                        <a:t>	</a:t>
                      </a:r>
                    </a:p>
                    <a:p>
                      <a:pPr marL="400050" lvl="1" indent="0">
                        <a:buNone/>
                      </a:pPr>
                      <a:r>
                        <a:rPr lang="en-AU" b="1" dirty="0">
                          <a:solidFill>
                            <a:srgbClr val="00B050"/>
                          </a:solidFill>
                        </a:rPr>
                        <a:t>Money</a:t>
                      </a:r>
                    </a:p>
                    <a:p>
                      <a:endParaRPr lang="en-US" sz="2000" dirty="0"/>
                    </a:p>
                  </a:txBody>
                  <a:tcPr/>
                </a:tc>
                <a:extLst>
                  <a:ext uri="{0D108BD9-81ED-4DB2-BD59-A6C34878D82A}">
                    <a16:rowId xmlns:a16="http://schemas.microsoft.com/office/drawing/2014/main" val="233625943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dirty="0"/>
                        <a:t>Which accounts does each transaction belong in?</a:t>
                      </a:r>
                    </a:p>
                    <a:p>
                      <a:endParaRPr lang="en-US" sz="2000" dirty="0"/>
                    </a:p>
                  </a:txBody>
                  <a:tcPr/>
                </a:tc>
                <a:tc>
                  <a:txBody>
                    <a:bodyPr/>
                    <a:lstStyle/>
                    <a:p>
                      <a:pPr marL="400050" lvl="1" indent="0">
                        <a:buNone/>
                      </a:pPr>
                      <a:r>
                        <a:rPr lang="en-AU" b="1" dirty="0">
                          <a:solidFill>
                            <a:srgbClr val="FF0000"/>
                          </a:solidFill>
                        </a:rPr>
                        <a:t>Portfolio investment (financial account)</a:t>
                      </a:r>
                    </a:p>
                    <a:p>
                      <a:pPr marL="400050" lvl="1" indent="0">
                        <a:buNone/>
                      </a:pPr>
                      <a:r>
                        <a:rPr lang="en-AU" b="1" dirty="0">
                          <a:solidFill>
                            <a:srgbClr val="00B050"/>
                          </a:solidFill>
                        </a:rPr>
                        <a:t>Other investment (financial account)</a:t>
                      </a:r>
                    </a:p>
                    <a:p>
                      <a:endParaRPr lang="en-US" sz="2000" dirty="0"/>
                    </a:p>
                  </a:txBody>
                  <a:tcPr/>
                </a:tc>
                <a:extLst>
                  <a:ext uri="{0D108BD9-81ED-4DB2-BD59-A6C34878D82A}">
                    <a16:rowId xmlns:a16="http://schemas.microsoft.com/office/drawing/2014/main" val="228333806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b="0" dirty="0">
                          <a:solidFill>
                            <a:schemeClr val="tx1"/>
                          </a:solidFill>
                        </a:rPr>
                        <a:t>Which item is being provided by Australia and which is being received by Australia?</a:t>
                      </a:r>
                    </a:p>
                    <a:p>
                      <a:endParaRPr lang="en-US" sz="2000" dirty="0"/>
                    </a:p>
                  </a:txBody>
                  <a:tcPr/>
                </a:tc>
                <a:tc>
                  <a:txBody>
                    <a:bodyPr/>
                    <a:lstStyle/>
                    <a:p>
                      <a:pPr marL="400050" lvl="1" indent="0">
                        <a:buNone/>
                      </a:pPr>
                      <a:r>
                        <a:rPr lang="en-AU" b="1" dirty="0">
                          <a:solidFill>
                            <a:srgbClr val="FF0000"/>
                          </a:solidFill>
                        </a:rPr>
                        <a:t>Shares received by Australia (debit)</a:t>
                      </a:r>
                    </a:p>
                    <a:p>
                      <a:pPr marL="400050" lvl="1" indent="0">
                        <a:buNone/>
                      </a:pPr>
                      <a:r>
                        <a:rPr lang="en-AU" b="1" dirty="0">
                          <a:solidFill>
                            <a:srgbClr val="00B050"/>
                          </a:solidFill>
                        </a:rPr>
                        <a:t>Money Provided by Australia (credit)</a:t>
                      </a:r>
                    </a:p>
                    <a:p>
                      <a:endParaRPr lang="en-US" sz="2000" dirty="0"/>
                    </a:p>
                  </a:txBody>
                  <a:tcPr/>
                </a:tc>
                <a:extLst>
                  <a:ext uri="{0D108BD9-81ED-4DB2-BD59-A6C34878D82A}">
                    <a16:rowId xmlns:a16="http://schemas.microsoft.com/office/drawing/2014/main" val="3085815008"/>
                  </a:ext>
                </a:extLst>
              </a:tr>
            </a:tbl>
          </a:graphicData>
        </a:graphic>
      </p:graphicFrame>
    </p:spTree>
    <p:extLst>
      <p:ext uri="{BB962C8B-B14F-4D97-AF65-F5344CB8AC3E}">
        <p14:creationId xmlns:p14="http://schemas.microsoft.com/office/powerpoint/2010/main" val="42716829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95CA001-44A8-9794-0A00-95E94109C0E3}"/>
              </a:ext>
            </a:extLst>
          </p:cNvPr>
          <p:cNvPicPr>
            <a:picLocks noChangeAspect="1"/>
          </p:cNvPicPr>
          <p:nvPr/>
        </p:nvPicPr>
        <p:blipFill>
          <a:blip r:embed="rId2"/>
          <a:stretch>
            <a:fillRect/>
          </a:stretch>
        </p:blipFill>
        <p:spPr>
          <a:xfrm>
            <a:off x="1352550" y="341282"/>
            <a:ext cx="9486899" cy="6175436"/>
          </a:xfrm>
          <a:prstGeom prst="rect">
            <a:avLst/>
          </a:prstGeom>
        </p:spPr>
      </p:pic>
    </p:spTree>
    <p:extLst>
      <p:ext uri="{BB962C8B-B14F-4D97-AF65-F5344CB8AC3E}">
        <p14:creationId xmlns:p14="http://schemas.microsoft.com/office/powerpoint/2010/main" val="25964429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165E3-5CF9-83BA-21FF-85D98A0A04C1}"/>
              </a:ext>
            </a:extLst>
          </p:cNvPr>
          <p:cNvSpPr>
            <a:spLocks noGrp="1"/>
          </p:cNvSpPr>
          <p:nvPr>
            <p:ph type="title"/>
          </p:nvPr>
        </p:nvSpPr>
        <p:spPr/>
        <p:txBody>
          <a:bodyPr>
            <a:normAutofit fontScale="90000"/>
          </a:bodyPr>
          <a:lstStyle/>
          <a:p>
            <a:pPr algn="ctr"/>
            <a:r>
              <a:rPr lang="en-US" dirty="0"/>
              <a:t>CREDIT AND DEBIT SCENARIOS</a:t>
            </a:r>
            <a:br>
              <a:rPr lang="en-US" dirty="0"/>
            </a:br>
            <a:r>
              <a:rPr lang="en-US" dirty="0"/>
              <a:t>TRAVEL EDITION</a:t>
            </a:r>
          </a:p>
        </p:txBody>
      </p:sp>
      <p:sp>
        <p:nvSpPr>
          <p:cNvPr id="3" name="Content Placeholder 2">
            <a:extLst>
              <a:ext uri="{FF2B5EF4-FFF2-40B4-BE49-F238E27FC236}">
                <a16:creationId xmlns:a16="http://schemas.microsoft.com/office/drawing/2014/main" id="{28D622D9-4748-B6C7-22EF-5A85DFFB795D}"/>
              </a:ext>
            </a:extLst>
          </p:cNvPr>
          <p:cNvSpPr>
            <a:spLocks noGrp="1"/>
          </p:cNvSpPr>
          <p:nvPr>
            <p:ph idx="1"/>
          </p:nvPr>
        </p:nvSpPr>
        <p:spPr>
          <a:xfrm>
            <a:off x="562709" y="2180491"/>
            <a:ext cx="11197882" cy="4431323"/>
          </a:xfrm>
        </p:spPr>
        <p:txBody>
          <a:bodyPr>
            <a:normAutofit/>
          </a:bodyPr>
          <a:lstStyle/>
          <a:p>
            <a:pPr marL="0" indent="0" algn="ctr">
              <a:buNone/>
            </a:pPr>
            <a:r>
              <a:rPr lang="en-US" dirty="0"/>
              <a:t>Australian residents, including friends Michelle and Megan, go on overseas holidays to Bali during winter and spend a total of $5000. The Australian residents pay for their holiday by using money deposited in their Australian bank accounts.</a:t>
            </a:r>
          </a:p>
          <a:p>
            <a:pPr marL="0" indent="0" algn="ctr">
              <a:buNone/>
            </a:pPr>
            <a:r>
              <a:rPr lang="en-US" b="1" dirty="0">
                <a:solidFill>
                  <a:srgbClr val="FF0000"/>
                </a:solidFill>
              </a:rPr>
              <a:t>The $5000 Australian residents spent on overseas travel is an import and is recorded as a ‘service debit’ in the trade balance (specifically ‘import – tourism’). </a:t>
            </a:r>
          </a:p>
          <a:p>
            <a:pPr marL="0" indent="0" algn="ctr">
              <a:buNone/>
            </a:pPr>
            <a:endParaRPr lang="en-US" b="1" dirty="0">
              <a:solidFill>
                <a:srgbClr val="92D050"/>
              </a:solidFill>
            </a:endParaRPr>
          </a:p>
          <a:p>
            <a:pPr marL="0" indent="0" algn="ctr">
              <a:buNone/>
            </a:pPr>
            <a:r>
              <a:rPr lang="en-US" b="1" dirty="0">
                <a:solidFill>
                  <a:srgbClr val="92D050"/>
                </a:solidFill>
              </a:rPr>
              <a:t>The payments made to overseas households and businesses (for the accommodation, food, sightseeing, etc.) by the Australian residents from their domestic bank accounts are recorded in the financial accounts as a credit under ‘other investment – currency and deposits’.</a:t>
            </a:r>
          </a:p>
        </p:txBody>
      </p:sp>
    </p:spTree>
    <p:extLst>
      <p:ext uri="{BB962C8B-B14F-4D97-AF65-F5344CB8AC3E}">
        <p14:creationId xmlns:p14="http://schemas.microsoft.com/office/powerpoint/2010/main" val="1174391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ssolv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88CD7-8FDF-2FCF-6278-4F39256B33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740FD9-17B6-C481-8E75-6AF64C3D1C30}"/>
              </a:ext>
            </a:extLst>
          </p:cNvPr>
          <p:cNvSpPr>
            <a:spLocks noGrp="1"/>
          </p:cNvSpPr>
          <p:nvPr>
            <p:ph type="title"/>
          </p:nvPr>
        </p:nvSpPr>
        <p:spPr>
          <a:xfrm>
            <a:off x="838200" y="604967"/>
            <a:ext cx="10515600" cy="1325563"/>
          </a:xfrm>
        </p:spPr>
        <p:txBody>
          <a:bodyPr>
            <a:normAutofit fontScale="90000"/>
          </a:bodyPr>
          <a:lstStyle/>
          <a:p>
            <a:pPr algn="ctr"/>
            <a:r>
              <a:rPr lang="en-US" dirty="0"/>
              <a:t>CREDIT AND DEBIT SCENARIOS</a:t>
            </a:r>
            <a:br>
              <a:rPr lang="en-US" dirty="0"/>
            </a:br>
            <a:r>
              <a:rPr lang="en-US" dirty="0"/>
              <a:t>TRAVEL EDITION</a:t>
            </a:r>
          </a:p>
        </p:txBody>
      </p:sp>
      <p:sp>
        <p:nvSpPr>
          <p:cNvPr id="3" name="Content Placeholder 2">
            <a:extLst>
              <a:ext uri="{FF2B5EF4-FFF2-40B4-BE49-F238E27FC236}">
                <a16:creationId xmlns:a16="http://schemas.microsoft.com/office/drawing/2014/main" id="{3729B01C-8982-F420-2E0E-375114FC5189}"/>
              </a:ext>
            </a:extLst>
          </p:cNvPr>
          <p:cNvSpPr>
            <a:spLocks noGrp="1"/>
          </p:cNvSpPr>
          <p:nvPr>
            <p:ph idx="1"/>
          </p:nvPr>
        </p:nvSpPr>
        <p:spPr>
          <a:xfrm>
            <a:off x="562709" y="2180491"/>
            <a:ext cx="11197882" cy="4431323"/>
          </a:xfrm>
        </p:spPr>
        <p:txBody>
          <a:bodyPr>
            <a:normAutofit fontScale="92500"/>
          </a:bodyPr>
          <a:lstStyle/>
          <a:p>
            <a:r>
              <a:rPr lang="en-AU" dirty="0"/>
              <a:t>If the $5000 is paid from Australian bank accounts to overseas businesses (like hotels or tour companies in Bali), it means </a:t>
            </a:r>
            <a:r>
              <a:rPr lang="en-AU" b="1" dirty="0"/>
              <a:t>money is leaving Australia</a:t>
            </a:r>
            <a:r>
              <a:rPr lang="en-AU" dirty="0"/>
              <a:t>. That’s seen as a </a:t>
            </a:r>
            <a:r>
              <a:rPr lang="en-AU" b="1" dirty="0"/>
              <a:t>reduction in Australia’s financial assets</a:t>
            </a:r>
            <a:r>
              <a:rPr lang="en-AU" dirty="0"/>
              <a:t> — because Australians now have </a:t>
            </a:r>
            <a:r>
              <a:rPr lang="en-AU" b="1" dirty="0"/>
              <a:t>$5000 less in their bank accounts</a:t>
            </a:r>
            <a:r>
              <a:rPr lang="en-AU" dirty="0"/>
              <a:t>.</a:t>
            </a:r>
          </a:p>
          <a:p>
            <a:r>
              <a:rPr lang="en-AU" dirty="0"/>
              <a:t>This is recorded as a </a:t>
            </a:r>
            <a:r>
              <a:rPr lang="en-AU" b="1" dirty="0">
                <a:solidFill>
                  <a:srgbClr val="92D050"/>
                </a:solidFill>
              </a:rPr>
              <a:t>credit</a:t>
            </a:r>
            <a:r>
              <a:rPr lang="en-AU" dirty="0"/>
              <a:t> in the </a:t>
            </a:r>
            <a:r>
              <a:rPr lang="en-AU" b="1" dirty="0"/>
              <a:t>financial account</a:t>
            </a:r>
            <a:r>
              <a:rPr lang="en-AU" dirty="0"/>
              <a:t>, under </a:t>
            </a:r>
            <a:r>
              <a:rPr lang="en-AU" b="1" dirty="0"/>
              <a:t>‘other investment – currency and deposits’</a:t>
            </a:r>
            <a:r>
              <a:rPr lang="en-AU" dirty="0"/>
              <a:t>, because money (a financial asset) has flowed </a:t>
            </a:r>
            <a:r>
              <a:rPr lang="en-AU" b="1" dirty="0"/>
              <a:t>out of Australia</a:t>
            </a:r>
            <a:r>
              <a:rPr lang="en-AU" dirty="0"/>
              <a:t> to pay for the services.</a:t>
            </a:r>
          </a:p>
          <a:p>
            <a:r>
              <a:rPr lang="en-AU" dirty="0"/>
              <a:t>In the </a:t>
            </a:r>
            <a:r>
              <a:rPr lang="en-AU" b="1" dirty="0"/>
              <a:t>Current Account Balance (CAB)</a:t>
            </a:r>
            <a:r>
              <a:rPr lang="en-AU" dirty="0"/>
              <a:t>, the $5000 for overseas holidays is a </a:t>
            </a:r>
            <a:r>
              <a:rPr lang="en-AU" b="1" dirty="0">
                <a:solidFill>
                  <a:srgbClr val="FF0000"/>
                </a:solidFill>
              </a:rPr>
              <a:t>debit</a:t>
            </a:r>
            <a:r>
              <a:rPr lang="en-AU" dirty="0">
                <a:solidFill>
                  <a:srgbClr val="FF0000"/>
                </a:solidFill>
              </a:rPr>
              <a:t> </a:t>
            </a:r>
            <a:r>
              <a:rPr lang="en-AU" dirty="0"/>
              <a:t>(import of services).</a:t>
            </a:r>
          </a:p>
          <a:p>
            <a:r>
              <a:rPr lang="en-AU" dirty="0"/>
              <a:t>In the </a:t>
            </a:r>
            <a:r>
              <a:rPr lang="en-AU" b="1" dirty="0"/>
              <a:t>Capital and Financial Account (KAFA)</a:t>
            </a:r>
            <a:r>
              <a:rPr lang="en-AU" dirty="0"/>
              <a:t>, the matching entry is a </a:t>
            </a:r>
            <a:r>
              <a:rPr lang="en-AU" b="1" dirty="0">
                <a:solidFill>
                  <a:srgbClr val="92D050"/>
                </a:solidFill>
              </a:rPr>
              <a:t>credit</a:t>
            </a:r>
            <a:r>
              <a:rPr lang="en-AU" dirty="0"/>
              <a:t> (money leaving the country = reduction in financial assets).</a:t>
            </a:r>
          </a:p>
          <a:p>
            <a:r>
              <a:rPr lang="en-AU" dirty="0"/>
              <a:t>This </a:t>
            </a:r>
            <a:r>
              <a:rPr lang="en-AU" b="1" dirty="0"/>
              <a:t>double entry</a:t>
            </a:r>
            <a:r>
              <a:rPr lang="en-AU" dirty="0"/>
              <a:t> — one in the current account, one in the financial account — is the foundation of Balance of Payments accounting.</a:t>
            </a:r>
          </a:p>
          <a:p>
            <a:endParaRPr lang="en-AU" dirty="0"/>
          </a:p>
        </p:txBody>
      </p:sp>
    </p:spTree>
    <p:extLst>
      <p:ext uri="{BB962C8B-B14F-4D97-AF65-F5344CB8AC3E}">
        <p14:creationId xmlns:p14="http://schemas.microsoft.com/office/powerpoint/2010/main" val="32005404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165E3-5CF9-83BA-21FF-85D98A0A04C1}"/>
              </a:ext>
            </a:extLst>
          </p:cNvPr>
          <p:cNvSpPr>
            <a:spLocks noGrp="1"/>
          </p:cNvSpPr>
          <p:nvPr>
            <p:ph type="title"/>
          </p:nvPr>
        </p:nvSpPr>
        <p:spPr/>
        <p:txBody>
          <a:bodyPr/>
          <a:lstStyle/>
          <a:p>
            <a:r>
              <a:rPr lang="en-US" dirty="0"/>
              <a:t>CREDIT AND DEBIT SCENARIOS</a:t>
            </a:r>
          </a:p>
        </p:txBody>
      </p:sp>
      <p:sp>
        <p:nvSpPr>
          <p:cNvPr id="3" name="Content Placeholder 2">
            <a:extLst>
              <a:ext uri="{FF2B5EF4-FFF2-40B4-BE49-F238E27FC236}">
                <a16:creationId xmlns:a16="http://schemas.microsoft.com/office/drawing/2014/main" id="{28D622D9-4748-B6C7-22EF-5A85DFFB795D}"/>
              </a:ext>
            </a:extLst>
          </p:cNvPr>
          <p:cNvSpPr>
            <a:spLocks noGrp="1"/>
          </p:cNvSpPr>
          <p:nvPr>
            <p:ph idx="1"/>
          </p:nvPr>
        </p:nvSpPr>
        <p:spPr>
          <a:xfrm>
            <a:off x="1115568" y="2186152"/>
            <a:ext cx="10168128" cy="4225158"/>
          </a:xfrm>
        </p:spPr>
        <p:txBody>
          <a:bodyPr>
            <a:normAutofit/>
          </a:bodyPr>
          <a:lstStyle/>
          <a:p>
            <a:pPr marL="0" indent="0" algn="ctr">
              <a:buNone/>
            </a:pPr>
            <a:r>
              <a:rPr lang="en-US" dirty="0"/>
              <a:t>An Australian mining company exports $100 million of iron ore to a private Chinese steel maker. The Chinese steel maker will only provide payment for the shipment once it arrives in China from Australia (which is known as a trade credit because payment is only made after the goods are received).</a:t>
            </a:r>
          </a:p>
          <a:p>
            <a:pPr marL="0" indent="0" algn="ctr">
              <a:buNone/>
            </a:pPr>
            <a:r>
              <a:rPr lang="en-US" b="1" dirty="0">
                <a:solidFill>
                  <a:srgbClr val="92D050"/>
                </a:solidFill>
              </a:rPr>
              <a:t>The $100m shipment of iron ore from Australia is an export and is recorded as a ‘goods credit’ under the trade balance. </a:t>
            </a:r>
          </a:p>
          <a:p>
            <a:pPr marL="0" indent="0" algn="ctr">
              <a:buNone/>
            </a:pPr>
            <a:r>
              <a:rPr lang="en-US" b="1" dirty="0">
                <a:solidFill>
                  <a:srgbClr val="FF0000"/>
                </a:solidFill>
              </a:rPr>
              <a:t>The trade credit payment from the Chinese steel maker is recorded in the financial accounts as a debit under ‘other investment – trade credit’.</a:t>
            </a:r>
            <a:endParaRPr lang="en-US" dirty="0"/>
          </a:p>
          <a:p>
            <a:pPr marL="0" indent="0" algn="ctr">
              <a:buNone/>
            </a:pPr>
            <a:endParaRPr lang="en-US" dirty="0"/>
          </a:p>
        </p:txBody>
      </p:sp>
    </p:spTree>
    <p:extLst>
      <p:ext uri="{BB962C8B-B14F-4D97-AF65-F5344CB8AC3E}">
        <p14:creationId xmlns:p14="http://schemas.microsoft.com/office/powerpoint/2010/main" val="599964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165E3-5CF9-83BA-21FF-85D98A0A04C1}"/>
              </a:ext>
            </a:extLst>
          </p:cNvPr>
          <p:cNvSpPr>
            <a:spLocks noGrp="1"/>
          </p:cNvSpPr>
          <p:nvPr>
            <p:ph type="title"/>
          </p:nvPr>
        </p:nvSpPr>
        <p:spPr/>
        <p:txBody>
          <a:bodyPr/>
          <a:lstStyle/>
          <a:p>
            <a:r>
              <a:rPr lang="en-US" dirty="0"/>
              <a:t>CREDIT AND DEBIT SCENARIOS</a:t>
            </a:r>
          </a:p>
        </p:txBody>
      </p:sp>
      <p:sp>
        <p:nvSpPr>
          <p:cNvPr id="3" name="Content Placeholder 2">
            <a:extLst>
              <a:ext uri="{FF2B5EF4-FFF2-40B4-BE49-F238E27FC236}">
                <a16:creationId xmlns:a16="http://schemas.microsoft.com/office/drawing/2014/main" id="{28D622D9-4748-B6C7-22EF-5A85DFFB795D}"/>
              </a:ext>
            </a:extLst>
          </p:cNvPr>
          <p:cNvSpPr>
            <a:spLocks noGrp="1"/>
          </p:cNvSpPr>
          <p:nvPr>
            <p:ph idx="1"/>
          </p:nvPr>
        </p:nvSpPr>
        <p:spPr>
          <a:xfrm>
            <a:off x="484632" y="2695574"/>
            <a:ext cx="11000232" cy="3275457"/>
          </a:xfrm>
        </p:spPr>
        <p:txBody>
          <a:bodyPr/>
          <a:lstStyle/>
          <a:p>
            <a:pPr marL="0" indent="0" algn="ctr">
              <a:buNone/>
            </a:pPr>
            <a:r>
              <a:rPr lang="en-US" dirty="0"/>
              <a:t>Taylor, an Australian resident, buys $20 million of shares in a company listed on the New York Stock Exchange, equivalent to less than 10 per cent of the voting rights in that company. The shares are paid for using money from Taylor’s bank account in Australia.</a:t>
            </a:r>
          </a:p>
        </p:txBody>
      </p:sp>
    </p:spTree>
    <p:extLst>
      <p:ext uri="{BB962C8B-B14F-4D97-AF65-F5344CB8AC3E}">
        <p14:creationId xmlns:p14="http://schemas.microsoft.com/office/powerpoint/2010/main" val="40864320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165E3-5CF9-83BA-21FF-85D98A0A04C1}"/>
              </a:ext>
            </a:extLst>
          </p:cNvPr>
          <p:cNvSpPr>
            <a:spLocks noGrp="1"/>
          </p:cNvSpPr>
          <p:nvPr>
            <p:ph type="title"/>
          </p:nvPr>
        </p:nvSpPr>
        <p:spPr/>
        <p:txBody>
          <a:bodyPr/>
          <a:lstStyle/>
          <a:p>
            <a:r>
              <a:rPr lang="en-US" dirty="0"/>
              <a:t>CREDIT AND DEBIT SCENARIOS</a:t>
            </a:r>
          </a:p>
        </p:txBody>
      </p:sp>
      <p:sp>
        <p:nvSpPr>
          <p:cNvPr id="3" name="Content Placeholder 2">
            <a:extLst>
              <a:ext uri="{FF2B5EF4-FFF2-40B4-BE49-F238E27FC236}">
                <a16:creationId xmlns:a16="http://schemas.microsoft.com/office/drawing/2014/main" id="{28D622D9-4748-B6C7-22EF-5A85DFFB795D}"/>
              </a:ext>
            </a:extLst>
          </p:cNvPr>
          <p:cNvSpPr>
            <a:spLocks noGrp="1"/>
          </p:cNvSpPr>
          <p:nvPr>
            <p:ph idx="1"/>
          </p:nvPr>
        </p:nvSpPr>
        <p:spPr>
          <a:xfrm>
            <a:off x="604911" y="2533650"/>
            <a:ext cx="11127544" cy="3775710"/>
          </a:xfrm>
        </p:spPr>
        <p:txBody>
          <a:bodyPr>
            <a:normAutofit/>
          </a:bodyPr>
          <a:lstStyle/>
          <a:p>
            <a:pPr marL="0" indent="0" algn="ctr">
              <a:buNone/>
            </a:pPr>
            <a:r>
              <a:rPr lang="en-US" dirty="0"/>
              <a:t>Taylor, an Australian resident, buys $20 million of shares in a company listed on the New York Stock Exchange, equivalent to less than 10 per cent of the voting rights in that company. The shares are paid for using money from Taylor’s bank account in Australia.</a:t>
            </a:r>
          </a:p>
          <a:p>
            <a:pPr marL="0" indent="0" algn="ctr">
              <a:buNone/>
            </a:pPr>
            <a:r>
              <a:rPr lang="en-US" b="1" dirty="0">
                <a:solidFill>
                  <a:srgbClr val="FF0000"/>
                </a:solidFill>
              </a:rPr>
              <a:t>The $20 million of shares purchased by Taylor is recorded in the financial account as a debit under ‘portfolio investment’, because the purchase does not result in a significant degree of influence over the firm. </a:t>
            </a:r>
          </a:p>
          <a:p>
            <a:pPr marL="0" indent="0" algn="ctr">
              <a:buNone/>
            </a:pPr>
            <a:r>
              <a:rPr lang="en-US" b="1" dirty="0">
                <a:solidFill>
                  <a:srgbClr val="92D050"/>
                </a:solidFill>
              </a:rPr>
              <a:t>The payment for the shares is made from Taylor's Australian bank account and recorded in the financial accounts as a credit under ‘other investment – currency and deposits’.</a:t>
            </a:r>
          </a:p>
        </p:txBody>
      </p:sp>
    </p:spTree>
    <p:extLst>
      <p:ext uri="{BB962C8B-B14F-4D97-AF65-F5344CB8AC3E}">
        <p14:creationId xmlns:p14="http://schemas.microsoft.com/office/powerpoint/2010/main" val="1208395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165E3-5CF9-83BA-21FF-85D98A0A04C1}"/>
              </a:ext>
            </a:extLst>
          </p:cNvPr>
          <p:cNvSpPr>
            <a:spLocks noGrp="1"/>
          </p:cNvSpPr>
          <p:nvPr>
            <p:ph type="title"/>
          </p:nvPr>
        </p:nvSpPr>
        <p:spPr/>
        <p:txBody>
          <a:bodyPr/>
          <a:lstStyle/>
          <a:p>
            <a:r>
              <a:rPr lang="en-US" dirty="0"/>
              <a:t>CREDIT AND DEBIT SCENARIOS</a:t>
            </a:r>
          </a:p>
        </p:txBody>
      </p:sp>
      <p:sp>
        <p:nvSpPr>
          <p:cNvPr id="3" name="Content Placeholder 2">
            <a:extLst>
              <a:ext uri="{FF2B5EF4-FFF2-40B4-BE49-F238E27FC236}">
                <a16:creationId xmlns:a16="http://schemas.microsoft.com/office/drawing/2014/main" id="{28D622D9-4748-B6C7-22EF-5A85DFFB795D}"/>
              </a:ext>
            </a:extLst>
          </p:cNvPr>
          <p:cNvSpPr>
            <a:spLocks noGrp="1"/>
          </p:cNvSpPr>
          <p:nvPr>
            <p:ph idx="1"/>
          </p:nvPr>
        </p:nvSpPr>
        <p:spPr>
          <a:xfrm>
            <a:off x="604911" y="2208628"/>
            <a:ext cx="11127544" cy="4100732"/>
          </a:xfrm>
        </p:spPr>
        <p:txBody>
          <a:bodyPr>
            <a:normAutofit/>
          </a:bodyPr>
          <a:lstStyle/>
          <a:p>
            <a:pPr marL="0" indent="0" algn="ctr">
              <a:buNone/>
            </a:pPr>
            <a:r>
              <a:rPr lang="en-US" dirty="0"/>
              <a:t>Taylor, an Australian resident, buys $20 million of shares in a company listed on the New York Stock Exchange, equivalent to less than 10 per cent of the voting rights in that company. The shares are paid for using money from Taylor’s bank account in Australia.</a:t>
            </a:r>
          </a:p>
          <a:p>
            <a:pPr marL="0" indent="0" algn="ctr">
              <a:buNone/>
            </a:pPr>
            <a:r>
              <a:rPr lang="en-US" b="1" dirty="0">
                <a:solidFill>
                  <a:srgbClr val="92D050"/>
                </a:solidFill>
              </a:rPr>
              <a:t>The payment for the shares is made from Taylor's Australian bank account and recorded in the financial accounts as a credit under ‘other investment – currency and deposits’.</a:t>
            </a:r>
          </a:p>
          <a:p>
            <a:pPr marL="0" indent="0" algn="ctr">
              <a:buNone/>
            </a:pPr>
            <a:r>
              <a:rPr lang="en-US" b="1" dirty="0"/>
              <a:t>NOTE: This is both a </a:t>
            </a:r>
            <a:r>
              <a:rPr lang="en-US" b="1" dirty="0">
                <a:solidFill>
                  <a:srgbClr val="92D050"/>
                </a:solidFill>
              </a:rPr>
              <a:t>credit </a:t>
            </a:r>
            <a:r>
              <a:rPr lang="en-US" b="1" dirty="0"/>
              <a:t>and</a:t>
            </a:r>
            <a:r>
              <a:rPr lang="en-US" b="1" dirty="0">
                <a:solidFill>
                  <a:srgbClr val="92D050"/>
                </a:solidFill>
              </a:rPr>
              <a:t> </a:t>
            </a:r>
            <a:r>
              <a:rPr lang="en-US" b="1" dirty="0">
                <a:solidFill>
                  <a:srgbClr val="FF0000"/>
                </a:solidFill>
              </a:rPr>
              <a:t>debit</a:t>
            </a:r>
            <a:r>
              <a:rPr lang="en-US" b="1" dirty="0">
                <a:solidFill>
                  <a:srgbClr val="92D050"/>
                </a:solidFill>
              </a:rPr>
              <a:t> </a:t>
            </a:r>
            <a:r>
              <a:rPr lang="en-US" b="1" dirty="0"/>
              <a:t>in the KAFA</a:t>
            </a:r>
          </a:p>
        </p:txBody>
      </p:sp>
    </p:spTree>
    <p:extLst>
      <p:ext uri="{BB962C8B-B14F-4D97-AF65-F5344CB8AC3E}">
        <p14:creationId xmlns:p14="http://schemas.microsoft.com/office/powerpoint/2010/main" val="2683211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8BF12-F0CA-65BA-9DDD-AD88C3F349E2}"/>
              </a:ext>
            </a:extLst>
          </p:cNvPr>
          <p:cNvSpPr>
            <a:spLocks noGrp="1"/>
          </p:cNvSpPr>
          <p:nvPr>
            <p:ph type="title"/>
          </p:nvPr>
        </p:nvSpPr>
        <p:spPr/>
        <p:txBody>
          <a:bodyPr/>
          <a:lstStyle/>
          <a:p>
            <a:pPr algn="ctr"/>
            <a:r>
              <a:rPr lang="en-US" sz="3600" dirty="0"/>
              <a:t>DRAW BOP TABLE IN YOUR BOOKS</a:t>
            </a:r>
          </a:p>
        </p:txBody>
      </p:sp>
      <p:graphicFrame>
        <p:nvGraphicFramePr>
          <p:cNvPr id="5" name="Table 5">
            <a:extLst>
              <a:ext uri="{FF2B5EF4-FFF2-40B4-BE49-F238E27FC236}">
                <a16:creationId xmlns:a16="http://schemas.microsoft.com/office/drawing/2014/main" id="{69917059-90E8-3FC8-7F04-286C7F678CCF}"/>
              </a:ext>
            </a:extLst>
          </p:cNvPr>
          <p:cNvGraphicFramePr>
            <a:graphicFrameLocks noGrp="1"/>
          </p:cNvGraphicFramePr>
          <p:nvPr>
            <p:ph idx="1"/>
            <p:extLst>
              <p:ext uri="{D42A27DB-BD31-4B8C-83A1-F6EECF244321}">
                <p14:modId xmlns:p14="http://schemas.microsoft.com/office/powerpoint/2010/main" val="2646906138"/>
              </p:ext>
            </p:extLst>
          </p:nvPr>
        </p:nvGraphicFramePr>
        <p:xfrm>
          <a:off x="2255839" y="2103439"/>
          <a:ext cx="7680324" cy="2296160"/>
        </p:xfrm>
        <a:graphic>
          <a:graphicData uri="http://schemas.openxmlformats.org/drawingml/2006/table">
            <a:tbl>
              <a:tblPr firstRow="1" bandRow="1">
                <a:tableStyleId>{5C22544A-7EE6-4342-B048-85BDC9FD1C3A}</a:tableStyleId>
              </a:tblPr>
              <a:tblGrid>
                <a:gridCol w="1920081">
                  <a:extLst>
                    <a:ext uri="{9D8B030D-6E8A-4147-A177-3AD203B41FA5}">
                      <a16:colId xmlns:a16="http://schemas.microsoft.com/office/drawing/2014/main" val="3362436661"/>
                    </a:ext>
                  </a:extLst>
                </a:gridCol>
                <a:gridCol w="1920081">
                  <a:extLst>
                    <a:ext uri="{9D8B030D-6E8A-4147-A177-3AD203B41FA5}">
                      <a16:colId xmlns:a16="http://schemas.microsoft.com/office/drawing/2014/main" val="3413921192"/>
                    </a:ext>
                  </a:extLst>
                </a:gridCol>
                <a:gridCol w="1920081">
                  <a:extLst>
                    <a:ext uri="{9D8B030D-6E8A-4147-A177-3AD203B41FA5}">
                      <a16:colId xmlns:a16="http://schemas.microsoft.com/office/drawing/2014/main" val="185497836"/>
                    </a:ext>
                  </a:extLst>
                </a:gridCol>
                <a:gridCol w="1920081">
                  <a:extLst>
                    <a:ext uri="{9D8B030D-6E8A-4147-A177-3AD203B41FA5}">
                      <a16:colId xmlns:a16="http://schemas.microsoft.com/office/drawing/2014/main" val="3237033910"/>
                    </a:ext>
                  </a:extLst>
                </a:gridCol>
              </a:tblGrid>
              <a:tr h="370840">
                <a:tc>
                  <a:txBody>
                    <a:bodyPr/>
                    <a:lstStyle/>
                    <a:p>
                      <a:endParaRPr lang="en-US" dirty="0"/>
                    </a:p>
                  </a:txBody>
                  <a:tcPr marL="87897" marR="87897">
                    <a:solidFill>
                      <a:schemeClr val="accent3">
                        <a:lumMod val="60000"/>
                        <a:lumOff val="40000"/>
                      </a:schemeClr>
                    </a:solidFill>
                  </a:tcPr>
                </a:tc>
                <a:tc>
                  <a:txBody>
                    <a:bodyPr/>
                    <a:lstStyle/>
                    <a:p>
                      <a:r>
                        <a:rPr lang="en-US">
                          <a:solidFill>
                            <a:schemeClr val="tx1"/>
                          </a:solidFill>
                        </a:rPr>
                        <a:t>CREDIT</a:t>
                      </a:r>
                      <a:endParaRPr lang="en-US" dirty="0">
                        <a:solidFill>
                          <a:schemeClr val="tx1"/>
                        </a:solidFill>
                      </a:endParaRPr>
                    </a:p>
                  </a:txBody>
                  <a:tcPr marL="87897" marR="87897">
                    <a:solidFill>
                      <a:schemeClr val="accent3">
                        <a:lumMod val="60000"/>
                        <a:lumOff val="40000"/>
                      </a:schemeClr>
                    </a:solidFill>
                  </a:tcPr>
                </a:tc>
                <a:tc>
                  <a:txBody>
                    <a:bodyPr/>
                    <a:lstStyle/>
                    <a:p>
                      <a:r>
                        <a:rPr lang="en-US" dirty="0">
                          <a:solidFill>
                            <a:schemeClr val="tx1"/>
                          </a:solidFill>
                        </a:rPr>
                        <a:t>DEBIT</a:t>
                      </a:r>
                    </a:p>
                  </a:txBody>
                  <a:tcPr marL="87897" marR="87897">
                    <a:solidFill>
                      <a:schemeClr val="accent3">
                        <a:lumMod val="60000"/>
                        <a:lumOff val="40000"/>
                      </a:schemeClr>
                    </a:solidFill>
                  </a:tcPr>
                </a:tc>
                <a:tc>
                  <a:txBody>
                    <a:bodyPr/>
                    <a:lstStyle/>
                    <a:p>
                      <a:r>
                        <a:rPr lang="en-US" dirty="0">
                          <a:solidFill>
                            <a:schemeClr val="tx1"/>
                          </a:solidFill>
                        </a:rPr>
                        <a:t>TOTALS</a:t>
                      </a:r>
                    </a:p>
                  </a:txBody>
                  <a:tcPr marL="87897" marR="87897">
                    <a:solidFill>
                      <a:srgbClr val="00C577"/>
                    </a:solidFill>
                  </a:tcPr>
                </a:tc>
                <a:extLst>
                  <a:ext uri="{0D108BD9-81ED-4DB2-BD59-A6C34878D82A}">
                    <a16:rowId xmlns:a16="http://schemas.microsoft.com/office/drawing/2014/main" val="1330535529"/>
                  </a:ext>
                </a:extLst>
              </a:tr>
              <a:tr h="370840">
                <a:tc>
                  <a:txBody>
                    <a:bodyPr/>
                    <a:lstStyle/>
                    <a:p>
                      <a:r>
                        <a:rPr lang="en-US"/>
                        <a:t>Current Account</a:t>
                      </a:r>
                      <a:endParaRPr lang="en-US" dirty="0"/>
                    </a:p>
                  </a:txBody>
                  <a:tcPr marL="87897" marR="87897"/>
                </a:tc>
                <a:tc>
                  <a:txBody>
                    <a:bodyPr/>
                    <a:lstStyle/>
                    <a:p>
                      <a:endParaRPr lang="en-US"/>
                    </a:p>
                    <a:p>
                      <a:endParaRPr lang="en-US" dirty="0"/>
                    </a:p>
                  </a:txBody>
                  <a:tcPr marL="87897" marR="87897"/>
                </a:tc>
                <a:tc>
                  <a:txBody>
                    <a:bodyPr/>
                    <a:lstStyle/>
                    <a:p>
                      <a:endParaRPr lang="en-US"/>
                    </a:p>
                  </a:txBody>
                  <a:tcPr marL="87897" marR="87897"/>
                </a:tc>
                <a:tc>
                  <a:txBody>
                    <a:bodyPr/>
                    <a:lstStyle/>
                    <a:p>
                      <a:endParaRPr lang="en-US" dirty="0"/>
                    </a:p>
                  </a:txBody>
                  <a:tcPr marL="87897" marR="87897">
                    <a:solidFill>
                      <a:srgbClr val="00C577"/>
                    </a:solidFill>
                  </a:tcPr>
                </a:tc>
                <a:extLst>
                  <a:ext uri="{0D108BD9-81ED-4DB2-BD59-A6C34878D82A}">
                    <a16:rowId xmlns:a16="http://schemas.microsoft.com/office/drawing/2014/main" val="2654641382"/>
                  </a:ext>
                </a:extLst>
              </a:tr>
              <a:tr h="370840">
                <a:tc>
                  <a:txBody>
                    <a:bodyPr/>
                    <a:lstStyle/>
                    <a:p>
                      <a:r>
                        <a:rPr lang="en-US"/>
                        <a:t>Capital and Financial Account</a:t>
                      </a:r>
                      <a:endParaRPr lang="en-US" dirty="0"/>
                    </a:p>
                  </a:txBody>
                  <a:tcPr marL="87897" marR="87897"/>
                </a:tc>
                <a:tc>
                  <a:txBody>
                    <a:bodyPr/>
                    <a:lstStyle/>
                    <a:p>
                      <a:endParaRPr lang="en-US"/>
                    </a:p>
                    <a:p>
                      <a:endParaRPr lang="en-US"/>
                    </a:p>
                    <a:p>
                      <a:endParaRPr lang="en-US" dirty="0"/>
                    </a:p>
                  </a:txBody>
                  <a:tcPr marL="87897" marR="87897"/>
                </a:tc>
                <a:tc>
                  <a:txBody>
                    <a:bodyPr/>
                    <a:lstStyle/>
                    <a:p>
                      <a:endParaRPr lang="en-US"/>
                    </a:p>
                  </a:txBody>
                  <a:tcPr marL="87897" marR="87897"/>
                </a:tc>
                <a:tc>
                  <a:txBody>
                    <a:bodyPr/>
                    <a:lstStyle/>
                    <a:p>
                      <a:endParaRPr lang="en-US" dirty="0"/>
                    </a:p>
                  </a:txBody>
                  <a:tcPr marL="87897" marR="87897">
                    <a:solidFill>
                      <a:srgbClr val="00C577"/>
                    </a:solidFill>
                  </a:tcPr>
                </a:tc>
                <a:extLst>
                  <a:ext uri="{0D108BD9-81ED-4DB2-BD59-A6C34878D82A}">
                    <a16:rowId xmlns:a16="http://schemas.microsoft.com/office/drawing/2014/main" val="3109075048"/>
                  </a:ext>
                </a:extLst>
              </a:tr>
              <a:tr h="370840">
                <a:tc>
                  <a:txBody>
                    <a:bodyPr/>
                    <a:lstStyle/>
                    <a:p>
                      <a:r>
                        <a:rPr lang="en-US"/>
                        <a:t>TOTALS</a:t>
                      </a:r>
                      <a:endParaRPr lang="en-US" dirty="0"/>
                    </a:p>
                  </a:txBody>
                  <a:tcPr marL="87897" marR="87897">
                    <a:solidFill>
                      <a:schemeClr val="accent3">
                        <a:lumMod val="60000"/>
                        <a:lumOff val="40000"/>
                      </a:schemeClr>
                    </a:solidFill>
                  </a:tcPr>
                </a:tc>
                <a:tc>
                  <a:txBody>
                    <a:bodyPr/>
                    <a:lstStyle/>
                    <a:p>
                      <a:endParaRPr lang="en-US"/>
                    </a:p>
                  </a:txBody>
                  <a:tcPr marL="87897" marR="87897">
                    <a:solidFill>
                      <a:schemeClr val="accent3">
                        <a:lumMod val="60000"/>
                        <a:lumOff val="40000"/>
                      </a:schemeClr>
                    </a:solidFill>
                  </a:tcPr>
                </a:tc>
                <a:tc>
                  <a:txBody>
                    <a:bodyPr/>
                    <a:lstStyle/>
                    <a:p>
                      <a:endParaRPr lang="en-US" dirty="0"/>
                    </a:p>
                  </a:txBody>
                  <a:tcPr marL="87897" marR="87897">
                    <a:solidFill>
                      <a:schemeClr val="accent3">
                        <a:lumMod val="60000"/>
                        <a:lumOff val="40000"/>
                      </a:schemeClr>
                    </a:solidFill>
                  </a:tcPr>
                </a:tc>
                <a:tc>
                  <a:txBody>
                    <a:bodyPr/>
                    <a:lstStyle/>
                    <a:p>
                      <a:endParaRPr lang="en-US" dirty="0"/>
                    </a:p>
                  </a:txBody>
                  <a:tcPr marL="87897" marR="87897">
                    <a:solidFill>
                      <a:srgbClr val="00C577"/>
                    </a:solidFill>
                  </a:tcPr>
                </a:tc>
                <a:extLst>
                  <a:ext uri="{0D108BD9-81ED-4DB2-BD59-A6C34878D82A}">
                    <a16:rowId xmlns:a16="http://schemas.microsoft.com/office/drawing/2014/main" val="3152405497"/>
                  </a:ext>
                </a:extLst>
              </a:tr>
            </a:tbl>
          </a:graphicData>
        </a:graphic>
      </p:graphicFrame>
    </p:spTree>
    <p:extLst>
      <p:ext uri="{BB962C8B-B14F-4D97-AF65-F5344CB8AC3E}">
        <p14:creationId xmlns:p14="http://schemas.microsoft.com/office/powerpoint/2010/main" val="1297565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38CF6F1C-E3E2-4C57-F29D-25518B28B3AB}"/>
              </a:ext>
            </a:extLst>
          </p:cNvPr>
          <p:cNvSpPr>
            <a:spLocks noGrp="1"/>
          </p:cNvSpPr>
          <p:nvPr>
            <p:ph type="body" idx="1"/>
          </p:nvPr>
        </p:nvSpPr>
        <p:spPr>
          <a:solidFill>
            <a:schemeClr val="bg1"/>
          </a:solidFill>
        </p:spPr>
        <p:txBody>
          <a:bodyPr/>
          <a:lstStyle/>
          <a:p>
            <a:pPr marL="109728" indent="0">
              <a:buNone/>
            </a:pPr>
            <a:r>
              <a:rPr lang="en-US" sz="2000" b="1" dirty="0"/>
              <a:t>Sale of $5000 iron to China</a:t>
            </a:r>
          </a:p>
          <a:p>
            <a:endParaRPr lang="en-AU" dirty="0"/>
          </a:p>
        </p:txBody>
      </p:sp>
      <p:sp>
        <p:nvSpPr>
          <p:cNvPr id="10" name="Text Placeholder 9">
            <a:extLst>
              <a:ext uri="{FF2B5EF4-FFF2-40B4-BE49-F238E27FC236}">
                <a16:creationId xmlns:a16="http://schemas.microsoft.com/office/drawing/2014/main" id="{3A6E8D26-2C89-190F-F027-737E52CC3FAF}"/>
              </a:ext>
            </a:extLst>
          </p:cNvPr>
          <p:cNvSpPr>
            <a:spLocks noGrp="1"/>
          </p:cNvSpPr>
          <p:nvPr>
            <p:ph type="body" sz="quarter" idx="3"/>
          </p:nvPr>
        </p:nvSpPr>
        <p:spPr>
          <a:solidFill>
            <a:schemeClr val="bg1"/>
          </a:solidFill>
        </p:spPr>
        <p:txBody>
          <a:bodyPr/>
          <a:lstStyle/>
          <a:p>
            <a:r>
              <a:rPr lang="en-US" sz="2000" b="1" dirty="0"/>
              <a:t>Sale of $2000 shares to US investor </a:t>
            </a:r>
          </a:p>
        </p:txBody>
      </p:sp>
      <p:sp>
        <p:nvSpPr>
          <p:cNvPr id="3" name="Content Placeholder 2">
            <a:extLst>
              <a:ext uri="{FF2B5EF4-FFF2-40B4-BE49-F238E27FC236}">
                <a16:creationId xmlns:a16="http://schemas.microsoft.com/office/drawing/2014/main" id="{4C49A966-7BD2-CF44-BC5E-305E99EE3D6F}"/>
              </a:ext>
            </a:extLst>
          </p:cNvPr>
          <p:cNvSpPr>
            <a:spLocks noGrp="1"/>
          </p:cNvSpPr>
          <p:nvPr>
            <p:ph sz="half" idx="13"/>
          </p:nvPr>
        </p:nvSpPr>
        <p:spPr/>
        <p:txBody>
          <a:bodyPr>
            <a:normAutofit/>
          </a:bodyPr>
          <a:lstStyle/>
          <a:p>
            <a:pPr marL="109728" indent="0">
              <a:buNone/>
            </a:pPr>
            <a:r>
              <a:rPr lang="en-US" sz="2600" dirty="0"/>
              <a:t>CR of $2000 in FA and offsetting entry is DR of $2000 in FA representing the import of currency.</a:t>
            </a:r>
          </a:p>
        </p:txBody>
      </p:sp>
      <p:sp>
        <p:nvSpPr>
          <p:cNvPr id="6" name="Content Placeholder 5">
            <a:extLst>
              <a:ext uri="{FF2B5EF4-FFF2-40B4-BE49-F238E27FC236}">
                <a16:creationId xmlns:a16="http://schemas.microsoft.com/office/drawing/2014/main" id="{E61A0542-865F-9965-47E0-469F47615678}"/>
              </a:ext>
            </a:extLst>
          </p:cNvPr>
          <p:cNvSpPr>
            <a:spLocks noGrp="1"/>
          </p:cNvSpPr>
          <p:nvPr>
            <p:ph type="body" idx="14"/>
          </p:nvPr>
        </p:nvSpPr>
        <p:spPr>
          <a:solidFill>
            <a:schemeClr val="bg1"/>
          </a:solidFill>
        </p:spPr>
        <p:txBody>
          <a:bodyPr/>
          <a:lstStyle/>
          <a:p>
            <a:pPr marL="109728" indent="0">
              <a:buNone/>
            </a:pPr>
            <a:r>
              <a:rPr lang="en-US" b="1" dirty="0"/>
              <a:t>Purchase of $10,000 worth of TVs from Korea</a:t>
            </a:r>
          </a:p>
        </p:txBody>
      </p:sp>
      <p:sp>
        <p:nvSpPr>
          <p:cNvPr id="11" name="Content Placeholder 10">
            <a:extLst>
              <a:ext uri="{FF2B5EF4-FFF2-40B4-BE49-F238E27FC236}">
                <a16:creationId xmlns:a16="http://schemas.microsoft.com/office/drawing/2014/main" id="{9D425570-DF14-8462-6318-BE0F213A9F96}"/>
              </a:ext>
            </a:extLst>
          </p:cNvPr>
          <p:cNvSpPr>
            <a:spLocks noGrp="1"/>
          </p:cNvSpPr>
          <p:nvPr>
            <p:ph sz="half" idx="15"/>
          </p:nvPr>
        </p:nvSpPr>
        <p:spPr>
          <a:xfrm>
            <a:off x="4560399" y="959611"/>
            <a:ext cx="6408671" cy="551939"/>
          </a:xfrm>
        </p:spPr>
        <p:txBody>
          <a:bodyPr>
            <a:normAutofit fontScale="70000" lnSpcReduction="20000"/>
          </a:bodyPr>
          <a:lstStyle/>
          <a:p>
            <a:pPr marL="109728" indent="0">
              <a:buNone/>
            </a:pPr>
            <a:r>
              <a:rPr lang="en-US" sz="2400" dirty="0"/>
              <a:t>CR of $5000 in CA (goods) and offsetting entry is DR of $5000 in FA representing the import of currency.</a:t>
            </a:r>
          </a:p>
          <a:p>
            <a:pPr marL="109728" indent="0">
              <a:buNone/>
            </a:pPr>
            <a:endParaRPr lang="en-US" sz="2400" dirty="0"/>
          </a:p>
          <a:p>
            <a:endParaRPr lang="en-AU" sz="2400" dirty="0"/>
          </a:p>
        </p:txBody>
      </p:sp>
      <p:sp>
        <p:nvSpPr>
          <p:cNvPr id="12" name="Content Placeholder 11">
            <a:extLst>
              <a:ext uri="{FF2B5EF4-FFF2-40B4-BE49-F238E27FC236}">
                <a16:creationId xmlns:a16="http://schemas.microsoft.com/office/drawing/2014/main" id="{462D9078-93D4-3E3B-B04E-D404DD7E9446}"/>
              </a:ext>
            </a:extLst>
          </p:cNvPr>
          <p:cNvSpPr>
            <a:spLocks noGrp="1"/>
          </p:cNvSpPr>
          <p:nvPr>
            <p:ph sz="half" idx="16"/>
          </p:nvPr>
        </p:nvSpPr>
        <p:spPr/>
        <p:txBody>
          <a:bodyPr/>
          <a:lstStyle/>
          <a:p>
            <a:pPr indent="0">
              <a:buNone/>
            </a:pPr>
            <a:r>
              <a:rPr lang="en-US" sz="2600" dirty="0"/>
              <a:t>DR of $10,000 in CA (goods) and offsetting entry is CR of $10,000 in FA representing the export of currency</a:t>
            </a:r>
          </a:p>
        </p:txBody>
      </p:sp>
    </p:spTree>
    <p:extLst>
      <p:ext uri="{BB962C8B-B14F-4D97-AF65-F5344CB8AC3E}">
        <p14:creationId xmlns:p14="http://schemas.microsoft.com/office/powerpoint/2010/main" val="4171450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7AD917C-8FA7-BE0B-0A17-E6E4B80DD543}"/>
              </a:ext>
            </a:extLst>
          </p:cNvPr>
          <p:cNvSpPr>
            <a:spLocks noGrp="1"/>
          </p:cNvSpPr>
          <p:nvPr>
            <p:ph type="title"/>
          </p:nvPr>
        </p:nvSpPr>
        <p:spPr/>
        <p:txBody>
          <a:bodyPr/>
          <a:lstStyle/>
          <a:p>
            <a:r>
              <a:rPr lang="en-US" dirty="0"/>
              <a:t>SOLUTION</a:t>
            </a:r>
          </a:p>
        </p:txBody>
      </p:sp>
      <p:graphicFrame>
        <p:nvGraphicFramePr>
          <p:cNvPr id="5" name="Table 5">
            <a:extLst>
              <a:ext uri="{FF2B5EF4-FFF2-40B4-BE49-F238E27FC236}">
                <a16:creationId xmlns:a16="http://schemas.microsoft.com/office/drawing/2014/main" id="{69917059-90E8-3FC8-7F04-286C7F678CCF}"/>
              </a:ext>
            </a:extLst>
          </p:cNvPr>
          <p:cNvGraphicFramePr>
            <a:graphicFrameLocks noGrp="1"/>
          </p:cNvGraphicFramePr>
          <p:nvPr>
            <p:ph idx="1"/>
            <p:extLst>
              <p:ext uri="{D42A27DB-BD31-4B8C-83A1-F6EECF244321}">
                <p14:modId xmlns:p14="http://schemas.microsoft.com/office/powerpoint/2010/main" val="943523745"/>
              </p:ext>
            </p:extLst>
          </p:nvPr>
        </p:nvGraphicFramePr>
        <p:xfrm>
          <a:off x="2255839" y="2103439"/>
          <a:ext cx="7680324" cy="2844800"/>
        </p:xfrm>
        <a:graphic>
          <a:graphicData uri="http://schemas.openxmlformats.org/drawingml/2006/table">
            <a:tbl>
              <a:tblPr firstRow="1" bandRow="1">
                <a:tableStyleId>{5C22544A-7EE6-4342-B048-85BDC9FD1C3A}</a:tableStyleId>
              </a:tblPr>
              <a:tblGrid>
                <a:gridCol w="1759804">
                  <a:extLst>
                    <a:ext uri="{9D8B030D-6E8A-4147-A177-3AD203B41FA5}">
                      <a16:colId xmlns:a16="http://schemas.microsoft.com/office/drawing/2014/main" val="3362436661"/>
                    </a:ext>
                  </a:extLst>
                </a:gridCol>
                <a:gridCol w="2080358">
                  <a:extLst>
                    <a:ext uri="{9D8B030D-6E8A-4147-A177-3AD203B41FA5}">
                      <a16:colId xmlns:a16="http://schemas.microsoft.com/office/drawing/2014/main" val="3413921192"/>
                    </a:ext>
                  </a:extLst>
                </a:gridCol>
                <a:gridCol w="1920081">
                  <a:extLst>
                    <a:ext uri="{9D8B030D-6E8A-4147-A177-3AD203B41FA5}">
                      <a16:colId xmlns:a16="http://schemas.microsoft.com/office/drawing/2014/main" val="185497836"/>
                    </a:ext>
                  </a:extLst>
                </a:gridCol>
                <a:gridCol w="1920081">
                  <a:extLst>
                    <a:ext uri="{9D8B030D-6E8A-4147-A177-3AD203B41FA5}">
                      <a16:colId xmlns:a16="http://schemas.microsoft.com/office/drawing/2014/main" val="3237033910"/>
                    </a:ext>
                  </a:extLst>
                </a:gridCol>
              </a:tblGrid>
              <a:tr h="370840">
                <a:tc>
                  <a:txBody>
                    <a:bodyPr/>
                    <a:lstStyle/>
                    <a:p>
                      <a:endParaRPr lang="en-US" dirty="0"/>
                    </a:p>
                  </a:txBody>
                  <a:tcPr marL="87897" marR="87897"/>
                </a:tc>
                <a:tc>
                  <a:txBody>
                    <a:bodyPr/>
                    <a:lstStyle/>
                    <a:p>
                      <a:r>
                        <a:rPr lang="en-US" dirty="0"/>
                        <a:t>CREDIT</a:t>
                      </a:r>
                    </a:p>
                  </a:txBody>
                  <a:tcPr marL="87897" marR="87897"/>
                </a:tc>
                <a:tc>
                  <a:txBody>
                    <a:bodyPr/>
                    <a:lstStyle/>
                    <a:p>
                      <a:r>
                        <a:rPr lang="en-US" dirty="0"/>
                        <a:t>DEBIT</a:t>
                      </a:r>
                    </a:p>
                  </a:txBody>
                  <a:tcPr marL="87897" marR="87897"/>
                </a:tc>
                <a:tc>
                  <a:txBody>
                    <a:bodyPr/>
                    <a:lstStyle/>
                    <a:p>
                      <a:r>
                        <a:rPr lang="en-US" dirty="0"/>
                        <a:t>TOTALS</a:t>
                      </a:r>
                    </a:p>
                  </a:txBody>
                  <a:tcPr marL="87897" marR="87897">
                    <a:solidFill>
                      <a:srgbClr val="00C577"/>
                    </a:solidFill>
                  </a:tcPr>
                </a:tc>
                <a:extLst>
                  <a:ext uri="{0D108BD9-81ED-4DB2-BD59-A6C34878D82A}">
                    <a16:rowId xmlns:a16="http://schemas.microsoft.com/office/drawing/2014/main" val="1330535529"/>
                  </a:ext>
                </a:extLst>
              </a:tr>
              <a:tr h="370840">
                <a:tc>
                  <a:txBody>
                    <a:bodyPr/>
                    <a:lstStyle/>
                    <a:p>
                      <a:r>
                        <a:rPr lang="en-US" dirty="0"/>
                        <a:t>Current Account</a:t>
                      </a:r>
                    </a:p>
                  </a:txBody>
                  <a:tcPr marL="87897" marR="87897"/>
                </a:tc>
                <a:tc>
                  <a:txBody>
                    <a:bodyPr/>
                    <a:lstStyle/>
                    <a:p>
                      <a:r>
                        <a:rPr lang="en-US" dirty="0"/>
                        <a:t>+$5000 (Iron Ore)</a:t>
                      </a:r>
                    </a:p>
                    <a:p>
                      <a:endParaRPr lang="en-US" dirty="0"/>
                    </a:p>
                  </a:txBody>
                  <a:tcPr marL="87897" marR="87897"/>
                </a:tc>
                <a:tc>
                  <a:txBody>
                    <a:bodyPr/>
                    <a:lstStyle/>
                    <a:p>
                      <a:r>
                        <a:rPr lang="en-US" dirty="0"/>
                        <a:t>-$10,000 (TV’s)</a:t>
                      </a:r>
                    </a:p>
                  </a:txBody>
                  <a:tcPr marL="87897" marR="87897"/>
                </a:tc>
                <a:tc>
                  <a:txBody>
                    <a:bodyPr/>
                    <a:lstStyle/>
                    <a:p>
                      <a:r>
                        <a:rPr lang="en-US" dirty="0"/>
                        <a:t>+$5,000</a:t>
                      </a:r>
                    </a:p>
                  </a:txBody>
                  <a:tcPr marL="87897" marR="87897">
                    <a:solidFill>
                      <a:srgbClr val="00C577"/>
                    </a:solidFill>
                  </a:tcPr>
                </a:tc>
                <a:extLst>
                  <a:ext uri="{0D108BD9-81ED-4DB2-BD59-A6C34878D82A}">
                    <a16:rowId xmlns:a16="http://schemas.microsoft.com/office/drawing/2014/main" val="2654641382"/>
                  </a:ext>
                </a:extLst>
              </a:tr>
              <a:tr h="370840">
                <a:tc>
                  <a:txBody>
                    <a:bodyPr/>
                    <a:lstStyle/>
                    <a:p>
                      <a:r>
                        <a:rPr lang="en-US" dirty="0"/>
                        <a:t>Capital and Financial Account</a:t>
                      </a:r>
                    </a:p>
                  </a:txBody>
                  <a:tcPr marL="87897" marR="87897"/>
                </a:tc>
                <a:tc>
                  <a:txBody>
                    <a:bodyPr/>
                    <a:lstStyle/>
                    <a:p>
                      <a:endParaRPr lang="en-US" dirty="0"/>
                    </a:p>
                    <a:p>
                      <a:r>
                        <a:rPr lang="en-US" dirty="0"/>
                        <a:t>+$2000 (Shares)</a:t>
                      </a:r>
                    </a:p>
                    <a:p>
                      <a:r>
                        <a:rPr lang="en-US" dirty="0"/>
                        <a:t>+$10,000 (Currency)</a:t>
                      </a:r>
                    </a:p>
                    <a:p>
                      <a:endParaRPr lang="en-US" dirty="0"/>
                    </a:p>
                  </a:txBody>
                  <a:tcPr marL="87897" marR="87897"/>
                </a:tc>
                <a:tc>
                  <a:txBody>
                    <a:bodyPr/>
                    <a:lstStyle/>
                    <a:p>
                      <a:r>
                        <a:rPr lang="en-US" dirty="0"/>
                        <a:t>-$2000 (Currency)</a:t>
                      </a:r>
                    </a:p>
                    <a:p>
                      <a:r>
                        <a:rPr lang="en-US" dirty="0"/>
                        <a:t>-$5000 (Currency)</a:t>
                      </a:r>
                    </a:p>
                  </a:txBody>
                  <a:tcPr marL="87897" marR="87897"/>
                </a:tc>
                <a:tc>
                  <a:txBody>
                    <a:bodyPr/>
                    <a:lstStyle/>
                    <a:p>
                      <a:r>
                        <a:rPr lang="en-US" dirty="0"/>
                        <a:t>-$5,000</a:t>
                      </a:r>
                    </a:p>
                  </a:txBody>
                  <a:tcPr marL="87897" marR="87897">
                    <a:solidFill>
                      <a:srgbClr val="00C577"/>
                    </a:solidFill>
                  </a:tcPr>
                </a:tc>
                <a:extLst>
                  <a:ext uri="{0D108BD9-81ED-4DB2-BD59-A6C34878D82A}">
                    <a16:rowId xmlns:a16="http://schemas.microsoft.com/office/drawing/2014/main" val="3109075048"/>
                  </a:ext>
                </a:extLst>
              </a:tr>
              <a:tr h="370840">
                <a:tc>
                  <a:txBody>
                    <a:bodyPr/>
                    <a:lstStyle/>
                    <a:p>
                      <a:r>
                        <a:rPr lang="en-US" dirty="0"/>
                        <a:t>TOTALS</a:t>
                      </a:r>
                    </a:p>
                  </a:txBody>
                  <a:tcPr marL="87897" marR="87897">
                    <a:solidFill>
                      <a:schemeClr val="accent3">
                        <a:lumMod val="60000"/>
                        <a:lumOff val="40000"/>
                      </a:schemeClr>
                    </a:solidFill>
                  </a:tcPr>
                </a:tc>
                <a:tc>
                  <a:txBody>
                    <a:bodyPr/>
                    <a:lstStyle/>
                    <a:p>
                      <a:r>
                        <a:rPr lang="en-US" dirty="0"/>
                        <a:t>+$17,000</a:t>
                      </a:r>
                    </a:p>
                  </a:txBody>
                  <a:tcPr marL="87897" marR="87897">
                    <a:solidFill>
                      <a:schemeClr val="accent3">
                        <a:lumMod val="60000"/>
                        <a:lumOff val="40000"/>
                      </a:schemeClr>
                    </a:solidFill>
                  </a:tcPr>
                </a:tc>
                <a:tc>
                  <a:txBody>
                    <a:bodyPr/>
                    <a:lstStyle/>
                    <a:p>
                      <a:r>
                        <a:rPr lang="en-US" dirty="0"/>
                        <a:t>-$17,000</a:t>
                      </a:r>
                    </a:p>
                  </a:txBody>
                  <a:tcPr marL="87897" marR="87897">
                    <a:solidFill>
                      <a:schemeClr val="accent3">
                        <a:lumMod val="60000"/>
                        <a:lumOff val="40000"/>
                      </a:schemeClr>
                    </a:solidFill>
                  </a:tcPr>
                </a:tc>
                <a:tc>
                  <a:txBody>
                    <a:bodyPr/>
                    <a:lstStyle/>
                    <a:p>
                      <a:r>
                        <a:rPr lang="en-US" dirty="0"/>
                        <a:t>$0</a:t>
                      </a:r>
                    </a:p>
                  </a:txBody>
                  <a:tcPr marL="87897" marR="87897">
                    <a:solidFill>
                      <a:srgbClr val="00C577"/>
                    </a:solidFill>
                  </a:tcPr>
                </a:tc>
                <a:extLst>
                  <a:ext uri="{0D108BD9-81ED-4DB2-BD59-A6C34878D82A}">
                    <a16:rowId xmlns:a16="http://schemas.microsoft.com/office/drawing/2014/main" val="3152405497"/>
                  </a:ext>
                </a:extLst>
              </a:tr>
            </a:tbl>
          </a:graphicData>
        </a:graphic>
      </p:graphicFrame>
    </p:spTree>
    <p:extLst>
      <p:ext uri="{BB962C8B-B14F-4D97-AF65-F5344CB8AC3E}">
        <p14:creationId xmlns:p14="http://schemas.microsoft.com/office/powerpoint/2010/main" val="34737992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950AF-F8A9-8249-A791-E20C709F721D}"/>
              </a:ext>
            </a:extLst>
          </p:cNvPr>
          <p:cNvSpPr>
            <a:spLocks noGrp="1"/>
          </p:cNvSpPr>
          <p:nvPr>
            <p:ph type="title"/>
          </p:nvPr>
        </p:nvSpPr>
        <p:spPr/>
        <p:txBody>
          <a:bodyPr/>
          <a:lstStyle/>
          <a:p>
            <a:r>
              <a:rPr lang="en-US" dirty="0"/>
              <a:t>YOUR TURN</a:t>
            </a:r>
          </a:p>
        </p:txBody>
      </p:sp>
      <p:sp>
        <p:nvSpPr>
          <p:cNvPr id="3" name="Content Placeholder 2">
            <a:extLst>
              <a:ext uri="{FF2B5EF4-FFF2-40B4-BE49-F238E27FC236}">
                <a16:creationId xmlns:a16="http://schemas.microsoft.com/office/drawing/2014/main" id="{FD41BD9D-DD8C-F5F5-83D3-D50C1BA38C0B}"/>
              </a:ext>
            </a:extLst>
          </p:cNvPr>
          <p:cNvSpPr>
            <a:spLocks noGrp="1"/>
          </p:cNvSpPr>
          <p:nvPr>
            <p:ph idx="1"/>
          </p:nvPr>
        </p:nvSpPr>
        <p:spPr>
          <a:xfrm>
            <a:off x="1883532" y="2204864"/>
            <a:ext cx="8424936" cy="4248472"/>
          </a:xfrm>
        </p:spPr>
        <p:txBody>
          <a:bodyPr>
            <a:normAutofit/>
          </a:bodyPr>
          <a:lstStyle/>
          <a:p>
            <a:pPr marL="109728" indent="0">
              <a:buNone/>
            </a:pPr>
            <a:r>
              <a:rPr lang="en-US" sz="2400" dirty="0">
                <a:latin typeface="Avenir Next" panose="020B0503020202020204" pitchFamily="34" charset="0"/>
              </a:rPr>
              <a:t>Record the following transactions. Work out which account the transaction is first recorded in. The offsetting transaction then goes in the FA.</a:t>
            </a:r>
          </a:p>
          <a:p>
            <a:pPr marL="890928" lvl="1" indent="-457200">
              <a:buAutoNum type="arabicPeriod"/>
            </a:pPr>
            <a:r>
              <a:rPr lang="en-US" sz="2200" dirty="0">
                <a:latin typeface="Avenir Next" panose="020B0503020202020204" pitchFamily="34" charset="0"/>
              </a:rPr>
              <a:t>Sale of an Australian farm worth $25k to a Chinese Investor</a:t>
            </a:r>
          </a:p>
          <a:p>
            <a:pPr marL="890928" lvl="1" indent="-457200">
              <a:buAutoNum type="arabicPeriod"/>
            </a:pPr>
            <a:r>
              <a:rPr lang="en-US" sz="2200" dirty="0">
                <a:latin typeface="Avenir Next" panose="020B0503020202020204" pitchFamily="34" charset="0"/>
              </a:rPr>
              <a:t>Australian tourists spend $15k overseas</a:t>
            </a:r>
          </a:p>
          <a:p>
            <a:pPr marL="890928" lvl="1" indent="-457200">
              <a:buAutoNum type="arabicPeriod"/>
            </a:pPr>
            <a:r>
              <a:rPr lang="en-US" sz="2200" dirty="0">
                <a:latin typeface="Avenir Next" panose="020B0503020202020204" pitchFamily="34" charset="0"/>
              </a:rPr>
              <a:t>Australia sells $50k worth of LNG to Korea</a:t>
            </a:r>
          </a:p>
          <a:p>
            <a:pPr marL="890928" lvl="1" indent="-457200">
              <a:buAutoNum type="arabicPeriod"/>
            </a:pPr>
            <a:r>
              <a:rPr lang="en-US" sz="2200" dirty="0">
                <a:latin typeface="Avenir Next" panose="020B0503020202020204" pitchFamily="34" charset="0"/>
              </a:rPr>
              <a:t>Australia purchases Indian </a:t>
            </a:r>
            <a:r>
              <a:rPr lang="en-US" sz="2200" dirty="0" err="1">
                <a:latin typeface="Avenir Next" panose="020B0503020202020204" pitchFamily="34" charset="0"/>
              </a:rPr>
              <a:t>Telecomms</a:t>
            </a:r>
            <a:r>
              <a:rPr lang="en-US" sz="2200" dirty="0">
                <a:latin typeface="Avenir Next" panose="020B0503020202020204" pitchFamily="34" charset="0"/>
              </a:rPr>
              <a:t> businesses for $80k</a:t>
            </a:r>
          </a:p>
          <a:p>
            <a:endParaRPr lang="en-US" sz="1600" dirty="0">
              <a:latin typeface="Avenir Next" panose="020B0503020202020204" pitchFamily="34" charset="0"/>
            </a:endParaRPr>
          </a:p>
        </p:txBody>
      </p:sp>
    </p:spTree>
    <p:extLst>
      <p:ext uri="{BB962C8B-B14F-4D97-AF65-F5344CB8AC3E}">
        <p14:creationId xmlns:p14="http://schemas.microsoft.com/office/powerpoint/2010/main" val="13237854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1E9DC-3270-310C-D895-CDF54CA75CB9}"/>
              </a:ext>
            </a:extLst>
          </p:cNvPr>
          <p:cNvSpPr>
            <a:spLocks noGrp="1"/>
          </p:cNvSpPr>
          <p:nvPr>
            <p:ph type="title"/>
          </p:nvPr>
        </p:nvSpPr>
        <p:spPr/>
        <p:txBody>
          <a:bodyPr/>
          <a:lstStyle/>
          <a:p>
            <a:r>
              <a:rPr lang="en-US" dirty="0"/>
              <a:t>YOUR TURN</a:t>
            </a:r>
          </a:p>
        </p:txBody>
      </p:sp>
      <p:graphicFrame>
        <p:nvGraphicFramePr>
          <p:cNvPr id="5" name="Table 5">
            <a:extLst>
              <a:ext uri="{FF2B5EF4-FFF2-40B4-BE49-F238E27FC236}">
                <a16:creationId xmlns:a16="http://schemas.microsoft.com/office/drawing/2014/main" id="{69917059-90E8-3FC8-7F04-286C7F678CCF}"/>
              </a:ext>
            </a:extLst>
          </p:cNvPr>
          <p:cNvGraphicFramePr>
            <a:graphicFrameLocks noGrp="1"/>
          </p:cNvGraphicFramePr>
          <p:nvPr>
            <p:ph idx="1"/>
            <p:extLst>
              <p:ext uri="{D42A27DB-BD31-4B8C-83A1-F6EECF244321}">
                <p14:modId xmlns:p14="http://schemas.microsoft.com/office/powerpoint/2010/main" val="3839832503"/>
              </p:ext>
            </p:extLst>
          </p:nvPr>
        </p:nvGraphicFramePr>
        <p:xfrm>
          <a:off x="2255839" y="2103439"/>
          <a:ext cx="7680324" cy="2296160"/>
        </p:xfrm>
        <a:graphic>
          <a:graphicData uri="http://schemas.openxmlformats.org/drawingml/2006/table">
            <a:tbl>
              <a:tblPr firstRow="1" bandRow="1">
                <a:tableStyleId>{5C22544A-7EE6-4342-B048-85BDC9FD1C3A}</a:tableStyleId>
              </a:tblPr>
              <a:tblGrid>
                <a:gridCol w="1920081">
                  <a:extLst>
                    <a:ext uri="{9D8B030D-6E8A-4147-A177-3AD203B41FA5}">
                      <a16:colId xmlns:a16="http://schemas.microsoft.com/office/drawing/2014/main" val="3362436661"/>
                    </a:ext>
                  </a:extLst>
                </a:gridCol>
                <a:gridCol w="1920081">
                  <a:extLst>
                    <a:ext uri="{9D8B030D-6E8A-4147-A177-3AD203B41FA5}">
                      <a16:colId xmlns:a16="http://schemas.microsoft.com/office/drawing/2014/main" val="3413921192"/>
                    </a:ext>
                  </a:extLst>
                </a:gridCol>
                <a:gridCol w="1920081">
                  <a:extLst>
                    <a:ext uri="{9D8B030D-6E8A-4147-A177-3AD203B41FA5}">
                      <a16:colId xmlns:a16="http://schemas.microsoft.com/office/drawing/2014/main" val="185497836"/>
                    </a:ext>
                  </a:extLst>
                </a:gridCol>
                <a:gridCol w="1920081">
                  <a:extLst>
                    <a:ext uri="{9D8B030D-6E8A-4147-A177-3AD203B41FA5}">
                      <a16:colId xmlns:a16="http://schemas.microsoft.com/office/drawing/2014/main" val="3237033910"/>
                    </a:ext>
                  </a:extLst>
                </a:gridCol>
              </a:tblGrid>
              <a:tr h="370840">
                <a:tc>
                  <a:txBody>
                    <a:bodyPr/>
                    <a:lstStyle/>
                    <a:p>
                      <a:endParaRPr lang="en-US" dirty="0"/>
                    </a:p>
                  </a:txBody>
                  <a:tcPr marL="87897" marR="87897"/>
                </a:tc>
                <a:tc>
                  <a:txBody>
                    <a:bodyPr/>
                    <a:lstStyle/>
                    <a:p>
                      <a:r>
                        <a:rPr lang="en-US"/>
                        <a:t>CREDIT</a:t>
                      </a:r>
                      <a:endParaRPr lang="en-US" dirty="0"/>
                    </a:p>
                  </a:txBody>
                  <a:tcPr marL="87897" marR="87897"/>
                </a:tc>
                <a:tc>
                  <a:txBody>
                    <a:bodyPr/>
                    <a:lstStyle/>
                    <a:p>
                      <a:r>
                        <a:rPr lang="en-US"/>
                        <a:t>DEBIT</a:t>
                      </a:r>
                      <a:endParaRPr lang="en-US" dirty="0"/>
                    </a:p>
                  </a:txBody>
                  <a:tcPr marL="87897" marR="87897"/>
                </a:tc>
                <a:tc>
                  <a:txBody>
                    <a:bodyPr/>
                    <a:lstStyle/>
                    <a:p>
                      <a:r>
                        <a:rPr lang="en-US"/>
                        <a:t>TOTALS</a:t>
                      </a:r>
                      <a:endParaRPr lang="en-US" dirty="0"/>
                    </a:p>
                  </a:txBody>
                  <a:tcPr marL="87897" marR="87897">
                    <a:solidFill>
                      <a:srgbClr val="00C577"/>
                    </a:solidFill>
                  </a:tcPr>
                </a:tc>
                <a:extLst>
                  <a:ext uri="{0D108BD9-81ED-4DB2-BD59-A6C34878D82A}">
                    <a16:rowId xmlns:a16="http://schemas.microsoft.com/office/drawing/2014/main" val="1330535529"/>
                  </a:ext>
                </a:extLst>
              </a:tr>
              <a:tr h="370840">
                <a:tc>
                  <a:txBody>
                    <a:bodyPr/>
                    <a:lstStyle/>
                    <a:p>
                      <a:r>
                        <a:rPr lang="en-US"/>
                        <a:t>Current Account</a:t>
                      </a:r>
                      <a:endParaRPr lang="en-US" dirty="0"/>
                    </a:p>
                  </a:txBody>
                  <a:tcPr marL="87897" marR="87897"/>
                </a:tc>
                <a:tc>
                  <a:txBody>
                    <a:bodyPr/>
                    <a:lstStyle/>
                    <a:p>
                      <a:endParaRPr lang="en-US"/>
                    </a:p>
                    <a:p>
                      <a:endParaRPr lang="en-US" dirty="0"/>
                    </a:p>
                  </a:txBody>
                  <a:tcPr marL="87897" marR="87897"/>
                </a:tc>
                <a:tc>
                  <a:txBody>
                    <a:bodyPr/>
                    <a:lstStyle/>
                    <a:p>
                      <a:endParaRPr lang="en-US"/>
                    </a:p>
                  </a:txBody>
                  <a:tcPr marL="87897" marR="87897"/>
                </a:tc>
                <a:tc>
                  <a:txBody>
                    <a:bodyPr/>
                    <a:lstStyle/>
                    <a:p>
                      <a:endParaRPr lang="en-US"/>
                    </a:p>
                  </a:txBody>
                  <a:tcPr marL="87897" marR="87897">
                    <a:solidFill>
                      <a:srgbClr val="00C577"/>
                    </a:solidFill>
                  </a:tcPr>
                </a:tc>
                <a:extLst>
                  <a:ext uri="{0D108BD9-81ED-4DB2-BD59-A6C34878D82A}">
                    <a16:rowId xmlns:a16="http://schemas.microsoft.com/office/drawing/2014/main" val="2654641382"/>
                  </a:ext>
                </a:extLst>
              </a:tr>
              <a:tr h="370840">
                <a:tc>
                  <a:txBody>
                    <a:bodyPr/>
                    <a:lstStyle/>
                    <a:p>
                      <a:r>
                        <a:rPr lang="en-US" dirty="0"/>
                        <a:t>Capital and Financial Account</a:t>
                      </a:r>
                    </a:p>
                  </a:txBody>
                  <a:tcPr marL="87897" marR="87897"/>
                </a:tc>
                <a:tc>
                  <a:txBody>
                    <a:bodyPr/>
                    <a:lstStyle/>
                    <a:p>
                      <a:endParaRPr lang="en-US"/>
                    </a:p>
                    <a:p>
                      <a:endParaRPr lang="en-US"/>
                    </a:p>
                    <a:p>
                      <a:endParaRPr lang="en-US" dirty="0"/>
                    </a:p>
                  </a:txBody>
                  <a:tcPr marL="87897" marR="87897"/>
                </a:tc>
                <a:tc>
                  <a:txBody>
                    <a:bodyPr/>
                    <a:lstStyle/>
                    <a:p>
                      <a:endParaRPr lang="en-US"/>
                    </a:p>
                  </a:txBody>
                  <a:tcPr marL="87897" marR="87897"/>
                </a:tc>
                <a:tc>
                  <a:txBody>
                    <a:bodyPr/>
                    <a:lstStyle/>
                    <a:p>
                      <a:endParaRPr lang="en-US"/>
                    </a:p>
                  </a:txBody>
                  <a:tcPr marL="87897" marR="87897">
                    <a:solidFill>
                      <a:srgbClr val="00C577"/>
                    </a:solidFill>
                  </a:tcPr>
                </a:tc>
                <a:extLst>
                  <a:ext uri="{0D108BD9-81ED-4DB2-BD59-A6C34878D82A}">
                    <a16:rowId xmlns:a16="http://schemas.microsoft.com/office/drawing/2014/main" val="3109075048"/>
                  </a:ext>
                </a:extLst>
              </a:tr>
              <a:tr h="370840">
                <a:tc>
                  <a:txBody>
                    <a:bodyPr/>
                    <a:lstStyle/>
                    <a:p>
                      <a:r>
                        <a:rPr lang="en-US"/>
                        <a:t>TOTALS</a:t>
                      </a:r>
                      <a:endParaRPr lang="en-US" dirty="0"/>
                    </a:p>
                  </a:txBody>
                  <a:tcPr marL="87897" marR="87897">
                    <a:solidFill>
                      <a:schemeClr val="accent3">
                        <a:lumMod val="60000"/>
                        <a:lumOff val="40000"/>
                      </a:schemeClr>
                    </a:solidFill>
                  </a:tcPr>
                </a:tc>
                <a:tc>
                  <a:txBody>
                    <a:bodyPr/>
                    <a:lstStyle/>
                    <a:p>
                      <a:endParaRPr lang="en-US"/>
                    </a:p>
                  </a:txBody>
                  <a:tcPr marL="87897" marR="87897">
                    <a:solidFill>
                      <a:schemeClr val="accent3">
                        <a:lumMod val="60000"/>
                        <a:lumOff val="40000"/>
                      </a:schemeClr>
                    </a:solidFill>
                  </a:tcPr>
                </a:tc>
                <a:tc>
                  <a:txBody>
                    <a:bodyPr/>
                    <a:lstStyle/>
                    <a:p>
                      <a:endParaRPr lang="en-US" dirty="0"/>
                    </a:p>
                  </a:txBody>
                  <a:tcPr marL="87897" marR="87897">
                    <a:solidFill>
                      <a:schemeClr val="accent3">
                        <a:lumMod val="60000"/>
                        <a:lumOff val="40000"/>
                      </a:schemeClr>
                    </a:solidFill>
                  </a:tcPr>
                </a:tc>
                <a:tc>
                  <a:txBody>
                    <a:bodyPr/>
                    <a:lstStyle/>
                    <a:p>
                      <a:endParaRPr lang="en-US" dirty="0"/>
                    </a:p>
                  </a:txBody>
                  <a:tcPr marL="87897" marR="87897">
                    <a:solidFill>
                      <a:srgbClr val="00C577"/>
                    </a:solidFill>
                  </a:tcPr>
                </a:tc>
                <a:extLst>
                  <a:ext uri="{0D108BD9-81ED-4DB2-BD59-A6C34878D82A}">
                    <a16:rowId xmlns:a16="http://schemas.microsoft.com/office/drawing/2014/main" val="3152405497"/>
                  </a:ext>
                </a:extLst>
              </a:tr>
            </a:tbl>
          </a:graphicData>
        </a:graphic>
      </p:graphicFrame>
    </p:spTree>
    <p:extLst>
      <p:ext uri="{BB962C8B-B14F-4D97-AF65-F5344CB8AC3E}">
        <p14:creationId xmlns:p14="http://schemas.microsoft.com/office/powerpoint/2010/main" val="21228976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E2FAD-D0A7-92DA-0E00-7BC3970DF811}"/>
              </a:ext>
            </a:extLst>
          </p:cNvPr>
          <p:cNvSpPr>
            <a:spLocks noGrp="1"/>
          </p:cNvSpPr>
          <p:nvPr>
            <p:ph type="title"/>
          </p:nvPr>
        </p:nvSpPr>
        <p:spPr/>
        <p:txBody>
          <a:bodyPr/>
          <a:lstStyle/>
          <a:p>
            <a:r>
              <a:rPr lang="en-US" dirty="0"/>
              <a:t>YOUR TURN SOLUTIONS</a:t>
            </a:r>
          </a:p>
        </p:txBody>
      </p:sp>
      <p:graphicFrame>
        <p:nvGraphicFramePr>
          <p:cNvPr id="5" name="Table 5">
            <a:extLst>
              <a:ext uri="{FF2B5EF4-FFF2-40B4-BE49-F238E27FC236}">
                <a16:creationId xmlns:a16="http://schemas.microsoft.com/office/drawing/2014/main" id="{69917059-90E8-3FC8-7F04-286C7F678CCF}"/>
              </a:ext>
            </a:extLst>
          </p:cNvPr>
          <p:cNvGraphicFramePr>
            <a:graphicFrameLocks noGrp="1"/>
          </p:cNvGraphicFramePr>
          <p:nvPr>
            <p:ph idx="1"/>
            <p:extLst>
              <p:ext uri="{D42A27DB-BD31-4B8C-83A1-F6EECF244321}">
                <p14:modId xmlns:p14="http://schemas.microsoft.com/office/powerpoint/2010/main" val="1351212795"/>
              </p:ext>
            </p:extLst>
          </p:nvPr>
        </p:nvGraphicFramePr>
        <p:xfrm>
          <a:off x="2255839" y="2103439"/>
          <a:ext cx="7680326" cy="3119120"/>
        </p:xfrm>
        <a:graphic>
          <a:graphicData uri="http://schemas.openxmlformats.org/drawingml/2006/table">
            <a:tbl>
              <a:tblPr firstRow="1" bandRow="1">
                <a:tableStyleId>{5C22544A-7EE6-4342-B048-85BDC9FD1C3A}</a:tableStyleId>
              </a:tblPr>
              <a:tblGrid>
                <a:gridCol w="1206060">
                  <a:extLst>
                    <a:ext uri="{9D8B030D-6E8A-4147-A177-3AD203B41FA5}">
                      <a16:colId xmlns:a16="http://schemas.microsoft.com/office/drawing/2014/main" val="3362436661"/>
                    </a:ext>
                  </a:extLst>
                </a:gridCol>
                <a:gridCol w="2145761">
                  <a:extLst>
                    <a:ext uri="{9D8B030D-6E8A-4147-A177-3AD203B41FA5}">
                      <a16:colId xmlns:a16="http://schemas.microsoft.com/office/drawing/2014/main" val="3413921192"/>
                    </a:ext>
                  </a:extLst>
                </a:gridCol>
                <a:gridCol w="2837942">
                  <a:extLst>
                    <a:ext uri="{9D8B030D-6E8A-4147-A177-3AD203B41FA5}">
                      <a16:colId xmlns:a16="http://schemas.microsoft.com/office/drawing/2014/main" val="185497836"/>
                    </a:ext>
                  </a:extLst>
                </a:gridCol>
                <a:gridCol w="1490563">
                  <a:extLst>
                    <a:ext uri="{9D8B030D-6E8A-4147-A177-3AD203B41FA5}">
                      <a16:colId xmlns:a16="http://schemas.microsoft.com/office/drawing/2014/main" val="3237033910"/>
                    </a:ext>
                  </a:extLst>
                </a:gridCol>
              </a:tblGrid>
              <a:tr h="370840">
                <a:tc>
                  <a:txBody>
                    <a:bodyPr/>
                    <a:lstStyle/>
                    <a:p>
                      <a:endParaRPr lang="en-US" dirty="0"/>
                    </a:p>
                  </a:txBody>
                  <a:tcPr marL="87897" marR="87897"/>
                </a:tc>
                <a:tc>
                  <a:txBody>
                    <a:bodyPr/>
                    <a:lstStyle/>
                    <a:p>
                      <a:r>
                        <a:rPr lang="en-US" dirty="0"/>
                        <a:t>CREDIT</a:t>
                      </a:r>
                    </a:p>
                  </a:txBody>
                  <a:tcPr marL="87897" marR="87897"/>
                </a:tc>
                <a:tc>
                  <a:txBody>
                    <a:bodyPr/>
                    <a:lstStyle/>
                    <a:p>
                      <a:r>
                        <a:rPr lang="en-US" dirty="0"/>
                        <a:t>DEBIT</a:t>
                      </a:r>
                    </a:p>
                  </a:txBody>
                  <a:tcPr marL="87897" marR="87897"/>
                </a:tc>
                <a:tc>
                  <a:txBody>
                    <a:bodyPr/>
                    <a:lstStyle/>
                    <a:p>
                      <a:r>
                        <a:rPr lang="en-US" dirty="0"/>
                        <a:t>TOTALS</a:t>
                      </a:r>
                    </a:p>
                  </a:txBody>
                  <a:tcPr marL="87897" marR="87897">
                    <a:solidFill>
                      <a:srgbClr val="00C577"/>
                    </a:solidFill>
                  </a:tcPr>
                </a:tc>
                <a:extLst>
                  <a:ext uri="{0D108BD9-81ED-4DB2-BD59-A6C34878D82A}">
                    <a16:rowId xmlns:a16="http://schemas.microsoft.com/office/drawing/2014/main" val="1330535529"/>
                  </a:ext>
                </a:extLst>
              </a:tr>
              <a:tr h="370840">
                <a:tc>
                  <a:txBody>
                    <a:bodyPr/>
                    <a:lstStyle/>
                    <a:p>
                      <a:r>
                        <a:rPr lang="en-US" dirty="0"/>
                        <a:t>Current Account</a:t>
                      </a:r>
                    </a:p>
                  </a:txBody>
                  <a:tcPr marL="87897" marR="87897"/>
                </a:tc>
                <a:tc>
                  <a:txBody>
                    <a:bodyPr/>
                    <a:lstStyle/>
                    <a:p>
                      <a:r>
                        <a:rPr lang="en-US" dirty="0"/>
                        <a:t>+$50,000 (LNG)</a:t>
                      </a:r>
                    </a:p>
                    <a:p>
                      <a:endParaRPr lang="en-US" dirty="0"/>
                    </a:p>
                  </a:txBody>
                  <a:tcPr marL="87897" marR="87897"/>
                </a:tc>
                <a:tc>
                  <a:txBody>
                    <a:bodyPr/>
                    <a:lstStyle/>
                    <a:p>
                      <a:r>
                        <a:rPr lang="en-US" dirty="0"/>
                        <a:t>-$15,000 (Australian tourists)</a:t>
                      </a:r>
                    </a:p>
                  </a:txBody>
                  <a:tcPr marL="87897" marR="87897"/>
                </a:tc>
                <a:tc>
                  <a:txBody>
                    <a:bodyPr/>
                    <a:lstStyle/>
                    <a:p>
                      <a:r>
                        <a:rPr lang="en-US" dirty="0"/>
                        <a:t>+$35,000</a:t>
                      </a:r>
                    </a:p>
                  </a:txBody>
                  <a:tcPr marL="87897" marR="87897">
                    <a:solidFill>
                      <a:srgbClr val="00C577"/>
                    </a:solidFill>
                  </a:tcPr>
                </a:tc>
                <a:extLst>
                  <a:ext uri="{0D108BD9-81ED-4DB2-BD59-A6C34878D82A}">
                    <a16:rowId xmlns:a16="http://schemas.microsoft.com/office/drawing/2014/main" val="2654641382"/>
                  </a:ext>
                </a:extLst>
              </a:tr>
              <a:tr h="370840">
                <a:tc>
                  <a:txBody>
                    <a:bodyPr/>
                    <a:lstStyle/>
                    <a:p>
                      <a:r>
                        <a:rPr lang="en-US" dirty="0"/>
                        <a:t>Capital and Financial Account</a:t>
                      </a:r>
                    </a:p>
                  </a:txBody>
                  <a:tcPr marL="87897" marR="87897"/>
                </a:tc>
                <a:tc>
                  <a:txBody>
                    <a:bodyPr/>
                    <a:lstStyle/>
                    <a:p>
                      <a:endParaRPr lang="en-US" dirty="0"/>
                    </a:p>
                    <a:p>
                      <a:r>
                        <a:rPr lang="en-US" dirty="0"/>
                        <a:t>+$25,000 (Farm)</a:t>
                      </a:r>
                    </a:p>
                    <a:p>
                      <a:r>
                        <a:rPr lang="en-US" dirty="0"/>
                        <a:t>+$15,000 (Currency)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+$80,000 (Currency)</a:t>
                      </a:r>
                    </a:p>
                  </a:txBody>
                  <a:tcPr marL="87897" marR="87897"/>
                </a:tc>
                <a:tc>
                  <a:txBody>
                    <a:bodyPr/>
                    <a:lstStyle/>
                    <a:p>
                      <a:r>
                        <a:rPr lang="en-US" dirty="0"/>
                        <a:t>-$25,000 (Currency)</a:t>
                      </a:r>
                    </a:p>
                    <a:p>
                      <a:r>
                        <a:rPr lang="en-US" dirty="0"/>
                        <a:t>-$50,000 (Currency)</a:t>
                      </a:r>
                    </a:p>
                    <a:p>
                      <a:r>
                        <a:rPr lang="en-US" dirty="0"/>
                        <a:t>-$80,000 (Indian business)</a:t>
                      </a:r>
                    </a:p>
                  </a:txBody>
                  <a:tcPr marL="87897" marR="87897"/>
                </a:tc>
                <a:tc>
                  <a:txBody>
                    <a:bodyPr/>
                    <a:lstStyle/>
                    <a:p>
                      <a:r>
                        <a:rPr lang="en-US" dirty="0"/>
                        <a:t>-$35,000</a:t>
                      </a:r>
                    </a:p>
                  </a:txBody>
                  <a:tcPr marL="87897" marR="87897">
                    <a:solidFill>
                      <a:srgbClr val="00C577"/>
                    </a:solidFill>
                  </a:tcPr>
                </a:tc>
                <a:extLst>
                  <a:ext uri="{0D108BD9-81ED-4DB2-BD59-A6C34878D82A}">
                    <a16:rowId xmlns:a16="http://schemas.microsoft.com/office/drawing/2014/main" val="3109075048"/>
                  </a:ext>
                </a:extLst>
              </a:tr>
              <a:tr h="370840">
                <a:tc>
                  <a:txBody>
                    <a:bodyPr/>
                    <a:lstStyle/>
                    <a:p>
                      <a:r>
                        <a:rPr lang="en-US" dirty="0"/>
                        <a:t>TOTALS</a:t>
                      </a:r>
                    </a:p>
                  </a:txBody>
                  <a:tcPr marL="87897" marR="87897">
                    <a:solidFill>
                      <a:schemeClr val="accent3">
                        <a:lumMod val="60000"/>
                        <a:lumOff val="40000"/>
                      </a:schemeClr>
                    </a:solidFill>
                  </a:tcPr>
                </a:tc>
                <a:tc>
                  <a:txBody>
                    <a:bodyPr/>
                    <a:lstStyle/>
                    <a:p>
                      <a:r>
                        <a:rPr lang="en-US" dirty="0"/>
                        <a:t>+$170,000</a:t>
                      </a:r>
                    </a:p>
                  </a:txBody>
                  <a:tcPr marL="87897" marR="87897">
                    <a:solidFill>
                      <a:schemeClr val="accent3">
                        <a:lumMod val="60000"/>
                        <a:lumOff val="40000"/>
                      </a:schemeClr>
                    </a:solidFill>
                  </a:tcPr>
                </a:tc>
                <a:tc>
                  <a:txBody>
                    <a:bodyPr/>
                    <a:lstStyle/>
                    <a:p>
                      <a:r>
                        <a:rPr lang="en-US" dirty="0"/>
                        <a:t>-$170,000</a:t>
                      </a:r>
                    </a:p>
                  </a:txBody>
                  <a:tcPr marL="87897" marR="87897">
                    <a:solidFill>
                      <a:schemeClr val="accent3">
                        <a:lumMod val="60000"/>
                        <a:lumOff val="40000"/>
                      </a:schemeClr>
                    </a:solidFill>
                  </a:tcPr>
                </a:tc>
                <a:tc>
                  <a:txBody>
                    <a:bodyPr/>
                    <a:lstStyle/>
                    <a:p>
                      <a:r>
                        <a:rPr lang="en-US" dirty="0"/>
                        <a:t>$0</a:t>
                      </a:r>
                    </a:p>
                  </a:txBody>
                  <a:tcPr marL="87897" marR="87897">
                    <a:solidFill>
                      <a:srgbClr val="00C577"/>
                    </a:solidFill>
                  </a:tcPr>
                </a:tc>
                <a:extLst>
                  <a:ext uri="{0D108BD9-81ED-4DB2-BD59-A6C34878D82A}">
                    <a16:rowId xmlns:a16="http://schemas.microsoft.com/office/drawing/2014/main" val="3152405497"/>
                  </a:ext>
                </a:extLst>
              </a:tr>
            </a:tbl>
          </a:graphicData>
        </a:graphic>
      </p:graphicFrame>
    </p:spTree>
    <p:extLst>
      <p:ext uri="{BB962C8B-B14F-4D97-AF65-F5344CB8AC3E}">
        <p14:creationId xmlns:p14="http://schemas.microsoft.com/office/powerpoint/2010/main" val="35593078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7F690C0-5B0A-58EB-E85E-D65FA1088ACC}"/>
              </a:ext>
            </a:extLst>
          </p:cNvPr>
          <p:cNvSpPr>
            <a:spLocks noGrp="1"/>
          </p:cNvSpPr>
          <p:nvPr>
            <p:ph type="title"/>
          </p:nvPr>
        </p:nvSpPr>
        <p:spPr>
          <a:xfrm>
            <a:off x="3616089" y="1781606"/>
            <a:ext cx="4959821" cy="1162762"/>
          </a:xfrm>
        </p:spPr>
        <p:txBody>
          <a:bodyPr anchor="t">
            <a:noAutofit/>
          </a:bodyPr>
          <a:lstStyle/>
          <a:p>
            <a:pPr algn="ctr"/>
            <a:r>
              <a:rPr lang="en-GB" sz="4000" dirty="0"/>
              <a:t>INDEPENDENT PRACTICE</a:t>
            </a:r>
            <a:endParaRPr lang="en-AU" sz="4000" dirty="0"/>
          </a:p>
        </p:txBody>
      </p:sp>
      <p:sp>
        <p:nvSpPr>
          <p:cNvPr id="8" name="Content Placeholder 7">
            <a:extLst>
              <a:ext uri="{FF2B5EF4-FFF2-40B4-BE49-F238E27FC236}">
                <a16:creationId xmlns:a16="http://schemas.microsoft.com/office/drawing/2014/main" id="{FE972005-2924-C1F0-9DC4-72E76B00261B}"/>
              </a:ext>
            </a:extLst>
          </p:cNvPr>
          <p:cNvSpPr>
            <a:spLocks noGrp="1"/>
          </p:cNvSpPr>
          <p:nvPr>
            <p:ph idx="1"/>
          </p:nvPr>
        </p:nvSpPr>
        <p:spPr>
          <a:xfrm>
            <a:off x="3757022" y="3133554"/>
            <a:ext cx="4818888" cy="2130552"/>
          </a:xfrm>
        </p:spPr>
        <p:txBody>
          <a:bodyPr>
            <a:normAutofit/>
          </a:bodyPr>
          <a:lstStyle/>
          <a:p>
            <a:pPr>
              <a:spcAft>
                <a:spcPts val="600"/>
              </a:spcAft>
            </a:pPr>
            <a:r>
              <a:rPr lang="en-GB" sz="2400" dirty="0"/>
              <a:t>Try the review on page 59 of your textbook</a:t>
            </a:r>
          </a:p>
          <a:p>
            <a:pPr>
              <a:spcAft>
                <a:spcPts val="600"/>
              </a:spcAft>
            </a:pPr>
            <a:endParaRPr lang="en-GB" sz="2400" dirty="0"/>
          </a:p>
          <a:p>
            <a:pPr>
              <a:spcAft>
                <a:spcPts val="600"/>
              </a:spcAft>
            </a:pPr>
            <a:r>
              <a:rPr lang="en-GB" sz="2400" dirty="0"/>
              <a:t>And on page 66 of your textbook</a:t>
            </a:r>
            <a:endParaRPr lang="en-AU" sz="2400" dirty="0"/>
          </a:p>
        </p:txBody>
      </p:sp>
      <p:sp>
        <p:nvSpPr>
          <p:cNvPr id="4" name="Slide Number Placeholder 3">
            <a:extLst>
              <a:ext uri="{FF2B5EF4-FFF2-40B4-BE49-F238E27FC236}">
                <a16:creationId xmlns:a16="http://schemas.microsoft.com/office/drawing/2014/main" id="{8622F659-34B8-7098-E672-2D256D0E73FE}"/>
              </a:ext>
            </a:extLst>
          </p:cNvPr>
          <p:cNvSpPr>
            <a:spLocks noGrp="1"/>
          </p:cNvSpPr>
          <p:nvPr>
            <p:ph type="sldNum" sz="quarter" idx="12"/>
          </p:nvPr>
        </p:nvSpPr>
        <p:spPr>
          <a:xfrm>
            <a:off x="8072901" y="6400904"/>
            <a:ext cx="365760" cy="246888"/>
          </a:xfrm>
        </p:spPr>
        <p:txBody>
          <a:bodyPr anchor="ctr">
            <a:normAutofit/>
          </a:bodyPr>
          <a:lstStyle/>
          <a:p>
            <a:pPr>
              <a:spcAft>
                <a:spcPts val="600"/>
              </a:spcAft>
            </a:pPr>
            <a:fld id="{8D0AFDD5-844D-364D-8AEC-50CF4D36D55D}" type="slidenum">
              <a:rPr lang="en-US" noProof="0" smtClean="0"/>
              <a:pPr>
                <a:spcAft>
                  <a:spcPts val="600"/>
                </a:spcAft>
              </a:pPr>
              <a:t>63</a:t>
            </a:fld>
            <a:endParaRPr lang="en-US" noProof="0"/>
          </a:p>
        </p:txBody>
      </p:sp>
      <p:sp>
        <p:nvSpPr>
          <p:cNvPr id="5" name="Footer Placeholder 4">
            <a:extLst>
              <a:ext uri="{FF2B5EF4-FFF2-40B4-BE49-F238E27FC236}">
                <a16:creationId xmlns:a16="http://schemas.microsoft.com/office/drawing/2014/main" id="{576E93C7-54E3-6E3E-11F2-14C93F9F1449}"/>
              </a:ext>
            </a:extLst>
          </p:cNvPr>
          <p:cNvSpPr>
            <a:spLocks noGrp="1"/>
          </p:cNvSpPr>
          <p:nvPr>
            <p:ph type="ftr" sz="quarter" idx="4294967295"/>
          </p:nvPr>
        </p:nvSpPr>
        <p:spPr>
          <a:xfrm>
            <a:off x="0" y="6400800"/>
            <a:ext cx="1463675" cy="247650"/>
          </a:xfrm>
        </p:spPr>
        <p:txBody>
          <a:bodyPr/>
          <a:lstStyle/>
          <a:p>
            <a:pPr>
              <a:spcAft>
                <a:spcPts val="600"/>
              </a:spcAft>
            </a:pPr>
            <a:r>
              <a:rPr lang="en-US" noProof="0"/>
              <a:t>Presentation title</a:t>
            </a:r>
          </a:p>
        </p:txBody>
      </p:sp>
      <p:sp>
        <p:nvSpPr>
          <p:cNvPr id="6" name="Date Placeholder 5" hidden="1">
            <a:extLst>
              <a:ext uri="{FF2B5EF4-FFF2-40B4-BE49-F238E27FC236}">
                <a16:creationId xmlns:a16="http://schemas.microsoft.com/office/drawing/2014/main" id="{168656FB-767A-08B0-2DC8-B898EADCB678}"/>
              </a:ext>
            </a:extLst>
          </p:cNvPr>
          <p:cNvSpPr>
            <a:spLocks noGrp="1"/>
          </p:cNvSpPr>
          <p:nvPr>
            <p:ph type="dt" sz="half" idx="4294967295"/>
          </p:nvPr>
        </p:nvSpPr>
        <p:spPr>
          <a:xfrm>
            <a:off x="11552238" y="6400800"/>
            <a:ext cx="639762" cy="247650"/>
          </a:xfrm>
        </p:spPr>
        <p:txBody>
          <a:bodyPr/>
          <a:lstStyle/>
          <a:p>
            <a:pPr>
              <a:spcAft>
                <a:spcPts val="600"/>
              </a:spcAft>
            </a:pPr>
            <a:r>
              <a:rPr lang="en-US" noProof="0"/>
              <a:t>20XX</a:t>
            </a:r>
          </a:p>
        </p:txBody>
      </p:sp>
    </p:spTree>
    <p:extLst>
      <p:ext uri="{BB962C8B-B14F-4D97-AF65-F5344CB8AC3E}">
        <p14:creationId xmlns:p14="http://schemas.microsoft.com/office/powerpoint/2010/main" val="3587114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DD45E1C-99DF-E2BB-42B8-008EC11207F0}"/>
              </a:ext>
            </a:extLst>
          </p:cNvPr>
          <p:cNvSpPr>
            <a:spLocks noGrp="1"/>
          </p:cNvSpPr>
          <p:nvPr>
            <p:ph type="title"/>
          </p:nvPr>
        </p:nvSpPr>
        <p:spPr>
          <a:xfrm>
            <a:off x="838200" y="365125"/>
            <a:ext cx="10515600" cy="1325563"/>
          </a:xfrm>
        </p:spPr>
        <p:txBody>
          <a:bodyPr/>
          <a:lstStyle/>
          <a:p>
            <a:r>
              <a:rPr lang="en-AU" dirty="0"/>
              <a:t>DAILY REVIEW</a:t>
            </a:r>
            <a:endParaRPr lang="en-US" dirty="0"/>
          </a:p>
        </p:txBody>
      </p:sp>
      <p:sp>
        <p:nvSpPr>
          <p:cNvPr id="11" name="Content Placeholder 2">
            <a:extLst>
              <a:ext uri="{FF2B5EF4-FFF2-40B4-BE49-F238E27FC236}">
                <a16:creationId xmlns:a16="http://schemas.microsoft.com/office/drawing/2014/main" id="{3E78159D-02B6-3625-5C6E-B3CD7F06124E}"/>
              </a:ext>
            </a:extLst>
          </p:cNvPr>
          <p:cNvSpPr>
            <a:spLocks noGrp="1"/>
          </p:cNvSpPr>
          <p:nvPr>
            <p:ph idx="1"/>
          </p:nvPr>
        </p:nvSpPr>
        <p:spPr>
          <a:xfrm>
            <a:off x="838200" y="1690688"/>
            <a:ext cx="10515600" cy="5054885"/>
          </a:xfrm>
        </p:spPr>
        <p:txBody>
          <a:bodyPr>
            <a:normAutofit/>
          </a:bodyPr>
          <a:lstStyle/>
          <a:p>
            <a:pPr marL="0" indent="0">
              <a:buNone/>
            </a:pPr>
            <a:r>
              <a:rPr lang="en-AU" dirty="0"/>
              <a:t>Classify the following according to how they would be recorded on the </a:t>
            </a:r>
            <a:r>
              <a:rPr lang="en-AU" dirty="0" err="1"/>
              <a:t>BoP</a:t>
            </a:r>
            <a:r>
              <a:rPr lang="en-AU" dirty="0"/>
              <a:t> double entry system.</a:t>
            </a:r>
          </a:p>
          <a:p>
            <a:pPr marL="457200" indent="-457200">
              <a:buFont typeface="+mj-lt"/>
              <a:buAutoNum type="arabicPeriod"/>
            </a:pPr>
            <a:r>
              <a:rPr lang="en-AU" dirty="0"/>
              <a:t>A Malaysian tourist visits the new museum</a:t>
            </a:r>
          </a:p>
          <a:p>
            <a:pPr marL="457200" indent="-457200">
              <a:buFont typeface="+mj-lt"/>
              <a:buAutoNum type="arabicPeriod"/>
            </a:pPr>
            <a:r>
              <a:rPr lang="en-AU" dirty="0"/>
              <a:t>Ailsa, an Australian resident, goes on holiday to the UK.</a:t>
            </a:r>
          </a:p>
          <a:p>
            <a:pPr marL="457200" indent="-457200">
              <a:buFont typeface="+mj-lt"/>
              <a:buAutoNum type="arabicPeriod"/>
            </a:pPr>
            <a:r>
              <a:rPr lang="en-AU" dirty="0"/>
              <a:t>A local noodle cafe sources its ingredients from Indonesia.</a:t>
            </a:r>
          </a:p>
          <a:p>
            <a:pPr marL="457200" indent="-457200">
              <a:buFont typeface="+mj-lt"/>
              <a:buAutoNum type="arabicPeriod"/>
            </a:pPr>
            <a:r>
              <a:rPr lang="en-AU" dirty="0"/>
              <a:t>An Australian backpacker earns money by working in London.</a:t>
            </a:r>
          </a:p>
          <a:p>
            <a:pPr marL="457200" indent="-457200">
              <a:buFont typeface="+mj-lt"/>
              <a:buAutoNum type="arabicPeriod"/>
            </a:pPr>
            <a:r>
              <a:rPr lang="en-AU" dirty="0"/>
              <a:t>An American shareholder in an Australian company, Wesfarmers, receives a $450 dividend payment</a:t>
            </a:r>
          </a:p>
          <a:p>
            <a:pPr marL="457200" indent="-457200">
              <a:buFont typeface="+mj-lt"/>
              <a:buAutoNum type="arabicPeriod"/>
            </a:pPr>
            <a:r>
              <a:rPr lang="en-AU" dirty="0"/>
              <a:t>The local Scouts send money they have to aid Vanuatu in recovering from the latest Cyclone.</a:t>
            </a:r>
          </a:p>
          <a:p>
            <a:pPr marL="457200" indent="-457200">
              <a:buFont typeface="+mj-lt"/>
              <a:buAutoNum type="arabicPeriod"/>
            </a:pPr>
            <a:endParaRPr lang="en-AU" dirty="0"/>
          </a:p>
          <a:p>
            <a:pPr marL="457200" indent="-457200">
              <a:buFont typeface="+mj-lt"/>
              <a:buAutoNum type="arabicPeriod"/>
            </a:pPr>
            <a:endParaRPr lang="en-AU" dirty="0"/>
          </a:p>
          <a:p>
            <a:pPr marL="457200" indent="-457200">
              <a:buFont typeface="+mj-lt"/>
              <a:buAutoNum type="arabicPeriod"/>
            </a:pPr>
            <a:endParaRPr lang="en-AU" dirty="0"/>
          </a:p>
          <a:p>
            <a:endParaRPr lang="en-AU" dirty="0"/>
          </a:p>
          <a:p>
            <a:pPr marL="457200" indent="-457200">
              <a:buFont typeface="+mj-lt"/>
              <a:buAutoNum type="arabicPeriod"/>
            </a:pPr>
            <a:endParaRPr lang="en-AU" dirty="0"/>
          </a:p>
          <a:p>
            <a:pPr marL="457200" indent="-457200">
              <a:buFont typeface="+mj-lt"/>
              <a:buAutoNum type="arabicPeriod"/>
            </a:pPr>
            <a:endParaRPr lang="en-AU" dirty="0"/>
          </a:p>
          <a:p>
            <a:pPr marL="457200" indent="-457200">
              <a:buFont typeface="+mj-lt"/>
              <a:buAutoNum type="arabicPeriod"/>
            </a:pPr>
            <a:endParaRPr lang="en-AU" dirty="0"/>
          </a:p>
          <a:p>
            <a:pPr marL="0" indent="0">
              <a:buNone/>
            </a:pPr>
            <a:endParaRPr lang="en-AU" dirty="0"/>
          </a:p>
          <a:p>
            <a:pPr marL="0" indent="0">
              <a:buNone/>
            </a:pPr>
            <a:endParaRPr lang="en-AU" dirty="0"/>
          </a:p>
        </p:txBody>
      </p:sp>
    </p:spTree>
    <p:extLst>
      <p:ext uri="{BB962C8B-B14F-4D97-AF65-F5344CB8AC3E}">
        <p14:creationId xmlns:p14="http://schemas.microsoft.com/office/powerpoint/2010/main" val="418601467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9344D-686D-C653-E7E5-E88674423878}"/>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2D48AA6D-1F2A-A941-663A-FA74742BAC9D}"/>
              </a:ext>
            </a:extLst>
          </p:cNvPr>
          <p:cNvSpPr>
            <a:spLocks noGrp="1"/>
          </p:cNvSpPr>
          <p:nvPr>
            <p:ph type="title"/>
          </p:nvPr>
        </p:nvSpPr>
        <p:spPr>
          <a:xfrm>
            <a:off x="838200" y="-249471"/>
            <a:ext cx="10515600" cy="1325563"/>
          </a:xfrm>
        </p:spPr>
        <p:txBody>
          <a:bodyPr/>
          <a:lstStyle/>
          <a:p>
            <a:r>
              <a:rPr lang="en-AU" dirty="0"/>
              <a:t>DAILY REVIEW</a:t>
            </a:r>
            <a:endParaRPr lang="en-US" dirty="0"/>
          </a:p>
        </p:txBody>
      </p:sp>
      <p:sp>
        <p:nvSpPr>
          <p:cNvPr id="11" name="Content Placeholder 2">
            <a:extLst>
              <a:ext uri="{FF2B5EF4-FFF2-40B4-BE49-F238E27FC236}">
                <a16:creationId xmlns:a16="http://schemas.microsoft.com/office/drawing/2014/main" id="{8874C425-D9B5-7B32-04C5-1E532117368E}"/>
              </a:ext>
            </a:extLst>
          </p:cNvPr>
          <p:cNvSpPr>
            <a:spLocks noGrp="1"/>
          </p:cNvSpPr>
          <p:nvPr>
            <p:ph idx="1"/>
          </p:nvPr>
        </p:nvSpPr>
        <p:spPr>
          <a:xfrm>
            <a:off x="838200" y="1076092"/>
            <a:ext cx="10515600" cy="5669481"/>
          </a:xfrm>
        </p:spPr>
        <p:txBody>
          <a:bodyPr>
            <a:normAutofit fontScale="92500" lnSpcReduction="10000"/>
          </a:bodyPr>
          <a:lstStyle/>
          <a:p>
            <a:pPr marL="0" indent="0">
              <a:buNone/>
            </a:pPr>
            <a:r>
              <a:rPr lang="en-AU" dirty="0"/>
              <a:t>Classify the following according to how they would be recorded on the </a:t>
            </a:r>
            <a:r>
              <a:rPr lang="en-AU" dirty="0" err="1"/>
              <a:t>BoP</a:t>
            </a:r>
            <a:r>
              <a:rPr lang="en-AU" dirty="0"/>
              <a:t> double entry system.</a:t>
            </a:r>
          </a:p>
          <a:p>
            <a:pPr marL="457200" indent="-457200">
              <a:buFont typeface="+mj-lt"/>
              <a:buAutoNum type="arabicPeriod"/>
            </a:pPr>
            <a:r>
              <a:rPr lang="en-AU" dirty="0"/>
              <a:t>A Malaysian tourist visits the new museum – </a:t>
            </a:r>
            <a:r>
              <a:rPr lang="en-AU" b="1" dirty="0">
                <a:solidFill>
                  <a:srgbClr val="00C577"/>
                </a:solidFill>
              </a:rPr>
              <a:t>CAB – Services, Credit &amp; </a:t>
            </a:r>
            <a:r>
              <a:rPr lang="en-AU" b="1" dirty="0">
                <a:solidFill>
                  <a:srgbClr val="FF0000"/>
                </a:solidFill>
              </a:rPr>
              <a:t>Financial Account - Other investment, Debit </a:t>
            </a:r>
          </a:p>
          <a:p>
            <a:pPr marL="457200" indent="-457200">
              <a:buFont typeface="+mj-lt"/>
              <a:buAutoNum type="arabicPeriod"/>
            </a:pPr>
            <a:r>
              <a:rPr lang="en-AU" dirty="0"/>
              <a:t>Ailsa, an Australian resident, goes on holiday to the UK - </a:t>
            </a:r>
            <a:r>
              <a:rPr lang="en-AU" b="1" dirty="0">
                <a:solidFill>
                  <a:srgbClr val="FF0000"/>
                </a:solidFill>
              </a:rPr>
              <a:t>Current Account – Services,  Debit &amp; </a:t>
            </a:r>
            <a:r>
              <a:rPr lang="en-AU" b="1" dirty="0">
                <a:solidFill>
                  <a:srgbClr val="00C577"/>
                </a:solidFill>
              </a:rPr>
              <a:t>Financial Account – Other investments, Credit</a:t>
            </a:r>
          </a:p>
          <a:p>
            <a:pPr marL="457200" indent="-457200">
              <a:buFont typeface="+mj-lt"/>
              <a:buAutoNum type="arabicPeriod"/>
            </a:pPr>
            <a:r>
              <a:rPr lang="en-AU" dirty="0"/>
              <a:t>A local noodle cafe sources its ingredients from Indonesia. </a:t>
            </a:r>
            <a:r>
              <a:rPr lang="en-AU" b="1" dirty="0">
                <a:solidFill>
                  <a:srgbClr val="FF0000"/>
                </a:solidFill>
              </a:rPr>
              <a:t>Current Account – Goods (Import of goods),  Debit &amp; </a:t>
            </a:r>
            <a:r>
              <a:rPr lang="en-AU" b="1" dirty="0">
                <a:solidFill>
                  <a:srgbClr val="00C577"/>
                </a:solidFill>
              </a:rPr>
              <a:t>Financial Account – Other investments, Credit</a:t>
            </a:r>
            <a:endParaRPr lang="en-AU" dirty="0"/>
          </a:p>
          <a:p>
            <a:pPr marL="457200" indent="-457200">
              <a:buFont typeface="+mj-lt"/>
              <a:buAutoNum type="arabicPeriod"/>
            </a:pPr>
            <a:r>
              <a:rPr lang="en-AU" dirty="0"/>
              <a:t>An Australian backpacker earns money by working in London.</a:t>
            </a:r>
            <a:r>
              <a:rPr lang="en-AU" b="1" dirty="0">
                <a:solidFill>
                  <a:srgbClr val="00C577"/>
                </a:solidFill>
              </a:rPr>
              <a:t> CAB – Primary income, Credit &amp;</a:t>
            </a:r>
            <a:r>
              <a:rPr lang="en-AU" b="1" dirty="0">
                <a:solidFill>
                  <a:srgbClr val="FF0000"/>
                </a:solidFill>
              </a:rPr>
              <a:t> Financial Account - Other investment, Debit </a:t>
            </a:r>
            <a:endParaRPr lang="en-AU" dirty="0"/>
          </a:p>
          <a:p>
            <a:pPr marL="457200" indent="-457200">
              <a:buFont typeface="+mj-lt"/>
              <a:buAutoNum type="arabicPeriod"/>
            </a:pPr>
            <a:r>
              <a:rPr lang="en-AU" dirty="0"/>
              <a:t>An American shareholder in an Australian company, Wesfarmers, receives a $450 dividend payment. </a:t>
            </a:r>
            <a:r>
              <a:rPr lang="en-AU" b="1" dirty="0">
                <a:solidFill>
                  <a:srgbClr val="FF0000"/>
                </a:solidFill>
              </a:rPr>
              <a:t>CAB – Primary income, Debit &amp; </a:t>
            </a:r>
            <a:r>
              <a:rPr lang="en-AU" b="1" dirty="0">
                <a:solidFill>
                  <a:srgbClr val="00C577"/>
                </a:solidFill>
              </a:rPr>
              <a:t>Financial Account – Other investments, Credit</a:t>
            </a:r>
            <a:endParaRPr lang="en-AU" dirty="0">
              <a:solidFill>
                <a:srgbClr val="FF0000"/>
              </a:solidFill>
            </a:endParaRPr>
          </a:p>
          <a:p>
            <a:pPr marL="457200" indent="-457200">
              <a:buFont typeface="+mj-lt"/>
              <a:buAutoNum type="arabicPeriod"/>
            </a:pPr>
            <a:r>
              <a:rPr lang="en-AU" dirty="0"/>
              <a:t>The local Scouts send money they have to aid Vanuatu in recovering from the latest Cyclone.</a:t>
            </a:r>
            <a:r>
              <a:rPr lang="en-AU" b="1" dirty="0">
                <a:solidFill>
                  <a:srgbClr val="FF0000"/>
                </a:solidFill>
              </a:rPr>
              <a:t> Current Account, Secondary Income, Debit &amp; </a:t>
            </a:r>
            <a:r>
              <a:rPr lang="en-AU" b="1" dirty="0">
                <a:solidFill>
                  <a:srgbClr val="00C577"/>
                </a:solidFill>
              </a:rPr>
              <a:t>Financial Account – Other investments, Credit</a:t>
            </a:r>
            <a:endParaRPr lang="en-AU" dirty="0"/>
          </a:p>
          <a:p>
            <a:pPr marL="457200" indent="-457200">
              <a:buFont typeface="+mj-lt"/>
              <a:buAutoNum type="arabicPeriod"/>
            </a:pPr>
            <a:endParaRPr lang="en-AU" dirty="0"/>
          </a:p>
          <a:p>
            <a:pPr marL="457200" indent="-457200">
              <a:buFont typeface="+mj-lt"/>
              <a:buAutoNum type="arabicPeriod"/>
            </a:pPr>
            <a:endParaRPr lang="en-AU" dirty="0"/>
          </a:p>
          <a:p>
            <a:pPr marL="457200" indent="-457200">
              <a:buFont typeface="+mj-lt"/>
              <a:buAutoNum type="arabicPeriod"/>
            </a:pPr>
            <a:endParaRPr lang="en-AU" dirty="0"/>
          </a:p>
          <a:p>
            <a:endParaRPr lang="en-AU" dirty="0"/>
          </a:p>
          <a:p>
            <a:pPr marL="457200" indent="-457200">
              <a:buFont typeface="+mj-lt"/>
              <a:buAutoNum type="arabicPeriod"/>
            </a:pPr>
            <a:endParaRPr lang="en-AU" dirty="0"/>
          </a:p>
          <a:p>
            <a:pPr marL="457200" indent="-457200">
              <a:buFont typeface="+mj-lt"/>
              <a:buAutoNum type="arabicPeriod"/>
            </a:pPr>
            <a:endParaRPr lang="en-AU" dirty="0"/>
          </a:p>
          <a:p>
            <a:pPr marL="457200" indent="-457200">
              <a:buFont typeface="+mj-lt"/>
              <a:buAutoNum type="arabicPeriod"/>
            </a:pPr>
            <a:endParaRPr lang="en-AU" dirty="0"/>
          </a:p>
          <a:p>
            <a:pPr marL="0" indent="0">
              <a:buNone/>
            </a:pPr>
            <a:endParaRPr lang="en-AU" dirty="0"/>
          </a:p>
          <a:p>
            <a:pPr marL="0" indent="0">
              <a:buNone/>
            </a:pPr>
            <a:endParaRPr lang="en-AU" dirty="0"/>
          </a:p>
        </p:txBody>
      </p:sp>
    </p:spTree>
    <p:extLst>
      <p:ext uri="{BB962C8B-B14F-4D97-AF65-F5344CB8AC3E}">
        <p14:creationId xmlns:p14="http://schemas.microsoft.com/office/powerpoint/2010/main" val="307788141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paper&#10;&#10;AI-generated content may be incorrect.">
            <a:extLst>
              <a:ext uri="{FF2B5EF4-FFF2-40B4-BE49-F238E27FC236}">
                <a16:creationId xmlns:a16="http://schemas.microsoft.com/office/drawing/2014/main" id="{79D34BEA-62F9-2247-84F4-5D22AD0D4FE8}"/>
              </a:ext>
            </a:extLst>
          </p:cNvPr>
          <p:cNvPicPr>
            <a:picLocks noGrp="1" noChangeAspect="1"/>
          </p:cNvPicPr>
          <p:nvPr>
            <p:ph idx="1"/>
          </p:nvPr>
        </p:nvPicPr>
        <p:blipFill>
          <a:blip r:embed="rId3"/>
          <a:stretch>
            <a:fillRect/>
          </a:stretch>
        </p:blipFill>
        <p:spPr>
          <a:xfrm>
            <a:off x="1003972" y="68263"/>
            <a:ext cx="10184055" cy="6721475"/>
          </a:xfrm>
          <a:prstGeom prst="rect">
            <a:avLst/>
          </a:prstGeom>
          <a:noFill/>
        </p:spPr>
      </p:pic>
    </p:spTree>
    <p:extLst>
      <p:ext uri="{BB962C8B-B14F-4D97-AF65-F5344CB8AC3E}">
        <p14:creationId xmlns:p14="http://schemas.microsoft.com/office/powerpoint/2010/main" val="7354937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741D3-B667-1F90-1880-7DAB39AD386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F2CDCB6-9ECE-AFE9-3613-7F3FBB80F686}"/>
              </a:ext>
            </a:extLst>
          </p:cNvPr>
          <p:cNvPicPr>
            <a:picLocks noGrp="1" noChangeAspect="1"/>
          </p:cNvPicPr>
          <p:nvPr>
            <p:ph idx="1"/>
          </p:nvPr>
        </p:nvPicPr>
        <p:blipFill>
          <a:blip r:embed="rId3"/>
          <a:stretch>
            <a:fillRect/>
          </a:stretch>
        </p:blipFill>
        <p:spPr>
          <a:xfrm>
            <a:off x="692101" y="0"/>
            <a:ext cx="10184055" cy="6721475"/>
          </a:xfrm>
          <a:prstGeom prst="rect">
            <a:avLst/>
          </a:prstGeom>
          <a:noFill/>
        </p:spPr>
      </p:pic>
      <p:sp>
        <p:nvSpPr>
          <p:cNvPr id="3" name="Oval 2">
            <a:extLst>
              <a:ext uri="{FF2B5EF4-FFF2-40B4-BE49-F238E27FC236}">
                <a16:creationId xmlns:a16="http://schemas.microsoft.com/office/drawing/2014/main" id="{94F5AE14-CFE2-5DB5-AAE0-431EAACB9ABB}"/>
              </a:ext>
            </a:extLst>
          </p:cNvPr>
          <p:cNvSpPr/>
          <p:nvPr/>
        </p:nvSpPr>
        <p:spPr>
          <a:xfrm>
            <a:off x="1048215" y="6177775"/>
            <a:ext cx="5352586" cy="37914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40307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097AF9-AAE5-2E04-E2FC-DC285D24954E}"/>
              </a:ext>
            </a:extLst>
          </p:cNvPr>
          <p:cNvPicPr>
            <a:picLocks noChangeAspect="1"/>
          </p:cNvPicPr>
          <p:nvPr/>
        </p:nvPicPr>
        <p:blipFill>
          <a:blip r:embed="rId2"/>
          <a:stretch>
            <a:fillRect/>
          </a:stretch>
        </p:blipFill>
        <p:spPr>
          <a:xfrm>
            <a:off x="120650" y="1412320"/>
            <a:ext cx="11950700" cy="4033360"/>
          </a:xfrm>
          <a:prstGeom prst="rect">
            <a:avLst/>
          </a:prstGeom>
          <a:noFill/>
        </p:spPr>
      </p:pic>
    </p:spTree>
    <p:extLst>
      <p:ext uri="{BB962C8B-B14F-4D97-AF65-F5344CB8AC3E}">
        <p14:creationId xmlns:p14="http://schemas.microsoft.com/office/powerpoint/2010/main" val="14942123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0FD77-87FE-6205-93D4-B6A97A753B6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A822E53-0D7A-6727-B8D5-A25EDA8F569E}"/>
              </a:ext>
            </a:extLst>
          </p:cNvPr>
          <p:cNvPicPr>
            <a:picLocks noChangeAspect="1"/>
          </p:cNvPicPr>
          <p:nvPr/>
        </p:nvPicPr>
        <p:blipFill>
          <a:blip r:embed="rId2"/>
          <a:stretch>
            <a:fillRect/>
          </a:stretch>
        </p:blipFill>
        <p:spPr>
          <a:xfrm>
            <a:off x="120650" y="1412320"/>
            <a:ext cx="11950700" cy="4033360"/>
          </a:xfrm>
          <a:prstGeom prst="rect">
            <a:avLst/>
          </a:prstGeom>
          <a:noFill/>
        </p:spPr>
      </p:pic>
      <p:sp>
        <p:nvSpPr>
          <p:cNvPr id="2" name="Oval 1">
            <a:extLst>
              <a:ext uri="{FF2B5EF4-FFF2-40B4-BE49-F238E27FC236}">
                <a16:creationId xmlns:a16="http://schemas.microsoft.com/office/drawing/2014/main" id="{E5066502-8E9A-4E4A-EC5C-55F3F43F8A1D}"/>
              </a:ext>
            </a:extLst>
          </p:cNvPr>
          <p:cNvSpPr/>
          <p:nvPr/>
        </p:nvSpPr>
        <p:spPr>
          <a:xfrm>
            <a:off x="423746" y="2877015"/>
            <a:ext cx="4393581" cy="551985"/>
          </a:xfrm>
          <a:prstGeom prst="ellipse">
            <a:avLst/>
          </a:prstGeom>
          <a:no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6388965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EA49DC0-F913-5805-BED0-3F69115CA683}"/>
              </a:ext>
            </a:extLst>
          </p:cNvPr>
          <p:cNvPicPr>
            <a:picLocks noGrp="1" noChangeAspect="1"/>
          </p:cNvPicPr>
          <p:nvPr>
            <p:ph sz="half" idx="1"/>
          </p:nvPr>
        </p:nvPicPr>
        <p:blipFill>
          <a:blip r:embed="rId2"/>
          <a:stretch>
            <a:fillRect/>
          </a:stretch>
        </p:blipFill>
        <p:spPr>
          <a:xfrm>
            <a:off x="359864" y="201353"/>
            <a:ext cx="8964018" cy="6338195"/>
          </a:xfrm>
          <a:prstGeom prst="rect">
            <a:avLst/>
          </a:prstGeom>
          <a:noFill/>
        </p:spPr>
      </p:pic>
      <p:sp>
        <p:nvSpPr>
          <p:cNvPr id="11" name="Content Placeholder 3">
            <a:extLst>
              <a:ext uri="{FF2B5EF4-FFF2-40B4-BE49-F238E27FC236}">
                <a16:creationId xmlns:a16="http://schemas.microsoft.com/office/drawing/2014/main" id="{4B7160C7-54A4-809F-82DA-2F9F1130AA8E}"/>
              </a:ext>
            </a:extLst>
          </p:cNvPr>
          <p:cNvSpPr>
            <a:spLocks noGrp="1"/>
          </p:cNvSpPr>
          <p:nvPr>
            <p:ph sz="half" idx="2"/>
          </p:nvPr>
        </p:nvSpPr>
        <p:spPr>
          <a:xfrm>
            <a:off x="8890517" y="836229"/>
            <a:ext cx="3301483" cy="4454934"/>
          </a:xfrm>
        </p:spPr>
        <p:txBody>
          <a:bodyPr/>
          <a:lstStyle/>
          <a:p>
            <a:pPr marL="457200" indent="-457200">
              <a:buAutoNum type="arabicPeriod"/>
            </a:pPr>
            <a:r>
              <a:rPr lang="en-AU" dirty="0"/>
              <a:t>Identify the year that had the largest monthly trade deficit.</a:t>
            </a:r>
          </a:p>
          <a:p>
            <a:pPr marL="457200" indent="-457200">
              <a:buAutoNum type="arabicPeriod"/>
            </a:pPr>
            <a:endParaRPr lang="en-AU" dirty="0"/>
          </a:p>
          <a:p>
            <a:pPr marL="457200" indent="-457200">
              <a:buAutoNum type="arabicPeriod"/>
            </a:pPr>
            <a:r>
              <a:rPr lang="en-AU" dirty="0"/>
              <a:t>Identify the value of the trade balance in September 2018.</a:t>
            </a:r>
          </a:p>
          <a:p>
            <a:pPr marL="457200" indent="-457200">
              <a:buAutoNum type="arabicPeriod"/>
            </a:pPr>
            <a:endParaRPr lang="en-AU" dirty="0"/>
          </a:p>
          <a:p>
            <a:pPr marL="457200" indent="-457200">
              <a:buAutoNum type="arabicPeriod"/>
            </a:pPr>
            <a:r>
              <a:rPr lang="en-AU" dirty="0"/>
              <a:t>Identify the value of Australian exports in September 2015. </a:t>
            </a:r>
          </a:p>
          <a:p>
            <a:pPr marL="457200" indent="-457200">
              <a:buAutoNum type="alphaLcParenR"/>
            </a:pPr>
            <a:endParaRPr lang="en-AU" dirty="0"/>
          </a:p>
        </p:txBody>
      </p:sp>
    </p:spTree>
    <p:extLst>
      <p:ext uri="{BB962C8B-B14F-4D97-AF65-F5344CB8AC3E}">
        <p14:creationId xmlns:p14="http://schemas.microsoft.com/office/powerpoint/2010/main" val="349919679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3C927-CCD7-9C35-DAA9-0E84F7E53DD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6BE959C-EF99-886D-41A2-627ACEA57948}"/>
              </a:ext>
            </a:extLst>
          </p:cNvPr>
          <p:cNvPicPr>
            <a:picLocks noGrp="1" noChangeAspect="1"/>
          </p:cNvPicPr>
          <p:nvPr>
            <p:ph sz="half" idx="1"/>
          </p:nvPr>
        </p:nvPicPr>
        <p:blipFill>
          <a:blip r:embed="rId2"/>
          <a:stretch>
            <a:fillRect/>
          </a:stretch>
        </p:blipFill>
        <p:spPr>
          <a:xfrm>
            <a:off x="359864" y="201353"/>
            <a:ext cx="8964018" cy="6338195"/>
          </a:xfrm>
          <a:prstGeom prst="rect">
            <a:avLst/>
          </a:prstGeom>
          <a:noFill/>
        </p:spPr>
      </p:pic>
      <p:sp>
        <p:nvSpPr>
          <p:cNvPr id="11" name="Content Placeholder 3">
            <a:extLst>
              <a:ext uri="{FF2B5EF4-FFF2-40B4-BE49-F238E27FC236}">
                <a16:creationId xmlns:a16="http://schemas.microsoft.com/office/drawing/2014/main" id="{283340C1-2A38-5791-7578-AE35C185DD62}"/>
              </a:ext>
            </a:extLst>
          </p:cNvPr>
          <p:cNvSpPr>
            <a:spLocks noGrp="1"/>
          </p:cNvSpPr>
          <p:nvPr>
            <p:ph sz="half" idx="2"/>
          </p:nvPr>
        </p:nvSpPr>
        <p:spPr>
          <a:xfrm>
            <a:off x="8890517" y="836228"/>
            <a:ext cx="3301483" cy="5189817"/>
          </a:xfrm>
        </p:spPr>
        <p:txBody>
          <a:bodyPr>
            <a:normAutofit fontScale="92500" lnSpcReduction="10000"/>
          </a:bodyPr>
          <a:lstStyle/>
          <a:p>
            <a:pPr marL="457200" indent="-457200">
              <a:buAutoNum type="arabicPeriod"/>
            </a:pPr>
            <a:r>
              <a:rPr lang="en-AU" dirty="0"/>
              <a:t>Identify the year that had the largest monthly trade deficit. </a:t>
            </a:r>
            <a:r>
              <a:rPr lang="en-AU" b="1" dirty="0">
                <a:solidFill>
                  <a:srgbClr val="FF0000"/>
                </a:solidFill>
              </a:rPr>
              <a:t>2015</a:t>
            </a:r>
          </a:p>
          <a:p>
            <a:pPr marL="457200" indent="-457200">
              <a:buAutoNum type="arabicPeriod"/>
            </a:pPr>
            <a:endParaRPr lang="en-AU" dirty="0"/>
          </a:p>
          <a:p>
            <a:pPr marL="457200" indent="-457200">
              <a:buAutoNum type="arabicPeriod"/>
            </a:pPr>
            <a:r>
              <a:rPr lang="en-AU" dirty="0"/>
              <a:t>Identify the value of the trade balance in September 2018.        </a:t>
            </a:r>
            <a:r>
              <a:rPr lang="en-AU" b="1" dirty="0">
                <a:solidFill>
                  <a:srgbClr val="FF0000"/>
                </a:solidFill>
              </a:rPr>
              <a:t>$3 billion</a:t>
            </a:r>
          </a:p>
          <a:p>
            <a:pPr marL="457200" indent="-457200">
              <a:buAutoNum type="arabicPeriod"/>
            </a:pPr>
            <a:endParaRPr lang="en-AU" dirty="0"/>
          </a:p>
          <a:p>
            <a:pPr marL="457200" indent="-457200">
              <a:buAutoNum type="arabicPeriod"/>
            </a:pPr>
            <a:r>
              <a:rPr lang="en-AU" dirty="0"/>
              <a:t>Identify the value of Australian exports in September 2015.</a:t>
            </a:r>
          </a:p>
          <a:p>
            <a:pPr marL="0" indent="0">
              <a:buNone/>
            </a:pPr>
            <a:r>
              <a:rPr lang="en-AU" b="1" dirty="0">
                <a:solidFill>
                  <a:srgbClr val="FF0000"/>
                </a:solidFill>
              </a:rPr>
              <a:t>  Answers between:</a:t>
            </a:r>
          </a:p>
          <a:p>
            <a:pPr marL="0" indent="0">
              <a:buNone/>
            </a:pPr>
            <a:r>
              <a:rPr lang="en-AU" b="1" dirty="0">
                <a:solidFill>
                  <a:srgbClr val="FF0000"/>
                </a:solidFill>
              </a:rPr>
              <a:t> $27–$28.1 billion </a:t>
            </a:r>
          </a:p>
          <a:p>
            <a:pPr marL="457200" indent="-457200">
              <a:buAutoNum type="arabicPeriod"/>
            </a:pPr>
            <a:endParaRPr lang="en-AU" dirty="0"/>
          </a:p>
          <a:p>
            <a:pPr marL="457200" indent="-457200">
              <a:buAutoNum type="alphaLcParenR"/>
            </a:pPr>
            <a:endParaRPr lang="en-AU" dirty="0"/>
          </a:p>
        </p:txBody>
      </p:sp>
    </p:spTree>
    <p:extLst>
      <p:ext uri="{BB962C8B-B14F-4D97-AF65-F5344CB8AC3E}">
        <p14:creationId xmlns:p14="http://schemas.microsoft.com/office/powerpoint/2010/main" val="252185830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D4D3B73-AA5D-515A-2807-4BC602D7B71D}"/>
              </a:ext>
            </a:extLst>
          </p:cNvPr>
          <p:cNvPicPr>
            <a:picLocks noGrp="1" noChangeAspect="1"/>
          </p:cNvPicPr>
          <p:nvPr>
            <p:ph idx="1"/>
          </p:nvPr>
        </p:nvPicPr>
        <p:blipFill>
          <a:blip r:embed="rId2"/>
          <a:stretch>
            <a:fillRect/>
          </a:stretch>
        </p:blipFill>
        <p:spPr>
          <a:xfrm>
            <a:off x="304196" y="68262"/>
            <a:ext cx="8728895" cy="6721475"/>
          </a:xfrm>
          <a:prstGeom prst="rect">
            <a:avLst/>
          </a:prstGeom>
          <a:noFill/>
        </p:spPr>
      </p:pic>
      <p:sp>
        <p:nvSpPr>
          <p:cNvPr id="6" name="TextBox 5">
            <a:extLst>
              <a:ext uri="{FF2B5EF4-FFF2-40B4-BE49-F238E27FC236}">
                <a16:creationId xmlns:a16="http://schemas.microsoft.com/office/drawing/2014/main" id="{D153C663-5404-5135-3AFF-353280BF05F0}"/>
              </a:ext>
            </a:extLst>
          </p:cNvPr>
          <p:cNvSpPr txBox="1"/>
          <p:nvPr/>
        </p:nvSpPr>
        <p:spPr>
          <a:xfrm>
            <a:off x="9033091" y="1115122"/>
            <a:ext cx="2519572" cy="2862322"/>
          </a:xfrm>
          <a:prstGeom prst="rect">
            <a:avLst/>
          </a:prstGeom>
          <a:noFill/>
        </p:spPr>
        <p:txBody>
          <a:bodyPr wrap="square" rtlCol="0">
            <a:spAutoFit/>
          </a:bodyPr>
          <a:lstStyle/>
          <a:p>
            <a:pPr marL="342900" indent="-342900">
              <a:buAutoNum type="arabicPeriod"/>
            </a:pPr>
            <a:r>
              <a:rPr lang="en-US" dirty="0"/>
              <a:t>Identify the year that had the largest monthly trade surplus</a:t>
            </a:r>
          </a:p>
          <a:p>
            <a:pPr marL="342900" indent="-342900">
              <a:buAutoNum type="arabicPeriod"/>
            </a:pPr>
            <a:endParaRPr lang="en-US" dirty="0"/>
          </a:p>
          <a:p>
            <a:pPr marL="342900" indent="-342900">
              <a:buAutoNum type="arabicPeriod"/>
            </a:pPr>
            <a:endParaRPr lang="en-US" dirty="0"/>
          </a:p>
          <a:p>
            <a:pPr marL="342900" indent="-342900">
              <a:buAutoNum type="arabicPeriod"/>
            </a:pPr>
            <a:r>
              <a:rPr lang="en-US" dirty="0"/>
              <a:t>What was the value of the trade balance in December 2017?</a:t>
            </a:r>
          </a:p>
        </p:txBody>
      </p:sp>
    </p:spTree>
    <p:extLst>
      <p:ext uri="{BB962C8B-B14F-4D97-AF65-F5344CB8AC3E}">
        <p14:creationId xmlns:p14="http://schemas.microsoft.com/office/powerpoint/2010/main" val="56138225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FD7E3-811F-0619-2219-2427301F9EA8}"/>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EDA66AB-E31F-C5CB-DBA6-58D1E0FCE226}"/>
              </a:ext>
            </a:extLst>
          </p:cNvPr>
          <p:cNvPicPr>
            <a:picLocks noGrp="1" noChangeAspect="1"/>
          </p:cNvPicPr>
          <p:nvPr>
            <p:ph idx="1"/>
          </p:nvPr>
        </p:nvPicPr>
        <p:blipFill>
          <a:blip r:embed="rId2"/>
          <a:stretch>
            <a:fillRect/>
          </a:stretch>
        </p:blipFill>
        <p:spPr>
          <a:xfrm>
            <a:off x="304196" y="68262"/>
            <a:ext cx="8728895" cy="6721475"/>
          </a:xfrm>
          <a:prstGeom prst="rect">
            <a:avLst/>
          </a:prstGeom>
          <a:noFill/>
        </p:spPr>
      </p:pic>
      <p:sp>
        <p:nvSpPr>
          <p:cNvPr id="6" name="TextBox 5">
            <a:extLst>
              <a:ext uri="{FF2B5EF4-FFF2-40B4-BE49-F238E27FC236}">
                <a16:creationId xmlns:a16="http://schemas.microsoft.com/office/drawing/2014/main" id="{16E9D8DB-3966-FDAD-2319-8E882BC42250}"/>
              </a:ext>
            </a:extLst>
          </p:cNvPr>
          <p:cNvSpPr txBox="1"/>
          <p:nvPr/>
        </p:nvSpPr>
        <p:spPr>
          <a:xfrm>
            <a:off x="9033091" y="1115122"/>
            <a:ext cx="2519572" cy="3139321"/>
          </a:xfrm>
          <a:prstGeom prst="rect">
            <a:avLst/>
          </a:prstGeom>
          <a:noFill/>
        </p:spPr>
        <p:txBody>
          <a:bodyPr wrap="square" rtlCol="0">
            <a:spAutoFit/>
          </a:bodyPr>
          <a:lstStyle/>
          <a:p>
            <a:pPr marL="342900" indent="-342900">
              <a:buAutoNum type="arabicPeriod"/>
            </a:pPr>
            <a:r>
              <a:rPr lang="en-US" dirty="0"/>
              <a:t>Identify the year that had the largest monthly trade surplus</a:t>
            </a:r>
          </a:p>
          <a:p>
            <a:pPr marL="342900" indent="-342900">
              <a:buAutoNum type="arabicPeriod"/>
            </a:pPr>
            <a:endParaRPr lang="en-US" dirty="0"/>
          </a:p>
          <a:p>
            <a:endParaRPr lang="en-US" dirty="0"/>
          </a:p>
          <a:p>
            <a:pPr marL="342900" indent="-342900">
              <a:buAutoNum type="arabicPeriod"/>
            </a:pPr>
            <a:endParaRPr lang="en-US" dirty="0"/>
          </a:p>
          <a:p>
            <a:pPr marL="342900" indent="-342900">
              <a:buAutoNum type="arabicPeriod"/>
            </a:pPr>
            <a:r>
              <a:rPr lang="en-US" dirty="0"/>
              <a:t>What was the value of the trade balance in December 2017?</a:t>
            </a:r>
          </a:p>
        </p:txBody>
      </p:sp>
    </p:spTree>
    <p:extLst>
      <p:ext uri="{BB962C8B-B14F-4D97-AF65-F5344CB8AC3E}">
        <p14:creationId xmlns:p14="http://schemas.microsoft.com/office/powerpoint/2010/main" val="260721254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1432F-72E5-78AE-41E0-60198ED8AB3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1E71BB2-EAB3-A5BD-B46A-5EA8CD2ECA27}"/>
              </a:ext>
            </a:extLst>
          </p:cNvPr>
          <p:cNvPicPr>
            <a:picLocks noChangeAspect="1"/>
          </p:cNvPicPr>
          <p:nvPr/>
        </p:nvPicPr>
        <p:blipFill rotWithShape="1">
          <a:blip r:embed="rId2"/>
          <a:srcRect r="4658" b="2"/>
          <a:stretch/>
        </p:blipFill>
        <p:spPr>
          <a:xfrm>
            <a:off x="1089347" y="68263"/>
            <a:ext cx="10013306" cy="6721475"/>
          </a:xfrm>
          <a:prstGeom prst="rect">
            <a:avLst/>
          </a:prstGeom>
          <a:noFill/>
          <a:effectLst/>
        </p:spPr>
      </p:pic>
    </p:spTree>
    <p:extLst>
      <p:ext uri="{BB962C8B-B14F-4D97-AF65-F5344CB8AC3E}">
        <p14:creationId xmlns:p14="http://schemas.microsoft.com/office/powerpoint/2010/main" val="371887629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FDE11-8CE4-EEA2-2314-F37D9031FF4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BC62018-E898-6A90-33DA-EB03DDBC6D1D}"/>
              </a:ext>
            </a:extLst>
          </p:cNvPr>
          <p:cNvPicPr>
            <a:picLocks noChangeAspect="1"/>
          </p:cNvPicPr>
          <p:nvPr/>
        </p:nvPicPr>
        <p:blipFill rotWithShape="1">
          <a:blip r:embed="rId3"/>
          <a:srcRect r="4658" b="2"/>
          <a:stretch/>
        </p:blipFill>
        <p:spPr>
          <a:xfrm>
            <a:off x="1089347" y="68263"/>
            <a:ext cx="10013306" cy="6721475"/>
          </a:xfrm>
          <a:prstGeom prst="rect">
            <a:avLst/>
          </a:prstGeom>
          <a:noFill/>
          <a:effectLst/>
        </p:spPr>
      </p:pic>
      <p:sp>
        <p:nvSpPr>
          <p:cNvPr id="2" name="Oval 1">
            <a:extLst>
              <a:ext uri="{FF2B5EF4-FFF2-40B4-BE49-F238E27FC236}">
                <a16:creationId xmlns:a16="http://schemas.microsoft.com/office/drawing/2014/main" id="{D9089AE3-7093-2356-09C7-C429D36D2CC8}"/>
              </a:ext>
            </a:extLst>
          </p:cNvPr>
          <p:cNvSpPr/>
          <p:nvPr/>
        </p:nvSpPr>
        <p:spPr>
          <a:xfrm>
            <a:off x="1089347" y="6026046"/>
            <a:ext cx="6930391" cy="50966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3167340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638A0-09E4-EA50-8A14-BA0DB76FB6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9605A2-17C7-6487-47BD-43DCBEC0B9CA}"/>
              </a:ext>
            </a:extLst>
          </p:cNvPr>
          <p:cNvSpPr>
            <a:spLocks noGrp="1"/>
          </p:cNvSpPr>
          <p:nvPr>
            <p:ph type="title"/>
          </p:nvPr>
        </p:nvSpPr>
        <p:spPr>
          <a:xfrm>
            <a:off x="878798" y="824121"/>
            <a:ext cx="4691582" cy="2971800"/>
          </a:xfrm>
        </p:spPr>
        <p:txBody>
          <a:bodyPr anchor="b">
            <a:normAutofit fontScale="90000"/>
          </a:bodyPr>
          <a:lstStyle/>
          <a:p>
            <a:pPr>
              <a:lnSpc>
                <a:spcPct val="90000"/>
              </a:lnSpc>
            </a:pPr>
            <a:r>
              <a:rPr lang="en-AU" dirty="0">
                <a:ea typeface="Calibri" panose="020F0502020204030204" pitchFamily="34" charset="0"/>
                <a:cs typeface="Aharoni" panose="02010803020104030203" pitchFamily="2" charset="-79"/>
              </a:rPr>
              <a:t>FACTORS INFLUENCING THE TRADE BALANCE</a:t>
            </a:r>
            <a:endParaRPr lang="en-US" sz="5000" dirty="0"/>
          </a:p>
        </p:txBody>
      </p:sp>
      <p:sp>
        <p:nvSpPr>
          <p:cNvPr id="3" name="Subtitle 2">
            <a:extLst>
              <a:ext uri="{FF2B5EF4-FFF2-40B4-BE49-F238E27FC236}">
                <a16:creationId xmlns:a16="http://schemas.microsoft.com/office/drawing/2014/main" id="{FB5A78E1-D399-1DD6-3B64-A07798DF4B42}"/>
              </a:ext>
            </a:extLst>
          </p:cNvPr>
          <p:cNvSpPr>
            <a:spLocks noGrp="1"/>
          </p:cNvSpPr>
          <p:nvPr>
            <p:ph type="body" sz="half" idx="2"/>
          </p:nvPr>
        </p:nvSpPr>
        <p:spPr>
          <a:xfrm>
            <a:off x="878798" y="4008494"/>
            <a:ext cx="4343400" cy="2211387"/>
          </a:xfrm>
        </p:spPr>
        <p:txBody>
          <a:bodyPr>
            <a:normAutofit/>
          </a:bodyPr>
          <a:lstStyle/>
          <a:p>
            <a:r>
              <a:rPr lang="en-US" dirty="0"/>
              <a:t>SYLLABUS:</a:t>
            </a:r>
          </a:p>
          <a:p>
            <a:pPr marL="342900" indent="-342900">
              <a:buFont typeface="Arial" panose="020B0604020202020204" pitchFamily="34" charset="0"/>
              <a:buChar char="•"/>
            </a:pPr>
            <a:r>
              <a:rPr lang="en-US" dirty="0"/>
              <a:t>the reasons for Australia’s current account balance</a:t>
            </a:r>
          </a:p>
        </p:txBody>
      </p:sp>
      <p:sp>
        <p:nvSpPr>
          <p:cNvPr id="5" name="TextBox 4">
            <a:extLst>
              <a:ext uri="{FF2B5EF4-FFF2-40B4-BE49-F238E27FC236}">
                <a16:creationId xmlns:a16="http://schemas.microsoft.com/office/drawing/2014/main" id="{7AB5B164-3E58-C99B-0E45-DC2904AC0D87}"/>
              </a:ext>
            </a:extLst>
          </p:cNvPr>
          <p:cNvSpPr txBox="1"/>
          <p:nvPr/>
        </p:nvSpPr>
        <p:spPr>
          <a:xfrm>
            <a:off x="3050498" y="3248081"/>
            <a:ext cx="6100996" cy="369332"/>
          </a:xfrm>
          <a:prstGeom prst="rect">
            <a:avLst/>
          </a:prstGeom>
          <a:noFill/>
        </p:spPr>
        <p:txBody>
          <a:bodyPr wrap="square">
            <a:spAutoFit/>
          </a:bodyPr>
          <a:lstStyle/>
          <a:p>
            <a:pPr>
              <a:buNone/>
            </a:pPr>
            <a:endParaRPr lang="en-AU" dirty="0"/>
          </a:p>
        </p:txBody>
      </p:sp>
      <p:sp>
        <p:nvSpPr>
          <p:cNvPr id="9" name="Freeform 10">
            <a:extLst>
              <a:ext uri="{FF2B5EF4-FFF2-40B4-BE49-F238E27FC236}">
                <a16:creationId xmlns:a16="http://schemas.microsoft.com/office/drawing/2014/main" id="{9A90FDB6-A08C-34CF-8427-8B5E51D54B84}"/>
              </a:ext>
            </a:extLst>
          </p:cNvPr>
          <p:cNvSpPr/>
          <p:nvPr/>
        </p:nvSpPr>
        <p:spPr>
          <a:xfrm>
            <a:off x="6540370" y="842859"/>
            <a:ext cx="4821834" cy="4294682"/>
          </a:xfrm>
          <a:custGeom>
            <a:avLst/>
            <a:gdLst/>
            <a:ahLst/>
            <a:cxnLst/>
            <a:rect l="l" t="t" r="r" b="b"/>
            <a:pathLst>
              <a:path w="7090644" h="6009320">
                <a:moveTo>
                  <a:pt x="0" y="0"/>
                </a:moveTo>
                <a:lnTo>
                  <a:pt x="7090644" y="0"/>
                </a:lnTo>
                <a:lnTo>
                  <a:pt x="7090644" y="6009320"/>
                </a:lnTo>
                <a:lnTo>
                  <a:pt x="0" y="600932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extLst>
      <p:ext uri="{BB962C8B-B14F-4D97-AF65-F5344CB8AC3E}">
        <p14:creationId xmlns:p14="http://schemas.microsoft.com/office/powerpoint/2010/main" val="83011959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BCFA3-5FEE-A4CD-D735-0DB86669BAAA}"/>
              </a:ext>
            </a:extLst>
          </p:cNvPr>
          <p:cNvSpPr>
            <a:spLocks noGrp="1"/>
          </p:cNvSpPr>
          <p:nvPr>
            <p:ph type="title"/>
          </p:nvPr>
        </p:nvSpPr>
        <p:spPr>
          <a:xfrm>
            <a:off x="1424467" y="906266"/>
            <a:ext cx="9343065" cy="999460"/>
          </a:xfrm>
        </p:spPr>
        <p:txBody>
          <a:bodyPr>
            <a:normAutofit fontScale="90000"/>
          </a:bodyPr>
          <a:lstStyle/>
          <a:p>
            <a:pPr algn="ctr"/>
            <a:r>
              <a:rPr lang="en-US" dirty="0"/>
              <a:t>AUSTRALIA’S BOP</a:t>
            </a:r>
            <a:br>
              <a:rPr lang="en-US" dirty="0"/>
            </a:br>
            <a:r>
              <a:rPr lang="en-US" dirty="0"/>
              <a:t> AN OVERVIEW</a:t>
            </a:r>
          </a:p>
        </p:txBody>
      </p:sp>
      <p:graphicFrame>
        <p:nvGraphicFramePr>
          <p:cNvPr id="5" name="Content Placeholder 2">
            <a:extLst>
              <a:ext uri="{FF2B5EF4-FFF2-40B4-BE49-F238E27FC236}">
                <a16:creationId xmlns:a16="http://schemas.microsoft.com/office/drawing/2014/main" id="{727EE21E-5518-E9AA-981C-C40EE3445E7B}"/>
              </a:ext>
            </a:extLst>
          </p:cNvPr>
          <p:cNvGraphicFramePr>
            <a:graphicFrameLocks noGrp="1"/>
          </p:cNvGraphicFramePr>
          <p:nvPr>
            <p:ph idx="1"/>
            <p:extLst>
              <p:ext uri="{D42A27DB-BD31-4B8C-83A1-F6EECF244321}">
                <p14:modId xmlns:p14="http://schemas.microsoft.com/office/powerpoint/2010/main" val="2461566457"/>
              </p:ext>
            </p:extLst>
          </p:nvPr>
        </p:nvGraphicFramePr>
        <p:xfrm>
          <a:off x="571500" y="1905726"/>
          <a:ext cx="11049000" cy="3901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8889178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28B8A-C37B-36EB-D1DC-B8E52A12CB82}"/>
              </a:ext>
            </a:extLst>
          </p:cNvPr>
          <p:cNvSpPr>
            <a:spLocks noGrp="1"/>
          </p:cNvSpPr>
          <p:nvPr>
            <p:ph type="title"/>
          </p:nvPr>
        </p:nvSpPr>
        <p:spPr/>
        <p:txBody>
          <a:bodyPr>
            <a:normAutofit fontScale="90000"/>
          </a:bodyPr>
          <a:lstStyle/>
          <a:p>
            <a:pPr algn="ctr"/>
            <a:r>
              <a:rPr lang="en-GB" dirty="0"/>
              <a:t>WHAT DOES CURRENT ACCOUNT SURPLUS/DEFICIT MEAN?</a:t>
            </a:r>
            <a:endParaRPr lang="en-AU" dirty="0"/>
          </a:p>
        </p:txBody>
      </p:sp>
      <p:sp>
        <p:nvSpPr>
          <p:cNvPr id="3" name="Content Placeholder 2">
            <a:extLst>
              <a:ext uri="{FF2B5EF4-FFF2-40B4-BE49-F238E27FC236}">
                <a16:creationId xmlns:a16="http://schemas.microsoft.com/office/drawing/2014/main" id="{86CE5637-4BA5-E373-6EA5-3AA754CA3D8B}"/>
              </a:ext>
            </a:extLst>
          </p:cNvPr>
          <p:cNvSpPr>
            <a:spLocks noGrp="1"/>
          </p:cNvSpPr>
          <p:nvPr>
            <p:ph idx="1"/>
          </p:nvPr>
        </p:nvSpPr>
        <p:spPr/>
        <p:txBody>
          <a:bodyPr/>
          <a:lstStyle/>
          <a:p>
            <a:r>
              <a:rPr lang="en-GB" b="0" i="0" dirty="0">
                <a:solidFill>
                  <a:srgbClr val="111111"/>
                </a:solidFill>
                <a:effectLst/>
              </a:rPr>
              <a:t>A surplus (CAS) is indicative of an economy that is a net </a:t>
            </a:r>
            <a:r>
              <a:rPr lang="en-GB" dirty="0">
                <a:solidFill>
                  <a:srgbClr val="111111"/>
                </a:solidFill>
              </a:rPr>
              <a:t>creditor</a:t>
            </a:r>
            <a:r>
              <a:rPr lang="en-GB" b="0" i="0" dirty="0">
                <a:solidFill>
                  <a:srgbClr val="111111"/>
                </a:solidFill>
                <a:effectLst/>
              </a:rPr>
              <a:t> to the rest of the world. This means the country is likely providing an abundance of resources to other countries’ economies and is owed money in return.</a:t>
            </a:r>
          </a:p>
          <a:p>
            <a:r>
              <a:rPr lang="en-GB" dirty="0">
                <a:solidFill>
                  <a:srgbClr val="111111"/>
                </a:solidFill>
              </a:rPr>
              <a:t>A current account balance deficit reflects a government and an economy that is a net debtor to the rest of the world. It is investing more than it is saving and is using resources from other economies to meet its domestic consumption and investment requirements.</a:t>
            </a:r>
          </a:p>
          <a:p>
            <a:r>
              <a:rPr lang="en-GB" b="0" i="0" dirty="0">
                <a:solidFill>
                  <a:srgbClr val="111111"/>
                </a:solidFill>
                <a:effectLst/>
              </a:rPr>
              <a:t>A deficit is not necessarily bad for an economy, especially for an economy in the developing stages or under reform. Sometimes an economy must spend money now to make money in the future, so it runs a deficit intentionally. </a:t>
            </a:r>
            <a:endParaRPr lang="en-AU" dirty="0">
              <a:solidFill>
                <a:srgbClr val="111111"/>
              </a:solidFill>
            </a:endParaRPr>
          </a:p>
        </p:txBody>
      </p:sp>
    </p:spTree>
    <p:extLst>
      <p:ext uri="{BB962C8B-B14F-4D97-AF65-F5344CB8AC3E}">
        <p14:creationId xmlns:p14="http://schemas.microsoft.com/office/powerpoint/2010/main" val="177535548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D8DD40E9-567F-757E-08D5-079B644F9B1F}"/>
              </a:ext>
            </a:extLst>
          </p:cNvPr>
          <p:cNvGraphicFramePr>
            <a:graphicFrameLocks noGrp="1"/>
          </p:cNvGraphicFramePr>
          <p:nvPr>
            <p:ph idx="1"/>
            <p:extLst>
              <p:ext uri="{D42A27DB-BD31-4B8C-83A1-F6EECF244321}">
                <p14:modId xmlns:p14="http://schemas.microsoft.com/office/powerpoint/2010/main" val="3481765147"/>
              </p:ext>
            </p:extLst>
          </p:nvPr>
        </p:nvGraphicFramePr>
        <p:xfrm>
          <a:off x="3488267" y="376518"/>
          <a:ext cx="8196903" cy="59382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itle 1">
            <a:extLst>
              <a:ext uri="{FF2B5EF4-FFF2-40B4-BE49-F238E27FC236}">
                <a16:creationId xmlns:a16="http://schemas.microsoft.com/office/drawing/2014/main" id="{17B37CC4-EC2F-43CE-F493-43A467F47EBA}"/>
              </a:ext>
            </a:extLst>
          </p:cNvPr>
          <p:cNvSpPr txBox="1">
            <a:spLocks/>
          </p:cNvSpPr>
          <p:nvPr/>
        </p:nvSpPr>
        <p:spPr>
          <a:xfrm>
            <a:off x="144043" y="1430991"/>
            <a:ext cx="3344224" cy="3996018"/>
          </a:xfrm>
          <a:prstGeom prst="rect">
            <a:avLst/>
          </a:prstGeom>
        </p:spPr>
        <p:txBody>
          <a:bodyPr vert="horz" lIns="91440" tIns="45720" rIns="91440" bIns="45720" rtlCol="0" anchor="t">
            <a:noAutofit/>
          </a:bodyPr>
          <a:lstStyle>
            <a:lvl1pPr algn="l" defTabSz="914400" rtl="0" eaLnBrk="1" latinLnBrk="0" hangingPunct="1">
              <a:lnSpc>
                <a:spcPct val="110000"/>
              </a:lnSpc>
              <a:spcBef>
                <a:spcPct val="0"/>
              </a:spcBef>
              <a:buNone/>
              <a:defRPr sz="3200" b="1" kern="1200">
                <a:solidFill>
                  <a:schemeClr val="tx1"/>
                </a:solidFill>
                <a:effectLst/>
                <a:latin typeface="Aharoni" panose="02010803020104030203" pitchFamily="2" charset="-79"/>
                <a:ea typeface="+mj-ea"/>
                <a:cs typeface="Aharoni" panose="02010803020104030203" pitchFamily="2" charset="-79"/>
              </a:defRPr>
            </a:lvl1pPr>
          </a:lstStyle>
          <a:p>
            <a:pPr algn="ctr"/>
            <a:r>
              <a:rPr lang="en-US" sz="3000" dirty="0">
                <a:gradFill>
                  <a:gsLst>
                    <a:gs pos="100000">
                      <a:schemeClr val="tx2"/>
                    </a:gs>
                    <a:gs pos="0">
                      <a:schemeClr val="accent1"/>
                    </a:gs>
                  </a:gsLst>
                  <a:lin ang="0" scaled="1"/>
                </a:gradFill>
                <a:ea typeface="+mn-ea"/>
                <a:cs typeface="Angsana New" panose="02020603050405020304" pitchFamily="18" charset="-34"/>
              </a:rPr>
              <a:t>FACTORS INFLUENCING BOGS </a:t>
            </a:r>
            <a:r>
              <a:rPr lang="en-US" sz="3000" dirty="0">
                <a:gradFill>
                  <a:gsLst>
                    <a:gs pos="100000">
                      <a:schemeClr val="tx2"/>
                    </a:gs>
                    <a:gs pos="0">
                      <a:schemeClr val="accent1"/>
                    </a:gs>
                  </a:gsLst>
                  <a:lin ang="0" scaled="1"/>
                </a:gradFill>
                <a:ea typeface="+mn-ea"/>
                <a:cs typeface="Angsana New" panose="02020603050405020304" pitchFamily="18" charset="-34"/>
                <a:sym typeface="Wingdings" panose="05000000000000000000" pitchFamily="2" charset="2"/>
              </a:rPr>
              <a:t>AND AFFECTING </a:t>
            </a:r>
            <a:r>
              <a:rPr lang="en-US" sz="3000" dirty="0">
                <a:gradFill>
                  <a:gsLst>
                    <a:gs pos="100000">
                      <a:schemeClr val="tx2"/>
                    </a:gs>
                    <a:gs pos="0">
                      <a:schemeClr val="accent1"/>
                    </a:gs>
                  </a:gsLst>
                  <a:lin ang="0" scaled="1"/>
                </a:gradFill>
                <a:latin typeface="+mn-lt"/>
                <a:ea typeface="+mn-ea"/>
                <a:cs typeface="Angsana New" panose="02020603050405020304" pitchFamily="18" charset="-34"/>
                <a:sym typeface="Wingdings" panose="05000000000000000000" pitchFamily="2" charset="2"/>
              </a:rPr>
              <a:t>CAB</a:t>
            </a:r>
            <a:endParaRPr lang="en-US" sz="3000" dirty="0">
              <a:latin typeface="+mn-lt"/>
            </a:endParaRPr>
          </a:p>
        </p:txBody>
      </p:sp>
    </p:spTree>
    <p:extLst>
      <p:ext uri="{BB962C8B-B14F-4D97-AF65-F5344CB8AC3E}">
        <p14:creationId xmlns:p14="http://schemas.microsoft.com/office/powerpoint/2010/main" val="340743258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4679A-4550-77E9-02BB-59698537CFB2}"/>
              </a:ext>
            </a:extLst>
          </p:cNvPr>
          <p:cNvSpPr>
            <a:spLocks noGrp="1"/>
          </p:cNvSpPr>
          <p:nvPr>
            <p:ph type="title"/>
          </p:nvPr>
        </p:nvSpPr>
        <p:spPr>
          <a:xfrm>
            <a:off x="-136329" y="1650339"/>
            <a:ext cx="3584067" cy="3996018"/>
          </a:xfrm>
        </p:spPr>
        <p:txBody>
          <a:bodyPr anchor="t">
            <a:noAutofit/>
          </a:bodyPr>
          <a:lstStyle/>
          <a:p>
            <a:pPr algn="ctr"/>
            <a:r>
              <a:rPr lang="en-US" sz="3200" dirty="0"/>
              <a:t>FACTORS INFLUENCING BOGS </a:t>
            </a:r>
            <a:r>
              <a:rPr lang="en-US" sz="3200" dirty="0">
                <a:sym typeface="Wingdings" panose="05000000000000000000" pitchFamily="2" charset="2"/>
              </a:rPr>
              <a:t>AND AFFECTING CAB</a:t>
            </a:r>
            <a:endParaRPr lang="en-US" sz="3200" dirty="0"/>
          </a:p>
        </p:txBody>
      </p:sp>
      <p:graphicFrame>
        <p:nvGraphicFramePr>
          <p:cNvPr id="5" name="Content Placeholder 2">
            <a:extLst>
              <a:ext uri="{FF2B5EF4-FFF2-40B4-BE49-F238E27FC236}">
                <a16:creationId xmlns:a16="http://schemas.microsoft.com/office/drawing/2014/main" id="{4CECBC48-A8AC-9395-8034-E0D84E8F64ED}"/>
              </a:ext>
            </a:extLst>
          </p:cNvPr>
          <p:cNvGraphicFramePr>
            <a:graphicFrameLocks noGrp="1"/>
          </p:cNvGraphicFramePr>
          <p:nvPr>
            <p:ph idx="1"/>
            <p:extLst>
              <p:ext uri="{D42A27DB-BD31-4B8C-83A1-F6EECF244321}">
                <p14:modId xmlns:p14="http://schemas.microsoft.com/office/powerpoint/2010/main" val="322929965"/>
              </p:ext>
            </p:extLst>
          </p:nvPr>
        </p:nvGraphicFramePr>
        <p:xfrm>
          <a:off x="3447738" y="290456"/>
          <a:ext cx="8744262" cy="6217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4802132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8A5B4-4DA7-7EC3-3F93-9A48A2A31913}"/>
              </a:ext>
            </a:extLst>
          </p:cNvPr>
          <p:cNvSpPr>
            <a:spLocks noGrp="1"/>
          </p:cNvSpPr>
          <p:nvPr>
            <p:ph type="title"/>
          </p:nvPr>
        </p:nvSpPr>
        <p:spPr>
          <a:xfrm>
            <a:off x="1796890" y="1178258"/>
            <a:ext cx="6717340" cy="791736"/>
          </a:xfrm>
        </p:spPr>
        <p:txBody>
          <a:bodyPr>
            <a:normAutofit fontScale="90000"/>
          </a:bodyPr>
          <a:lstStyle/>
          <a:p>
            <a:r>
              <a:rPr lang="en-US" dirty="0"/>
              <a:t>MAJOR TRADING PARTNER GROWTH</a:t>
            </a:r>
          </a:p>
        </p:txBody>
      </p:sp>
      <p:sp>
        <p:nvSpPr>
          <p:cNvPr id="3" name="Content Placeholder 2">
            <a:extLst>
              <a:ext uri="{FF2B5EF4-FFF2-40B4-BE49-F238E27FC236}">
                <a16:creationId xmlns:a16="http://schemas.microsoft.com/office/drawing/2014/main" id="{CF28EB1A-2BE6-D36E-5FB3-F4172D76AD91}"/>
              </a:ext>
            </a:extLst>
          </p:cNvPr>
          <p:cNvSpPr>
            <a:spLocks noGrp="1"/>
          </p:cNvSpPr>
          <p:nvPr>
            <p:ph idx="1"/>
          </p:nvPr>
        </p:nvSpPr>
        <p:spPr>
          <a:xfrm>
            <a:off x="1077362" y="2366123"/>
            <a:ext cx="8681235" cy="4201239"/>
          </a:xfrm>
        </p:spPr>
        <p:txBody>
          <a:bodyPr>
            <a:normAutofit/>
          </a:bodyPr>
          <a:lstStyle/>
          <a:p>
            <a:pPr>
              <a:lnSpc>
                <a:spcPct val="110000"/>
              </a:lnSpc>
            </a:pPr>
            <a:r>
              <a:rPr lang="en-US" dirty="0"/>
              <a:t>If trading partner’s growth </a:t>
            </a:r>
            <a:r>
              <a:rPr lang="en-US" b="1" dirty="0"/>
              <a:t>increases</a:t>
            </a:r>
            <a:r>
              <a:rPr lang="en-US" dirty="0"/>
              <a:t> (e.g. China): </a:t>
            </a:r>
          </a:p>
          <a:p>
            <a:pPr marL="560070" lvl="1" indent="-285750">
              <a:lnSpc>
                <a:spcPct val="110000"/>
              </a:lnSpc>
              <a:buFont typeface="Courier New" panose="02070309020205020404" pitchFamily="49" charset="0"/>
              <a:buChar char="o"/>
            </a:pPr>
            <a:r>
              <a:rPr lang="en-US" sz="2000" b="0" dirty="0"/>
              <a:t>Australian exports will increase, particularly in minerals and fuels and services. </a:t>
            </a:r>
          </a:p>
          <a:p>
            <a:pPr marL="560070" lvl="1" indent="-285750">
              <a:lnSpc>
                <a:spcPct val="110000"/>
              </a:lnSpc>
              <a:buFont typeface="Courier New" panose="02070309020205020404" pitchFamily="49" charset="0"/>
              <a:buChar char="o"/>
            </a:pPr>
            <a:r>
              <a:rPr lang="en-US" sz="2000" b="0" dirty="0"/>
              <a:t>This increases credits in the BOGS/Trade Balance (TB), increasing the trade balance and increasing the Current Account Balance (CAB). </a:t>
            </a:r>
          </a:p>
          <a:p>
            <a:pPr>
              <a:lnSpc>
                <a:spcPct val="110000"/>
              </a:lnSpc>
            </a:pPr>
            <a:r>
              <a:rPr lang="en-US" dirty="0"/>
              <a:t>If trading partner’s growth </a:t>
            </a:r>
            <a:r>
              <a:rPr lang="en-US" b="1" dirty="0"/>
              <a:t>decreases</a:t>
            </a:r>
            <a:r>
              <a:rPr lang="en-US" dirty="0"/>
              <a:t>:</a:t>
            </a:r>
          </a:p>
          <a:p>
            <a:pPr marL="560070" lvl="1" indent="-285750">
              <a:lnSpc>
                <a:spcPct val="110000"/>
              </a:lnSpc>
              <a:buFont typeface="Courier New" panose="02070309020205020404" pitchFamily="49" charset="0"/>
              <a:buChar char="o"/>
            </a:pPr>
            <a:r>
              <a:rPr lang="en-US" sz="2000" b="0" dirty="0"/>
              <a:t>Australian exports will fall. </a:t>
            </a:r>
          </a:p>
          <a:p>
            <a:pPr marL="560070" lvl="1" indent="-285750">
              <a:lnSpc>
                <a:spcPct val="110000"/>
              </a:lnSpc>
              <a:buFont typeface="Courier New" panose="02070309020205020404" pitchFamily="49" charset="0"/>
              <a:buChar char="o"/>
            </a:pPr>
            <a:r>
              <a:rPr lang="en-US" sz="2000" b="0" dirty="0"/>
              <a:t>This decreases credits in the BOGS/Trade Balance (TB), decreasing the trade balance and decreasing the Current Account Balance (CAB). </a:t>
            </a:r>
          </a:p>
          <a:p>
            <a:pPr>
              <a:lnSpc>
                <a:spcPct val="110000"/>
              </a:lnSpc>
            </a:pPr>
            <a:endParaRPr lang="en-US" dirty="0"/>
          </a:p>
          <a:p>
            <a:pPr>
              <a:lnSpc>
                <a:spcPct val="110000"/>
              </a:lnSpc>
            </a:pPr>
            <a:endParaRPr lang="en-US" dirty="0"/>
          </a:p>
        </p:txBody>
      </p:sp>
      <p:pic>
        <p:nvPicPr>
          <p:cNvPr id="7" name="Graphic 6" descr="Handshake">
            <a:extLst>
              <a:ext uri="{FF2B5EF4-FFF2-40B4-BE49-F238E27FC236}">
                <a16:creationId xmlns:a16="http://schemas.microsoft.com/office/drawing/2014/main" id="{03F563A2-752E-3CF1-DE11-E897D4E7F1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73627" y="290638"/>
            <a:ext cx="1943819" cy="1943819"/>
          </a:xfrm>
          <a:prstGeom prst="rect">
            <a:avLst/>
          </a:prstGeom>
        </p:spPr>
      </p:pic>
    </p:spTree>
    <p:extLst>
      <p:ext uri="{BB962C8B-B14F-4D97-AF65-F5344CB8AC3E}">
        <p14:creationId xmlns:p14="http://schemas.microsoft.com/office/powerpoint/2010/main" val="354608409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928CA-FE27-FE37-4709-F84DA396BFF2}"/>
              </a:ext>
            </a:extLst>
          </p:cNvPr>
          <p:cNvSpPr>
            <a:spLocks noGrp="1"/>
          </p:cNvSpPr>
          <p:nvPr>
            <p:ph type="title"/>
          </p:nvPr>
        </p:nvSpPr>
        <p:spPr>
          <a:xfrm>
            <a:off x="820311" y="483110"/>
            <a:ext cx="6513197" cy="924304"/>
          </a:xfrm>
        </p:spPr>
        <p:txBody>
          <a:bodyPr>
            <a:normAutofit fontScale="90000"/>
          </a:bodyPr>
          <a:lstStyle/>
          <a:p>
            <a:r>
              <a:rPr lang="en-US" dirty="0"/>
              <a:t>DOMESTIC GROWTH</a:t>
            </a:r>
          </a:p>
        </p:txBody>
      </p:sp>
      <p:sp>
        <p:nvSpPr>
          <p:cNvPr id="3" name="Content Placeholder 2">
            <a:extLst>
              <a:ext uri="{FF2B5EF4-FFF2-40B4-BE49-F238E27FC236}">
                <a16:creationId xmlns:a16="http://schemas.microsoft.com/office/drawing/2014/main" id="{9F91E781-3596-7375-598C-A0E93522CFA6}"/>
              </a:ext>
            </a:extLst>
          </p:cNvPr>
          <p:cNvSpPr>
            <a:spLocks noGrp="1"/>
          </p:cNvSpPr>
          <p:nvPr>
            <p:ph idx="1"/>
          </p:nvPr>
        </p:nvSpPr>
        <p:spPr>
          <a:xfrm>
            <a:off x="434860" y="1564256"/>
            <a:ext cx="11322280" cy="5293744"/>
          </a:xfrm>
        </p:spPr>
        <p:txBody>
          <a:bodyPr>
            <a:noAutofit/>
          </a:bodyPr>
          <a:lstStyle/>
          <a:p>
            <a:pPr>
              <a:lnSpc>
                <a:spcPct val="110000"/>
              </a:lnSpc>
            </a:pPr>
            <a:r>
              <a:rPr lang="en-US" sz="1600" dirty="0"/>
              <a:t>If Australia’s growth </a:t>
            </a:r>
            <a:r>
              <a:rPr lang="en-US" sz="1600" b="1" dirty="0"/>
              <a:t>increases</a:t>
            </a:r>
            <a:r>
              <a:rPr lang="en-US" sz="1600" dirty="0"/>
              <a:t>:</a:t>
            </a:r>
          </a:p>
          <a:p>
            <a:pPr marL="560070" lvl="1" indent="-285750">
              <a:lnSpc>
                <a:spcPct val="110000"/>
              </a:lnSpc>
              <a:buFont typeface="Courier New" panose="02070309020205020404" pitchFamily="49" charset="0"/>
              <a:buChar char="o"/>
            </a:pPr>
            <a:r>
              <a:rPr lang="en-US" sz="1600" b="0" dirty="0"/>
              <a:t>National income rises and households will increase consumption spending, particularly on discretionary and luxury goods and services.</a:t>
            </a:r>
          </a:p>
          <a:p>
            <a:pPr marL="560070" lvl="1" indent="-285750">
              <a:lnSpc>
                <a:spcPct val="110000"/>
              </a:lnSpc>
              <a:buFont typeface="Courier New" panose="02070309020205020404" pitchFamily="49" charset="0"/>
              <a:buChar char="o"/>
            </a:pPr>
            <a:r>
              <a:rPr lang="en-US" sz="1600" b="0" dirty="0"/>
              <a:t>This will increase consumption imports.  </a:t>
            </a:r>
          </a:p>
          <a:p>
            <a:pPr marL="560070" lvl="1" indent="-285750">
              <a:lnSpc>
                <a:spcPct val="110000"/>
              </a:lnSpc>
              <a:buFont typeface="Courier New" panose="02070309020205020404" pitchFamily="49" charset="0"/>
              <a:buChar char="o"/>
            </a:pPr>
            <a:r>
              <a:rPr lang="en-US" sz="1600" b="0" dirty="0"/>
              <a:t>Business will experience an increase in production and output, therefore will increase their imports of capital and intermediate goods. </a:t>
            </a:r>
          </a:p>
          <a:p>
            <a:pPr marL="560070" lvl="1" indent="-285750">
              <a:lnSpc>
                <a:spcPct val="110000"/>
              </a:lnSpc>
              <a:buFont typeface="Courier New" panose="02070309020205020404" pitchFamily="49" charset="0"/>
              <a:buChar char="o"/>
            </a:pPr>
            <a:r>
              <a:rPr lang="en-US" sz="1600" b="0" dirty="0"/>
              <a:t>This increase in consumption and capital imports will increase debits in the BOGS, decreasing the BOGS and the CAB. </a:t>
            </a:r>
          </a:p>
          <a:p>
            <a:pPr>
              <a:lnSpc>
                <a:spcPct val="110000"/>
              </a:lnSpc>
            </a:pPr>
            <a:r>
              <a:rPr lang="en-US" sz="1600" dirty="0"/>
              <a:t>If Australia’s growth </a:t>
            </a:r>
            <a:r>
              <a:rPr lang="en-US" sz="1600" b="1" dirty="0"/>
              <a:t>decreases</a:t>
            </a:r>
            <a:r>
              <a:rPr lang="en-US" sz="1600" dirty="0"/>
              <a:t>:</a:t>
            </a:r>
          </a:p>
          <a:p>
            <a:pPr marL="560070" lvl="1" indent="-285750">
              <a:lnSpc>
                <a:spcPct val="110000"/>
              </a:lnSpc>
              <a:buFont typeface="Courier New" panose="02070309020205020404" pitchFamily="49" charset="0"/>
              <a:buChar char="o"/>
            </a:pPr>
            <a:r>
              <a:rPr lang="en-US" sz="1600" b="0" dirty="0"/>
              <a:t>Unemployment will rise and national income falls. </a:t>
            </a:r>
          </a:p>
          <a:p>
            <a:pPr marL="560070" lvl="1" indent="-285750">
              <a:lnSpc>
                <a:spcPct val="110000"/>
              </a:lnSpc>
              <a:buFont typeface="Courier New" panose="02070309020205020404" pitchFamily="49" charset="0"/>
              <a:buChar char="o"/>
            </a:pPr>
            <a:r>
              <a:rPr lang="en-US" sz="1600" b="0" dirty="0"/>
              <a:t>Households will decrease consumption spending, particularly on discretionary items, due to a fall in income. </a:t>
            </a:r>
          </a:p>
          <a:p>
            <a:pPr marL="560070" lvl="1" indent="-285750">
              <a:lnSpc>
                <a:spcPct val="110000"/>
              </a:lnSpc>
              <a:buFont typeface="Courier New" panose="02070309020205020404" pitchFamily="49" charset="0"/>
              <a:buChar char="o"/>
            </a:pPr>
            <a:r>
              <a:rPr lang="en-US" sz="1600" b="0" dirty="0"/>
              <a:t>This will decrease consumption imports.  </a:t>
            </a:r>
          </a:p>
          <a:p>
            <a:pPr marL="560070" lvl="1" indent="-285750">
              <a:lnSpc>
                <a:spcPct val="110000"/>
              </a:lnSpc>
              <a:buFont typeface="Courier New" panose="02070309020205020404" pitchFamily="49" charset="0"/>
              <a:buChar char="o"/>
            </a:pPr>
            <a:r>
              <a:rPr lang="en-US" sz="1600" b="0" dirty="0"/>
              <a:t>Businesses will experience a fall in production and output and will decrease their imports of capital and intermediate goods. </a:t>
            </a:r>
          </a:p>
          <a:p>
            <a:pPr marL="560070" lvl="1" indent="-285750">
              <a:lnSpc>
                <a:spcPct val="110000"/>
              </a:lnSpc>
              <a:buFont typeface="Courier New" panose="02070309020205020404" pitchFamily="49" charset="0"/>
              <a:buChar char="o"/>
            </a:pPr>
            <a:r>
              <a:rPr lang="en-US" sz="1600" b="0" dirty="0"/>
              <a:t>This decrease in consumption and capital imports will decrease debits in the BOGS, increasing the BOGS and the CAB. </a:t>
            </a:r>
          </a:p>
        </p:txBody>
      </p:sp>
      <p:pic>
        <p:nvPicPr>
          <p:cNvPr id="7" name="Graphic 6" descr="Financial">
            <a:extLst>
              <a:ext uri="{FF2B5EF4-FFF2-40B4-BE49-F238E27FC236}">
                <a16:creationId xmlns:a16="http://schemas.microsoft.com/office/drawing/2014/main" id="{15218624-6EC3-28CC-D6FC-C6B2B4C4791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33508" y="-219946"/>
            <a:ext cx="1943819" cy="1943819"/>
          </a:xfrm>
          <a:prstGeom prst="rect">
            <a:avLst/>
          </a:prstGeom>
        </p:spPr>
      </p:pic>
    </p:spTree>
    <p:extLst>
      <p:ext uri="{BB962C8B-B14F-4D97-AF65-F5344CB8AC3E}">
        <p14:creationId xmlns:p14="http://schemas.microsoft.com/office/powerpoint/2010/main" val="380366769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71669-9A94-B61B-CE0D-2BA15E78EC34}"/>
              </a:ext>
            </a:extLst>
          </p:cNvPr>
          <p:cNvSpPr>
            <a:spLocks noGrp="1"/>
          </p:cNvSpPr>
          <p:nvPr>
            <p:ph type="title"/>
          </p:nvPr>
        </p:nvSpPr>
        <p:spPr>
          <a:xfrm>
            <a:off x="1077362" y="1086967"/>
            <a:ext cx="8380488" cy="797368"/>
          </a:xfrm>
        </p:spPr>
        <p:txBody>
          <a:bodyPr>
            <a:normAutofit fontScale="90000"/>
          </a:bodyPr>
          <a:lstStyle/>
          <a:p>
            <a:r>
              <a:rPr lang="en-US" dirty="0"/>
              <a:t>EXCHANGE RATE CHANGE</a:t>
            </a:r>
          </a:p>
        </p:txBody>
      </p:sp>
      <p:sp>
        <p:nvSpPr>
          <p:cNvPr id="3" name="Content Placeholder 2">
            <a:extLst>
              <a:ext uri="{FF2B5EF4-FFF2-40B4-BE49-F238E27FC236}">
                <a16:creationId xmlns:a16="http://schemas.microsoft.com/office/drawing/2014/main" id="{1DF666EF-91B4-C18A-029C-A4213449EF95}"/>
              </a:ext>
            </a:extLst>
          </p:cNvPr>
          <p:cNvSpPr>
            <a:spLocks noGrp="1"/>
          </p:cNvSpPr>
          <p:nvPr>
            <p:ph idx="1"/>
          </p:nvPr>
        </p:nvSpPr>
        <p:spPr>
          <a:xfrm>
            <a:off x="1077362" y="2189173"/>
            <a:ext cx="8845571" cy="5132050"/>
          </a:xfrm>
        </p:spPr>
        <p:txBody>
          <a:bodyPr>
            <a:normAutofit/>
          </a:bodyPr>
          <a:lstStyle/>
          <a:p>
            <a:pPr>
              <a:lnSpc>
                <a:spcPct val="110000"/>
              </a:lnSpc>
            </a:pPr>
            <a:r>
              <a:rPr lang="en-US" sz="2000" dirty="0"/>
              <a:t>If the AUD </a:t>
            </a:r>
            <a:r>
              <a:rPr lang="en-US" sz="2000" b="1" dirty="0"/>
              <a:t>depreciates</a:t>
            </a:r>
            <a:r>
              <a:rPr lang="en-US" sz="2000" dirty="0"/>
              <a:t>, imports become more expensive for domestic residents and exports become cheaper for overseas buyers. Assuming the demand for X and M are price elastic, exports will increase and and imports will decrease, resulting in a rise in credits and a fall in debits, increasing the BOGS and the CAB.  </a:t>
            </a:r>
          </a:p>
          <a:p>
            <a:pPr>
              <a:lnSpc>
                <a:spcPct val="110000"/>
              </a:lnSpc>
            </a:pPr>
            <a:r>
              <a:rPr lang="en-US" sz="2000" dirty="0"/>
              <a:t>If the AUD </a:t>
            </a:r>
            <a:r>
              <a:rPr lang="en-US" sz="2000" b="1" dirty="0"/>
              <a:t>appreciates</a:t>
            </a:r>
            <a:r>
              <a:rPr lang="en-US" sz="2000" dirty="0"/>
              <a:t>, imports become cheaper for domestic residents and exports become more expensive for overseas buyers. Assuming the demand for X and M are price elastic, exports will decrease and and imports will increase, resulting in a fall in credits and a rise in debits, decreasing the BOGS and the CAB.  </a:t>
            </a:r>
          </a:p>
        </p:txBody>
      </p:sp>
      <p:pic>
        <p:nvPicPr>
          <p:cNvPr id="7" name="Graphic 6" descr="Dollar">
            <a:extLst>
              <a:ext uri="{FF2B5EF4-FFF2-40B4-BE49-F238E27FC236}">
                <a16:creationId xmlns:a16="http://schemas.microsoft.com/office/drawing/2014/main" id="{27F22E4E-F1EE-ADF6-B823-6A5E141FB63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51023" y="245354"/>
            <a:ext cx="1943819" cy="1943819"/>
          </a:xfrm>
          <a:prstGeom prst="rect">
            <a:avLst/>
          </a:prstGeom>
        </p:spPr>
      </p:pic>
    </p:spTree>
    <p:extLst>
      <p:ext uri="{BB962C8B-B14F-4D97-AF65-F5344CB8AC3E}">
        <p14:creationId xmlns:p14="http://schemas.microsoft.com/office/powerpoint/2010/main" val="341287110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A10D7-BF9D-69BC-704A-BC0F9217D219}"/>
              </a:ext>
            </a:extLst>
          </p:cNvPr>
          <p:cNvSpPr>
            <a:spLocks noGrp="1"/>
          </p:cNvSpPr>
          <p:nvPr>
            <p:ph type="title"/>
          </p:nvPr>
        </p:nvSpPr>
        <p:spPr>
          <a:xfrm>
            <a:off x="1077362" y="278780"/>
            <a:ext cx="6608086" cy="797368"/>
          </a:xfrm>
        </p:spPr>
        <p:txBody>
          <a:bodyPr>
            <a:normAutofit fontScale="90000"/>
          </a:bodyPr>
          <a:lstStyle/>
          <a:p>
            <a:r>
              <a:rPr lang="en-US" dirty="0"/>
              <a:t>TERMS OF TRADE</a:t>
            </a:r>
          </a:p>
        </p:txBody>
      </p:sp>
      <p:sp>
        <p:nvSpPr>
          <p:cNvPr id="3" name="Content Placeholder 2">
            <a:extLst>
              <a:ext uri="{FF2B5EF4-FFF2-40B4-BE49-F238E27FC236}">
                <a16:creationId xmlns:a16="http://schemas.microsoft.com/office/drawing/2014/main" id="{58E76048-6A12-F523-D4CB-4F7E41A0DDF9}"/>
              </a:ext>
            </a:extLst>
          </p:cNvPr>
          <p:cNvSpPr>
            <a:spLocks noGrp="1"/>
          </p:cNvSpPr>
          <p:nvPr>
            <p:ph idx="1"/>
          </p:nvPr>
        </p:nvSpPr>
        <p:spPr>
          <a:xfrm>
            <a:off x="1077362" y="1390210"/>
            <a:ext cx="8906087" cy="5324652"/>
          </a:xfrm>
        </p:spPr>
        <p:txBody>
          <a:bodyPr>
            <a:normAutofit/>
          </a:bodyPr>
          <a:lstStyle/>
          <a:p>
            <a:r>
              <a:rPr lang="en-US" sz="2000" dirty="0"/>
              <a:t>The TOT measures the relative price movements in X’s and M’s. </a:t>
            </a:r>
          </a:p>
          <a:p>
            <a:r>
              <a:rPr lang="en-US" sz="2000" dirty="0"/>
              <a:t>If commodity prices </a:t>
            </a:r>
            <a:r>
              <a:rPr lang="en-US" sz="2000" b="1" dirty="0"/>
              <a:t>increase</a:t>
            </a:r>
            <a:r>
              <a:rPr lang="en-US" sz="2000" dirty="0"/>
              <a:t>,  Australia’s export prices rise relative to import prices and thus the export price index and the TOT increase. As foreign residents are paying more for Australian exports, this will lead to an increase in credits, and therefore a rise in the BOGS and the CAB.</a:t>
            </a:r>
          </a:p>
          <a:p>
            <a:r>
              <a:rPr lang="en-US" sz="2000" dirty="0"/>
              <a:t>If the TOT </a:t>
            </a:r>
            <a:r>
              <a:rPr lang="en-US" sz="2000" b="1" dirty="0"/>
              <a:t>falls</a:t>
            </a:r>
            <a:r>
              <a:rPr lang="en-US" sz="2000" dirty="0"/>
              <a:t> (for example due to a fall in export prices of a rise in import prices),  Australia’s export prices fall relative to import prices. This leads to a fall in credit entries relative to debit entries, which decrease the BOGS and the CAB. </a:t>
            </a:r>
          </a:p>
        </p:txBody>
      </p:sp>
    </p:spTree>
    <p:extLst>
      <p:ext uri="{BB962C8B-B14F-4D97-AF65-F5344CB8AC3E}">
        <p14:creationId xmlns:p14="http://schemas.microsoft.com/office/powerpoint/2010/main" val="31257418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56682-8447-DC5E-BE79-55D408817D01}"/>
              </a:ext>
            </a:extLst>
          </p:cNvPr>
          <p:cNvSpPr>
            <a:spLocks noGrp="1"/>
          </p:cNvSpPr>
          <p:nvPr>
            <p:ph type="title"/>
          </p:nvPr>
        </p:nvSpPr>
        <p:spPr>
          <a:xfrm>
            <a:off x="1077361" y="720435"/>
            <a:ext cx="9675306" cy="1507375"/>
          </a:xfrm>
        </p:spPr>
        <p:txBody>
          <a:bodyPr>
            <a:normAutofit fontScale="90000"/>
          </a:bodyPr>
          <a:lstStyle/>
          <a:p>
            <a:r>
              <a:rPr lang="en-US" dirty="0"/>
              <a:t>AUSTRALIA’S LEVEL OF COMPETITIVENESS</a:t>
            </a:r>
          </a:p>
        </p:txBody>
      </p:sp>
      <p:sp>
        <p:nvSpPr>
          <p:cNvPr id="3" name="Content Placeholder 2">
            <a:extLst>
              <a:ext uri="{FF2B5EF4-FFF2-40B4-BE49-F238E27FC236}">
                <a16:creationId xmlns:a16="http://schemas.microsoft.com/office/drawing/2014/main" id="{3125A998-A532-5766-CF57-B11C5995B24A}"/>
              </a:ext>
            </a:extLst>
          </p:cNvPr>
          <p:cNvSpPr>
            <a:spLocks noGrp="1"/>
          </p:cNvSpPr>
          <p:nvPr>
            <p:ph idx="1"/>
          </p:nvPr>
        </p:nvSpPr>
        <p:spPr>
          <a:xfrm>
            <a:off x="1077361" y="2427316"/>
            <a:ext cx="6397165" cy="3513514"/>
          </a:xfrm>
        </p:spPr>
        <p:txBody>
          <a:bodyPr>
            <a:normAutofit lnSpcReduction="10000"/>
          </a:bodyPr>
          <a:lstStyle/>
          <a:p>
            <a:pPr>
              <a:lnSpc>
                <a:spcPct val="110000"/>
              </a:lnSpc>
            </a:pPr>
            <a:r>
              <a:rPr lang="en-US" dirty="0"/>
              <a:t>Referring to relative wage rates, inflation rate differential, exchange rate fluctuations</a:t>
            </a:r>
          </a:p>
          <a:p>
            <a:pPr>
              <a:lnSpc>
                <a:spcPct val="110000"/>
              </a:lnSpc>
            </a:pPr>
            <a:r>
              <a:rPr lang="en-US" dirty="0"/>
              <a:t>If Australia’s international competitiveness </a:t>
            </a:r>
            <a:r>
              <a:rPr lang="en-US" b="1" dirty="0"/>
              <a:t>increases</a:t>
            </a:r>
            <a:r>
              <a:rPr lang="en-US" dirty="0"/>
              <a:t>, exports are more attractive to overseas buyers. This increases exports which increases credits in the BOGS, increasing the CAB. </a:t>
            </a:r>
          </a:p>
          <a:p>
            <a:pPr>
              <a:lnSpc>
                <a:spcPct val="110000"/>
              </a:lnSpc>
            </a:pPr>
            <a:r>
              <a:rPr lang="en-US" dirty="0"/>
              <a:t>If Australia’s international competitiveness </a:t>
            </a:r>
            <a:r>
              <a:rPr lang="en-US" b="1" dirty="0"/>
              <a:t>falls</a:t>
            </a:r>
            <a:r>
              <a:rPr lang="en-US" dirty="0"/>
              <a:t>, exports are less attractive to overseas buyers. This decreases exports which decreases credits in the BOGS, decreasing the CAB. </a:t>
            </a:r>
          </a:p>
          <a:p>
            <a:pPr>
              <a:lnSpc>
                <a:spcPct val="110000"/>
              </a:lnSpc>
            </a:pPr>
            <a:endParaRPr lang="en-US" dirty="0"/>
          </a:p>
          <a:p>
            <a:pPr>
              <a:lnSpc>
                <a:spcPct val="110000"/>
              </a:lnSpc>
            </a:pPr>
            <a:endParaRPr lang="en-US" dirty="0"/>
          </a:p>
        </p:txBody>
      </p:sp>
      <p:pic>
        <p:nvPicPr>
          <p:cNvPr id="5" name="Picture 4" descr="Pile of storage crates">
            <a:extLst>
              <a:ext uri="{FF2B5EF4-FFF2-40B4-BE49-F238E27FC236}">
                <a16:creationId xmlns:a16="http://schemas.microsoft.com/office/drawing/2014/main" id="{B23A0A33-95C6-AA87-F0BD-B761D08146DC}"/>
              </a:ext>
            </a:extLst>
          </p:cNvPr>
          <p:cNvPicPr>
            <a:picLocks noChangeAspect="1"/>
          </p:cNvPicPr>
          <p:nvPr/>
        </p:nvPicPr>
        <p:blipFill rotWithShape="1">
          <a:blip r:embed="rId2"/>
          <a:srcRect l="3762" r="29083" b="2"/>
          <a:stretch/>
        </p:blipFill>
        <p:spPr>
          <a:xfrm>
            <a:off x="8156994" y="2046948"/>
            <a:ext cx="3496111" cy="3461938"/>
          </a:xfrm>
          <a:prstGeom prst="rect">
            <a:avLst/>
          </a:prstGeom>
        </p:spPr>
      </p:pic>
    </p:spTree>
    <p:extLst>
      <p:ext uri="{BB962C8B-B14F-4D97-AF65-F5344CB8AC3E}">
        <p14:creationId xmlns:p14="http://schemas.microsoft.com/office/powerpoint/2010/main" val="208840881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BBEC6-2A78-837B-EE57-4C8374679430}"/>
              </a:ext>
            </a:extLst>
          </p:cNvPr>
          <p:cNvSpPr>
            <a:spLocks noGrp="1"/>
          </p:cNvSpPr>
          <p:nvPr>
            <p:ph type="title"/>
          </p:nvPr>
        </p:nvSpPr>
        <p:spPr>
          <a:xfrm>
            <a:off x="1077361" y="576157"/>
            <a:ext cx="6397165" cy="751525"/>
          </a:xfrm>
        </p:spPr>
        <p:txBody>
          <a:bodyPr>
            <a:normAutofit fontScale="90000"/>
          </a:bodyPr>
          <a:lstStyle/>
          <a:p>
            <a:r>
              <a:rPr lang="en-US" dirty="0"/>
              <a:t>EXTERNAL SHOCKS</a:t>
            </a:r>
          </a:p>
        </p:txBody>
      </p:sp>
      <p:sp>
        <p:nvSpPr>
          <p:cNvPr id="3" name="Content Placeholder 2">
            <a:extLst>
              <a:ext uri="{FF2B5EF4-FFF2-40B4-BE49-F238E27FC236}">
                <a16:creationId xmlns:a16="http://schemas.microsoft.com/office/drawing/2014/main" id="{31D410B1-0E76-BA15-58D1-807E31785CF6}"/>
              </a:ext>
            </a:extLst>
          </p:cNvPr>
          <p:cNvSpPr>
            <a:spLocks noGrp="1"/>
          </p:cNvSpPr>
          <p:nvPr>
            <p:ph idx="1"/>
          </p:nvPr>
        </p:nvSpPr>
        <p:spPr>
          <a:xfrm>
            <a:off x="1077361" y="1594625"/>
            <a:ext cx="6397165" cy="4687218"/>
          </a:xfrm>
        </p:spPr>
        <p:txBody>
          <a:bodyPr>
            <a:normAutofit lnSpcReduction="10000"/>
          </a:bodyPr>
          <a:lstStyle/>
          <a:p>
            <a:pPr>
              <a:lnSpc>
                <a:spcPct val="110000"/>
              </a:lnSpc>
            </a:pPr>
            <a:r>
              <a:rPr lang="en-US" sz="2000" dirty="0"/>
              <a:t>Changes in commodity prices or unprecedented global events</a:t>
            </a:r>
          </a:p>
          <a:p>
            <a:pPr>
              <a:lnSpc>
                <a:spcPct val="110000"/>
              </a:lnSpc>
            </a:pPr>
            <a:r>
              <a:rPr lang="en-US" sz="2000" dirty="0"/>
              <a:t>The COVID Pandemic resulted in the closure of Australia’s international border and domestic lockdown restrictions within the states. </a:t>
            </a:r>
          </a:p>
          <a:p>
            <a:pPr>
              <a:lnSpc>
                <a:spcPct val="110000"/>
              </a:lnSpc>
            </a:pPr>
            <a:r>
              <a:rPr lang="en-US" sz="2000" dirty="0"/>
              <a:t>This larges decrease in inbound travel resulted in a significant decrease of Australia’s education and tourism service exports. Personal Travel exports also decreased, however the minerals and fuels and agricultural exports remained strong. </a:t>
            </a:r>
          </a:p>
          <a:p>
            <a:pPr>
              <a:lnSpc>
                <a:spcPct val="110000"/>
              </a:lnSpc>
            </a:pPr>
            <a:r>
              <a:rPr lang="en-US" sz="2000" dirty="0"/>
              <a:t>The pandemic caused a fall in both X and M, however M fell by more in 2020 which caused an increase in the BOGS and the CAB. </a:t>
            </a:r>
          </a:p>
          <a:p>
            <a:pPr>
              <a:lnSpc>
                <a:spcPct val="110000"/>
              </a:lnSpc>
            </a:pPr>
            <a:endParaRPr lang="en-US" sz="2000" dirty="0"/>
          </a:p>
          <a:p>
            <a:pPr>
              <a:lnSpc>
                <a:spcPct val="110000"/>
              </a:lnSpc>
            </a:pPr>
            <a:endParaRPr lang="en-US" sz="2000" dirty="0"/>
          </a:p>
        </p:txBody>
      </p:sp>
      <p:pic>
        <p:nvPicPr>
          <p:cNvPr id="19" name="Picture 4" descr="Stock exchange numbers">
            <a:extLst>
              <a:ext uri="{FF2B5EF4-FFF2-40B4-BE49-F238E27FC236}">
                <a16:creationId xmlns:a16="http://schemas.microsoft.com/office/drawing/2014/main" id="{BB1BC9F5-3B7D-EA0D-391D-E4CF09C61A53}"/>
              </a:ext>
            </a:extLst>
          </p:cNvPr>
          <p:cNvPicPr>
            <a:picLocks noChangeAspect="1"/>
          </p:cNvPicPr>
          <p:nvPr/>
        </p:nvPicPr>
        <p:blipFill rotWithShape="1">
          <a:blip r:embed="rId2"/>
          <a:srcRect l="10300" r="22290"/>
          <a:stretch/>
        </p:blipFill>
        <p:spPr>
          <a:xfrm>
            <a:off x="8097033" y="1867065"/>
            <a:ext cx="3496111" cy="3461938"/>
          </a:xfrm>
          <a:prstGeom prst="rect">
            <a:avLst/>
          </a:prstGeom>
        </p:spPr>
      </p:pic>
    </p:spTree>
    <p:extLst>
      <p:ext uri="{BB962C8B-B14F-4D97-AF65-F5344CB8AC3E}">
        <p14:creationId xmlns:p14="http://schemas.microsoft.com/office/powerpoint/2010/main" val="354833527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different colored lines&#10;&#10;Description automatically generated">
            <a:extLst>
              <a:ext uri="{FF2B5EF4-FFF2-40B4-BE49-F238E27FC236}">
                <a16:creationId xmlns:a16="http://schemas.microsoft.com/office/drawing/2014/main" id="{9050C335-121D-BFFE-909A-5BA57A9FCF72}"/>
              </a:ext>
            </a:extLst>
          </p:cNvPr>
          <p:cNvPicPr>
            <a:picLocks noChangeAspect="1"/>
          </p:cNvPicPr>
          <p:nvPr/>
        </p:nvPicPr>
        <p:blipFill rotWithShape="1">
          <a:blip r:embed="rId2"/>
          <a:srcRect l="3473" t="4355" r="3281" b="3765"/>
          <a:stretch/>
        </p:blipFill>
        <p:spPr>
          <a:xfrm>
            <a:off x="2706756" y="97832"/>
            <a:ext cx="6778487" cy="6182139"/>
          </a:xfrm>
          <a:prstGeom prst="rect">
            <a:avLst/>
          </a:prstGeom>
        </p:spPr>
      </p:pic>
    </p:spTree>
    <p:extLst>
      <p:ext uri="{BB962C8B-B14F-4D97-AF65-F5344CB8AC3E}">
        <p14:creationId xmlns:p14="http://schemas.microsoft.com/office/powerpoint/2010/main" val="370444393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8127B-4859-C2D5-6BF9-E2CB2377DEE7}"/>
              </a:ext>
            </a:extLst>
          </p:cNvPr>
          <p:cNvSpPr>
            <a:spLocks noGrp="1"/>
          </p:cNvSpPr>
          <p:nvPr>
            <p:ph type="title"/>
          </p:nvPr>
        </p:nvSpPr>
        <p:spPr>
          <a:xfrm>
            <a:off x="943131" y="889781"/>
            <a:ext cx="10515600" cy="1325563"/>
          </a:xfrm>
        </p:spPr>
        <p:txBody>
          <a:bodyPr>
            <a:normAutofit/>
          </a:bodyPr>
          <a:lstStyle/>
          <a:p>
            <a:r>
              <a:rPr lang="en-GB" sz="4000" dirty="0"/>
              <a:t>SUMMARISE THE RECENT TRENDS IN AUS’ CURRENT ACCOUNT BALANCE</a:t>
            </a:r>
            <a:endParaRPr lang="en-AU" sz="4000" dirty="0"/>
          </a:p>
        </p:txBody>
      </p:sp>
      <p:sp>
        <p:nvSpPr>
          <p:cNvPr id="3" name="Content Placeholder 2">
            <a:extLst>
              <a:ext uri="{FF2B5EF4-FFF2-40B4-BE49-F238E27FC236}">
                <a16:creationId xmlns:a16="http://schemas.microsoft.com/office/drawing/2014/main" id="{C75E9743-F4AB-372E-10B1-1A364FE16C9A}"/>
              </a:ext>
            </a:extLst>
          </p:cNvPr>
          <p:cNvSpPr>
            <a:spLocks noGrp="1"/>
          </p:cNvSpPr>
          <p:nvPr>
            <p:ph idx="1"/>
          </p:nvPr>
        </p:nvSpPr>
        <p:spPr>
          <a:xfrm>
            <a:off x="838200" y="2735354"/>
            <a:ext cx="10515600" cy="3065839"/>
          </a:xfrm>
        </p:spPr>
        <p:txBody>
          <a:bodyPr/>
          <a:lstStyle/>
          <a:p>
            <a:r>
              <a:rPr lang="en-AU" dirty="0">
                <a:hlinkClick r:id="rId2"/>
              </a:rPr>
              <a:t>https://www.rba.gov.au/education/resources/explainers/trends-in-australias-balance-of-payments.html</a:t>
            </a:r>
            <a:endParaRPr lang="en-AU" dirty="0"/>
          </a:p>
          <a:p>
            <a:r>
              <a:rPr lang="en-AU" dirty="0"/>
              <a:t>In your notebook,</a:t>
            </a:r>
          </a:p>
          <a:p>
            <a:r>
              <a:rPr lang="en-AU" dirty="0"/>
              <a:t>Identify the trends in Aus’ CAB for the past 10 years</a:t>
            </a:r>
          </a:p>
          <a:p>
            <a:r>
              <a:rPr lang="en-AU" dirty="0"/>
              <a:t>Outline the reasons for the trends in our trade balance / BOGS</a:t>
            </a:r>
          </a:p>
        </p:txBody>
      </p:sp>
    </p:spTree>
    <p:extLst>
      <p:ext uri="{BB962C8B-B14F-4D97-AF65-F5344CB8AC3E}">
        <p14:creationId xmlns:p14="http://schemas.microsoft.com/office/powerpoint/2010/main" val="304653362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DA7AD-653D-5B63-32BE-0D601FF680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76238-57F6-450F-8ADA-492117B2BCA1}"/>
              </a:ext>
            </a:extLst>
          </p:cNvPr>
          <p:cNvSpPr>
            <a:spLocks noGrp="1"/>
          </p:cNvSpPr>
          <p:nvPr>
            <p:ph type="ctrTitle"/>
          </p:nvPr>
        </p:nvSpPr>
        <p:spPr>
          <a:xfrm>
            <a:off x="668293" y="243500"/>
            <a:ext cx="7864400" cy="2056786"/>
          </a:xfrm>
        </p:spPr>
        <p:txBody>
          <a:bodyPr>
            <a:normAutofit/>
          </a:bodyPr>
          <a:lstStyle/>
          <a:p>
            <a:r>
              <a:rPr lang="en-US" sz="4900" b="0" dirty="0">
                <a:latin typeface="+mj-lt"/>
                <a:cs typeface="Aharoni" panose="02010803020104030203" pitchFamily="2" charset="-79"/>
              </a:rPr>
              <a:t>FACTORS INFLUENCING THE INCOME BALANCE</a:t>
            </a:r>
          </a:p>
        </p:txBody>
      </p:sp>
      <p:sp>
        <p:nvSpPr>
          <p:cNvPr id="3" name="Subtitle 2">
            <a:extLst>
              <a:ext uri="{FF2B5EF4-FFF2-40B4-BE49-F238E27FC236}">
                <a16:creationId xmlns:a16="http://schemas.microsoft.com/office/drawing/2014/main" id="{7FFDA168-4D9F-742B-5D59-3CFD59234AF4}"/>
              </a:ext>
            </a:extLst>
          </p:cNvPr>
          <p:cNvSpPr>
            <a:spLocks noGrp="1"/>
          </p:cNvSpPr>
          <p:nvPr>
            <p:ph type="subTitle" idx="1"/>
          </p:nvPr>
        </p:nvSpPr>
        <p:spPr>
          <a:xfrm>
            <a:off x="668293" y="2886397"/>
            <a:ext cx="6743428" cy="2854835"/>
          </a:xfrm>
        </p:spPr>
        <p:txBody>
          <a:bodyPr>
            <a:noAutofit/>
          </a:bodyPr>
          <a:lstStyle/>
          <a:p>
            <a:r>
              <a:rPr lang="en-US" i="1" dirty="0"/>
              <a:t>SYLLABUS</a:t>
            </a:r>
            <a:r>
              <a:rPr lang="en-US" dirty="0"/>
              <a:t>:</a:t>
            </a:r>
          </a:p>
          <a:p>
            <a:pPr marL="342900" indent="-342900">
              <a:buFont typeface="Arial" panose="020B0604020202020204" pitchFamily="34" charset="0"/>
              <a:buChar char="•"/>
            </a:pPr>
            <a:r>
              <a:rPr lang="en-US" i="1" dirty="0"/>
              <a:t>the reasons for Australia’s current account balance in terms of the factors influencing the income balance</a:t>
            </a:r>
          </a:p>
          <a:p>
            <a:pPr marL="342900" indent="-342900">
              <a:buFont typeface="Arial" panose="020B0604020202020204" pitchFamily="34" charset="0"/>
              <a:buChar char="•"/>
            </a:pPr>
            <a:endParaRPr lang="en-GB" i="1" dirty="0"/>
          </a:p>
          <a:p>
            <a:pPr marL="342900" indent="-342900">
              <a:buFont typeface="Arial" panose="020B0604020202020204" pitchFamily="34" charset="0"/>
              <a:buChar char="•"/>
            </a:pPr>
            <a:r>
              <a:rPr lang="en-GB" i="1" dirty="0"/>
              <a:t>the current account balance and savings/investment gap</a:t>
            </a:r>
          </a:p>
          <a:p>
            <a:endParaRPr lang="en-US" i="1" dirty="0"/>
          </a:p>
        </p:txBody>
      </p:sp>
      <p:sp>
        <p:nvSpPr>
          <p:cNvPr id="4" name="Freeform 5">
            <a:extLst>
              <a:ext uri="{FF2B5EF4-FFF2-40B4-BE49-F238E27FC236}">
                <a16:creationId xmlns:a16="http://schemas.microsoft.com/office/drawing/2014/main" id="{C0CA0895-84AA-D935-7B3E-5FDF0EA00C0B}"/>
              </a:ext>
            </a:extLst>
          </p:cNvPr>
          <p:cNvSpPr/>
          <p:nvPr/>
        </p:nvSpPr>
        <p:spPr>
          <a:xfrm>
            <a:off x="7525061" y="1946147"/>
            <a:ext cx="4163855" cy="4199821"/>
          </a:xfrm>
          <a:custGeom>
            <a:avLst/>
            <a:gdLst/>
            <a:ahLst/>
            <a:cxnLst/>
            <a:rect l="l" t="t" r="r" b="b"/>
            <a:pathLst>
              <a:path w="6609250" h="6154864">
                <a:moveTo>
                  <a:pt x="0" y="0"/>
                </a:moveTo>
                <a:lnTo>
                  <a:pt x="6609249" y="0"/>
                </a:lnTo>
                <a:lnTo>
                  <a:pt x="6609249" y="6154864"/>
                </a:lnTo>
                <a:lnTo>
                  <a:pt x="0" y="615486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extLst>
      <p:ext uri="{BB962C8B-B14F-4D97-AF65-F5344CB8AC3E}">
        <p14:creationId xmlns:p14="http://schemas.microsoft.com/office/powerpoint/2010/main" val="400363262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B3451-CAEB-9E5C-BD5E-E0C0C57D28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484318-5C40-11ED-6EC5-9347529B01A9}"/>
              </a:ext>
            </a:extLst>
          </p:cNvPr>
          <p:cNvSpPr>
            <a:spLocks noGrp="1"/>
          </p:cNvSpPr>
          <p:nvPr>
            <p:ph type="title"/>
          </p:nvPr>
        </p:nvSpPr>
        <p:spPr>
          <a:xfrm>
            <a:off x="1424467" y="906266"/>
            <a:ext cx="9343065" cy="999460"/>
          </a:xfrm>
        </p:spPr>
        <p:txBody>
          <a:bodyPr>
            <a:normAutofit fontScale="90000"/>
          </a:bodyPr>
          <a:lstStyle/>
          <a:p>
            <a:pPr algn="ctr"/>
            <a:r>
              <a:rPr lang="en-US" dirty="0"/>
              <a:t>AUSTRALIA’S BOP</a:t>
            </a:r>
            <a:br>
              <a:rPr lang="en-US" dirty="0"/>
            </a:br>
            <a:r>
              <a:rPr lang="en-US" dirty="0"/>
              <a:t> AN OVERVIEW</a:t>
            </a:r>
          </a:p>
        </p:txBody>
      </p:sp>
      <p:graphicFrame>
        <p:nvGraphicFramePr>
          <p:cNvPr id="5" name="Content Placeholder 2">
            <a:extLst>
              <a:ext uri="{FF2B5EF4-FFF2-40B4-BE49-F238E27FC236}">
                <a16:creationId xmlns:a16="http://schemas.microsoft.com/office/drawing/2014/main" id="{3E7D96ED-4DEC-3398-86D4-5E8354791DBD}"/>
              </a:ext>
            </a:extLst>
          </p:cNvPr>
          <p:cNvGraphicFramePr>
            <a:graphicFrameLocks noGrp="1"/>
          </p:cNvGraphicFramePr>
          <p:nvPr>
            <p:ph idx="1"/>
          </p:nvPr>
        </p:nvGraphicFramePr>
        <p:xfrm>
          <a:off x="571500" y="1905726"/>
          <a:ext cx="11049000" cy="3901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9297989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DCD81-1995-6C66-335B-2E3BD99C7E6D}"/>
              </a:ext>
            </a:extLst>
          </p:cNvPr>
          <p:cNvSpPr>
            <a:spLocks noGrp="1"/>
          </p:cNvSpPr>
          <p:nvPr>
            <p:ph type="title"/>
          </p:nvPr>
        </p:nvSpPr>
        <p:spPr>
          <a:xfrm>
            <a:off x="1124778" y="436329"/>
            <a:ext cx="9942443" cy="1092667"/>
          </a:xfrm>
        </p:spPr>
        <p:txBody>
          <a:bodyPr>
            <a:normAutofit/>
          </a:bodyPr>
          <a:lstStyle/>
          <a:p>
            <a:pPr algn="ctr"/>
            <a:r>
              <a:rPr lang="en-US" dirty="0"/>
              <a:t>NPY = SERVICING COSTS</a:t>
            </a:r>
            <a:endParaRPr lang="en-US" dirty="0">
              <a:solidFill>
                <a:srgbClr val="FFFFFF"/>
              </a:solidFill>
            </a:endParaRPr>
          </a:p>
        </p:txBody>
      </p:sp>
      <p:sp>
        <p:nvSpPr>
          <p:cNvPr id="3" name="Content Placeholder 2">
            <a:extLst>
              <a:ext uri="{FF2B5EF4-FFF2-40B4-BE49-F238E27FC236}">
                <a16:creationId xmlns:a16="http://schemas.microsoft.com/office/drawing/2014/main" id="{608E4E7B-A17B-B1D0-BFF3-97AB8069AC9B}"/>
              </a:ext>
            </a:extLst>
          </p:cNvPr>
          <p:cNvSpPr>
            <a:spLocks noGrp="1"/>
          </p:cNvSpPr>
          <p:nvPr>
            <p:ph idx="1"/>
          </p:nvPr>
        </p:nvSpPr>
        <p:spPr>
          <a:xfrm>
            <a:off x="1004341" y="2383436"/>
            <a:ext cx="10311359" cy="3598264"/>
          </a:xfrm>
        </p:spPr>
        <p:txBody>
          <a:bodyPr>
            <a:normAutofit/>
          </a:bodyPr>
          <a:lstStyle/>
          <a:p>
            <a:r>
              <a:rPr lang="en-US" dirty="0"/>
              <a:t>NPY = Net primary income</a:t>
            </a:r>
          </a:p>
          <a:p>
            <a:r>
              <a:rPr lang="en-US" dirty="0"/>
              <a:t>Australia’s NPY deficit reflects Australia’s net servicing costs owed overseas</a:t>
            </a:r>
          </a:p>
          <a:p>
            <a:r>
              <a:rPr lang="en-US" dirty="0"/>
              <a:t>Servicing costs on foreign debt (borrowing from overseas) = interest payments on loans</a:t>
            </a:r>
          </a:p>
          <a:p>
            <a:r>
              <a:rPr lang="en-US" dirty="0"/>
              <a:t>Servicing costs on foreign equity (foreign investment into Australia) = dividend payments and profits</a:t>
            </a:r>
          </a:p>
          <a:p>
            <a:r>
              <a:rPr lang="en-US" dirty="0"/>
              <a:t>Servicing costs: future financial obligations for borrowing funds (interest) or attracting foreign investment (dividends/ profits)</a:t>
            </a:r>
          </a:p>
        </p:txBody>
      </p:sp>
    </p:spTree>
    <p:extLst>
      <p:ext uri="{BB962C8B-B14F-4D97-AF65-F5344CB8AC3E}">
        <p14:creationId xmlns:p14="http://schemas.microsoft.com/office/powerpoint/2010/main" val="40404653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4443E-CA35-70B1-6984-B60CD98517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605620-3390-75CC-A057-B58AED7A932B}"/>
              </a:ext>
            </a:extLst>
          </p:cNvPr>
          <p:cNvSpPr>
            <a:spLocks noGrp="1"/>
          </p:cNvSpPr>
          <p:nvPr>
            <p:ph type="title"/>
          </p:nvPr>
        </p:nvSpPr>
        <p:spPr>
          <a:xfrm>
            <a:off x="1124778" y="436329"/>
            <a:ext cx="9942443" cy="1092667"/>
          </a:xfrm>
        </p:spPr>
        <p:txBody>
          <a:bodyPr>
            <a:normAutofit/>
          </a:bodyPr>
          <a:lstStyle/>
          <a:p>
            <a:pPr algn="ctr"/>
            <a:r>
              <a:rPr lang="en-US" dirty="0"/>
              <a:t>SAVINGS-INVESTMENT GAP</a:t>
            </a:r>
            <a:endParaRPr lang="en-US" dirty="0">
              <a:solidFill>
                <a:srgbClr val="FFFFFF"/>
              </a:solidFill>
            </a:endParaRPr>
          </a:p>
        </p:txBody>
      </p:sp>
      <p:sp>
        <p:nvSpPr>
          <p:cNvPr id="3" name="Content Placeholder 2">
            <a:extLst>
              <a:ext uri="{FF2B5EF4-FFF2-40B4-BE49-F238E27FC236}">
                <a16:creationId xmlns:a16="http://schemas.microsoft.com/office/drawing/2014/main" id="{ED9FFF08-2F9B-91E5-2860-E32B42509B53}"/>
              </a:ext>
            </a:extLst>
          </p:cNvPr>
          <p:cNvSpPr>
            <a:spLocks noGrp="1"/>
          </p:cNvSpPr>
          <p:nvPr>
            <p:ph idx="1"/>
          </p:nvPr>
        </p:nvSpPr>
        <p:spPr>
          <a:xfrm>
            <a:off x="779489" y="1678898"/>
            <a:ext cx="10523095" cy="4302802"/>
          </a:xfrm>
        </p:spPr>
        <p:txBody>
          <a:bodyPr>
            <a:normAutofit/>
          </a:bodyPr>
          <a:lstStyle/>
          <a:p>
            <a:pPr>
              <a:lnSpc>
                <a:spcPct val="140000"/>
              </a:lnSpc>
            </a:pPr>
            <a:r>
              <a:rPr lang="en-US" sz="1800" dirty="0"/>
              <a:t>The main reason for the NPY deficit in Australia is due to the savings investment gap (S-I gap):</a:t>
            </a:r>
          </a:p>
          <a:p>
            <a:pPr marL="514350" lvl="1" indent="-285750">
              <a:lnSpc>
                <a:spcPct val="140000"/>
              </a:lnSpc>
              <a:buFont typeface="Courier New" panose="02070309020205020404" pitchFamily="49" charset="0"/>
              <a:buChar char="o"/>
            </a:pPr>
            <a:r>
              <a:rPr lang="en-US" sz="1600" dirty="0"/>
              <a:t>Australia has a small population and a relatively low national savings rate</a:t>
            </a:r>
          </a:p>
          <a:p>
            <a:pPr marL="514350" lvl="1" indent="-285750">
              <a:lnSpc>
                <a:spcPct val="140000"/>
              </a:lnSpc>
              <a:buFont typeface="Courier New" panose="02070309020205020404" pitchFamily="49" charset="0"/>
              <a:buChar char="o"/>
            </a:pPr>
            <a:r>
              <a:rPr lang="en-US" sz="1600" dirty="0"/>
              <a:t>This creates a gap between out intended investment levels and the amount of domestic savings</a:t>
            </a:r>
          </a:p>
          <a:p>
            <a:pPr>
              <a:lnSpc>
                <a:spcPct val="140000"/>
              </a:lnSpc>
            </a:pPr>
            <a:r>
              <a:rPr lang="en-US" sz="1800" dirty="0"/>
              <a:t>To solve this Australia:</a:t>
            </a:r>
          </a:p>
          <a:p>
            <a:pPr marL="514350" lvl="1" indent="-285750">
              <a:lnSpc>
                <a:spcPct val="140000"/>
              </a:lnSpc>
              <a:buFont typeface="Courier New" panose="02070309020205020404" pitchFamily="49" charset="0"/>
              <a:buChar char="o"/>
            </a:pPr>
            <a:r>
              <a:rPr lang="en-US" dirty="0"/>
              <a:t>Borrows from overseas (foreign debt)</a:t>
            </a:r>
          </a:p>
          <a:p>
            <a:pPr marL="514350" lvl="1" indent="-285750">
              <a:lnSpc>
                <a:spcPct val="140000"/>
              </a:lnSpc>
              <a:buFont typeface="Courier New" panose="02070309020205020404" pitchFamily="49" charset="0"/>
              <a:buChar char="o"/>
            </a:pPr>
            <a:r>
              <a:rPr lang="en-US" dirty="0"/>
              <a:t>Sells ownership of Australian assets (foreign equity)</a:t>
            </a:r>
          </a:p>
          <a:p>
            <a:pPr>
              <a:lnSpc>
                <a:spcPct val="140000"/>
              </a:lnSpc>
            </a:pPr>
            <a:r>
              <a:rPr lang="en-US" sz="1800" dirty="0"/>
              <a:t>Both steps create future servicing obligations in the form of interest repayments (on debt) and dividends (on equity)</a:t>
            </a:r>
          </a:p>
          <a:p>
            <a:pPr>
              <a:lnSpc>
                <a:spcPct val="140000"/>
              </a:lnSpc>
            </a:pPr>
            <a:r>
              <a:rPr lang="en-US" sz="1800" dirty="0"/>
              <a:t>This increases NPY outflows, increases the NPY deficit and decreases the CAB</a:t>
            </a:r>
          </a:p>
        </p:txBody>
      </p:sp>
    </p:spTree>
    <p:extLst>
      <p:ext uri="{BB962C8B-B14F-4D97-AF65-F5344CB8AC3E}">
        <p14:creationId xmlns:p14="http://schemas.microsoft.com/office/powerpoint/2010/main" val="100955825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BB967-1AC2-7F0F-32F2-FCB1543864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6EF619-91C5-7CB1-F002-E12070E937C6}"/>
              </a:ext>
            </a:extLst>
          </p:cNvPr>
          <p:cNvSpPr>
            <a:spLocks noGrp="1"/>
          </p:cNvSpPr>
          <p:nvPr>
            <p:ph type="title"/>
          </p:nvPr>
        </p:nvSpPr>
        <p:spPr>
          <a:xfrm>
            <a:off x="779489" y="876301"/>
            <a:ext cx="9942443" cy="1092667"/>
          </a:xfrm>
        </p:spPr>
        <p:txBody>
          <a:bodyPr>
            <a:noAutofit/>
          </a:bodyPr>
          <a:lstStyle/>
          <a:p>
            <a:pPr algn="ctr"/>
            <a:r>
              <a:rPr lang="en-US" sz="3500" dirty="0"/>
              <a:t>Describe what would happen to the CAD if Australia increased its national savings level</a:t>
            </a:r>
            <a:endParaRPr lang="en-US" sz="3500" dirty="0">
              <a:solidFill>
                <a:srgbClr val="FFFFFF"/>
              </a:solidFill>
            </a:endParaRPr>
          </a:p>
        </p:txBody>
      </p:sp>
      <p:sp>
        <p:nvSpPr>
          <p:cNvPr id="3" name="Content Placeholder 2">
            <a:extLst>
              <a:ext uri="{FF2B5EF4-FFF2-40B4-BE49-F238E27FC236}">
                <a16:creationId xmlns:a16="http://schemas.microsoft.com/office/drawing/2014/main" id="{0514341B-CA4D-1D77-7211-F1A7D2F72F21}"/>
              </a:ext>
            </a:extLst>
          </p:cNvPr>
          <p:cNvSpPr>
            <a:spLocks noGrp="1"/>
          </p:cNvSpPr>
          <p:nvPr>
            <p:ph idx="1"/>
          </p:nvPr>
        </p:nvSpPr>
        <p:spPr>
          <a:xfrm>
            <a:off x="779489" y="2293496"/>
            <a:ext cx="10523095" cy="3688204"/>
          </a:xfrm>
        </p:spPr>
        <p:txBody>
          <a:bodyPr>
            <a:normAutofit lnSpcReduction="10000"/>
          </a:bodyPr>
          <a:lstStyle/>
          <a:p>
            <a:r>
              <a:rPr lang="en-US" dirty="0"/>
              <a:t>Current situation: low national savings creates S-I gap</a:t>
            </a:r>
          </a:p>
          <a:p>
            <a:pPr marL="514350" lvl="1" indent="-285750">
              <a:buFont typeface="Courier New" panose="02070309020205020404" pitchFamily="49" charset="0"/>
              <a:buChar char="o"/>
            </a:pPr>
            <a:r>
              <a:rPr lang="en-US" dirty="0"/>
              <a:t>S-I gap creates need for foreign borrowing and equity</a:t>
            </a:r>
          </a:p>
          <a:p>
            <a:pPr marL="514350" lvl="1" indent="-285750">
              <a:buFont typeface="Courier New" panose="02070309020205020404" pitchFamily="49" charset="0"/>
              <a:buChar char="o"/>
            </a:pPr>
            <a:r>
              <a:rPr lang="en-US" dirty="0"/>
              <a:t>This creates outflows of NPY, therefore decreasing the CAB</a:t>
            </a:r>
          </a:p>
          <a:p>
            <a:pPr marL="228600" lvl="1" indent="0">
              <a:buNone/>
            </a:pPr>
            <a:endParaRPr lang="en-US" dirty="0"/>
          </a:p>
          <a:p>
            <a:r>
              <a:rPr lang="en-US" dirty="0"/>
              <a:t>What would higher national savings mean?</a:t>
            </a:r>
          </a:p>
          <a:p>
            <a:pPr marL="514350" lvl="1" indent="-285750">
              <a:buFont typeface="Courier New" panose="02070309020205020404" pitchFamily="49" charset="0"/>
              <a:buChar char="o"/>
            </a:pPr>
            <a:r>
              <a:rPr lang="en-US" dirty="0"/>
              <a:t>Lower S-I gap</a:t>
            </a:r>
          </a:p>
          <a:p>
            <a:pPr marL="514350" lvl="1" indent="-285750">
              <a:buFont typeface="Courier New" panose="02070309020205020404" pitchFamily="49" charset="0"/>
              <a:buChar char="o"/>
            </a:pPr>
            <a:r>
              <a:rPr lang="en-AU" dirty="0"/>
              <a:t>Firms could fund projects from domestic savings instead of foreign capital</a:t>
            </a:r>
            <a:endParaRPr lang="en-US" dirty="0"/>
          </a:p>
          <a:p>
            <a:pPr marL="514350" lvl="1" indent="-285750">
              <a:buFont typeface="Courier New" panose="02070309020205020404" pitchFamily="49" charset="0"/>
              <a:buChar char="o"/>
            </a:pPr>
            <a:r>
              <a:rPr lang="en-US" dirty="0"/>
              <a:t>Less need for foreign borrowing and equity required</a:t>
            </a:r>
          </a:p>
          <a:p>
            <a:pPr marL="514350" lvl="1" indent="-285750">
              <a:buFont typeface="Courier New" panose="02070309020205020404" pitchFamily="49" charset="0"/>
              <a:buChar char="o"/>
            </a:pPr>
            <a:r>
              <a:rPr lang="en-US" dirty="0"/>
              <a:t>Fewer outflows of NPY (to pay interest/ dividends/ profit), lower NPY deficit, increases the CAB (shrinking the CAD)</a:t>
            </a:r>
          </a:p>
          <a:p>
            <a:pPr marL="514350" lvl="1" indent="-285750">
              <a:buFont typeface="Courier New" panose="02070309020205020404" pitchFamily="49" charset="0"/>
              <a:buChar char="o"/>
            </a:pPr>
            <a:endParaRPr lang="en-US" dirty="0"/>
          </a:p>
          <a:p>
            <a:pPr>
              <a:lnSpc>
                <a:spcPct val="140000"/>
              </a:lnSpc>
            </a:pPr>
            <a:endParaRPr lang="en-US" sz="1800" dirty="0"/>
          </a:p>
        </p:txBody>
      </p:sp>
    </p:spTree>
    <p:extLst>
      <p:ext uri="{BB962C8B-B14F-4D97-AF65-F5344CB8AC3E}">
        <p14:creationId xmlns:p14="http://schemas.microsoft.com/office/powerpoint/2010/main" val="348729430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0E04F-D67D-0B71-2157-A8FF9DF83391}"/>
              </a:ext>
            </a:extLst>
          </p:cNvPr>
          <p:cNvSpPr>
            <a:spLocks noGrp="1"/>
          </p:cNvSpPr>
          <p:nvPr>
            <p:ph type="title"/>
          </p:nvPr>
        </p:nvSpPr>
        <p:spPr>
          <a:xfrm>
            <a:off x="838200" y="176211"/>
            <a:ext cx="10515600" cy="1009651"/>
          </a:xfrm>
        </p:spPr>
        <p:txBody>
          <a:bodyPr anchor="b">
            <a:normAutofit/>
          </a:bodyPr>
          <a:lstStyle/>
          <a:p>
            <a:pPr>
              <a:lnSpc>
                <a:spcPct val="90000"/>
              </a:lnSpc>
            </a:pPr>
            <a:r>
              <a:rPr lang="en-US" sz="4200" dirty="0"/>
              <a:t>HOW DOES NPY INFLUENCE THE CAB?</a:t>
            </a:r>
          </a:p>
        </p:txBody>
      </p:sp>
      <p:graphicFrame>
        <p:nvGraphicFramePr>
          <p:cNvPr id="5" name="Content Placeholder 2">
            <a:extLst>
              <a:ext uri="{FF2B5EF4-FFF2-40B4-BE49-F238E27FC236}">
                <a16:creationId xmlns:a16="http://schemas.microsoft.com/office/drawing/2014/main" id="{D970ADBF-8060-3F5D-4042-9FBFAE60A1C9}"/>
              </a:ext>
            </a:extLst>
          </p:cNvPr>
          <p:cNvGraphicFramePr>
            <a:graphicFrameLocks noGrp="1"/>
          </p:cNvGraphicFramePr>
          <p:nvPr>
            <p:ph idx="1"/>
            <p:extLst>
              <p:ext uri="{D42A27DB-BD31-4B8C-83A1-F6EECF244321}">
                <p14:modId xmlns:p14="http://schemas.microsoft.com/office/powerpoint/2010/main" val="307634398"/>
              </p:ext>
            </p:extLst>
          </p:nvPr>
        </p:nvGraphicFramePr>
        <p:xfrm>
          <a:off x="466725" y="1485901"/>
          <a:ext cx="11258550" cy="51958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6230197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51A99-4F61-710E-1AEB-9C36446323AA}"/>
              </a:ext>
            </a:extLst>
          </p:cNvPr>
          <p:cNvSpPr>
            <a:spLocks noGrp="1"/>
          </p:cNvSpPr>
          <p:nvPr>
            <p:ph type="title"/>
          </p:nvPr>
        </p:nvSpPr>
        <p:spPr>
          <a:xfrm>
            <a:off x="838200" y="365125"/>
            <a:ext cx="10515600" cy="1325563"/>
          </a:xfrm>
        </p:spPr>
        <p:txBody>
          <a:bodyPr anchor="b">
            <a:normAutofit/>
          </a:bodyPr>
          <a:lstStyle/>
          <a:p>
            <a:r>
              <a:rPr lang="en-GB" sz="5000"/>
              <a:t>Summary of factors affecting CAB</a:t>
            </a:r>
            <a:endParaRPr lang="en-AU" sz="5000"/>
          </a:p>
        </p:txBody>
      </p:sp>
      <p:pic>
        <p:nvPicPr>
          <p:cNvPr id="5" name="Picture 4">
            <a:extLst>
              <a:ext uri="{FF2B5EF4-FFF2-40B4-BE49-F238E27FC236}">
                <a16:creationId xmlns:a16="http://schemas.microsoft.com/office/drawing/2014/main" id="{34E4B945-9854-3929-7877-C27EA2FE65C9}"/>
              </a:ext>
            </a:extLst>
          </p:cNvPr>
          <p:cNvPicPr>
            <a:picLocks noChangeAspect="1"/>
          </p:cNvPicPr>
          <p:nvPr/>
        </p:nvPicPr>
        <p:blipFill>
          <a:blip r:embed="rId2"/>
          <a:srcRect t="8147" r="6716" b="19947"/>
          <a:stretch/>
        </p:blipFill>
        <p:spPr>
          <a:xfrm>
            <a:off x="1819353" y="1940875"/>
            <a:ext cx="8553294" cy="4236087"/>
          </a:xfrm>
          <a:prstGeom prst="rect">
            <a:avLst/>
          </a:prstGeom>
          <a:noFill/>
        </p:spPr>
      </p:pic>
    </p:spTree>
    <p:extLst>
      <p:ext uri="{BB962C8B-B14F-4D97-AF65-F5344CB8AC3E}">
        <p14:creationId xmlns:p14="http://schemas.microsoft.com/office/powerpoint/2010/main" val="319904928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4EF16-29AF-2E6C-8E34-D98B5B35F093}"/>
              </a:ext>
            </a:extLst>
          </p:cNvPr>
          <p:cNvSpPr>
            <a:spLocks noGrp="1"/>
          </p:cNvSpPr>
          <p:nvPr>
            <p:ph type="title"/>
          </p:nvPr>
        </p:nvSpPr>
        <p:spPr>
          <a:xfrm>
            <a:off x="0" y="1924050"/>
            <a:ext cx="4367133" cy="2209800"/>
          </a:xfrm>
        </p:spPr>
        <p:txBody>
          <a:bodyPr>
            <a:normAutofit/>
          </a:bodyPr>
          <a:lstStyle/>
          <a:p>
            <a:r>
              <a:rPr lang="en-GB" dirty="0"/>
              <a:t>Independent Practice</a:t>
            </a:r>
            <a:endParaRPr lang="en-AU" dirty="0"/>
          </a:p>
        </p:txBody>
      </p:sp>
      <p:pic>
        <p:nvPicPr>
          <p:cNvPr id="5" name="Picture 4">
            <a:extLst>
              <a:ext uri="{FF2B5EF4-FFF2-40B4-BE49-F238E27FC236}">
                <a16:creationId xmlns:a16="http://schemas.microsoft.com/office/drawing/2014/main" id="{A7193446-546C-A54E-B8EE-088B0666F7B1}"/>
              </a:ext>
            </a:extLst>
          </p:cNvPr>
          <p:cNvPicPr>
            <a:picLocks noChangeAspect="1"/>
          </p:cNvPicPr>
          <p:nvPr/>
        </p:nvPicPr>
        <p:blipFill>
          <a:blip r:embed="rId2"/>
          <a:stretch>
            <a:fillRect/>
          </a:stretch>
        </p:blipFill>
        <p:spPr>
          <a:xfrm>
            <a:off x="4367133" y="0"/>
            <a:ext cx="7668695" cy="6592220"/>
          </a:xfrm>
          <a:prstGeom prst="rect">
            <a:avLst/>
          </a:prstGeom>
        </p:spPr>
      </p:pic>
    </p:spTree>
    <p:extLst>
      <p:ext uri="{BB962C8B-B14F-4D97-AF65-F5344CB8AC3E}">
        <p14:creationId xmlns:p14="http://schemas.microsoft.com/office/powerpoint/2010/main" val="383588967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AB5ED-3E2E-ED25-4405-685A4DD28D14}"/>
              </a:ext>
            </a:extLst>
          </p:cNvPr>
          <p:cNvSpPr>
            <a:spLocks noGrp="1"/>
          </p:cNvSpPr>
          <p:nvPr>
            <p:ph type="ctrTitle"/>
          </p:nvPr>
        </p:nvSpPr>
        <p:spPr>
          <a:xfrm>
            <a:off x="1014588" y="545141"/>
            <a:ext cx="6974915" cy="2304738"/>
          </a:xfrm>
        </p:spPr>
        <p:txBody>
          <a:bodyPr vert="horz" lIns="91440" tIns="45720" rIns="91440" bIns="45720" rtlCol="0">
            <a:normAutofit/>
          </a:bodyPr>
          <a:lstStyle/>
          <a:p>
            <a:r>
              <a:rPr lang="en-US" sz="4900" kern="1200" dirty="0">
                <a:latin typeface="Aharoni" panose="02010803020104030203" pitchFamily="2" charset="-79"/>
                <a:cs typeface="Aharoni" panose="02010803020104030203" pitchFamily="2" charset="-79"/>
              </a:rPr>
              <a:t>TRENDS IN THE CAB AND KAFA</a:t>
            </a:r>
          </a:p>
        </p:txBody>
      </p:sp>
      <p:sp>
        <p:nvSpPr>
          <p:cNvPr id="9" name="TextBox 8">
            <a:extLst>
              <a:ext uri="{FF2B5EF4-FFF2-40B4-BE49-F238E27FC236}">
                <a16:creationId xmlns:a16="http://schemas.microsoft.com/office/drawing/2014/main" id="{E1CBC946-AAA8-B4D1-EE21-072F87EDCD16}"/>
              </a:ext>
            </a:extLst>
          </p:cNvPr>
          <p:cNvSpPr txBox="1"/>
          <p:nvPr/>
        </p:nvSpPr>
        <p:spPr>
          <a:xfrm>
            <a:off x="1014588" y="3266667"/>
            <a:ext cx="6100996" cy="1828193"/>
          </a:xfrm>
          <a:prstGeom prst="rect">
            <a:avLst/>
          </a:prstGeom>
          <a:noFill/>
        </p:spPr>
        <p:txBody>
          <a:bodyPr wrap="square">
            <a:spAutoFit/>
          </a:bodyPr>
          <a:lstStyle/>
          <a:p>
            <a:r>
              <a:rPr lang="en-US" sz="2400" i="1" dirty="0"/>
              <a:t>SYLLABUS</a:t>
            </a:r>
            <a:r>
              <a:rPr lang="en-US" sz="2400" dirty="0"/>
              <a:t>:</a:t>
            </a:r>
          </a:p>
          <a:p>
            <a:pPr>
              <a:lnSpc>
                <a:spcPct val="90000"/>
              </a:lnSpc>
            </a:pPr>
            <a:endParaRPr lang="en-US" sz="2400" dirty="0">
              <a:solidFill>
                <a:schemeClr val="tx1">
                  <a:lumMod val="85000"/>
                  <a:lumOff val="15000"/>
                </a:schemeClr>
              </a:solidFill>
            </a:endParaRPr>
          </a:p>
          <a:p>
            <a:pPr>
              <a:lnSpc>
                <a:spcPct val="90000"/>
              </a:lnSpc>
            </a:pPr>
            <a:r>
              <a:rPr lang="en-US" sz="2400" i="1" dirty="0">
                <a:solidFill>
                  <a:schemeClr val="tx1">
                    <a:lumMod val="85000"/>
                    <a:lumOff val="15000"/>
                  </a:schemeClr>
                </a:solidFill>
              </a:rPr>
              <a:t>trends in Australia’s current account and financial account over the last ten years</a:t>
            </a:r>
          </a:p>
          <a:p>
            <a:endParaRPr lang="en-US" sz="2400" i="1" dirty="0"/>
          </a:p>
        </p:txBody>
      </p:sp>
      <p:sp>
        <p:nvSpPr>
          <p:cNvPr id="10" name="Freeform 5">
            <a:extLst>
              <a:ext uri="{FF2B5EF4-FFF2-40B4-BE49-F238E27FC236}">
                <a16:creationId xmlns:a16="http://schemas.microsoft.com/office/drawing/2014/main" id="{73F069E5-2609-8724-D3DC-28777889C71E}"/>
              </a:ext>
            </a:extLst>
          </p:cNvPr>
          <p:cNvSpPr/>
          <p:nvPr/>
        </p:nvSpPr>
        <p:spPr>
          <a:xfrm>
            <a:off x="7570033" y="1087465"/>
            <a:ext cx="4257984" cy="4358404"/>
          </a:xfrm>
          <a:custGeom>
            <a:avLst/>
            <a:gdLst/>
            <a:ahLst/>
            <a:cxnLst/>
            <a:rect l="l" t="t" r="r" b="b"/>
            <a:pathLst>
              <a:path w="7086638" h="6891756">
                <a:moveTo>
                  <a:pt x="0" y="0"/>
                </a:moveTo>
                <a:lnTo>
                  <a:pt x="7086638" y="0"/>
                </a:lnTo>
                <a:lnTo>
                  <a:pt x="7086638" y="6891756"/>
                </a:lnTo>
                <a:lnTo>
                  <a:pt x="0" y="68917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extLst>
      <p:ext uri="{BB962C8B-B14F-4D97-AF65-F5344CB8AC3E}">
        <p14:creationId xmlns:p14="http://schemas.microsoft.com/office/powerpoint/2010/main" val="3932854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47E4C-DB65-B851-3AC9-9565743BB156}"/>
              </a:ext>
            </a:extLst>
          </p:cNvPr>
          <p:cNvSpPr>
            <a:spLocks noGrp="1"/>
          </p:cNvSpPr>
          <p:nvPr>
            <p:ph type="title"/>
          </p:nvPr>
        </p:nvSpPr>
        <p:spPr>
          <a:xfrm>
            <a:off x="2242341" y="276737"/>
            <a:ext cx="7538492" cy="1102525"/>
          </a:xfrm>
        </p:spPr>
        <p:txBody>
          <a:bodyPr vert="horz" lIns="91440" tIns="45720" rIns="91440" bIns="45720" rtlCol="0" anchor="b">
            <a:normAutofit fontScale="90000"/>
          </a:bodyPr>
          <a:lstStyle/>
          <a:p>
            <a:pPr algn="ctr">
              <a:lnSpc>
                <a:spcPct val="90000"/>
              </a:lnSpc>
            </a:pPr>
            <a:r>
              <a:rPr lang="en-US" sz="4000" dirty="0">
                <a:cs typeface="Aharoni" panose="02010803020104030203" pitchFamily="2" charset="-79"/>
              </a:rPr>
              <a:t>TRENDS AUSTRALIA’S CAB OVER THE PAST 10 YEARS</a:t>
            </a:r>
            <a:endParaRPr lang="en-US" sz="3800" b="0" i="0" kern="1200" dirty="0">
              <a:solidFill>
                <a:srgbClr val="EBEBEB"/>
              </a:solidFill>
              <a:latin typeface="+mj-lt"/>
              <a:ea typeface="+mj-ea"/>
              <a:cs typeface="+mj-cs"/>
            </a:endParaRPr>
          </a:p>
        </p:txBody>
      </p:sp>
      <p:pic>
        <p:nvPicPr>
          <p:cNvPr id="4" name="Content Placeholder 3">
            <a:extLst>
              <a:ext uri="{FF2B5EF4-FFF2-40B4-BE49-F238E27FC236}">
                <a16:creationId xmlns:a16="http://schemas.microsoft.com/office/drawing/2014/main" id="{BA11E2A5-F17D-78F8-C661-6F01E1915D08}"/>
              </a:ext>
            </a:extLst>
          </p:cNvPr>
          <p:cNvPicPr>
            <a:picLocks noChangeAspect="1"/>
          </p:cNvPicPr>
          <p:nvPr/>
        </p:nvPicPr>
        <p:blipFill>
          <a:blip r:embed="rId2"/>
          <a:stretch/>
        </p:blipFill>
        <p:spPr>
          <a:xfrm>
            <a:off x="1903751" y="1599143"/>
            <a:ext cx="7877082" cy="4430857"/>
          </a:xfrm>
          <a:prstGeom prst="rect">
            <a:avLst/>
          </a:prstGeom>
          <a:effectLst/>
        </p:spPr>
      </p:pic>
    </p:spTree>
    <p:extLst>
      <p:ext uri="{BB962C8B-B14F-4D97-AF65-F5344CB8AC3E}">
        <p14:creationId xmlns:p14="http://schemas.microsoft.com/office/powerpoint/2010/main" val="248869850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47E4C-DB65-B851-3AC9-9565743BB156}"/>
              </a:ext>
            </a:extLst>
          </p:cNvPr>
          <p:cNvSpPr>
            <a:spLocks noGrp="1"/>
          </p:cNvSpPr>
          <p:nvPr>
            <p:ph type="title"/>
          </p:nvPr>
        </p:nvSpPr>
        <p:spPr>
          <a:xfrm>
            <a:off x="198896" y="112103"/>
            <a:ext cx="11747298" cy="1500387"/>
          </a:xfrm>
        </p:spPr>
        <p:txBody>
          <a:bodyPr>
            <a:normAutofit/>
          </a:bodyPr>
          <a:lstStyle/>
          <a:p>
            <a:pPr algn="ctr"/>
            <a:r>
              <a:rPr lang="en-US" sz="3600" dirty="0"/>
              <a:t>TRENDS IN AUSTRALIA’S </a:t>
            </a:r>
            <a:br>
              <a:rPr lang="en-US" sz="3600" dirty="0"/>
            </a:br>
            <a:r>
              <a:rPr lang="en-US" sz="3600" dirty="0"/>
              <a:t>CAB OVER THE LAST 10 YEARS</a:t>
            </a:r>
          </a:p>
        </p:txBody>
      </p:sp>
      <p:sp>
        <p:nvSpPr>
          <p:cNvPr id="8" name="Content Placeholder 7">
            <a:extLst>
              <a:ext uri="{FF2B5EF4-FFF2-40B4-BE49-F238E27FC236}">
                <a16:creationId xmlns:a16="http://schemas.microsoft.com/office/drawing/2014/main" id="{DA0AEEF3-7B31-BEB3-6D83-3E2A1DD0D134}"/>
              </a:ext>
            </a:extLst>
          </p:cNvPr>
          <p:cNvSpPr>
            <a:spLocks noGrp="1"/>
          </p:cNvSpPr>
          <p:nvPr>
            <p:ph idx="1"/>
          </p:nvPr>
        </p:nvSpPr>
        <p:spPr>
          <a:xfrm>
            <a:off x="348338" y="1708002"/>
            <a:ext cx="5318932" cy="4803329"/>
          </a:xfrm>
        </p:spPr>
        <p:txBody>
          <a:bodyPr>
            <a:normAutofit/>
          </a:bodyPr>
          <a:lstStyle/>
          <a:p>
            <a:r>
              <a:rPr lang="en-GB" sz="1800" dirty="0"/>
              <a:t>Overall, CAB fluctuated from deficit of -$6.6 billion in Dec 2016 to -$12.2 billion in Dec 2024.</a:t>
            </a:r>
          </a:p>
          <a:p>
            <a:r>
              <a:rPr lang="en-AU" sz="1800" dirty="0"/>
              <a:t>BOGS/Trade Balance fluctuated yearly, Went into deficit in Dec 17 (-$1.4 billion) reaching a peak of $40.6 billion in Jun 22 before dropping to $7.5 billion in Dec 24</a:t>
            </a:r>
          </a:p>
          <a:p>
            <a:r>
              <a:rPr lang="en-AU" sz="1800" dirty="0"/>
              <a:t>NPY always in deficit due to net inflow of FI into our economy = debit payments to our foreign investors (dividends &amp; interests)</a:t>
            </a:r>
          </a:p>
          <a:p>
            <a:r>
              <a:rPr lang="en-AU" sz="1800" dirty="0"/>
              <a:t>Most of the time CAB is in deficit (dec 16, 17, 18, 19, 23, 14), 2020 – Mar 2023 exception</a:t>
            </a:r>
          </a:p>
          <a:p>
            <a:r>
              <a:rPr lang="en-AU" sz="1800" dirty="0"/>
              <a:t>Often NPY deficit &gt; BOGS surplus </a:t>
            </a:r>
            <a:r>
              <a:rPr lang="en-AU" sz="1800" dirty="0">
                <a:sym typeface="Wingdings" panose="05000000000000000000" pitchFamily="2" charset="2"/>
              </a:rPr>
              <a:t> CAD</a:t>
            </a:r>
            <a:endParaRPr lang="en-AU" sz="1800" dirty="0"/>
          </a:p>
          <a:p>
            <a:endParaRPr lang="en-AU" sz="1800" dirty="0"/>
          </a:p>
        </p:txBody>
      </p:sp>
      <p:pic>
        <p:nvPicPr>
          <p:cNvPr id="10" name="Picture 9">
            <a:extLst>
              <a:ext uri="{FF2B5EF4-FFF2-40B4-BE49-F238E27FC236}">
                <a16:creationId xmlns:a16="http://schemas.microsoft.com/office/drawing/2014/main" id="{2C501E90-77F1-CA26-D186-0BD939F64911}"/>
              </a:ext>
            </a:extLst>
          </p:cNvPr>
          <p:cNvPicPr>
            <a:picLocks noChangeAspect="1"/>
          </p:cNvPicPr>
          <p:nvPr/>
        </p:nvPicPr>
        <p:blipFill>
          <a:blip r:embed="rId3"/>
          <a:stretch>
            <a:fillRect/>
          </a:stretch>
        </p:blipFill>
        <p:spPr>
          <a:xfrm>
            <a:off x="5832286" y="2232661"/>
            <a:ext cx="6113908" cy="3441990"/>
          </a:xfrm>
          <a:prstGeom prst="rect">
            <a:avLst/>
          </a:prstGeom>
        </p:spPr>
      </p:pic>
      <p:sp>
        <p:nvSpPr>
          <p:cNvPr id="11" name="Content Placeholder 7">
            <a:extLst>
              <a:ext uri="{FF2B5EF4-FFF2-40B4-BE49-F238E27FC236}">
                <a16:creationId xmlns:a16="http://schemas.microsoft.com/office/drawing/2014/main" id="{01887BD9-E37C-3527-4217-94429E5D46FA}"/>
              </a:ext>
            </a:extLst>
          </p:cNvPr>
          <p:cNvSpPr txBox="1">
            <a:spLocks/>
          </p:cNvSpPr>
          <p:nvPr/>
        </p:nvSpPr>
        <p:spPr>
          <a:xfrm>
            <a:off x="6214596" y="5149993"/>
            <a:ext cx="4673727" cy="317357"/>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150000"/>
              </a:lnSpc>
              <a:spcBef>
                <a:spcPts val="1000"/>
              </a:spcBef>
              <a:buClr>
                <a:schemeClr val="bg2">
                  <a:lumMod val="75000"/>
                </a:schemeClr>
              </a:buClr>
              <a:buFont typeface="Arial" panose="020B0604020202020204" pitchFamily="34" charset="0"/>
              <a:buChar char="•"/>
              <a:defRPr sz="2000" kern="1200">
                <a:solidFill>
                  <a:schemeClr val="tx2"/>
                </a:solidFill>
                <a:latin typeface="Creative Thoughts" pitchFamily="2" charset="0"/>
                <a:ea typeface="+mn-ea"/>
                <a:cs typeface="+mn-cs"/>
              </a:defRPr>
            </a:lvl1pPr>
            <a:lvl2pPr marL="228600" indent="0" algn="l" defTabSz="914400" rtl="0" eaLnBrk="1" latinLnBrk="0" hangingPunct="1">
              <a:lnSpc>
                <a:spcPct val="150000"/>
              </a:lnSpc>
              <a:spcBef>
                <a:spcPts val="500"/>
              </a:spcBef>
              <a:buClr>
                <a:schemeClr val="bg2">
                  <a:lumMod val="75000"/>
                </a:schemeClr>
              </a:buClr>
              <a:buFontTx/>
              <a:buNone/>
              <a:defRPr sz="1800" kern="1200">
                <a:solidFill>
                  <a:schemeClr val="tx2"/>
                </a:solidFill>
                <a:latin typeface="Creative Thoughts" pitchFamily="2" charset="0"/>
                <a:ea typeface="+mn-ea"/>
                <a:cs typeface="+mn-cs"/>
              </a:defRPr>
            </a:lvl2pPr>
            <a:lvl3pPr marL="548640" indent="-285750" algn="l" defTabSz="914400" rtl="0" eaLnBrk="1" latinLnBrk="0" hangingPunct="1">
              <a:lnSpc>
                <a:spcPct val="150000"/>
              </a:lnSpc>
              <a:spcBef>
                <a:spcPts val="500"/>
              </a:spcBef>
              <a:buClr>
                <a:schemeClr val="bg2">
                  <a:lumMod val="75000"/>
                </a:schemeClr>
              </a:buClr>
              <a:buFont typeface="Arial" panose="020B0604020202020204" pitchFamily="34" charset="0"/>
              <a:buChar char="•"/>
              <a:defRPr sz="1600" b="1" kern="1200">
                <a:solidFill>
                  <a:schemeClr val="tx2"/>
                </a:solidFill>
                <a:latin typeface="Creative Thoughts" pitchFamily="2" charset="0"/>
                <a:ea typeface="+mn-ea"/>
                <a:cs typeface="+mn-cs"/>
              </a:defRPr>
            </a:lvl3pPr>
            <a:lvl4pPr marL="548640" indent="0" algn="l" defTabSz="914400" rtl="0" eaLnBrk="1" latinLnBrk="0" hangingPunct="1">
              <a:lnSpc>
                <a:spcPct val="150000"/>
              </a:lnSpc>
              <a:spcBef>
                <a:spcPts val="500"/>
              </a:spcBef>
              <a:buClr>
                <a:schemeClr val="bg2">
                  <a:lumMod val="75000"/>
                </a:schemeClr>
              </a:buClr>
              <a:buFontTx/>
              <a:buNone/>
              <a:defRPr sz="1400" kern="1200">
                <a:solidFill>
                  <a:schemeClr val="tx2"/>
                </a:solidFill>
                <a:latin typeface="Creative Thoughts" pitchFamily="2" charset="0"/>
                <a:ea typeface="+mn-ea"/>
                <a:cs typeface="+mn-cs"/>
              </a:defRPr>
            </a:lvl4pPr>
            <a:lvl5pPr marL="834390" indent="-285750" algn="l" defTabSz="914400" rtl="0" eaLnBrk="1" latinLnBrk="0" hangingPunct="1">
              <a:lnSpc>
                <a:spcPct val="150000"/>
              </a:lnSpc>
              <a:spcBef>
                <a:spcPts val="500"/>
              </a:spcBef>
              <a:buClr>
                <a:schemeClr val="bg2">
                  <a:lumMod val="75000"/>
                </a:schemeClr>
              </a:buClr>
              <a:buFont typeface="Arial" panose="020B0604020202020204" pitchFamily="34" charset="0"/>
              <a:buChar char="•"/>
              <a:defRPr sz="1400" kern="1200">
                <a:solidFill>
                  <a:schemeClr val="tx2"/>
                </a:solidFill>
                <a:latin typeface="Creative Thoughts"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Source: ABS</a:t>
            </a:r>
          </a:p>
        </p:txBody>
      </p:sp>
    </p:spTree>
    <p:extLst>
      <p:ext uri="{BB962C8B-B14F-4D97-AF65-F5344CB8AC3E}">
        <p14:creationId xmlns:p14="http://schemas.microsoft.com/office/powerpoint/2010/main" val="31902355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A91D3-049F-D963-6A9E-761945F6476D}"/>
              </a:ext>
            </a:extLst>
          </p:cNvPr>
          <p:cNvSpPr>
            <a:spLocks noGrp="1"/>
          </p:cNvSpPr>
          <p:nvPr>
            <p:ph type="title"/>
          </p:nvPr>
        </p:nvSpPr>
        <p:spPr/>
        <p:txBody>
          <a:bodyPr/>
          <a:lstStyle/>
          <a:p>
            <a:r>
              <a:rPr lang="en-US" dirty="0"/>
              <a:t>2015-2016: FALLING CAB</a:t>
            </a:r>
          </a:p>
        </p:txBody>
      </p:sp>
      <p:sp>
        <p:nvSpPr>
          <p:cNvPr id="3" name="Content Placeholder 2">
            <a:extLst>
              <a:ext uri="{FF2B5EF4-FFF2-40B4-BE49-F238E27FC236}">
                <a16:creationId xmlns:a16="http://schemas.microsoft.com/office/drawing/2014/main" id="{97D9C553-F383-B20F-B781-35BEFAAAB243}"/>
              </a:ext>
            </a:extLst>
          </p:cNvPr>
          <p:cNvSpPr>
            <a:spLocks noGrp="1"/>
          </p:cNvSpPr>
          <p:nvPr>
            <p:ph idx="1"/>
          </p:nvPr>
        </p:nvSpPr>
        <p:spPr>
          <a:xfrm>
            <a:off x="646111" y="1681413"/>
            <a:ext cx="5663460" cy="4397375"/>
          </a:xfrm>
        </p:spPr>
        <p:txBody>
          <a:bodyPr>
            <a:normAutofit/>
          </a:bodyPr>
          <a:lstStyle/>
          <a:p>
            <a:pPr marL="0" indent="0">
              <a:spcBef>
                <a:spcPts val="0"/>
              </a:spcBef>
              <a:buNone/>
            </a:pPr>
            <a:endParaRPr lang="en-US" sz="2000" b="1" u="sng" dirty="0">
              <a:solidFill>
                <a:schemeClr val="accent3"/>
              </a:solidFill>
              <a:ea typeface="Calibri" panose="020F0502020204030204" pitchFamily="34" charset="0"/>
              <a:cs typeface="Arial" panose="020B0604020202020204" pitchFamily="34" charset="0"/>
              <a:sym typeface="Wingdings"/>
            </a:endParaRPr>
          </a:p>
          <a:p>
            <a:pPr marL="0" indent="0">
              <a:spcBef>
                <a:spcPts val="0"/>
              </a:spcBef>
              <a:buNone/>
            </a:pPr>
            <a:r>
              <a:rPr lang="en-US" sz="2000" b="1" u="sng" dirty="0">
                <a:solidFill>
                  <a:schemeClr val="accent3"/>
                </a:solidFill>
                <a:ea typeface="Calibri" panose="020F0502020204030204" pitchFamily="34" charset="0"/>
                <a:cs typeface="Arial" panose="020B0604020202020204" pitchFamily="34" charset="0"/>
                <a:sym typeface="Wingdings"/>
              </a:rPr>
              <a:t>Trade Balance FALLING </a:t>
            </a:r>
          </a:p>
          <a:p>
            <a:pPr marL="285750" indent="-285750">
              <a:spcBef>
                <a:spcPts val="0"/>
              </a:spcBef>
              <a:buFont typeface="Arial" panose="020B0604020202020204" pitchFamily="34" charset="0"/>
              <a:buChar char="•"/>
            </a:pPr>
            <a:r>
              <a:rPr lang="en-US" sz="2000" dirty="0">
                <a:ea typeface="Calibri" panose="020F0502020204030204" pitchFamily="34" charset="0"/>
                <a:cs typeface="Arial" panose="020B0604020202020204" pitchFamily="34" charset="0"/>
                <a:sym typeface="Wingdings"/>
              </a:rPr>
              <a:t>TOT falling (M prices &gt; X prices)</a:t>
            </a:r>
          </a:p>
          <a:p>
            <a:pPr marL="228600" indent="-228600">
              <a:spcBef>
                <a:spcPts val="0"/>
              </a:spcBef>
              <a:buFont typeface="Arial" charset="0"/>
              <a:buChar char="•"/>
            </a:pPr>
            <a:r>
              <a:rPr lang="en-US" sz="2000" dirty="0">
                <a:ea typeface="Calibri" panose="020F0502020204030204" pitchFamily="34" charset="0"/>
                <a:cs typeface="Arial" panose="020B0604020202020204" pitchFamily="34" charset="0"/>
                <a:sym typeface="Wingdings"/>
              </a:rPr>
              <a:t>Overseas growth declining</a:t>
            </a:r>
          </a:p>
          <a:p>
            <a:pPr marL="228600" indent="-228600">
              <a:spcBef>
                <a:spcPts val="0"/>
              </a:spcBef>
              <a:buFont typeface="Arial" charset="0"/>
              <a:buChar char="•"/>
            </a:pPr>
            <a:r>
              <a:rPr lang="en-US" sz="2000" dirty="0">
                <a:ea typeface="Calibri" panose="020F0502020204030204" pitchFamily="34" charset="0"/>
                <a:cs typeface="Arial" panose="020B0604020202020204" pitchFamily="34" charset="0"/>
                <a:sym typeface="Wingdings"/>
              </a:rPr>
              <a:t>Weaker commodity prices</a:t>
            </a:r>
          </a:p>
          <a:p>
            <a:pPr marL="0" indent="0">
              <a:spcBef>
                <a:spcPts val="0"/>
              </a:spcBef>
              <a:buNone/>
            </a:pPr>
            <a:endParaRPr lang="en-US" sz="2000" b="1" dirty="0">
              <a:ea typeface="Calibri" panose="020F0502020204030204" pitchFamily="34" charset="0"/>
              <a:cs typeface="Arial" panose="020B0604020202020204" pitchFamily="34" charset="0"/>
              <a:sym typeface="Wingdings"/>
            </a:endParaRPr>
          </a:p>
          <a:p>
            <a:pPr marL="0" indent="0">
              <a:spcBef>
                <a:spcPts val="0"/>
              </a:spcBef>
              <a:buNone/>
            </a:pPr>
            <a:r>
              <a:rPr lang="en-US" sz="2000" b="1" u="sng" dirty="0">
                <a:solidFill>
                  <a:schemeClr val="accent5"/>
                </a:solidFill>
                <a:ea typeface="Calibri" panose="020F0502020204030204" pitchFamily="34" charset="0"/>
                <a:cs typeface="Arial" panose="020B0604020202020204" pitchFamily="34" charset="0"/>
                <a:sym typeface="Wingdings"/>
              </a:rPr>
              <a:t>NET Y deficit STABLE SLIGHT FALL</a:t>
            </a:r>
          </a:p>
          <a:p>
            <a:pPr marL="228600" indent="-228600">
              <a:spcBef>
                <a:spcPts val="0"/>
              </a:spcBef>
              <a:buFont typeface="Arial" charset="0"/>
              <a:buChar char="•"/>
            </a:pPr>
            <a:r>
              <a:rPr lang="en-US" sz="2000" dirty="0">
                <a:solidFill>
                  <a:prstClr val="black"/>
                </a:solidFill>
                <a:ea typeface="Calibri" panose="020F0502020204030204" pitchFamily="34" charset="0"/>
                <a:cs typeface="Arial" panose="020B0604020202020204" pitchFamily="34" charset="0"/>
                <a:sym typeface="Wingdings"/>
              </a:rPr>
              <a:t> </a:t>
            </a:r>
            <a:r>
              <a:rPr lang="en-US" sz="2000" dirty="0">
                <a:ea typeface="Calibri" panose="020F0502020204030204" pitchFamily="34" charset="0"/>
                <a:cs typeface="Arial" panose="020B0604020202020204" pitchFamily="34" charset="0"/>
                <a:sym typeface="Wingdings"/>
              </a:rPr>
              <a:t>Reduced profitability of Aust firms</a:t>
            </a:r>
          </a:p>
          <a:p>
            <a:pPr marL="228600" indent="-228600">
              <a:spcBef>
                <a:spcPts val="0"/>
              </a:spcBef>
              <a:buFont typeface="Arial" charset="0"/>
              <a:buChar char="•"/>
            </a:pPr>
            <a:r>
              <a:rPr lang="en-US" sz="2000" dirty="0">
                <a:ea typeface="Calibri" panose="020F0502020204030204" pitchFamily="34" charset="0"/>
                <a:cs typeface="Arial" panose="020B0604020202020204" pitchFamily="34" charset="0"/>
                <a:sym typeface="Wingdings"/>
              </a:rPr>
              <a:t> Lower Global IR = more investment into Aust</a:t>
            </a:r>
          </a:p>
          <a:p>
            <a:pPr>
              <a:spcBef>
                <a:spcPts val="0"/>
              </a:spcBef>
            </a:pPr>
            <a:endParaRPr lang="en-US" dirty="0"/>
          </a:p>
        </p:txBody>
      </p:sp>
      <p:pic>
        <p:nvPicPr>
          <p:cNvPr id="5" name="Content Placeholder 4" descr="A graph of different colored lines&#10;&#10;Description automatically generated">
            <a:extLst>
              <a:ext uri="{FF2B5EF4-FFF2-40B4-BE49-F238E27FC236}">
                <a16:creationId xmlns:a16="http://schemas.microsoft.com/office/drawing/2014/main" id="{7FFFBB00-30D2-61AF-9800-405F40AA5BAF}"/>
              </a:ext>
            </a:extLst>
          </p:cNvPr>
          <p:cNvPicPr>
            <a:picLocks noChangeAspect="1"/>
          </p:cNvPicPr>
          <p:nvPr/>
        </p:nvPicPr>
        <p:blipFill>
          <a:blip r:embed="rId2"/>
          <a:stretch>
            <a:fillRect/>
          </a:stretch>
        </p:blipFill>
        <p:spPr>
          <a:xfrm>
            <a:off x="6570133" y="1828483"/>
            <a:ext cx="5232400" cy="4078469"/>
          </a:xfrm>
          <a:prstGeom prst="rect">
            <a:avLst/>
          </a:prstGeom>
        </p:spPr>
      </p:pic>
      <p:sp>
        <p:nvSpPr>
          <p:cNvPr id="4" name="Oval 3">
            <a:extLst>
              <a:ext uri="{FF2B5EF4-FFF2-40B4-BE49-F238E27FC236}">
                <a16:creationId xmlns:a16="http://schemas.microsoft.com/office/drawing/2014/main" id="{A6D95ECB-EBF0-E8A3-407C-29DA647AFBB0}"/>
              </a:ext>
            </a:extLst>
          </p:cNvPr>
          <p:cNvSpPr/>
          <p:nvPr/>
        </p:nvSpPr>
        <p:spPr>
          <a:xfrm>
            <a:off x="10052480" y="2565070"/>
            <a:ext cx="432048" cy="256523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92FCBCE-9A00-105F-2B6F-C661605F0E89}"/>
              </a:ext>
            </a:extLst>
          </p:cNvPr>
          <p:cNvSpPr/>
          <p:nvPr/>
        </p:nvSpPr>
        <p:spPr>
          <a:xfrm>
            <a:off x="1069848" y="6325012"/>
            <a:ext cx="10732685" cy="338554"/>
          </a:xfrm>
          <a:prstGeom prst="rect">
            <a:avLst/>
          </a:prstGeom>
        </p:spPr>
        <p:txBody>
          <a:bodyPr wrap="square">
            <a:spAutoFit/>
          </a:bodyPr>
          <a:lstStyle/>
          <a:p>
            <a:pPr marL="228600" algn="ctr"/>
            <a:r>
              <a:rPr lang="en-US" sz="1600" b="1" dirty="0">
                <a:latin typeface="Aharoni" panose="02010803020104030203" pitchFamily="2" charset="-79"/>
                <a:cs typeface="Aharoni" panose="02010803020104030203" pitchFamily="2" charset="-79"/>
              </a:rPr>
              <a:t>OVERALL -  Fall in CA due to fall in trade balance despite slight fall in Net Y Deficit. CAD</a:t>
            </a:r>
            <a:r>
              <a:rPr lang="en-US" sz="1600" b="1" dirty="0">
                <a:latin typeface="Aharoni" panose="02010803020104030203" pitchFamily="2" charset="-79"/>
                <a:ea typeface="ＭＳ 明朝" charset="-128"/>
                <a:cs typeface="Aharoni" panose="02010803020104030203" pitchFamily="2" charset="-79"/>
              </a:rPr>
              <a:t>.</a:t>
            </a:r>
            <a:endParaRPr lang="en-GB" sz="1600" dirty="0">
              <a:latin typeface="Aharoni" panose="02010803020104030203" pitchFamily="2" charset="-79"/>
              <a:ea typeface="ＭＳ 明朝" charset="-128"/>
              <a:cs typeface="Aharoni" panose="02010803020104030203" pitchFamily="2" charset="-79"/>
            </a:endParaRPr>
          </a:p>
        </p:txBody>
      </p:sp>
    </p:spTree>
    <p:extLst>
      <p:ext uri="{BB962C8B-B14F-4D97-AF65-F5344CB8AC3E}">
        <p14:creationId xmlns:p14="http://schemas.microsoft.com/office/powerpoint/2010/main" val="193309940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67C9205-6960-2D14-9BE2-105222BD66C0}"/>
              </a:ext>
            </a:extLst>
          </p:cNvPr>
          <p:cNvPicPr>
            <a:picLocks noChangeAspect="1"/>
          </p:cNvPicPr>
          <p:nvPr/>
        </p:nvPicPr>
        <p:blipFill>
          <a:blip r:embed="rId2"/>
          <a:stretch>
            <a:fillRect/>
          </a:stretch>
        </p:blipFill>
        <p:spPr>
          <a:xfrm>
            <a:off x="6078092" y="1952402"/>
            <a:ext cx="6113908" cy="3441990"/>
          </a:xfrm>
          <a:prstGeom prst="rect">
            <a:avLst/>
          </a:prstGeom>
        </p:spPr>
      </p:pic>
      <p:sp>
        <p:nvSpPr>
          <p:cNvPr id="2" name="Title 1">
            <a:extLst>
              <a:ext uri="{FF2B5EF4-FFF2-40B4-BE49-F238E27FC236}">
                <a16:creationId xmlns:a16="http://schemas.microsoft.com/office/drawing/2014/main" id="{EBAA91D3-049F-D963-6A9E-761945F6476D}"/>
              </a:ext>
            </a:extLst>
          </p:cNvPr>
          <p:cNvSpPr>
            <a:spLocks noGrp="1"/>
          </p:cNvSpPr>
          <p:nvPr>
            <p:ph type="title"/>
          </p:nvPr>
        </p:nvSpPr>
        <p:spPr/>
        <p:txBody>
          <a:bodyPr/>
          <a:lstStyle/>
          <a:p>
            <a:r>
              <a:rPr lang="en-US" dirty="0"/>
              <a:t>2017-2018: RISING CAB</a:t>
            </a:r>
          </a:p>
        </p:txBody>
      </p:sp>
      <p:sp>
        <p:nvSpPr>
          <p:cNvPr id="3" name="Content Placeholder 2">
            <a:extLst>
              <a:ext uri="{FF2B5EF4-FFF2-40B4-BE49-F238E27FC236}">
                <a16:creationId xmlns:a16="http://schemas.microsoft.com/office/drawing/2014/main" id="{97D9C553-F383-B20F-B781-35BEFAAAB243}"/>
              </a:ext>
            </a:extLst>
          </p:cNvPr>
          <p:cNvSpPr>
            <a:spLocks noGrp="1"/>
          </p:cNvSpPr>
          <p:nvPr>
            <p:ph idx="1"/>
          </p:nvPr>
        </p:nvSpPr>
        <p:spPr>
          <a:xfrm>
            <a:off x="342900" y="1662545"/>
            <a:ext cx="5735193" cy="4563313"/>
          </a:xfrm>
        </p:spPr>
        <p:txBody>
          <a:bodyPr>
            <a:normAutofit/>
          </a:bodyPr>
          <a:lstStyle/>
          <a:p>
            <a:pPr marL="0" indent="0">
              <a:spcBef>
                <a:spcPts val="0"/>
              </a:spcBef>
              <a:buNone/>
            </a:pPr>
            <a:r>
              <a:rPr lang="en-US" sz="2000" b="1" u="sng" dirty="0">
                <a:solidFill>
                  <a:schemeClr val="accent3"/>
                </a:solidFill>
                <a:cs typeface="Arial"/>
              </a:rPr>
              <a:t>Trade Balance RISING</a:t>
            </a:r>
          </a:p>
          <a:p>
            <a:pPr marL="285750" indent="-285750">
              <a:spcBef>
                <a:spcPts val="0"/>
              </a:spcBef>
              <a:buFont typeface="Arial" panose="020B0604020202020204" pitchFamily="34" charset="0"/>
              <a:buChar char="•"/>
            </a:pPr>
            <a:r>
              <a:rPr lang="en-US" sz="2000" dirty="0">
                <a:cs typeface="Arial"/>
              </a:rPr>
              <a:t>Rising X prices (increasing commodity prices)</a:t>
            </a:r>
          </a:p>
          <a:p>
            <a:pPr marL="285750" indent="-285750">
              <a:spcBef>
                <a:spcPts val="0"/>
              </a:spcBef>
              <a:buFont typeface="Arial" panose="020B0604020202020204" pitchFamily="34" charset="0"/>
              <a:buChar char="•"/>
            </a:pPr>
            <a:r>
              <a:rPr lang="en-US" sz="2000" dirty="0">
                <a:cs typeface="Arial"/>
              </a:rPr>
              <a:t>Rising Service and Mining X volumes (particularly LNG) due to strong overseas demand</a:t>
            </a:r>
          </a:p>
          <a:p>
            <a:pPr marL="285750" indent="-285750">
              <a:spcBef>
                <a:spcPts val="0"/>
              </a:spcBef>
              <a:buFont typeface="Arial" panose="020B0604020202020204" pitchFamily="34" charset="0"/>
              <a:buChar char="•"/>
            </a:pPr>
            <a:r>
              <a:rPr lang="en-US" sz="2000" dirty="0">
                <a:cs typeface="Arial"/>
              </a:rPr>
              <a:t>Trade surplus (X &gt; M)</a:t>
            </a:r>
          </a:p>
          <a:p>
            <a:pPr marL="0" indent="0">
              <a:spcBef>
                <a:spcPts val="0"/>
              </a:spcBef>
              <a:buNone/>
            </a:pPr>
            <a:endParaRPr lang="en-US" sz="2000" b="1" u="sng" dirty="0">
              <a:solidFill>
                <a:schemeClr val="accent5"/>
              </a:solidFill>
              <a:ea typeface="Calibri" panose="020F0502020204030204" pitchFamily="34" charset="0"/>
              <a:cs typeface="Arial"/>
              <a:sym typeface="Wingdings"/>
            </a:endParaRPr>
          </a:p>
          <a:p>
            <a:pPr marL="0" indent="0">
              <a:spcBef>
                <a:spcPts val="0"/>
              </a:spcBef>
              <a:buNone/>
            </a:pPr>
            <a:r>
              <a:rPr lang="en-US" sz="2000" b="1" u="sng" dirty="0">
                <a:solidFill>
                  <a:schemeClr val="accent5"/>
                </a:solidFill>
                <a:ea typeface="Calibri" panose="020F0502020204030204" pitchFamily="34" charset="0"/>
                <a:cs typeface="Arial"/>
                <a:sym typeface="Wingdings"/>
              </a:rPr>
              <a:t>Net Y deficit RISING</a:t>
            </a:r>
          </a:p>
          <a:p>
            <a:pPr marL="171450" indent="-171450">
              <a:spcBef>
                <a:spcPts val="0"/>
              </a:spcBef>
              <a:buFont typeface="Arial" charset="0"/>
              <a:buChar char="•"/>
            </a:pPr>
            <a:r>
              <a:rPr lang="en-US" sz="2000" dirty="0">
                <a:ea typeface="Calibri" panose="020F0502020204030204" pitchFamily="34" charset="0"/>
                <a:cs typeface="Arial"/>
                <a:sym typeface="Wingdings"/>
              </a:rPr>
              <a:t>Rising profitability of Aust firms which are primarily foreign owned</a:t>
            </a:r>
          </a:p>
          <a:p>
            <a:pPr marL="171450" indent="-171450">
              <a:spcBef>
                <a:spcPts val="0"/>
              </a:spcBef>
              <a:buFont typeface="Arial" charset="0"/>
              <a:buChar char="•"/>
            </a:pPr>
            <a:r>
              <a:rPr lang="en-US" sz="2000" dirty="0">
                <a:ea typeface="Calibri" panose="020F0502020204030204" pitchFamily="34" charset="0"/>
                <a:cs typeface="Arial"/>
                <a:sym typeface="Wingdings"/>
              </a:rPr>
              <a:t>Non mining I rising</a:t>
            </a:r>
          </a:p>
          <a:p>
            <a:pPr marL="171450" indent="-171450">
              <a:spcBef>
                <a:spcPts val="0"/>
              </a:spcBef>
              <a:buFont typeface="Arial" charset="0"/>
              <a:buChar char="•"/>
            </a:pPr>
            <a:r>
              <a:rPr lang="en-US" sz="2000" dirty="0">
                <a:ea typeface="Calibri" panose="020F0502020204030204" pitchFamily="34" charset="0"/>
                <a:cs typeface="Arial"/>
                <a:sym typeface="Wingdings"/>
              </a:rPr>
              <a:t>Global IR rising</a:t>
            </a:r>
          </a:p>
          <a:p>
            <a:pPr>
              <a:spcBef>
                <a:spcPts val="0"/>
              </a:spcBef>
            </a:pPr>
            <a:endParaRPr lang="en-US" dirty="0"/>
          </a:p>
        </p:txBody>
      </p:sp>
      <p:sp>
        <p:nvSpPr>
          <p:cNvPr id="4" name="Oval 3">
            <a:extLst>
              <a:ext uri="{FF2B5EF4-FFF2-40B4-BE49-F238E27FC236}">
                <a16:creationId xmlns:a16="http://schemas.microsoft.com/office/drawing/2014/main" id="{A6D95ECB-EBF0-E8A3-407C-29DA647AFBB0}"/>
              </a:ext>
            </a:extLst>
          </p:cNvPr>
          <p:cNvSpPr/>
          <p:nvPr/>
        </p:nvSpPr>
        <p:spPr>
          <a:xfrm>
            <a:off x="7062662" y="2527947"/>
            <a:ext cx="976437" cy="256523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DEE0F83-60E6-C6E1-B2A5-F411B029BAFD}"/>
              </a:ext>
            </a:extLst>
          </p:cNvPr>
          <p:cNvSpPr/>
          <p:nvPr/>
        </p:nvSpPr>
        <p:spPr>
          <a:xfrm>
            <a:off x="1069848" y="6325012"/>
            <a:ext cx="10732685" cy="338554"/>
          </a:xfrm>
          <a:prstGeom prst="rect">
            <a:avLst/>
          </a:prstGeom>
        </p:spPr>
        <p:txBody>
          <a:bodyPr wrap="square">
            <a:spAutoFit/>
          </a:bodyPr>
          <a:lstStyle/>
          <a:p>
            <a:pPr marL="228600" algn="ctr"/>
            <a:r>
              <a:rPr lang="en-US" sz="1600" b="1" dirty="0">
                <a:latin typeface="Aharoni" panose="02010803020104030203" pitchFamily="2" charset="-79"/>
                <a:cs typeface="Aharoni" panose="02010803020104030203" pitchFamily="2" charset="-79"/>
              </a:rPr>
              <a:t>OVERALL -  Rise in CA. Caused by sharp rise in trade surplus despite rise in Net Y deficit. However, CAD.</a:t>
            </a:r>
            <a:endParaRPr lang="en-GB" sz="1600" dirty="0">
              <a:latin typeface="Aharoni" panose="02010803020104030203" pitchFamily="2" charset="-79"/>
              <a:ea typeface="ＭＳ 明朝" charset="-128"/>
              <a:cs typeface="Aharoni" panose="02010803020104030203" pitchFamily="2" charset="-79"/>
            </a:endParaRPr>
          </a:p>
        </p:txBody>
      </p:sp>
    </p:spTree>
    <p:extLst>
      <p:ext uri="{BB962C8B-B14F-4D97-AF65-F5344CB8AC3E}">
        <p14:creationId xmlns:p14="http://schemas.microsoft.com/office/powerpoint/2010/main" val="246342771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AFFF08D-611D-B429-CD51-3EDE2A71D6B6}"/>
              </a:ext>
            </a:extLst>
          </p:cNvPr>
          <p:cNvPicPr>
            <a:picLocks noChangeAspect="1"/>
          </p:cNvPicPr>
          <p:nvPr/>
        </p:nvPicPr>
        <p:blipFill>
          <a:blip r:embed="rId3"/>
          <a:stretch>
            <a:fillRect/>
          </a:stretch>
        </p:blipFill>
        <p:spPr>
          <a:xfrm>
            <a:off x="5977405" y="1997727"/>
            <a:ext cx="6113908" cy="3441990"/>
          </a:xfrm>
          <a:prstGeom prst="rect">
            <a:avLst/>
          </a:prstGeom>
        </p:spPr>
      </p:pic>
      <p:sp>
        <p:nvSpPr>
          <p:cNvPr id="2" name="Title 1">
            <a:extLst>
              <a:ext uri="{FF2B5EF4-FFF2-40B4-BE49-F238E27FC236}">
                <a16:creationId xmlns:a16="http://schemas.microsoft.com/office/drawing/2014/main" id="{EBAA91D3-049F-D963-6A9E-761945F6476D}"/>
              </a:ext>
            </a:extLst>
          </p:cNvPr>
          <p:cNvSpPr>
            <a:spLocks noGrp="1"/>
          </p:cNvSpPr>
          <p:nvPr>
            <p:ph type="title"/>
          </p:nvPr>
        </p:nvSpPr>
        <p:spPr>
          <a:xfrm>
            <a:off x="431871" y="185328"/>
            <a:ext cx="7676213" cy="837058"/>
          </a:xfrm>
        </p:spPr>
        <p:txBody>
          <a:bodyPr>
            <a:normAutofit/>
          </a:bodyPr>
          <a:lstStyle/>
          <a:p>
            <a:r>
              <a:rPr lang="en-US" sz="3500" dirty="0"/>
              <a:t>MID 2019 – MAR 2023: RISING CAB</a:t>
            </a:r>
          </a:p>
        </p:txBody>
      </p:sp>
      <p:sp>
        <p:nvSpPr>
          <p:cNvPr id="3" name="Content Placeholder 2">
            <a:extLst>
              <a:ext uri="{FF2B5EF4-FFF2-40B4-BE49-F238E27FC236}">
                <a16:creationId xmlns:a16="http://schemas.microsoft.com/office/drawing/2014/main" id="{97D9C553-F383-B20F-B781-35BEFAAAB243}"/>
              </a:ext>
            </a:extLst>
          </p:cNvPr>
          <p:cNvSpPr>
            <a:spLocks noGrp="1"/>
          </p:cNvSpPr>
          <p:nvPr>
            <p:ph idx="1"/>
          </p:nvPr>
        </p:nvSpPr>
        <p:spPr>
          <a:xfrm>
            <a:off x="314324" y="1124263"/>
            <a:ext cx="5706533" cy="5581337"/>
          </a:xfrm>
        </p:spPr>
        <p:txBody>
          <a:bodyPr>
            <a:noAutofit/>
          </a:bodyPr>
          <a:lstStyle/>
          <a:p>
            <a:pPr marL="0" indent="0">
              <a:spcBef>
                <a:spcPts val="0"/>
              </a:spcBef>
              <a:buNone/>
            </a:pPr>
            <a:r>
              <a:rPr lang="en-US" sz="1800" b="1" u="sng" dirty="0">
                <a:solidFill>
                  <a:srgbClr val="0070C0"/>
                </a:solidFill>
                <a:cs typeface="Arial"/>
              </a:rPr>
              <a:t>Trade Balance RISING </a:t>
            </a:r>
          </a:p>
          <a:p>
            <a:pPr marL="171450" indent="-171450">
              <a:spcBef>
                <a:spcPts val="0"/>
              </a:spcBef>
              <a:buFont typeface="Arial" charset="0"/>
              <a:buChar char="•"/>
            </a:pPr>
            <a:r>
              <a:rPr lang="en-US" sz="1800" dirty="0">
                <a:cs typeface="Arial"/>
              </a:rPr>
              <a:t>Rising X prices (increasing commodity prices)</a:t>
            </a:r>
          </a:p>
          <a:p>
            <a:pPr marL="171450" indent="-171450">
              <a:spcBef>
                <a:spcPts val="0"/>
              </a:spcBef>
              <a:buFont typeface="Arial" charset="0"/>
              <a:buChar char="•"/>
            </a:pPr>
            <a:r>
              <a:rPr lang="en-US" sz="1800" dirty="0">
                <a:cs typeface="Arial"/>
              </a:rPr>
              <a:t>Rising Service and Mining X volumes due to </a:t>
            </a:r>
          </a:p>
          <a:p>
            <a:pPr marL="171450" indent="-171450">
              <a:spcBef>
                <a:spcPts val="0"/>
              </a:spcBef>
              <a:buFont typeface="Arial" charset="0"/>
              <a:buChar char="•"/>
            </a:pPr>
            <a:r>
              <a:rPr lang="en-US" sz="1800" dirty="0">
                <a:cs typeface="Arial"/>
              </a:rPr>
              <a:t>Strong overseas demand </a:t>
            </a:r>
          </a:p>
          <a:p>
            <a:pPr marL="171450" indent="-171450">
              <a:spcBef>
                <a:spcPts val="0"/>
              </a:spcBef>
              <a:buFont typeface="Arial" charset="0"/>
              <a:buChar char="•"/>
            </a:pPr>
            <a:r>
              <a:rPr lang="en-US" sz="1800" dirty="0">
                <a:cs typeface="Arial"/>
              </a:rPr>
              <a:t>Trade surplus (X &gt; M)</a:t>
            </a:r>
          </a:p>
          <a:p>
            <a:pPr marL="171450" indent="-171450">
              <a:spcBef>
                <a:spcPts val="0"/>
              </a:spcBef>
              <a:buFont typeface="Arial" charset="0"/>
              <a:buChar char="•"/>
            </a:pPr>
            <a:r>
              <a:rPr lang="en-US" sz="1800" dirty="0">
                <a:cs typeface="Arial"/>
              </a:rPr>
              <a:t>Weaker domestic consumption due to recession in 2020 = </a:t>
            </a:r>
            <a:r>
              <a:rPr lang="en-US" sz="1800" dirty="0" err="1">
                <a:cs typeface="Arial"/>
              </a:rPr>
              <a:t>decr</a:t>
            </a:r>
            <a:r>
              <a:rPr lang="en-US" sz="1800" dirty="0">
                <a:cs typeface="Arial"/>
              </a:rPr>
              <a:t>. M</a:t>
            </a:r>
          </a:p>
          <a:p>
            <a:pPr marL="171450" indent="-171450">
              <a:spcBef>
                <a:spcPts val="0"/>
              </a:spcBef>
              <a:buFont typeface="Arial" charset="0"/>
              <a:buChar char="•"/>
            </a:pPr>
            <a:r>
              <a:rPr lang="en-US" sz="1800" dirty="0">
                <a:cs typeface="Arial"/>
              </a:rPr>
              <a:t>Travel restrictions between 2020-2021 = surplus in services due to outbound tourism (services are usually in deficit)</a:t>
            </a:r>
          </a:p>
          <a:p>
            <a:pPr marL="0" indent="0">
              <a:spcBef>
                <a:spcPts val="0"/>
              </a:spcBef>
              <a:buNone/>
            </a:pPr>
            <a:r>
              <a:rPr lang="en-US" sz="1800" b="1" u="sng" dirty="0">
                <a:solidFill>
                  <a:schemeClr val="accent5"/>
                </a:solidFill>
                <a:ea typeface="Calibri" panose="020F0502020204030204" pitchFamily="34" charset="0"/>
                <a:cs typeface="Arial"/>
                <a:sym typeface="Wingdings"/>
              </a:rPr>
              <a:t>Net Y Deficit FALLING</a:t>
            </a:r>
          </a:p>
          <a:p>
            <a:pPr marL="171450" indent="-171450">
              <a:spcBef>
                <a:spcPts val="0"/>
              </a:spcBef>
              <a:buFont typeface="Arial" charset="0"/>
              <a:buChar char="•"/>
            </a:pPr>
            <a:r>
              <a:rPr lang="en-US" sz="1800" dirty="0">
                <a:ea typeface="Calibri" panose="020F0502020204030204" pitchFamily="34" charset="0"/>
                <a:cs typeface="Arial"/>
                <a:sym typeface="Wingdings"/>
              </a:rPr>
              <a:t>Covid cautiousness= Falling FI (thus less repayments) and increased savings</a:t>
            </a:r>
          </a:p>
          <a:p>
            <a:pPr marL="171450" indent="-171450">
              <a:spcBef>
                <a:spcPts val="0"/>
              </a:spcBef>
              <a:buFont typeface="Arial" charset="0"/>
              <a:buChar char="•"/>
            </a:pPr>
            <a:r>
              <a:rPr lang="en-US" sz="1800" dirty="0">
                <a:ea typeface="Calibri" panose="020F0502020204030204" pitchFamily="34" charset="0"/>
                <a:cs typeface="Arial"/>
                <a:sym typeface="Wingdings"/>
              </a:rPr>
              <a:t>Falling profitability of Australian firms</a:t>
            </a:r>
          </a:p>
          <a:p>
            <a:pPr marL="171450" indent="-171450">
              <a:spcBef>
                <a:spcPts val="0"/>
              </a:spcBef>
              <a:buFont typeface="Arial" charset="0"/>
              <a:buChar char="•"/>
            </a:pPr>
            <a:r>
              <a:rPr lang="en-US" sz="1800" dirty="0">
                <a:ea typeface="Calibri" panose="020F0502020204030204" pitchFamily="34" charset="0"/>
                <a:cs typeface="Arial"/>
                <a:sym typeface="Wingdings"/>
              </a:rPr>
              <a:t>In 2020, income deficit decreasing in size</a:t>
            </a:r>
          </a:p>
          <a:p>
            <a:pPr marL="171450" indent="-171450">
              <a:spcBef>
                <a:spcPts val="0"/>
              </a:spcBef>
              <a:buFont typeface="Arial" charset="0"/>
              <a:buChar char="•"/>
            </a:pPr>
            <a:r>
              <a:rPr lang="en-US" sz="1800" dirty="0">
                <a:ea typeface="Calibri" panose="020F0502020204030204" pitchFamily="34" charset="0"/>
                <a:cs typeface="Arial"/>
                <a:sym typeface="Wingdings"/>
              </a:rPr>
              <a:t>In late 2021 – 2022, Aus economy has done well and FI continued to flow in </a:t>
            </a:r>
            <a:r>
              <a:rPr lang="en-US" sz="1800" dirty="0">
                <a:ea typeface="Calibri" panose="020F0502020204030204" pitchFamily="34" charset="0"/>
                <a:cs typeface="Arial"/>
                <a:sym typeface="Wingdings" panose="05000000000000000000" pitchFamily="2" charset="2"/>
              </a:rPr>
              <a:t> NPY deficit increasing</a:t>
            </a:r>
            <a:endParaRPr lang="en-US" sz="1800" dirty="0">
              <a:ea typeface="Calibri" panose="020F0502020204030204" pitchFamily="34" charset="0"/>
              <a:cs typeface="Arial"/>
              <a:sym typeface="Wingdings"/>
            </a:endParaRPr>
          </a:p>
          <a:p>
            <a:pPr>
              <a:spcBef>
                <a:spcPts val="0"/>
              </a:spcBef>
            </a:pPr>
            <a:endParaRPr lang="en-US" sz="1800" dirty="0"/>
          </a:p>
        </p:txBody>
      </p:sp>
      <p:sp>
        <p:nvSpPr>
          <p:cNvPr id="4" name="Oval 3">
            <a:extLst>
              <a:ext uri="{FF2B5EF4-FFF2-40B4-BE49-F238E27FC236}">
                <a16:creationId xmlns:a16="http://schemas.microsoft.com/office/drawing/2014/main" id="{A6D95ECB-EBF0-E8A3-407C-29DA647AFBB0}"/>
              </a:ext>
            </a:extLst>
          </p:cNvPr>
          <p:cNvSpPr/>
          <p:nvPr/>
        </p:nvSpPr>
        <p:spPr>
          <a:xfrm>
            <a:off x="8108084" y="2260270"/>
            <a:ext cx="2731366" cy="256523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4CD7528-38C6-ECFA-3D20-4B824830FAD8}"/>
              </a:ext>
            </a:extLst>
          </p:cNvPr>
          <p:cNvSpPr txBox="1"/>
          <p:nvPr/>
        </p:nvSpPr>
        <p:spPr>
          <a:xfrm>
            <a:off x="8274569" y="483777"/>
            <a:ext cx="3527964" cy="1077218"/>
          </a:xfrm>
          <a:prstGeom prst="rect">
            <a:avLst/>
          </a:prstGeom>
          <a:noFill/>
          <a:ln w="31750" cmpd="sng">
            <a:solidFill>
              <a:schemeClr val="accent2"/>
            </a:solidFill>
            <a:extLst>
              <a:ext uri="{C807C97D-BFC1-408E-A445-0C87EB9F89A2}">
                <ask:lineSketchStyleProps xmlns:ask="http://schemas.microsoft.com/office/drawing/2018/sketchyshapes" sd="1219033472">
                  <a:custGeom>
                    <a:avLst/>
                    <a:gdLst>
                      <a:gd name="connsiteX0" fmla="*/ 0 w 3527964"/>
                      <a:gd name="connsiteY0" fmla="*/ 0 h 1077218"/>
                      <a:gd name="connsiteX1" fmla="*/ 552714 w 3527964"/>
                      <a:gd name="connsiteY1" fmla="*/ 0 h 1077218"/>
                      <a:gd name="connsiteX2" fmla="*/ 1034869 w 3527964"/>
                      <a:gd name="connsiteY2" fmla="*/ 0 h 1077218"/>
                      <a:gd name="connsiteX3" fmla="*/ 1693423 w 3527964"/>
                      <a:gd name="connsiteY3" fmla="*/ 0 h 1077218"/>
                      <a:gd name="connsiteX4" fmla="*/ 2246137 w 3527964"/>
                      <a:gd name="connsiteY4" fmla="*/ 0 h 1077218"/>
                      <a:gd name="connsiteX5" fmla="*/ 2798851 w 3527964"/>
                      <a:gd name="connsiteY5" fmla="*/ 0 h 1077218"/>
                      <a:gd name="connsiteX6" fmla="*/ 3527964 w 3527964"/>
                      <a:gd name="connsiteY6" fmla="*/ 0 h 1077218"/>
                      <a:gd name="connsiteX7" fmla="*/ 3527964 w 3527964"/>
                      <a:gd name="connsiteY7" fmla="*/ 517065 h 1077218"/>
                      <a:gd name="connsiteX8" fmla="*/ 3527964 w 3527964"/>
                      <a:gd name="connsiteY8" fmla="*/ 1077218 h 1077218"/>
                      <a:gd name="connsiteX9" fmla="*/ 3010529 w 3527964"/>
                      <a:gd name="connsiteY9" fmla="*/ 1077218 h 1077218"/>
                      <a:gd name="connsiteX10" fmla="*/ 2422535 w 3527964"/>
                      <a:gd name="connsiteY10" fmla="*/ 1077218 h 1077218"/>
                      <a:gd name="connsiteX11" fmla="*/ 1834541 w 3527964"/>
                      <a:gd name="connsiteY11" fmla="*/ 1077218 h 1077218"/>
                      <a:gd name="connsiteX12" fmla="*/ 1281827 w 3527964"/>
                      <a:gd name="connsiteY12" fmla="*/ 1077218 h 1077218"/>
                      <a:gd name="connsiteX13" fmla="*/ 623274 w 3527964"/>
                      <a:gd name="connsiteY13" fmla="*/ 1077218 h 1077218"/>
                      <a:gd name="connsiteX14" fmla="*/ 0 w 3527964"/>
                      <a:gd name="connsiteY14" fmla="*/ 1077218 h 1077218"/>
                      <a:gd name="connsiteX15" fmla="*/ 0 w 3527964"/>
                      <a:gd name="connsiteY15" fmla="*/ 560153 h 1077218"/>
                      <a:gd name="connsiteX16" fmla="*/ 0 w 3527964"/>
                      <a:gd name="connsiteY16" fmla="*/ 0 h 1077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527964" h="1077218" extrusionOk="0">
                        <a:moveTo>
                          <a:pt x="0" y="0"/>
                        </a:moveTo>
                        <a:cubicBezTo>
                          <a:pt x="265623" y="-60826"/>
                          <a:pt x="431832" y="50566"/>
                          <a:pt x="552714" y="0"/>
                        </a:cubicBezTo>
                        <a:cubicBezTo>
                          <a:pt x="673596" y="-50566"/>
                          <a:pt x="897455" y="1147"/>
                          <a:pt x="1034869" y="0"/>
                        </a:cubicBezTo>
                        <a:cubicBezTo>
                          <a:pt x="1172284" y="-1147"/>
                          <a:pt x="1526448" y="61867"/>
                          <a:pt x="1693423" y="0"/>
                        </a:cubicBezTo>
                        <a:cubicBezTo>
                          <a:pt x="1860398" y="-61867"/>
                          <a:pt x="2024779" y="11379"/>
                          <a:pt x="2246137" y="0"/>
                        </a:cubicBezTo>
                        <a:cubicBezTo>
                          <a:pt x="2467495" y="-11379"/>
                          <a:pt x="2644197" y="41797"/>
                          <a:pt x="2798851" y="0"/>
                        </a:cubicBezTo>
                        <a:cubicBezTo>
                          <a:pt x="2953505" y="-41797"/>
                          <a:pt x="3232049" y="20673"/>
                          <a:pt x="3527964" y="0"/>
                        </a:cubicBezTo>
                        <a:cubicBezTo>
                          <a:pt x="3585559" y="136252"/>
                          <a:pt x="3495899" y="276651"/>
                          <a:pt x="3527964" y="517065"/>
                        </a:cubicBezTo>
                        <a:cubicBezTo>
                          <a:pt x="3560029" y="757480"/>
                          <a:pt x="3512943" y="922392"/>
                          <a:pt x="3527964" y="1077218"/>
                        </a:cubicBezTo>
                        <a:cubicBezTo>
                          <a:pt x="3403796" y="1133124"/>
                          <a:pt x="3144968" y="1051285"/>
                          <a:pt x="3010529" y="1077218"/>
                        </a:cubicBezTo>
                        <a:cubicBezTo>
                          <a:pt x="2876090" y="1103151"/>
                          <a:pt x="2656806" y="1074465"/>
                          <a:pt x="2422535" y="1077218"/>
                        </a:cubicBezTo>
                        <a:cubicBezTo>
                          <a:pt x="2188264" y="1079971"/>
                          <a:pt x="2043028" y="1007959"/>
                          <a:pt x="1834541" y="1077218"/>
                        </a:cubicBezTo>
                        <a:cubicBezTo>
                          <a:pt x="1626054" y="1146477"/>
                          <a:pt x="1412156" y="1027510"/>
                          <a:pt x="1281827" y="1077218"/>
                        </a:cubicBezTo>
                        <a:cubicBezTo>
                          <a:pt x="1151498" y="1126926"/>
                          <a:pt x="771368" y="1057872"/>
                          <a:pt x="623274" y="1077218"/>
                        </a:cubicBezTo>
                        <a:cubicBezTo>
                          <a:pt x="475180" y="1096564"/>
                          <a:pt x="267199" y="1012710"/>
                          <a:pt x="0" y="1077218"/>
                        </a:cubicBezTo>
                        <a:cubicBezTo>
                          <a:pt x="-12452" y="855160"/>
                          <a:pt x="1926" y="676967"/>
                          <a:pt x="0" y="560153"/>
                        </a:cubicBezTo>
                        <a:cubicBezTo>
                          <a:pt x="-1926" y="443339"/>
                          <a:pt x="34094" y="114315"/>
                          <a:pt x="0" y="0"/>
                        </a:cubicBezTo>
                        <a:close/>
                      </a:path>
                    </a:pathLst>
                  </a:custGeom>
                  <ask:type>
                    <ask:lineSketchNone/>
                  </ask:type>
                </ask:lineSketchStyleProps>
              </a:ext>
            </a:extLst>
          </a:ln>
        </p:spPr>
        <p:txBody>
          <a:bodyPr wrap="square">
            <a:spAutoFit/>
          </a:bodyPr>
          <a:lstStyle/>
          <a:p>
            <a:pPr algn="ctr"/>
            <a:r>
              <a:rPr lang="en-US" sz="1600" dirty="0">
                <a:latin typeface="Creative Thoughts" pitchFamily="2" charset="0"/>
              </a:rPr>
              <a:t>As of June 2019 – Mar 2023, Australia has maintained a current account surplus. This had not been achieved since 1975 – 44 years.</a:t>
            </a:r>
          </a:p>
        </p:txBody>
      </p:sp>
      <p:sp>
        <p:nvSpPr>
          <p:cNvPr id="8" name="Rectangle 7">
            <a:extLst>
              <a:ext uri="{FF2B5EF4-FFF2-40B4-BE49-F238E27FC236}">
                <a16:creationId xmlns:a16="http://schemas.microsoft.com/office/drawing/2014/main" id="{4E0E42AB-1713-E780-7BDE-E90B487A9E52}"/>
              </a:ext>
            </a:extLst>
          </p:cNvPr>
          <p:cNvSpPr/>
          <p:nvPr/>
        </p:nvSpPr>
        <p:spPr>
          <a:xfrm>
            <a:off x="6096000" y="5578456"/>
            <a:ext cx="5706533" cy="1077218"/>
          </a:xfrm>
          <a:prstGeom prst="rect">
            <a:avLst/>
          </a:prstGeom>
        </p:spPr>
        <p:txBody>
          <a:bodyPr wrap="square">
            <a:spAutoFit/>
          </a:bodyPr>
          <a:lstStyle/>
          <a:p>
            <a:pPr marL="228600" algn="ctr"/>
            <a:r>
              <a:rPr lang="en-US" sz="1600" b="1" dirty="0">
                <a:latin typeface="Aharoni" panose="02010803020104030203" pitchFamily="2" charset="-79"/>
                <a:cs typeface="Aharoni" panose="02010803020104030203" pitchFamily="2" charset="-79"/>
              </a:rPr>
              <a:t>OVERALL -  Rise in CA. Caused by sharp rise in trade surplus and initially decrease in NPY deficit. Even as NPY deficit increases post 2021, strong trade surplus </a:t>
            </a:r>
            <a:r>
              <a:rPr lang="en-US" sz="1600" b="1" dirty="0">
                <a:latin typeface="Aharoni" panose="02010803020104030203" pitchFamily="2" charset="-79"/>
                <a:cs typeface="Aharoni" panose="02010803020104030203" pitchFamily="2" charset="-79"/>
                <a:sym typeface="Wingdings" panose="05000000000000000000" pitchFamily="2" charset="2"/>
              </a:rPr>
              <a:t> CAS</a:t>
            </a:r>
            <a:endParaRPr lang="en-GB" sz="1600" dirty="0">
              <a:latin typeface="Aharoni" panose="02010803020104030203" pitchFamily="2" charset="-79"/>
              <a:ea typeface="ＭＳ 明朝" charset="-128"/>
              <a:cs typeface="Aharoni" panose="02010803020104030203" pitchFamily="2" charset="-79"/>
            </a:endParaRPr>
          </a:p>
        </p:txBody>
      </p:sp>
    </p:spTree>
    <p:extLst>
      <p:ext uri="{BB962C8B-B14F-4D97-AF65-F5344CB8AC3E}">
        <p14:creationId xmlns:p14="http://schemas.microsoft.com/office/powerpoint/2010/main" val="330134913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96D45-ADB1-261B-31FA-D7C58121DEC0}"/>
              </a:ext>
            </a:extLst>
          </p:cNvPr>
          <p:cNvSpPr>
            <a:spLocks noGrp="1"/>
          </p:cNvSpPr>
          <p:nvPr>
            <p:ph type="title"/>
          </p:nvPr>
        </p:nvSpPr>
        <p:spPr>
          <a:xfrm>
            <a:off x="838200" y="365125"/>
            <a:ext cx="10515600" cy="1325563"/>
          </a:xfrm>
        </p:spPr>
        <p:txBody>
          <a:bodyPr anchor="b">
            <a:normAutofit/>
          </a:bodyPr>
          <a:lstStyle/>
          <a:p>
            <a:pPr>
              <a:lnSpc>
                <a:spcPct val="90000"/>
              </a:lnSpc>
            </a:pPr>
            <a:r>
              <a:rPr lang="en-US" sz="4200" dirty="0"/>
              <a:t>WHY DID AUSTRALIA HAVE A CAS </a:t>
            </a:r>
            <a:br>
              <a:rPr lang="en-US" sz="4200" dirty="0"/>
            </a:br>
            <a:r>
              <a:rPr lang="en-US" sz="4200" dirty="0"/>
              <a:t>2019-2023?</a:t>
            </a:r>
          </a:p>
        </p:txBody>
      </p:sp>
      <p:sp>
        <p:nvSpPr>
          <p:cNvPr id="3" name="Content Placeholder 2">
            <a:extLst>
              <a:ext uri="{FF2B5EF4-FFF2-40B4-BE49-F238E27FC236}">
                <a16:creationId xmlns:a16="http://schemas.microsoft.com/office/drawing/2014/main" id="{63B84BB0-378F-64D3-31BA-D23DEFF4622F}"/>
              </a:ext>
            </a:extLst>
          </p:cNvPr>
          <p:cNvSpPr>
            <a:spLocks noGrp="1"/>
          </p:cNvSpPr>
          <p:nvPr>
            <p:ph sz="half" idx="1"/>
          </p:nvPr>
        </p:nvSpPr>
        <p:spPr>
          <a:xfrm>
            <a:off x="838200" y="1940876"/>
            <a:ext cx="6229350" cy="4236086"/>
          </a:xfrm>
        </p:spPr>
        <p:txBody>
          <a:bodyPr>
            <a:noAutofit/>
          </a:bodyPr>
          <a:lstStyle/>
          <a:p>
            <a:pPr>
              <a:lnSpc>
                <a:spcPct val="100000"/>
              </a:lnSpc>
              <a:spcBef>
                <a:spcPts val="0"/>
              </a:spcBef>
              <a:spcAft>
                <a:spcPts val="600"/>
              </a:spcAft>
            </a:pPr>
            <a:r>
              <a:rPr lang="en-US" sz="1800" dirty="0"/>
              <a:t>Surplus starts in March 2019</a:t>
            </a:r>
          </a:p>
          <a:p>
            <a:pPr>
              <a:lnSpc>
                <a:spcPct val="100000"/>
              </a:lnSpc>
              <a:spcBef>
                <a:spcPts val="0"/>
              </a:spcBef>
              <a:spcAft>
                <a:spcPts val="600"/>
              </a:spcAft>
            </a:pPr>
            <a:r>
              <a:rPr lang="en-US" sz="1800" dirty="0"/>
              <a:t>NPY is still in deficit – income deficit has shrunk but is still a deficit, so NPY is not the reason (fully) for the CAS</a:t>
            </a:r>
          </a:p>
          <a:p>
            <a:pPr>
              <a:lnSpc>
                <a:spcPct val="100000"/>
              </a:lnSpc>
              <a:spcBef>
                <a:spcPts val="0"/>
              </a:spcBef>
              <a:spcAft>
                <a:spcPts val="600"/>
              </a:spcAft>
            </a:pPr>
            <a:r>
              <a:rPr lang="en-US" sz="1800" dirty="0"/>
              <a:t>BOGS is in surplus – 30bn June 2021</a:t>
            </a:r>
          </a:p>
          <a:p>
            <a:pPr>
              <a:lnSpc>
                <a:spcPct val="100000"/>
              </a:lnSpc>
              <a:spcBef>
                <a:spcPts val="0"/>
              </a:spcBef>
              <a:spcAft>
                <a:spcPts val="600"/>
              </a:spcAft>
            </a:pPr>
            <a:r>
              <a:rPr lang="en-US" sz="1800" dirty="0"/>
              <a:t>BOGS has increased overall</a:t>
            </a:r>
          </a:p>
          <a:p>
            <a:pPr>
              <a:lnSpc>
                <a:spcPct val="100000"/>
              </a:lnSpc>
              <a:spcBef>
                <a:spcPts val="0"/>
              </a:spcBef>
              <a:spcAft>
                <a:spcPts val="600"/>
              </a:spcAft>
            </a:pPr>
            <a:r>
              <a:rPr lang="en-US" sz="1800" dirty="0"/>
              <a:t>Came off the back of strong bulk commodity prices – in particular, iron ore price drove a record metal ores and mineral export value of $53.3bn. </a:t>
            </a:r>
          </a:p>
          <a:p>
            <a:pPr>
              <a:lnSpc>
                <a:spcPct val="100000"/>
              </a:lnSpc>
              <a:spcBef>
                <a:spcPts val="0"/>
              </a:spcBef>
              <a:spcAft>
                <a:spcPts val="600"/>
              </a:spcAft>
            </a:pPr>
            <a:r>
              <a:rPr lang="en-US" sz="1800" dirty="0"/>
              <a:t>Imports continued to rise, driven by increases in fuel imports coinciding with the opening of the Trans-Tasman travel bubble. </a:t>
            </a:r>
          </a:p>
          <a:p>
            <a:pPr>
              <a:lnSpc>
                <a:spcPct val="100000"/>
              </a:lnSpc>
              <a:spcBef>
                <a:spcPts val="0"/>
              </a:spcBef>
              <a:spcAft>
                <a:spcPts val="600"/>
              </a:spcAft>
            </a:pPr>
            <a:r>
              <a:rPr lang="en-US" sz="1800" dirty="0"/>
              <a:t>Government stimulus policies and the easing of freight backlogs resulted in increased imports for transport equipment and machinery across consumption and capital goods.</a:t>
            </a:r>
          </a:p>
        </p:txBody>
      </p:sp>
      <p:pic>
        <p:nvPicPr>
          <p:cNvPr id="5" name="Picture 4" descr="Stacks of barrels">
            <a:extLst>
              <a:ext uri="{FF2B5EF4-FFF2-40B4-BE49-F238E27FC236}">
                <a16:creationId xmlns:a16="http://schemas.microsoft.com/office/drawing/2014/main" id="{1D946869-21E1-6713-780E-6D1345560D2C}"/>
              </a:ext>
            </a:extLst>
          </p:cNvPr>
          <p:cNvPicPr>
            <a:picLocks noChangeAspect="1"/>
          </p:cNvPicPr>
          <p:nvPr/>
        </p:nvPicPr>
        <p:blipFill>
          <a:blip r:embed="rId3"/>
          <a:srcRect l="12737" r="5612" b="-3"/>
          <a:stretch>
            <a:fillRect/>
          </a:stretch>
        </p:blipFill>
        <p:spPr>
          <a:xfrm>
            <a:off x="7067550" y="1940876"/>
            <a:ext cx="4862966" cy="3975594"/>
          </a:xfrm>
          <a:prstGeom prst="rect">
            <a:avLst/>
          </a:prstGeom>
          <a:noFill/>
        </p:spPr>
      </p:pic>
    </p:spTree>
    <p:extLst>
      <p:ext uri="{BB962C8B-B14F-4D97-AF65-F5344CB8AC3E}">
        <p14:creationId xmlns:p14="http://schemas.microsoft.com/office/powerpoint/2010/main" val="319769130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A6BD3-706F-B856-77F5-E5E9E795AA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979C38-7C4C-AD68-BD03-900F2BE89C65}"/>
              </a:ext>
            </a:extLst>
          </p:cNvPr>
          <p:cNvSpPr>
            <a:spLocks noGrp="1"/>
          </p:cNvSpPr>
          <p:nvPr>
            <p:ph type="title"/>
          </p:nvPr>
        </p:nvSpPr>
        <p:spPr>
          <a:xfrm>
            <a:off x="838200" y="365125"/>
            <a:ext cx="10515600" cy="1325563"/>
          </a:xfrm>
        </p:spPr>
        <p:txBody>
          <a:bodyPr anchor="b">
            <a:normAutofit/>
          </a:bodyPr>
          <a:lstStyle/>
          <a:p>
            <a:pPr>
              <a:lnSpc>
                <a:spcPct val="90000"/>
              </a:lnSpc>
            </a:pPr>
            <a:r>
              <a:rPr lang="en-US" sz="4200"/>
              <a:t>Post Pandemic return to normal</a:t>
            </a:r>
            <a:br>
              <a:rPr lang="en-US" sz="4200"/>
            </a:br>
            <a:r>
              <a:rPr lang="en-US" sz="4200"/>
              <a:t>2023-2025</a:t>
            </a:r>
          </a:p>
        </p:txBody>
      </p:sp>
      <p:sp>
        <p:nvSpPr>
          <p:cNvPr id="3" name="Content Placeholder 2">
            <a:extLst>
              <a:ext uri="{FF2B5EF4-FFF2-40B4-BE49-F238E27FC236}">
                <a16:creationId xmlns:a16="http://schemas.microsoft.com/office/drawing/2014/main" id="{918ECB2D-5D90-E94C-B4B8-D43F0D9C9B76}"/>
              </a:ext>
            </a:extLst>
          </p:cNvPr>
          <p:cNvSpPr>
            <a:spLocks noGrp="1"/>
          </p:cNvSpPr>
          <p:nvPr>
            <p:ph sz="half" idx="1"/>
          </p:nvPr>
        </p:nvSpPr>
        <p:spPr>
          <a:xfrm>
            <a:off x="838200" y="1940876"/>
            <a:ext cx="5181600" cy="4236086"/>
          </a:xfrm>
        </p:spPr>
        <p:txBody>
          <a:bodyPr>
            <a:normAutofit/>
          </a:bodyPr>
          <a:lstStyle/>
          <a:p>
            <a:pPr>
              <a:spcBef>
                <a:spcPts val="0"/>
              </a:spcBef>
              <a:spcAft>
                <a:spcPts val="600"/>
              </a:spcAft>
            </a:pPr>
            <a:r>
              <a:rPr lang="en-US" sz="2100" dirty="0"/>
              <a:t>Economy recovered strongly</a:t>
            </a:r>
          </a:p>
          <a:p>
            <a:pPr>
              <a:spcBef>
                <a:spcPts val="0"/>
              </a:spcBef>
              <a:spcAft>
                <a:spcPts val="600"/>
              </a:spcAft>
            </a:pPr>
            <a:r>
              <a:rPr lang="en-US" sz="2100" dirty="0"/>
              <a:t>Increase in income </a:t>
            </a:r>
            <a:r>
              <a:rPr lang="en-US" sz="2100" dirty="0">
                <a:sym typeface="Wingdings" pitchFamily="2" charset="2"/>
              </a:rPr>
              <a:t></a:t>
            </a:r>
            <a:r>
              <a:rPr lang="en-US" sz="2100" dirty="0"/>
              <a:t> increase in M </a:t>
            </a:r>
          </a:p>
          <a:p>
            <a:pPr>
              <a:spcBef>
                <a:spcPts val="0"/>
              </a:spcBef>
              <a:spcAft>
                <a:spcPts val="600"/>
              </a:spcAft>
            </a:pPr>
            <a:r>
              <a:rPr lang="en-US" sz="2100" dirty="0"/>
              <a:t>Additionally, commodity prices start to fall </a:t>
            </a:r>
            <a:r>
              <a:rPr lang="en-US" sz="2100" dirty="0">
                <a:sym typeface="Wingdings" pitchFamily="2" charset="2"/>
              </a:rPr>
              <a:t></a:t>
            </a:r>
            <a:r>
              <a:rPr lang="en-US" sz="2100" dirty="0"/>
              <a:t> Trade Balance / BOGS (start to fall)</a:t>
            </a:r>
          </a:p>
          <a:p>
            <a:pPr>
              <a:spcBef>
                <a:spcPts val="0"/>
              </a:spcBef>
              <a:spcAft>
                <a:spcPts val="600"/>
              </a:spcAft>
            </a:pPr>
            <a:r>
              <a:rPr lang="en-US" sz="2100" dirty="0"/>
              <a:t>Increase in investor confidence &amp; higher profits </a:t>
            </a:r>
            <a:r>
              <a:rPr lang="en-US" sz="2100" dirty="0">
                <a:sym typeface="Wingdings" pitchFamily="2" charset="2"/>
              </a:rPr>
              <a:t></a:t>
            </a:r>
            <a:r>
              <a:rPr lang="en-US" sz="2100" dirty="0"/>
              <a:t> increase in FI </a:t>
            </a:r>
            <a:r>
              <a:rPr lang="en-US" sz="2100" dirty="0">
                <a:sym typeface="Wingdings" pitchFamily="2" charset="2"/>
              </a:rPr>
              <a:t></a:t>
            </a:r>
            <a:r>
              <a:rPr lang="en-US" sz="2100" dirty="0"/>
              <a:t> Increase in dividends and interest paid (deficit in NPY)</a:t>
            </a:r>
          </a:p>
          <a:p>
            <a:pPr>
              <a:spcBef>
                <a:spcPts val="0"/>
              </a:spcBef>
              <a:spcAft>
                <a:spcPts val="600"/>
              </a:spcAft>
            </a:pPr>
            <a:r>
              <a:rPr lang="en-US" sz="2100" dirty="0"/>
              <a:t>Returned to CAD by 2024</a:t>
            </a:r>
          </a:p>
        </p:txBody>
      </p:sp>
      <p:pic>
        <p:nvPicPr>
          <p:cNvPr id="4" name="Picture 3">
            <a:extLst>
              <a:ext uri="{FF2B5EF4-FFF2-40B4-BE49-F238E27FC236}">
                <a16:creationId xmlns:a16="http://schemas.microsoft.com/office/drawing/2014/main" id="{BD3F17C3-1E25-60B4-8341-396050D2554C}"/>
              </a:ext>
            </a:extLst>
          </p:cNvPr>
          <p:cNvPicPr>
            <a:picLocks noChangeAspect="1"/>
          </p:cNvPicPr>
          <p:nvPr/>
        </p:nvPicPr>
        <p:blipFill>
          <a:blip r:embed="rId3"/>
          <a:srcRect l="8465" r="22730"/>
          <a:stretch>
            <a:fillRect/>
          </a:stretch>
        </p:blipFill>
        <p:spPr>
          <a:xfrm>
            <a:off x="6172200" y="1940876"/>
            <a:ext cx="5181600" cy="4236086"/>
          </a:xfrm>
          <a:prstGeom prst="rect">
            <a:avLst/>
          </a:prstGeom>
          <a:noFill/>
          <a:effectLst/>
        </p:spPr>
      </p:pic>
    </p:spTree>
    <p:extLst>
      <p:ext uri="{BB962C8B-B14F-4D97-AF65-F5344CB8AC3E}">
        <p14:creationId xmlns:p14="http://schemas.microsoft.com/office/powerpoint/2010/main" val="57264002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A graph of different colored lines&#10;&#10;Description automatically generated">
            <a:extLst>
              <a:ext uri="{FF2B5EF4-FFF2-40B4-BE49-F238E27FC236}">
                <a16:creationId xmlns:a16="http://schemas.microsoft.com/office/drawing/2014/main" id="{4E18DEFA-9C18-E0E6-42DF-3B8F0BF533AC}"/>
              </a:ext>
            </a:extLst>
          </p:cNvPr>
          <p:cNvPicPr>
            <a:picLocks noChangeAspect="1"/>
          </p:cNvPicPr>
          <p:nvPr/>
        </p:nvPicPr>
        <p:blipFill>
          <a:blip r:embed="rId2"/>
          <a:stretch>
            <a:fillRect/>
          </a:stretch>
        </p:blipFill>
        <p:spPr>
          <a:xfrm>
            <a:off x="317499" y="1176932"/>
            <a:ext cx="5778501" cy="4504135"/>
          </a:xfrm>
          <a:prstGeom prst="rect">
            <a:avLst/>
          </a:prstGeom>
        </p:spPr>
      </p:pic>
      <p:pic>
        <p:nvPicPr>
          <p:cNvPr id="5" name="Content Placeholder 4" descr="A graph with a line graph&#10;&#10;Description automatically generated">
            <a:extLst>
              <a:ext uri="{FF2B5EF4-FFF2-40B4-BE49-F238E27FC236}">
                <a16:creationId xmlns:a16="http://schemas.microsoft.com/office/drawing/2014/main" id="{91C9A978-0E19-C6D0-4DB3-517EB5DBBC62}"/>
              </a:ext>
            </a:extLst>
          </p:cNvPr>
          <p:cNvPicPr>
            <a:picLocks noGrp="1" noChangeAspect="1"/>
          </p:cNvPicPr>
          <p:nvPr>
            <p:ph idx="1"/>
          </p:nvPr>
        </p:nvPicPr>
        <p:blipFill>
          <a:blip r:embed="rId3"/>
          <a:stretch>
            <a:fillRect/>
          </a:stretch>
        </p:blipFill>
        <p:spPr>
          <a:xfrm>
            <a:off x="6168416" y="1176932"/>
            <a:ext cx="5706085" cy="4389296"/>
          </a:xfrm>
        </p:spPr>
      </p:pic>
    </p:spTree>
    <p:extLst>
      <p:ext uri="{BB962C8B-B14F-4D97-AF65-F5344CB8AC3E}">
        <p14:creationId xmlns:p14="http://schemas.microsoft.com/office/powerpoint/2010/main" val="391249660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with blue lines&#10;&#10;Description automatically generated">
            <a:extLst>
              <a:ext uri="{FF2B5EF4-FFF2-40B4-BE49-F238E27FC236}">
                <a16:creationId xmlns:a16="http://schemas.microsoft.com/office/drawing/2014/main" id="{5BC2D525-49C1-0AB7-F72C-0ADF76DF15E1}"/>
              </a:ext>
            </a:extLst>
          </p:cNvPr>
          <p:cNvPicPr>
            <a:picLocks noChangeAspect="1"/>
          </p:cNvPicPr>
          <p:nvPr/>
        </p:nvPicPr>
        <p:blipFill rotWithShape="1">
          <a:blip r:embed="rId2"/>
          <a:srcRect t="6557" r="5" b="9154"/>
          <a:stretch/>
        </p:blipFill>
        <p:spPr>
          <a:xfrm>
            <a:off x="647701" y="609602"/>
            <a:ext cx="3409037" cy="2765825"/>
          </a:xfrm>
          <a:prstGeom prst="rect">
            <a:avLst/>
          </a:prstGeom>
          <a:effectLst>
            <a:outerShdw blurRad="50800" dist="38100" dir="5400000" algn="t" rotWithShape="0">
              <a:prstClr val="black">
                <a:alpha val="43000"/>
              </a:prstClr>
            </a:outerShdw>
          </a:effectLst>
        </p:spPr>
      </p:pic>
      <p:pic>
        <p:nvPicPr>
          <p:cNvPr id="9" name="Picture 8" descr="A graph of a export volume&#10;&#10;Description automatically generated with medium confidence">
            <a:extLst>
              <a:ext uri="{FF2B5EF4-FFF2-40B4-BE49-F238E27FC236}">
                <a16:creationId xmlns:a16="http://schemas.microsoft.com/office/drawing/2014/main" id="{A677C08A-1579-3F6E-306F-57FBAD89C035}"/>
              </a:ext>
            </a:extLst>
          </p:cNvPr>
          <p:cNvPicPr>
            <a:picLocks noChangeAspect="1"/>
          </p:cNvPicPr>
          <p:nvPr/>
        </p:nvPicPr>
        <p:blipFill rotWithShape="1">
          <a:blip r:embed="rId3"/>
          <a:srcRect t="1389" r="5" b="10421"/>
          <a:stretch/>
        </p:blipFill>
        <p:spPr>
          <a:xfrm>
            <a:off x="6711196" y="662942"/>
            <a:ext cx="3409037" cy="2766058"/>
          </a:xfrm>
          <a:prstGeom prst="rect">
            <a:avLst/>
          </a:prstGeom>
          <a:effectLst>
            <a:outerShdw blurRad="50800" dist="38100" dir="5400000" algn="t" rotWithShape="0">
              <a:prstClr val="black">
                <a:alpha val="43000"/>
              </a:prstClr>
            </a:outerShdw>
          </a:effectLst>
        </p:spPr>
      </p:pic>
      <p:sp>
        <p:nvSpPr>
          <p:cNvPr id="15" name="Content Placeholder 14">
            <a:extLst>
              <a:ext uri="{FF2B5EF4-FFF2-40B4-BE49-F238E27FC236}">
                <a16:creationId xmlns:a16="http://schemas.microsoft.com/office/drawing/2014/main" id="{2BB84D31-8FAE-38A6-C7A0-6BC6C8800174}"/>
              </a:ext>
            </a:extLst>
          </p:cNvPr>
          <p:cNvSpPr>
            <a:spLocks noGrp="1"/>
          </p:cNvSpPr>
          <p:nvPr>
            <p:ph idx="1"/>
          </p:nvPr>
        </p:nvSpPr>
        <p:spPr>
          <a:xfrm>
            <a:off x="3429312" y="71416"/>
            <a:ext cx="6563768" cy="1183051"/>
          </a:xfrm>
        </p:spPr>
        <p:txBody>
          <a:bodyPr>
            <a:normAutofit/>
          </a:bodyPr>
          <a:lstStyle/>
          <a:p>
            <a:pPr marL="0" indent="0">
              <a:buNone/>
            </a:pPr>
            <a:r>
              <a:rPr lang="en-US" dirty="0"/>
              <a:t>Other charts to track trends in BOGS</a:t>
            </a:r>
          </a:p>
        </p:txBody>
      </p:sp>
      <p:pic>
        <p:nvPicPr>
          <p:cNvPr id="7" name="Picture 6" descr="A graph with pink lines&#10;&#10;Description automatically generated">
            <a:extLst>
              <a:ext uri="{FF2B5EF4-FFF2-40B4-BE49-F238E27FC236}">
                <a16:creationId xmlns:a16="http://schemas.microsoft.com/office/drawing/2014/main" id="{B6DF07C9-E379-21E3-D4A2-921BB5C56596}"/>
              </a:ext>
            </a:extLst>
          </p:cNvPr>
          <p:cNvPicPr>
            <a:picLocks noChangeAspect="1"/>
          </p:cNvPicPr>
          <p:nvPr/>
        </p:nvPicPr>
        <p:blipFill rotWithShape="1">
          <a:blip r:embed="rId4"/>
          <a:srcRect r="5" b="12294"/>
          <a:stretch/>
        </p:blipFill>
        <p:spPr>
          <a:xfrm>
            <a:off x="672685" y="3677212"/>
            <a:ext cx="3409037" cy="2765825"/>
          </a:xfrm>
          <a:prstGeom prst="rect">
            <a:avLst/>
          </a:prstGeom>
          <a:effectLst>
            <a:outerShdw blurRad="50800" dist="38100" dir="5400000" algn="t" rotWithShape="0">
              <a:prstClr val="black">
                <a:alpha val="43000"/>
              </a:prstClr>
            </a:outerShdw>
          </a:effectLst>
        </p:spPr>
      </p:pic>
      <p:pic>
        <p:nvPicPr>
          <p:cNvPr id="11" name="Picture 10" descr="A graph of different colored lines&#10;&#10;Description automatically generated with medium confidence">
            <a:extLst>
              <a:ext uri="{FF2B5EF4-FFF2-40B4-BE49-F238E27FC236}">
                <a16:creationId xmlns:a16="http://schemas.microsoft.com/office/drawing/2014/main" id="{9EDE63AE-75E9-19D0-DF2F-8EA88A602082}"/>
              </a:ext>
            </a:extLst>
          </p:cNvPr>
          <p:cNvPicPr>
            <a:picLocks noChangeAspect="1"/>
          </p:cNvPicPr>
          <p:nvPr/>
        </p:nvPicPr>
        <p:blipFill rotWithShape="1">
          <a:blip r:embed="rId5"/>
          <a:srcRect r="5" b="11085"/>
          <a:stretch/>
        </p:blipFill>
        <p:spPr>
          <a:xfrm>
            <a:off x="6711196" y="3677212"/>
            <a:ext cx="3409037" cy="2766058"/>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172261293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59137-D68B-C4C9-7FC1-A3F4E0B1813F}"/>
              </a:ext>
            </a:extLst>
          </p:cNvPr>
          <p:cNvSpPr>
            <a:spLocks noGrp="1"/>
          </p:cNvSpPr>
          <p:nvPr>
            <p:ph type="title"/>
          </p:nvPr>
        </p:nvSpPr>
        <p:spPr>
          <a:xfrm>
            <a:off x="2990537" y="290176"/>
            <a:ext cx="7076607" cy="983990"/>
          </a:xfrm>
        </p:spPr>
        <p:txBody>
          <a:bodyPr vert="horz" lIns="91440" tIns="45720" rIns="91440" bIns="45720" rtlCol="0" anchor="b">
            <a:normAutofit fontScale="90000"/>
          </a:bodyPr>
          <a:lstStyle/>
          <a:p>
            <a:pPr>
              <a:lnSpc>
                <a:spcPct val="90000"/>
              </a:lnSpc>
            </a:pPr>
            <a:r>
              <a:rPr lang="en-US" sz="3500" b="0" i="0" kern="1200" dirty="0"/>
              <a:t>TRENDS IN AUSTRALIA’S KAFA OVER THE LAST 10 YEARS</a:t>
            </a:r>
          </a:p>
        </p:txBody>
      </p:sp>
      <p:pic>
        <p:nvPicPr>
          <p:cNvPr id="5" name="Content Placeholder 4" descr="A graph with a line graph&#10;&#10;Description automatically generated">
            <a:extLst>
              <a:ext uri="{FF2B5EF4-FFF2-40B4-BE49-F238E27FC236}">
                <a16:creationId xmlns:a16="http://schemas.microsoft.com/office/drawing/2014/main" id="{AD229E23-9CDD-736B-1253-BF848720FB56}"/>
              </a:ext>
            </a:extLst>
          </p:cNvPr>
          <p:cNvPicPr>
            <a:picLocks noGrp="1" noChangeAspect="1"/>
          </p:cNvPicPr>
          <p:nvPr>
            <p:ph idx="1"/>
          </p:nvPr>
        </p:nvPicPr>
        <p:blipFill>
          <a:blip r:embed="rId2"/>
          <a:stretch>
            <a:fillRect/>
          </a:stretch>
        </p:blipFill>
        <p:spPr>
          <a:xfrm>
            <a:off x="3200862" y="1555777"/>
            <a:ext cx="6655956" cy="5125087"/>
          </a:xfrm>
          <a:prstGeom prst="rect">
            <a:avLst/>
          </a:prstGeom>
          <a:noFill/>
          <a:effectLst/>
        </p:spPr>
      </p:pic>
    </p:spTree>
    <p:extLst>
      <p:ext uri="{BB962C8B-B14F-4D97-AF65-F5344CB8AC3E}">
        <p14:creationId xmlns:p14="http://schemas.microsoft.com/office/powerpoint/2010/main" val="377821079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98D2F-810C-3049-57D2-5B260E726ACB}"/>
              </a:ext>
            </a:extLst>
          </p:cNvPr>
          <p:cNvSpPr>
            <a:spLocks noGrp="1"/>
          </p:cNvSpPr>
          <p:nvPr>
            <p:ph type="title"/>
          </p:nvPr>
        </p:nvSpPr>
        <p:spPr>
          <a:xfrm>
            <a:off x="838200" y="365125"/>
            <a:ext cx="10515600" cy="1325563"/>
          </a:xfrm>
        </p:spPr>
        <p:txBody>
          <a:bodyPr anchor="b">
            <a:normAutofit/>
          </a:bodyPr>
          <a:lstStyle/>
          <a:p>
            <a:r>
              <a:rPr lang="en-US" dirty="0"/>
              <a:t>TRENDS IN THE KAFA</a:t>
            </a:r>
          </a:p>
        </p:txBody>
      </p:sp>
      <p:sp>
        <p:nvSpPr>
          <p:cNvPr id="3" name="Content Placeholder 2">
            <a:extLst>
              <a:ext uri="{FF2B5EF4-FFF2-40B4-BE49-F238E27FC236}">
                <a16:creationId xmlns:a16="http://schemas.microsoft.com/office/drawing/2014/main" id="{AEE235A9-35B8-7C2A-B123-5F9845891F0A}"/>
              </a:ext>
            </a:extLst>
          </p:cNvPr>
          <p:cNvSpPr>
            <a:spLocks noGrp="1"/>
          </p:cNvSpPr>
          <p:nvPr>
            <p:ph sz="half" idx="1"/>
          </p:nvPr>
        </p:nvSpPr>
        <p:spPr>
          <a:xfrm>
            <a:off x="838200" y="1835945"/>
            <a:ext cx="10764187" cy="4236086"/>
          </a:xfrm>
        </p:spPr>
        <p:txBody>
          <a:bodyPr>
            <a:noAutofit/>
          </a:bodyPr>
          <a:lstStyle/>
          <a:p>
            <a:pPr>
              <a:lnSpc>
                <a:spcPct val="100000"/>
              </a:lnSpc>
              <a:spcBef>
                <a:spcPts val="0"/>
              </a:spcBef>
              <a:spcAft>
                <a:spcPts val="600"/>
              </a:spcAft>
            </a:pPr>
            <a:r>
              <a:rPr lang="en-US" sz="2200" dirty="0"/>
              <a:t>Historically, the Australian economy has generally been a net recipient of capital inflows from the rest of the world. </a:t>
            </a:r>
          </a:p>
          <a:p>
            <a:pPr>
              <a:lnSpc>
                <a:spcPct val="100000"/>
              </a:lnSpc>
              <a:spcBef>
                <a:spcPts val="0"/>
              </a:spcBef>
              <a:spcAft>
                <a:spcPts val="600"/>
              </a:spcAft>
            </a:pPr>
            <a:r>
              <a:rPr lang="en-US" sz="2200" dirty="0"/>
              <a:t>The savings of the domestic economy have been supplemented with inflows of capital from abroad to fund the relatively high level of investment in the Australian economy. </a:t>
            </a:r>
          </a:p>
          <a:p>
            <a:pPr>
              <a:lnSpc>
                <a:spcPct val="100000"/>
              </a:lnSpc>
              <a:spcBef>
                <a:spcPts val="0"/>
              </a:spcBef>
              <a:spcAft>
                <a:spcPts val="600"/>
              </a:spcAft>
            </a:pPr>
            <a:r>
              <a:rPr lang="en-US" sz="2200" dirty="0"/>
              <a:t>This has been reflected in a capital and financial account surplus – the counterpart to Australia's current account deficits.</a:t>
            </a:r>
          </a:p>
          <a:p>
            <a:pPr>
              <a:lnSpc>
                <a:spcPct val="100000"/>
              </a:lnSpc>
              <a:spcBef>
                <a:spcPts val="0"/>
              </a:spcBef>
              <a:spcAft>
                <a:spcPts val="600"/>
              </a:spcAft>
            </a:pPr>
            <a:r>
              <a:rPr lang="en-US" sz="2200" dirty="0"/>
              <a:t>In recent years, there has been a net outflow of capital from Australia – that is, Australians have invested more overseas than those abroad have invested in Australia's economy. </a:t>
            </a:r>
          </a:p>
          <a:p>
            <a:pPr>
              <a:lnSpc>
                <a:spcPct val="100000"/>
              </a:lnSpc>
              <a:spcBef>
                <a:spcPts val="0"/>
              </a:spcBef>
              <a:spcAft>
                <a:spcPts val="600"/>
              </a:spcAft>
            </a:pPr>
            <a:r>
              <a:rPr lang="en-US" sz="2200" dirty="0"/>
              <a:t>This has been reflected in a capital and financial account deficit and is consistent with the recent shift to a current account surplus.</a:t>
            </a:r>
          </a:p>
        </p:txBody>
      </p:sp>
    </p:spTree>
    <p:extLst>
      <p:ext uri="{BB962C8B-B14F-4D97-AF65-F5344CB8AC3E}">
        <p14:creationId xmlns:p14="http://schemas.microsoft.com/office/powerpoint/2010/main" val="419757538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A6A8C-94F6-6867-ACD2-89793B849837}"/>
              </a:ext>
            </a:extLst>
          </p:cNvPr>
          <p:cNvSpPr>
            <a:spLocks noGrp="1"/>
          </p:cNvSpPr>
          <p:nvPr>
            <p:ph type="title"/>
          </p:nvPr>
        </p:nvSpPr>
        <p:spPr>
          <a:xfrm>
            <a:off x="648929" y="629266"/>
            <a:ext cx="6256423" cy="1641987"/>
          </a:xfrm>
        </p:spPr>
        <p:txBody>
          <a:bodyPr>
            <a:normAutofit fontScale="90000"/>
          </a:bodyPr>
          <a:lstStyle/>
          <a:p>
            <a:r>
              <a:rPr lang="en-US" dirty="0"/>
              <a:t>Independent Practice</a:t>
            </a:r>
          </a:p>
        </p:txBody>
      </p:sp>
      <p:pic>
        <p:nvPicPr>
          <p:cNvPr id="5" name="Content Placeholder 4" descr="A document with text and graphics&#10;&#10;Description automatically generated">
            <a:extLst>
              <a:ext uri="{FF2B5EF4-FFF2-40B4-BE49-F238E27FC236}">
                <a16:creationId xmlns:a16="http://schemas.microsoft.com/office/drawing/2014/main" id="{4057A48F-E088-81B0-24BA-F907649F3A18}"/>
              </a:ext>
            </a:extLst>
          </p:cNvPr>
          <p:cNvPicPr>
            <a:picLocks noChangeAspect="1"/>
          </p:cNvPicPr>
          <p:nvPr/>
        </p:nvPicPr>
        <p:blipFill rotWithShape="1">
          <a:blip r:embed="rId2"/>
          <a:srcRect r="3" b="1081"/>
          <a:stretch/>
        </p:blipFill>
        <p:spPr>
          <a:xfrm>
            <a:off x="7554139" y="609601"/>
            <a:ext cx="3990160" cy="5638797"/>
          </a:xfrm>
          <a:prstGeom prst="rect">
            <a:avLst/>
          </a:prstGeom>
          <a:effectLst>
            <a:outerShdw blurRad="50800" dist="38100" dir="5400000" algn="t" rotWithShape="0">
              <a:prstClr val="black">
                <a:alpha val="43000"/>
              </a:prstClr>
            </a:outerShdw>
          </a:effectLst>
        </p:spPr>
      </p:pic>
      <p:sp>
        <p:nvSpPr>
          <p:cNvPr id="9" name="Content Placeholder 8">
            <a:extLst>
              <a:ext uri="{FF2B5EF4-FFF2-40B4-BE49-F238E27FC236}">
                <a16:creationId xmlns:a16="http://schemas.microsoft.com/office/drawing/2014/main" id="{BAE75B7B-6894-41A0-9C1A-0F9DA3662375}"/>
              </a:ext>
            </a:extLst>
          </p:cNvPr>
          <p:cNvSpPr>
            <a:spLocks noGrp="1"/>
          </p:cNvSpPr>
          <p:nvPr>
            <p:ph idx="1"/>
          </p:nvPr>
        </p:nvSpPr>
        <p:spPr>
          <a:xfrm>
            <a:off x="647700" y="2438401"/>
            <a:ext cx="6258737" cy="3809998"/>
          </a:xfrm>
        </p:spPr>
        <p:txBody>
          <a:bodyPr>
            <a:normAutofit/>
          </a:bodyPr>
          <a:lstStyle/>
          <a:p>
            <a:r>
              <a:rPr lang="en-US" dirty="0"/>
              <a:t>Read through the RBA explainer ‘Trends in Australia’s Balance of Payments’</a:t>
            </a:r>
          </a:p>
          <a:p>
            <a:r>
              <a:rPr lang="en-US" dirty="0"/>
              <a:t>Add to your notes on the trends in the Capital and Financial Account (KAFA)</a:t>
            </a:r>
          </a:p>
        </p:txBody>
      </p:sp>
    </p:spTree>
    <p:extLst>
      <p:ext uri="{BB962C8B-B14F-4D97-AF65-F5344CB8AC3E}">
        <p14:creationId xmlns:p14="http://schemas.microsoft.com/office/powerpoint/2010/main" val="306581911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D9680-5EF8-42A0-0C97-F72E160F4077}"/>
              </a:ext>
            </a:extLst>
          </p:cNvPr>
          <p:cNvSpPr>
            <a:spLocks noGrp="1"/>
          </p:cNvSpPr>
          <p:nvPr>
            <p:ph type="title"/>
          </p:nvPr>
        </p:nvSpPr>
        <p:spPr>
          <a:xfrm>
            <a:off x="1073811" y="648757"/>
            <a:ext cx="10492667" cy="1065321"/>
          </a:xfrm>
        </p:spPr>
        <p:txBody>
          <a:bodyPr>
            <a:normAutofit/>
          </a:bodyPr>
          <a:lstStyle/>
          <a:p>
            <a:pPr>
              <a:lnSpc>
                <a:spcPct val="90000"/>
              </a:lnSpc>
            </a:pPr>
            <a:r>
              <a:rPr lang="en-US" sz="3400"/>
              <a:t>HELPFUL LINKS FOR ADDITIONAL INFORMATION</a:t>
            </a:r>
          </a:p>
        </p:txBody>
      </p:sp>
      <p:sp>
        <p:nvSpPr>
          <p:cNvPr id="3" name="Content Placeholder 2">
            <a:extLst>
              <a:ext uri="{FF2B5EF4-FFF2-40B4-BE49-F238E27FC236}">
                <a16:creationId xmlns:a16="http://schemas.microsoft.com/office/drawing/2014/main" id="{865EBEAA-473A-008F-093C-4DBC787BE036}"/>
              </a:ext>
            </a:extLst>
          </p:cNvPr>
          <p:cNvSpPr>
            <a:spLocks noGrp="1"/>
          </p:cNvSpPr>
          <p:nvPr>
            <p:ph idx="1"/>
          </p:nvPr>
        </p:nvSpPr>
        <p:spPr>
          <a:xfrm>
            <a:off x="1073812" y="2371813"/>
            <a:ext cx="5490994" cy="3280174"/>
          </a:xfrm>
        </p:spPr>
        <p:txBody>
          <a:bodyPr>
            <a:normAutofit/>
          </a:bodyPr>
          <a:lstStyle/>
          <a:p>
            <a:r>
              <a:rPr lang="en-US" dirty="0">
                <a:hlinkClick r:id="rId2"/>
              </a:rPr>
              <a:t>https://www.miragenews.com/australias-current-account-surplus-drops-due-to-1077624/</a:t>
            </a:r>
            <a:endParaRPr lang="en-US" dirty="0"/>
          </a:p>
          <a:p>
            <a:r>
              <a:rPr lang="en-US" dirty="0">
                <a:hlinkClick r:id="rId3"/>
              </a:rPr>
              <a:t>https://www.abs.gov.au/statistics/economy/international-trade/balance-payments-and-international-investment-position-australia/latest-release#data-downloads</a:t>
            </a:r>
            <a:r>
              <a:rPr lang="en-US" dirty="0"/>
              <a:t> </a:t>
            </a:r>
          </a:p>
          <a:p>
            <a:pPr marL="0" indent="0">
              <a:buNone/>
            </a:pPr>
            <a:endParaRPr lang="en-US" dirty="0"/>
          </a:p>
        </p:txBody>
      </p:sp>
      <p:pic>
        <p:nvPicPr>
          <p:cNvPr id="120" name="Graphic 6" descr="Marker">
            <a:extLst>
              <a:ext uri="{FF2B5EF4-FFF2-40B4-BE49-F238E27FC236}">
                <a16:creationId xmlns:a16="http://schemas.microsoft.com/office/drawing/2014/main" id="{22132096-F24A-2A60-6535-5A1DD59DA31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84833" y="2498437"/>
            <a:ext cx="3225728" cy="3225728"/>
          </a:xfrm>
          <a:prstGeom prst="rect">
            <a:avLst/>
          </a:prstGeom>
        </p:spPr>
      </p:pic>
    </p:spTree>
    <p:extLst>
      <p:ext uri="{BB962C8B-B14F-4D97-AF65-F5344CB8AC3E}">
        <p14:creationId xmlns:p14="http://schemas.microsoft.com/office/powerpoint/2010/main" val="2533428801"/>
      </p:ext>
    </p:extLst>
  </p:cSld>
  <p:clrMapOvr>
    <a:masterClrMapping/>
  </p:clrMapOvr>
</p:sld>
</file>

<file path=ppt/theme/theme1.xml><?xml version="1.0" encoding="utf-8"?>
<a:theme xmlns:a="http://schemas.openxmlformats.org/drawingml/2006/main" name="Theme1">
  <a:themeElements>
    <a:clrScheme name="gradient">
      <a:dk1>
        <a:sysClr val="windowText" lastClr="000000"/>
      </a:dk1>
      <a:lt1>
        <a:sysClr val="window" lastClr="FFFFFF"/>
      </a:lt1>
      <a:dk2>
        <a:srgbClr val="203040"/>
      </a:dk2>
      <a:lt2>
        <a:srgbClr val="ECF0F0"/>
      </a:lt2>
      <a:accent1>
        <a:srgbClr val="00BAC8"/>
      </a:accent1>
      <a:accent2>
        <a:srgbClr val="794DFF"/>
      </a:accent2>
      <a:accent3>
        <a:srgbClr val="00D17D"/>
      </a:accent3>
      <a:accent4>
        <a:srgbClr val="E69500"/>
      </a:accent4>
      <a:accent5>
        <a:srgbClr val="FE5D21"/>
      </a:accent5>
      <a:accent6>
        <a:srgbClr val="DA2A69"/>
      </a:accent6>
      <a:hlink>
        <a:srgbClr val="3E8FF1"/>
      </a:hlink>
      <a:folHlink>
        <a:srgbClr val="939393"/>
      </a:folHlink>
    </a:clrScheme>
    <a:fontScheme name="Custom 49">
      <a:majorFont>
        <a:latin typeface="Aharon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C43B2F53-CECC-4241-81D2-3B654A396709}" vid="{1511C1AC-5AA4-6A4C-BE2E-BE2AEEE0C9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11176</TotalTime>
  <Words>9956</Words>
  <Application>Microsoft Macintosh PowerPoint</Application>
  <PresentationFormat>Widescreen</PresentationFormat>
  <Paragraphs>1003</Paragraphs>
  <Slides>110</Slides>
  <Notes>48</Notes>
  <HiddenSlides>1</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110</vt:i4>
      </vt:variant>
    </vt:vector>
  </HeadingPairs>
  <TitlesOfParts>
    <vt:vector size="126" baseType="lpstr">
      <vt:lpstr>MS PGothic</vt:lpstr>
      <vt:lpstr>Aharoni</vt:lpstr>
      <vt:lpstr>Aptos</vt:lpstr>
      <vt:lpstr>Arial</vt:lpstr>
      <vt:lpstr>Avenir Book</vt:lpstr>
      <vt:lpstr>Avenir Next</vt:lpstr>
      <vt:lpstr>Avenir Next LT Pro</vt:lpstr>
      <vt:lpstr>Calibri</vt:lpstr>
      <vt:lpstr>Courier New</vt:lpstr>
      <vt:lpstr>Creative Thoughts</vt:lpstr>
      <vt:lpstr>Karla</vt:lpstr>
      <vt:lpstr>Söhne</vt:lpstr>
      <vt:lpstr>Tahoma</vt:lpstr>
      <vt:lpstr>Times New Roman</vt:lpstr>
      <vt:lpstr>Wingdings</vt:lpstr>
      <vt:lpstr>Theme1</vt:lpstr>
      <vt:lpstr>THE CONCEPT AND STRUCTURE OF THE B.O.P</vt:lpstr>
      <vt:lpstr>THE BALANCE OF PAYMENTS</vt:lpstr>
      <vt:lpstr>THE BALANCE OF PAYMENTS (B.O.P)</vt:lpstr>
      <vt:lpstr>THE BALANCE OF PAYMENTS (B.O.P)</vt:lpstr>
      <vt:lpstr>THE STRUCTURE OF THE B.O.P</vt:lpstr>
      <vt:lpstr>Must Know Terminology</vt:lpstr>
      <vt:lpstr>On your whiteboards,</vt:lpstr>
      <vt:lpstr>ON YOUR WHITEBOARDS,</vt:lpstr>
      <vt:lpstr>CURRENT ACCOUNT &amp;  CAPITAL/ FINANCIAL ACCOUNT</vt:lpstr>
      <vt:lpstr>PowerPoint Presentation</vt:lpstr>
      <vt:lpstr>THE CURRENT ACCOUNT (CAB)</vt:lpstr>
      <vt:lpstr>PowerPoint Presentation</vt:lpstr>
      <vt:lpstr>THE CAPITAL AND FINANCIAL ACCOUNT (KAFA)</vt:lpstr>
      <vt:lpstr>PowerPoint Presentation</vt:lpstr>
      <vt:lpstr>CLOSER LOOK AT FINANCIAL DERIVATIVES</vt:lpstr>
      <vt:lpstr>PowerPoint Presentation</vt:lpstr>
      <vt:lpstr>Use the chart to help sort this</vt:lpstr>
      <vt:lpstr>YOUR TASK</vt:lpstr>
      <vt:lpstr>HOMEWORK</vt:lpstr>
      <vt:lpstr>BALANCE OF PAYMENTS</vt:lpstr>
      <vt:lpstr>DAILY REVIEW</vt:lpstr>
      <vt:lpstr>DAILY REVIEW</vt:lpstr>
      <vt:lpstr>DAILY REVIEW</vt:lpstr>
      <vt:lpstr>DAILY REVIEW</vt:lpstr>
      <vt:lpstr>DOUBLE ENTRY SYSTEM</vt:lpstr>
      <vt:lpstr>PowerPoint Presentation</vt:lpstr>
      <vt:lpstr>OBTAINING THE OVERALL BALANCE OF PAYMENTS</vt:lpstr>
      <vt:lpstr>NET ERRORS AND OMISSIONS</vt:lpstr>
      <vt:lpstr>BOP IN PRACTICE</vt:lpstr>
      <vt:lpstr>BOP IN PRACTICE</vt:lpstr>
      <vt:lpstr>BOP IN PRACTICE</vt:lpstr>
      <vt:lpstr>BOP IN PRACTICE</vt:lpstr>
      <vt:lpstr>BOP IN PRACTICE</vt:lpstr>
      <vt:lpstr>BOP IN PRACTICE</vt:lpstr>
      <vt:lpstr>BOP IN PRACTICE</vt:lpstr>
      <vt:lpstr>Remember from earlier**  The BOP balances thanks to double entry book-keeping.  This means, for every transaction there is a matching offsetting entry.       i.e - two entries for each transaction – money and currency</vt:lpstr>
      <vt:lpstr>CREDITS &amp; DEBITS IN THE KAFA</vt:lpstr>
      <vt:lpstr>CREDITS IN THE KAFA</vt:lpstr>
      <vt:lpstr>DEBITS IN THE KAFA</vt:lpstr>
      <vt:lpstr>CREDITS &amp; DEBITS IN THE KAFA</vt:lpstr>
      <vt:lpstr>DOUBLE ENTRY SYSTEM</vt:lpstr>
      <vt:lpstr>DOUBLE ENTRY SYSTEM </vt:lpstr>
      <vt:lpstr>EXAMPLE: SHIPMENT OF $2 MILLION WHEAT EXPORTED FROM AUSTRALIA TO AN OVERSEAS BUYER</vt:lpstr>
      <vt:lpstr>EXAMPLE: SHIPMENT OF $2 MILLION WHEAT EXPORTED FROM AUSTRALIA TO AN OVERSEAS BUYER</vt:lpstr>
      <vt:lpstr>EXAMPLE: AN AUSTRALIAN FARMER EXPORTS $100 MILLION OF WOOL TO A CLOTHING MANUFACTURER IN INDIA. </vt:lpstr>
      <vt:lpstr>EXAMPLE: AN AUSTRALIAN FARMER EXPORTS $100 MILLION OF WOOL TO A CLOTHING MANUFACTURER IN INDIA. </vt:lpstr>
      <vt:lpstr>PowerPoint Presentation</vt:lpstr>
      <vt:lpstr>EXAMPLE: AN AUSTRALIAN BUYS $2,000 AUD OF SHARES IN A FRENCH COMPANY  </vt:lpstr>
      <vt:lpstr>EXAMPLE: AN AUSTRALIAN BUYS $2,000 AUD OF SHARES IN A FRENCH COMPANY  </vt:lpstr>
      <vt:lpstr>PowerPoint Presentation</vt:lpstr>
      <vt:lpstr>CREDIT AND DEBIT SCENARIOS TRAVEL EDITION</vt:lpstr>
      <vt:lpstr>CREDIT AND DEBIT SCENARIOS TRAVEL EDITION</vt:lpstr>
      <vt:lpstr>CREDIT AND DEBIT SCENARIOS</vt:lpstr>
      <vt:lpstr>CREDIT AND DEBIT SCENARIOS</vt:lpstr>
      <vt:lpstr>CREDIT AND DEBIT SCENARIOS</vt:lpstr>
      <vt:lpstr>CREDIT AND DEBIT SCENARIOS</vt:lpstr>
      <vt:lpstr>DRAW BOP TABLE IN YOUR BOOKS</vt:lpstr>
      <vt:lpstr>PowerPoint Presentation</vt:lpstr>
      <vt:lpstr>SOLUTION</vt:lpstr>
      <vt:lpstr>YOUR TURN</vt:lpstr>
      <vt:lpstr>YOUR TURN</vt:lpstr>
      <vt:lpstr>YOUR TURN SOLUTIONS</vt:lpstr>
      <vt:lpstr>INDEPENDENT PRACTICE</vt:lpstr>
      <vt:lpstr>DAILY REVIEW</vt:lpstr>
      <vt:lpstr>DAILY REVIEW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FACTORS INFLUENCING THE TRADE BALANCE</vt:lpstr>
      <vt:lpstr>AUSTRALIA’S BOP  AN OVERVIEW</vt:lpstr>
      <vt:lpstr>WHAT DOES CURRENT ACCOUNT SURPLUS/DEFICIT MEAN?</vt:lpstr>
      <vt:lpstr>PowerPoint Presentation</vt:lpstr>
      <vt:lpstr>FACTORS INFLUENCING BOGS AND AFFECTING CAB</vt:lpstr>
      <vt:lpstr>MAJOR TRADING PARTNER GROWTH</vt:lpstr>
      <vt:lpstr>DOMESTIC GROWTH</vt:lpstr>
      <vt:lpstr>EXCHANGE RATE CHANGE</vt:lpstr>
      <vt:lpstr>TERMS OF TRADE</vt:lpstr>
      <vt:lpstr>AUSTRALIA’S LEVEL OF COMPETITIVENESS</vt:lpstr>
      <vt:lpstr>EXTERNAL SHOCKS</vt:lpstr>
      <vt:lpstr>PowerPoint Presentation</vt:lpstr>
      <vt:lpstr>SUMMARISE THE RECENT TRENDS IN AUS’ CURRENT ACCOUNT BALANCE</vt:lpstr>
      <vt:lpstr>FACTORS INFLUENCING THE INCOME BALANCE</vt:lpstr>
      <vt:lpstr>AUSTRALIA’S BOP  AN OVERVIEW</vt:lpstr>
      <vt:lpstr>NPY = SERVICING COSTS</vt:lpstr>
      <vt:lpstr>SAVINGS-INVESTMENT GAP</vt:lpstr>
      <vt:lpstr>Describe what would happen to the CAD if Australia increased its national savings level</vt:lpstr>
      <vt:lpstr>HOW DOES NPY INFLUENCE THE CAB?</vt:lpstr>
      <vt:lpstr>Summary of factors affecting CAB</vt:lpstr>
      <vt:lpstr>Independent Practice</vt:lpstr>
      <vt:lpstr>TRENDS IN THE CAB AND KAFA</vt:lpstr>
      <vt:lpstr>TRENDS AUSTRALIA’S CAB OVER THE PAST 10 YEARS</vt:lpstr>
      <vt:lpstr>TRENDS IN AUSTRALIA’S  CAB OVER THE LAST 10 YEARS</vt:lpstr>
      <vt:lpstr>2015-2016: FALLING CAB</vt:lpstr>
      <vt:lpstr>2017-2018: RISING CAB</vt:lpstr>
      <vt:lpstr>MID 2019 – MAR 2023: RISING CAB</vt:lpstr>
      <vt:lpstr>WHY DID AUSTRALIA HAVE A CAS  2019-2023?</vt:lpstr>
      <vt:lpstr>Post Pandemic return to normal 2023-2025</vt:lpstr>
      <vt:lpstr>PowerPoint Presentation</vt:lpstr>
      <vt:lpstr>PowerPoint Presentation</vt:lpstr>
      <vt:lpstr>TRENDS IN AUSTRALIA’S KAFA OVER THE LAST 10 YEARS</vt:lpstr>
      <vt:lpstr>TRENDS IN THE KAFA</vt:lpstr>
      <vt:lpstr>Independent Practice</vt:lpstr>
      <vt:lpstr>HELPFUL LINKS FOR ADDITIONAL INFORMATION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SALEKIAN Samin [Kent Street Senior High School]</dc:creator>
  <cp:keywords/>
  <dc:description/>
  <cp:lastModifiedBy>SALEKIAN Samin [Kent Street Senior High School]</cp:lastModifiedBy>
  <cp:revision>40</cp:revision>
  <cp:lastPrinted>2025-08-05T05:26:43Z</cp:lastPrinted>
  <dcterms:created xsi:type="dcterms:W3CDTF">2025-08-03T04:43:07Z</dcterms:created>
  <dcterms:modified xsi:type="dcterms:W3CDTF">2025-08-11T04:25:54Z</dcterms:modified>
  <cp:category/>
</cp:coreProperties>
</file>